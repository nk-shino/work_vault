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56" r:id="rId3"/>
    <p:sldId id="257" r:id="rId4"/>
    <p:sldId id="258" r:id="rId5"/>
    <p:sldId id="259" r:id="rId6"/>
  </p:sldIdLst>
  <p:sldSz cx="6858000" cy="9906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968" y="10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87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4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03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43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4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83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79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30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4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0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15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C1FA-3FFA-447A-A676-1CF95E4C9F3F}" type="datetimeFigureOut">
              <a:rPr kumimoji="1" lang="ja-JP" altLang="en-US" smtClean="0"/>
              <a:t>2019/3/22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31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647974" cy="8032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ルール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事前カウント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事前カウント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行う場合のカウントルール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●事前カウント対象部品</a:t>
            </a:r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マックドライ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のトレイ部品数量カウント（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マックドライの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部品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数量カウント（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402,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・ソフトトレイ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トレイ、ステック部品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7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・リール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部品の不回転部品数量カウント（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R88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,98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注意事項：事前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カウントの場合は、旧リールカウンタを使う事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●事前カウントルール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・バーコード単位（袋や梱包）で数量をカウント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・カウントした数を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白紙に名前と日付、数量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を記入して下さい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下記参照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・リールや袋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（アルミパックなど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）は梱包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単位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記入した用紙をテープで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バーコードにテープが掛からないように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注意して下さい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未使用品は、カウントしないで下さい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289539" y="4592092"/>
            <a:ext cx="1063964" cy="726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9/22</a:t>
            </a:r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35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289538" y="8640325"/>
            <a:ext cx="2942493" cy="11475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endParaRPr kumimoji="1" lang="en-US" altLang="ja-JP" dirty="0" smtClean="0"/>
          </a:p>
          <a:p>
            <a:r>
              <a:rPr kumimoji="1" lang="ja-JP" altLang="en-US" dirty="0" smtClean="0"/>
              <a:t>アルミパック　　　　　　　　</a:t>
            </a:r>
            <a:endParaRPr kumimoji="1" lang="en-US" altLang="ja-JP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1406770" y="8766348"/>
            <a:ext cx="1641231" cy="47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CODE39" panose="020B0600000000000000" pitchFamily="34" charset="0"/>
              </a:rPr>
              <a:t>1234567</a:t>
            </a:r>
            <a:endParaRPr kumimoji="1" lang="ja-JP" altLang="en-US" dirty="0">
              <a:latin typeface="CODE39" panose="020B0600000000000000" pitchFamily="34" charset="0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90042" y="8922283"/>
            <a:ext cx="897309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05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9/22</a:t>
            </a:r>
            <a:endParaRPr lang="en-US" altLang="ja-JP" sz="105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en-US" altLang="ja-JP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35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540371" y="8812581"/>
            <a:ext cx="164020" cy="1926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/>
        </p:nvSpPr>
        <p:spPr>
          <a:xfrm>
            <a:off x="1326702" y="6688072"/>
            <a:ext cx="1510282" cy="151028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/>
        </p:nvSpPr>
        <p:spPr>
          <a:xfrm>
            <a:off x="1950455" y="7311827"/>
            <a:ext cx="262771" cy="26277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/>
        </p:nvSpPr>
        <p:spPr>
          <a:xfrm>
            <a:off x="1726932" y="6835275"/>
            <a:ext cx="709815" cy="3692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CODE39" panose="020B0600000000000000" pitchFamily="34" charset="0"/>
              </a:rPr>
              <a:t>123</a:t>
            </a:r>
            <a:endParaRPr kumimoji="1" lang="ja-JP" altLang="en-US" dirty="0">
              <a:latin typeface="CODE39" panose="020B0600000000000000" pitchFamily="34" charset="0"/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2176900" y="7601180"/>
            <a:ext cx="579440" cy="4428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7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7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9/22</a:t>
            </a:r>
            <a:endParaRPr lang="en-US" altLang="ja-JP" sz="7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en-US" altLang="ja-JP" sz="7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35</a:t>
            </a:r>
            <a:endParaRPr kumimoji="1"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2409946" y="7517895"/>
            <a:ext cx="113349" cy="13311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156386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647974" cy="867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ルール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事前カウント 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事前カウント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行う場合のカウントルール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●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事前カウントルール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・棚列単位で、カウントが終わったら数え済みのラベルを棚列の左側に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・棚全てのカウントが終わったら、棚に貼られている用紙のチェック欄へ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サインを行って下さい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使ったカウンタで無い方には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を記入して下さい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●事前カウント時に部品の戻しがある場合は、事前カウント対象部品は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倉庫ではなく、事前カウント部品置場へ戻して下さい</a:t>
            </a:r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部品倉庫前に設置して有ります</a:t>
            </a:r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53" name="グループ化 52"/>
          <p:cNvGrpSpPr/>
          <p:nvPr/>
        </p:nvGrpSpPr>
        <p:grpSpPr>
          <a:xfrm>
            <a:off x="1233666" y="2721952"/>
            <a:ext cx="4703705" cy="1490762"/>
            <a:chOff x="1303185" y="5599663"/>
            <a:chExt cx="7138317" cy="2262372"/>
          </a:xfrm>
        </p:grpSpPr>
        <p:sp>
          <p:nvSpPr>
            <p:cNvPr id="16" name="正方形/長方形 15"/>
            <p:cNvSpPr/>
            <p:nvPr/>
          </p:nvSpPr>
          <p:spPr>
            <a:xfrm>
              <a:off x="6512140" y="6277540"/>
              <a:ext cx="1929362" cy="147458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1303185" y="5599663"/>
              <a:ext cx="3116425" cy="2262372"/>
              <a:chOff x="1297924" y="5599663"/>
              <a:chExt cx="1915767" cy="1390755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正方形/長方形 21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2"/>
              <p:cNvSpPr/>
              <p:nvPr/>
            </p:nvSpPr>
            <p:spPr>
              <a:xfrm>
                <a:off x="1297924" y="5909599"/>
                <a:ext cx="430131" cy="2582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24" name="正方形/長方形 23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5" name="テキスト ボックス 24"/>
            <p:cNvSpPr txBox="1"/>
            <p:nvPr/>
          </p:nvSpPr>
          <p:spPr>
            <a:xfrm>
              <a:off x="5012683" y="5769967"/>
              <a:ext cx="543740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solidFill>
                    <a:schemeClr val="accent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棚列</a:t>
              </a:r>
              <a:endParaRPr kumimoji="1" lang="ja-JP" altLang="en-US" sz="1400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26" name="直線矢印コネクタ 25"/>
            <p:cNvCxnSpPr>
              <a:stCxn id="25" idx="1"/>
              <a:endCxn id="52" idx="3"/>
            </p:cNvCxnSpPr>
            <p:nvPr/>
          </p:nvCxnSpPr>
          <p:spPr>
            <a:xfrm flipH="1">
              <a:off x="4075254" y="5923856"/>
              <a:ext cx="937429" cy="1950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正方形/長方形 26"/>
            <p:cNvSpPr/>
            <p:nvPr/>
          </p:nvSpPr>
          <p:spPr>
            <a:xfrm>
              <a:off x="191176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08574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225973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243372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260771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278170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295568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312967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330366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347765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365164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3825634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188969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06368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223767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241166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258565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275963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293362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310761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328160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/>
            <p:cNvSpPr/>
            <p:nvPr/>
          </p:nvSpPr>
          <p:spPr>
            <a:xfrm>
              <a:off x="345559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362957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3803572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1" name="直線矢印コネクタ 50"/>
            <p:cNvCxnSpPr>
              <a:stCxn id="23" idx="3"/>
              <a:endCxn id="16" idx="1"/>
            </p:cNvCxnSpPr>
            <p:nvPr/>
          </p:nvCxnSpPr>
          <p:spPr>
            <a:xfrm>
              <a:off x="2002889" y="6313860"/>
              <a:ext cx="4509251" cy="70097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正方形/長方形 51"/>
            <p:cNvSpPr/>
            <p:nvPr/>
          </p:nvSpPr>
          <p:spPr>
            <a:xfrm>
              <a:off x="1806992" y="592385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/>
        </p:nvGrpSpPr>
        <p:grpSpPr>
          <a:xfrm>
            <a:off x="1233666" y="5460223"/>
            <a:ext cx="5342980" cy="1960485"/>
            <a:chOff x="1303185" y="5599659"/>
            <a:chExt cx="8108477" cy="2975222"/>
          </a:xfrm>
        </p:grpSpPr>
        <p:sp>
          <p:nvSpPr>
            <p:cNvPr id="59" name="正方形/長方形 58"/>
            <p:cNvSpPr/>
            <p:nvPr/>
          </p:nvSpPr>
          <p:spPr>
            <a:xfrm>
              <a:off x="5380567" y="5599659"/>
              <a:ext cx="4031095" cy="2975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01-01</a:t>
              </a:r>
            </a:p>
            <a:p>
              <a:pPr algn="ctr"/>
              <a:r>
                <a:rPr lang="en-US" altLang="ja-JP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R</a:t>
              </a:r>
              <a:r>
                <a:rPr lang="ja-JP" altLang="en-US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*</a:t>
              </a:r>
              <a:r>
                <a:rPr lang="en-US" altLang="ja-JP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101</a:t>
              </a:r>
            </a:p>
            <a:p>
              <a:pPr algn="ctr"/>
              <a:endPara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1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新リールカウンタ　　作業者　　岡野</a:t>
              </a:r>
              <a:endParaRPr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1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旧リールカウンタ　　作業者</a:t>
              </a:r>
              <a:r>
                <a:rPr lang="ja-JP" altLang="en-US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　　  </a:t>
              </a:r>
              <a:r>
                <a:rPr lang="en-US" altLang="ja-JP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×</a:t>
              </a:r>
              <a:endPara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grpSp>
          <p:nvGrpSpPr>
            <p:cNvPr id="60" name="グループ化 59"/>
            <p:cNvGrpSpPr/>
            <p:nvPr/>
          </p:nvGrpSpPr>
          <p:grpSpPr>
            <a:xfrm>
              <a:off x="1303185" y="5599663"/>
              <a:ext cx="3116425" cy="2262372"/>
              <a:chOff x="1297924" y="5599663"/>
              <a:chExt cx="1915767" cy="1390755"/>
            </a:xfrm>
          </p:grpSpPr>
          <p:sp>
            <p:nvSpPr>
              <p:cNvPr id="89" name="正方形/長方形 88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1" name="正方形/長方形 90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正方形/長方形 91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5" name="正方形/長方形 94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/>
            </p:nvSpPr>
            <p:spPr>
              <a:xfrm>
                <a:off x="1297924" y="5909599"/>
                <a:ext cx="430131" cy="2582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</p:grpSp>
        <p:sp>
          <p:nvSpPr>
            <p:cNvPr id="61" name="テキスト ボックス 60"/>
            <p:cNvSpPr txBox="1"/>
            <p:nvPr/>
          </p:nvSpPr>
          <p:spPr>
            <a:xfrm>
              <a:off x="4744889" y="5608786"/>
              <a:ext cx="552711" cy="46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solidFill>
                    <a:schemeClr val="accent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棚</a:t>
              </a:r>
              <a:endParaRPr kumimoji="1" lang="ja-JP" altLang="en-US" sz="1400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62" name="直線矢印コネクタ 61"/>
            <p:cNvCxnSpPr>
              <a:stCxn id="61" idx="1"/>
              <a:endCxn id="88" idx="3"/>
            </p:cNvCxnSpPr>
            <p:nvPr/>
          </p:nvCxnSpPr>
          <p:spPr>
            <a:xfrm flipH="1">
              <a:off x="4419603" y="5842327"/>
              <a:ext cx="325286" cy="833565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正方形/長方形 62"/>
            <p:cNvSpPr/>
            <p:nvPr/>
          </p:nvSpPr>
          <p:spPr>
            <a:xfrm>
              <a:off x="191176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208574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225973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243372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260771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278170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/>
            <p:cNvSpPr/>
            <p:nvPr/>
          </p:nvSpPr>
          <p:spPr>
            <a:xfrm>
              <a:off x="295568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312967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330366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347765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365164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3825634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188969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76" name="正方形/長方形 75"/>
            <p:cNvSpPr/>
            <p:nvPr/>
          </p:nvSpPr>
          <p:spPr>
            <a:xfrm>
              <a:off x="206368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223767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241166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258565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275963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293362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310761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328160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345559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362957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3803572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7" name="直線矢印コネクタ 86"/>
            <p:cNvCxnSpPr>
              <a:stCxn id="104" idx="3"/>
              <a:endCxn id="59" idx="1"/>
            </p:cNvCxnSpPr>
            <p:nvPr/>
          </p:nvCxnSpPr>
          <p:spPr>
            <a:xfrm>
              <a:off x="3425306" y="6097945"/>
              <a:ext cx="1955261" cy="9893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正方形/長方形 87"/>
            <p:cNvSpPr/>
            <p:nvPr/>
          </p:nvSpPr>
          <p:spPr>
            <a:xfrm>
              <a:off x="1482789" y="5599659"/>
              <a:ext cx="2936814" cy="215246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6" name="正方形/長方形 95"/>
          <p:cNvSpPr/>
          <p:nvPr/>
        </p:nvSpPr>
        <p:spPr>
          <a:xfrm>
            <a:off x="1233667" y="6319986"/>
            <a:ext cx="461062" cy="276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5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sz="5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sz="5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1415723" y="6227041"/>
            <a:ext cx="95251" cy="14415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正方形/長方形 100"/>
          <p:cNvSpPr/>
          <p:nvPr/>
        </p:nvSpPr>
        <p:spPr>
          <a:xfrm>
            <a:off x="5427784" y="6475635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/>
          <p:cNvSpPr/>
          <p:nvPr/>
        </p:nvSpPr>
        <p:spPr>
          <a:xfrm>
            <a:off x="5427785" y="6850772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471" y="5522123"/>
            <a:ext cx="714540" cy="532877"/>
          </a:xfrm>
          <a:prstGeom prst="rect">
            <a:avLst/>
          </a:prstGeom>
        </p:spPr>
      </p:pic>
      <p:pic>
        <p:nvPicPr>
          <p:cNvPr id="107" name="図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46" y="8679299"/>
            <a:ext cx="1624490" cy="115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58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827510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カウント時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新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旧リールカウンタ優先カウント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・新リールカウンタは、袋入り（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R0102/0103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・旧リールカウンタは、袋無し（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R0101/0105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理由：新リールカウンタは、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度目のバーコード読みが無いので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袋から出す手間を省く為に袋入りを優先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・その他のリールは、空いていれば新リールカウンタ優先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棚戻し位置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・棚位置は、倉庫内の床に棚（**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-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**）を記入してあるので、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罫書き線に合わせて並べる事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R0102/0103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カウント方法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・部品を一旦倉庫外に出す（ハズシエリア）新リールカウンタでカウントが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終わったものから、倉庫へ戻していく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R0101/0105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とその他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・倉庫内で部品をカウントして、カウントが終わったものから、倉庫の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所定の位置に戻していく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旧リールカウンタで進めていくが、新リールカウンタが空いてきたら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新リールカウンタで優先的に進める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20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449201" cy="7263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新リールカウンタ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新リールカウンタ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・数量カウント後に発行されたバーコードを、カウントしたリールに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貼り付ける。（下図参照）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213504" y="8060508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17" name="グループ化 16"/>
          <p:cNvGrpSpPr/>
          <p:nvPr/>
        </p:nvGrpSpPr>
        <p:grpSpPr>
          <a:xfrm>
            <a:off x="1394313" y="5599663"/>
            <a:ext cx="3025298" cy="2262372"/>
            <a:chOff x="1353943" y="5599663"/>
            <a:chExt cx="1859748" cy="1390755"/>
          </a:xfrm>
        </p:grpSpPr>
        <p:sp>
          <p:nvSpPr>
            <p:cNvPr id="2" name="正方形/長方形 1"/>
            <p:cNvSpPr/>
            <p:nvPr/>
          </p:nvSpPr>
          <p:spPr>
            <a:xfrm>
              <a:off x="1408338" y="5599663"/>
              <a:ext cx="199292" cy="13907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3014399" y="5599663"/>
              <a:ext cx="199292" cy="13907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/>
          </p:nvSpPr>
          <p:spPr>
            <a:xfrm rot="5400000">
              <a:off x="2211369" y="4796632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/>
            <p:cNvSpPr/>
            <p:nvPr/>
          </p:nvSpPr>
          <p:spPr>
            <a:xfrm rot="5400000">
              <a:off x="2211367" y="5237075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/>
          </p:nvSpPr>
          <p:spPr>
            <a:xfrm rot="5400000">
              <a:off x="2211366" y="5676436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1353943" y="5917147"/>
              <a:ext cx="318092" cy="243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3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3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1467767" y="5822889"/>
              <a:ext cx="88861" cy="134484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90738"/>
            <a:ext cx="2785715" cy="25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3005418" y="3083291"/>
            <a:ext cx="838913" cy="368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>
                <a:latin typeface="CODE39" panose="020B0600000000000000" pitchFamily="34" charset="0"/>
              </a:rPr>
              <a:t>12367</a:t>
            </a:r>
          </a:p>
          <a:p>
            <a:pPr algn="ctr"/>
            <a:r>
              <a:rPr kumimoji="1" lang="en-US" altLang="ja-JP" sz="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9000035645</a:t>
            </a:r>
            <a:endParaRPr kumimoji="1" lang="ja-JP" altLang="en-US" sz="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311318" y="293936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999089" y="611612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棚列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20" name="直線矢印コネクタ 19"/>
          <p:cNvCxnSpPr>
            <a:stCxn id="18" idx="1"/>
            <a:endCxn id="61" idx="3"/>
          </p:cNvCxnSpPr>
          <p:nvPr/>
        </p:nvCxnSpPr>
        <p:spPr>
          <a:xfrm flipH="1" flipV="1">
            <a:off x="4075253" y="6118857"/>
            <a:ext cx="923836" cy="1511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191176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ja-JP" altLang="en-US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2085749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2259737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2433725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2607713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>
            <a:off x="278170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>
            <a:off x="2955689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3129677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3303665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3477653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365164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3825634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>
            <a:off x="188969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ja-JP" altLang="en-US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063687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2237675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2411663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2585651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/>
        </p:nvSpPr>
        <p:spPr>
          <a:xfrm>
            <a:off x="275963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2933627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3107615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3281603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3455591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362957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>
            <a:off x="3803572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8" name="直線矢印コネクタ 57"/>
          <p:cNvCxnSpPr>
            <a:stCxn id="14" idx="2"/>
            <a:endCxn id="9" idx="0"/>
          </p:cNvCxnSpPr>
          <p:nvPr/>
        </p:nvCxnSpPr>
        <p:spPr>
          <a:xfrm>
            <a:off x="1653037" y="6511598"/>
            <a:ext cx="1208524" cy="15489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/>
          <p:cNvSpPr/>
          <p:nvPr/>
        </p:nvSpPr>
        <p:spPr>
          <a:xfrm>
            <a:off x="1806992" y="5923855"/>
            <a:ext cx="2268261" cy="390004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545129" y="90511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082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449201" cy="83407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リールカウンタ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旧リールカウンタ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・数量カウント後にカウントした数字を、白紙に名前と数量を書いて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貼り付ける。（下図参照）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・カウントが終わった棚から、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倉庫管理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HT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のバーコードで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バーコードと数量を入力していく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90738"/>
            <a:ext cx="2785715" cy="25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グループ化 18"/>
          <p:cNvGrpSpPr/>
          <p:nvPr/>
        </p:nvGrpSpPr>
        <p:grpSpPr>
          <a:xfrm>
            <a:off x="1394314" y="5352014"/>
            <a:ext cx="4242345" cy="2051501"/>
            <a:chOff x="1394313" y="5599663"/>
            <a:chExt cx="4895780" cy="2367487"/>
          </a:xfrm>
        </p:grpSpPr>
        <p:sp>
          <p:nvSpPr>
            <p:cNvPr id="9" name="正方形/長方形 8"/>
            <p:cNvSpPr/>
            <p:nvPr/>
          </p:nvSpPr>
          <p:spPr>
            <a:xfrm>
              <a:off x="4993980" y="6668773"/>
              <a:ext cx="1296113" cy="990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1394313" y="5599663"/>
              <a:ext cx="3025298" cy="2262372"/>
              <a:chOff x="1353943" y="5599663"/>
              <a:chExt cx="1859748" cy="1390755"/>
            </a:xfrm>
          </p:grpSpPr>
          <p:sp>
            <p:nvSpPr>
              <p:cNvPr id="2" name="正方形/長方形 1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3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3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15" name="正方形/長方形 14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8" name="テキスト ボックス 17"/>
            <p:cNvSpPr txBox="1"/>
            <p:nvPr/>
          </p:nvSpPr>
          <p:spPr>
            <a:xfrm>
              <a:off x="4999089" y="611612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solidFill>
                    <a:schemeClr val="accent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棚列</a:t>
              </a:r>
              <a:endParaRPr kumimoji="1" lang="ja-JP" altLang="en-US" sz="1400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20" name="直線矢印コネクタ 19"/>
            <p:cNvCxnSpPr>
              <a:stCxn id="18" idx="1"/>
              <a:endCxn id="61" idx="3"/>
            </p:cNvCxnSpPr>
            <p:nvPr/>
          </p:nvCxnSpPr>
          <p:spPr>
            <a:xfrm flipH="1" flipV="1">
              <a:off x="4075253" y="6118857"/>
              <a:ext cx="923836" cy="15115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正方形/長方形 20"/>
            <p:cNvSpPr/>
            <p:nvPr/>
          </p:nvSpPr>
          <p:spPr>
            <a:xfrm>
              <a:off x="191176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5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208574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225973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243372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60771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78170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5568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12967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30366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347765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365164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3825634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88969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5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06368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23767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241166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258565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75963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93362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10761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28160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345559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362957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3803572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8" name="直線矢印コネクタ 57"/>
            <p:cNvCxnSpPr>
              <a:stCxn id="14" idx="2"/>
              <a:endCxn id="9" idx="1"/>
            </p:cNvCxnSpPr>
            <p:nvPr/>
          </p:nvCxnSpPr>
          <p:spPr>
            <a:xfrm>
              <a:off x="1653038" y="6511598"/>
              <a:ext cx="3340942" cy="6524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正方形/長方形 60"/>
            <p:cNvSpPr/>
            <p:nvPr/>
          </p:nvSpPr>
          <p:spPr>
            <a:xfrm>
              <a:off x="1806992" y="592385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テキスト ボックス 65"/>
            <p:cNvSpPr txBox="1"/>
            <p:nvPr/>
          </p:nvSpPr>
          <p:spPr>
            <a:xfrm>
              <a:off x="5365280" y="765937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拡大</a:t>
              </a:r>
              <a:endPara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sp>
        <p:nvSpPr>
          <p:cNvPr id="46" name="正方形/長方形 45"/>
          <p:cNvSpPr/>
          <p:nvPr/>
        </p:nvSpPr>
        <p:spPr>
          <a:xfrm>
            <a:off x="4906995" y="2684808"/>
            <a:ext cx="915591" cy="766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3139179" y="3098616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339460" y="295490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矢印コネクタ 48"/>
          <p:cNvCxnSpPr>
            <a:stCxn id="48" idx="3"/>
            <a:endCxn id="46" idx="1"/>
          </p:cNvCxnSpPr>
          <p:nvPr/>
        </p:nvCxnSpPr>
        <p:spPr>
          <a:xfrm flipV="1">
            <a:off x="3737087" y="3068128"/>
            <a:ext cx="1169908" cy="280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092920" y="34429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8085914"/>
            <a:ext cx="1671429" cy="154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正方形/長方形 53"/>
          <p:cNvSpPr/>
          <p:nvPr/>
        </p:nvSpPr>
        <p:spPr>
          <a:xfrm>
            <a:off x="2268473" y="8726206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2468754" y="858249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1751913" y="8239125"/>
            <a:ext cx="792973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/>
          <p:cNvSpPr/>
          <p:nvPr/>
        </p:nvSpPr>
        <p:spPr>
          <a:xfrm>
            <a:off x="2373168" y="8966516"/>
            <a:ext cx="393178" cy="147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2544886" y="821924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2860398" y="89456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916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1281</TotalTime>
  <Words>113</Words>
  <Application>Microsoft Office PowerPoint</Application>
  <PresentationFormat>A4 210 x 297 mm</PresentationFormat>
  <Paragraphs>236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ＭＳ Ｐゴシック</vt:lpstr>
      <vt:lpstr>メイリオ</vt:lpstr>
      <vt:lpstr>Arial</vt:lpstr>
      <vt:lpstr>Calibri</vt:lpstr>
      <vt:lpstr>Calibri Light</vt:lpstr>
      <vt:lpstr>CODE39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23</cp:revision>
  <cp:lastPrinted>2019-03-22T02:30:49Z</cp:lastPrinted>
  <dcterms:created xsi:type="dcterms:W3CDTF">2017-09-22T08:48:40Z</dcterms:created>
  <dcterms:modified xsi:type="dcterms:W3CDTF">2019-03-22T02:35:43Z</dcterms:modified>
</cp:coreProperties>
</file>