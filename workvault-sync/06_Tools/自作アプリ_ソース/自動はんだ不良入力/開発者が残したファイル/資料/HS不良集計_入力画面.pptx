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0" r:id="rId2"/>
    <p:sldId id="270" r:id="rId3"/>
    <p:sldId id="273" r:id="rId4"/>
    <p:sldId id="272" r:id="rId5"/>
    <p:sldId id="271" r:id="rId6"/>
    <p:sldId id="274" r:id="rId7"/>
    <p:sldId id="275" r:id="rId8"/>
    <p:sldId id="276" r:id="rId9"/>
    <p:sldId id="277" r:id="rId10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1C79E-DC13-40DA-A303-EDBC449AF3D5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F2B94-283E-43CB-9047-A1211F4AA6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37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24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6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800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576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058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315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F2B94-283E-43CB-9047-A1211F4AA6A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97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95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79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65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16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58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088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3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51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41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90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13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1D5B-AD17-4AD8-BC2C-07EE8E67C1EC}" type="datetimeFigureOut">
              <a:rPr kumimoji="1" lang="ja-JP" altLang="en-US" smtClean="0"/>
              <a:t>2020/8/25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E78A6-6783-4893-9A3B-7043B1A92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30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不良集計画面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/>
        </p:nvSpPr>
        <p:spPr>
          <a:xfrm>
            <a:off x="274959" y="547300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ログイン画面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274959" y="2119197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メニュー画面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/>
          <p:cNvCxnSpPr>
            <a:stCxn id="20" idx="2"/>
            <a:endCxn id="23" idx="0"/>
          </p:cNvCxnSpPr>
          <p:nvPr/>
        </p:nvCxnSpPr>
        <p:spPr>
          <a:xfrm>
            <a:off x="1099065" y="1383323"/>
            <a:ext cx="0" cy="735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/>
          <p:cNvSpPr/>
          <p:nvPr/>
        </p:nvSpPr>
        <p:spPr>
          <a:xfrm>
            <a:off x="274959" y="3691094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指図入力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線矢印コネクタ 27"/>
          <p:cNvCxnSpPr>
            <a:stCxn id="23" idx="2"/>
            <a:endCxn id="26" idx="0"/>
          </p:cNvCxnSpPr>
          <p:nvPr/>
        </p:nvCxnSpPr>
        <p:spPr>
          <a:xfrm>
            <a:off x="1099065" y="2955220"/>
            <a:ext cx="0" cy="735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2073279" y="3691094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不良状況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（週次）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3871599" y="3691094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不良状況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（月次）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" name="カギ線コネクタ 2"/>
          <p:cNvCxnSpPr>
            <a:stCxn id="23" idx="2"/>
            <a:endCxn id="9" idx="0"/>
          </p:cNvCxnSpPr>
          <p:nvPr/>
        </p:nvCxnSpPr>
        <p:spPr>
          <a:xfrm rot="16200000" flipH="1">
            <a:off x="1630288" y="2423997"/>
            <a:ext cx="735874" cy="17983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カギ線コネクタ 6"/>
          <p:cNvCxnSpPr>
            <a:stCxn id="23" idx="2"/>
            <a:endCxn id="10" idx="0"/>
          </p:cNvCxnSpPr>
          <p:nvPr/>
        </p:nvCxnSpPr>
        <p:spPr>
          <a:xfrm rot="16200000" flipH="1">
            <a:off x="2529448" y="1524837"/>
            <a:ext cx="735874" cy="35966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/>
          <p:cNvSpPr/>
          <p:nvPr/>
        </p:nvSpPr>
        <p:spPr>
          <a:xfrm>
            <a:off x="5669919" y="3691094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管理画面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3" name="カギ線コネクタ 12"/>
          <p:cNvCxnSpPr>
            <a:stCxn id="23" idx="2"/>
            <a:endCxn id="12" idx="0"/>
          </p:cNvCxnSpPr>
          <p:nvPr/>
        </p:nvCxnSpPr>
        <p:spPr>
          <a:xfrm rot="16200000" flipH="1">
            <a:off x="3428608" y="625677"/>
            <a:ext cx="735874" cy="53949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/>
          <p:cNvSpPr/>
          <p:nvPr/>
        </p:nvSpPr>
        <p:spPr>
          <a:xfrm>
            <a:off x="2073280" y="4924947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グラフ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（週次）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3871600" y="4924947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グラフ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（月次）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矢印コネクタ 17"/>
          <p:cNvCxnSpPr>
            <a:stCxn id="9" idx="2"/>
            <a:endCxn id="16" idx="0"/>
          </p:cNvCxnSpPr>
          <p:nvPr/>
        </p:nvCxnSpPr>
        <p:spPr>
          <a:xfrm>
            <a:off x="2897385" y="4527117"/>
            <a:ext cx="1" cy="397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stCxn id="10" idx="2"/>
            <a:endCxn id="17" idx="0"/>
          </p:cNvCxnSpPr>
          <p:nvPr/>
        </p:nvCxnSpPr>
        <p:spPr>
          <a:xfrm>
            <a:off x="4695705" y="4527117"/>
            <a:ext cx="1" cy="397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274958" y="4924946"/>
            <a:ext cx="1648212" cy="836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不良入力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78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ログイン画面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ログイン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715977" y="32443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社員番号：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/>
        </p:nvSpPr>
        <p:spPr>
          <a:xfrm>
            <a:off x="3954387" y="3285565"/>
            <a:ext cx="1887967" cy="286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98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メニュー画面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メニュー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1280</a:t>
            </a:r>
            <a:endParaRPr kumimoji="1" lang="ja-JP" altLang="en-US" dirty="0"/>
          </a:p>
        </p:txBody>
      </p:sp>
      <p:sp>
        <p:nvSpPr>
          <p:cNvPr id="3" name="角丸四角形 2"/>
          <p:cNvSpPr/>
          <p:nvPr/>
        </p:nvSpPr>
        <p:spPr>
          <a:xfrm>
            <a:off x="909813" y="2004033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不良入力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2752213" y="2004033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期間</a:t>
            </a:r>
            <a:r>
              <a:rPr kumimoji="1" lang="ja-JP" altLang="en-US" dirty="0">
                <a:solidFill>
                  <a:srgbClr val="FF0000"/>
                </a:solidFill>
              </a:rPr>
              <a:t>指定</a:t>
            </a:r>
            <a:r>
              <a:rPr kumimoji="1" lang="ja-JP" altLang="en-US" dirty="0" smtClean="0">
                <a:solidFill>
                  <a:srgbClr val="FF0000"/>
                </a:solidFill>
              </a:rPr>
              <a:t>不良状況</a:t>
            </a:r>
            <a:endParaRPr kumimoji="1" lang="en-US" altLang="ja-JP" dirty="0" smtClean="0">
              <a:solidFill>
                <a:srgbClr val="FF0000"/>
              </a:solidFill>
            </a:endParaRPr>
          </a:p>
        </p:txBody>
      </p:sp>
      <p:sp>
        <p:nvSpPr>
          <p:cNvPr id="27" name="角丸四角形 26"/>
          <p:cNvSpPr/>
          <p:nvPr/>
        </p:nvSpPr>
        <p:spPr>
          <a:xfrm>
            <a:off x="4594613" y="2004032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品目別不良状況</a:t>
            </a:r>
            <a:endParaRPr kumimoji="1" lang="en-US" altLang="ja-JP" dirty="0" smtClean="0">
              <a:solidFill>
                <a:srgbClr val="FF0000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6437012" y="2002699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管理画面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58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入力画面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不良入力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836022" y="8887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指図：</a:t>
            </a:r>
            <a:endParaRPr kumimoji="1" lang="ja-JP" altLang="en-US" sz="1400" dirty="0"/>
          </a:p>
        </p:txBody>
      </p:sp>
      <p:sp>
        <p:nvSpPr>
          <p:cNvPr id="27" name="正方形/長方形 26"/>
          <p:cNvSpPr/>
          <p:nvPr/>
        </p:nvSpPr>
        <p:spPr>
          <a:xfrm>
            <a:off x="1500505" y="907803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指図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836022" y="15774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品目：</a:t>
            </a:r>
            <a:endParaRPr kumimoji="1" lang="ja-JP" altLang="en-US" sz="1400" dirty="0"/>
          </a:p>
        </p:txBody>
      </p:sp>
      <p:sp>
        <p:nvSpPr>
          <p:cNvPr id="61" name="正方形/長方形 60"/>
          <p:cNvSpPr/>
          <p:nvPr/>
        </p:nvSpPr>
        <p:spPr>
          <a:xfrm>
            <a:off x="1500505" y="159643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3085415" y="15774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台数：</a:t>
            </a:r>
            <a:endParaRPr kumimoji="1" lang="ja-JP" altLang="en-US" sz="1400" dirty="0"/>
          </a:p>
        </p:txBody>
      </p:sp>
      <p:sp>
        <p:nvSpPr>
          <p:cNvPr id="63" name="正方形/長方形 62"/>
          <p:cNvSpPr/>
          <p:nvPr/>
        </p:nvSpPr>
        <p:spPr>
          <a:xfrm>
            <a:off x="3749898" y="159643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台数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836022" y="202883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生産時間：</a:t>
            </a:r>
            <a:endParaRPr kumimoji="1" lang="ja-JP" altLang="en-US" sz="1400" dirty="0"/>
          </a:p>
        </p:txBody>
      </p:sp>
      <p:sp>
        <p:nvSpPr>
          <p:cNvPr id="65" name="正方形/長方形 64"/>
          <p:cNvSpPr/>
          <p:nvPr/>
        </p:nvSpPr>
        <p:spPr>
          <a:xfrm>
            <a:off x="1852204" y="2047854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rgbClr val="FF0000"/>
                </a:solidFill>
              </a:rPr>
              <a:t>開始</a:t>
            </a: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3384354" y="202883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~</a:t>
            </a:r>
            <a:endParaRPr kumimoji="1" lang="ja-JP" altLang="en-US" sz="1400" dirty="0"/>
          </a:p>
        </p:txBody>
      </p:sp>
      <p:sp>
        <p:nvSpPr>
          <p:cNvPr id="67" name="正方形/長方形 66"/>
          <p:cNvSpPr/>
          <p:nvPr/>
        </p:nvSpPr>
        <p:spPr>
          <a:xfrm>
            <a:off x="3749898" y="2047854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終了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354342" y="15758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作業者：</a:t>
            </a:r>
            <a:endParaRPr kumimoji="1" lang="ja-JP" altLang="en-US" sz="1400" dirty="0"/>
          </a:p>
        </p:txBody>
      </p:sp>
      <p:sp>
        <p:nvSpPr>
          <p:cNvPr id="71" name="正方形/長方形 70"/>
          <p:cNvSpPr/>
          <p:nvPr/>
        </p:nvSpPr>
        <p:spPr>
          <a:xfrm>
            <a:off x="6203462" y="1594893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作業者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836022" y="2417884"/>
            <a:ext cx="69363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/>
          <p:cNvSpPr txBox="1"/>
          <p:nvPr/>
        </p:nvSpPr>
        <p:spPr>
          <a:xfrm>
            <a:off x="837363" y="277440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ブリッジ：</a:t>
            </a:r>
            <a:endParaRPr kumimoji="1" lang="ja-JP" altLang="en-US" sz="1400" dirty="0"/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2199029" y="250403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シンボル</a:t>
            </a:r>
            <a:endParaRPr kumimoji="1" lang="ja-JP" altLang="en-US" sz="1400" dirty="0"/>
          </a:p>
        </p:txBody>
      </p:sp>
      <p:sp>
        <p:nvSpPr>
          <p:cNvPr id="74" name="正方形/長方形 73"/>
          <p:cNvSpPr/>
          <p:nvPr/>
        </p:nvSpPr>
        <p:spPr>
          <a:xfrm>
            <a:off x="2164553" y="2812389"/>
            <a:ext cx="1075208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シンボル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楕円 6"/>
          <p:cNvSpPr/>
          <p:nvPr/>
        </p:nvSpPr>
        <p:spPr>
          <a:xfrm>
            <a:off x="3442574" y="2844672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3315777" y="2504612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1</a:t>
            </a:r>
            <a:r>
              <a:rPr kumimoji="1" lang="ja-JP" altLang="en-US" sz="1400" dirty="0" smtClean="0"/>
              <a:t>割</a:t>
            </a:r>
            <a:endParaRPr kumimoji="1" lang="ja-JP" altLang="en-US" sz="1400" dirty="0"/>
          </a:p>
        </p:txBody>
      </p:sp>
      <p:sp>
        <p:nvSpPr>
          <p:cNvPr id="76" name="楕円 75"/>
          <p:cNvSpPr/>
          <p:nvPr/>
        </p:nvSpPr>
        <p:spPr>
          <a:xfrm>
            <a:off x="3927049" y="2844672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3800252" y="2504612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3</a:t>
            </a:r>
            <a:r>
              <a:rPr kumimoji="1" lang="ja-JP" altLang="en-US" sz="1400" dirty="0" smtClean="0"/>
              <a:t>割</a:t>
            </a:r>
            <a:endParaRPr kumimoji="1" lang="ja-JP" altLang="en-US" sz="1400" dirty="0"/>
          </a:p>
        </p:txBody>
      </p:sp>
      <p:sp>
        <p:nvSpPr>
          <p:cNvPr id="78" name="楕円 77"/>
          <p:cNvSpPr/>
          <p:nvPr/>
        </p:nvSpPr>
        <p:spPr>
          <a:xfrm>
            <a:off x="4415253" y="2844672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4288456" y="2504612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5</a:t>
            </a:r>
            <a:r>
              <a:rPr kumimoji="1" lang="ja-JP" altLang="en-US" sz="1400" dirty="0" smtClean="0"/>
              <a:t>割</a:t>
            </a:r>
            <a:endParaRPr kumimoji="1" lang="ja-JP" altLang="en-US" sz="1400" dirty="0"/>
          </a:p>
        </p:txBody>
      </p:sp>
      <p:sp>
        <p:nvSpPr>
          <p:cNvPr id="80" name="楕円 79"/>
          <p:cNvSpPr/>
          <p:nvPr/>
        </p:nvSpPr>
        <p:spPr>
          <a:xfrm>
            <a:off x="4903457" y="2844672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4776660" y="2504612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7</a:t>
            </a:r>
            <a:r>
              <a:rPr kumimoji="1" lang="ja-JP" altLang="en-US" sz="1400" dirty="0" smtClean="0"/>
              <a:t>割</a:t>
            </a:r>
            <a:endParaRPr kumimoji="1" lang="ja-JP" altLang="en-US" sz="1400" dirty="0"/>
          </a:p>
        </p:txBody>
      </p:sp>
      <p:sp>
        <p:nvSpPr>
          <p:cNvPr id="82" name="楕円 81"/>
          <p:cNvSpPr/>
          <p:nvPr/>
        </p:nvSpPr>
        <p:spPr>
          <a:xfrm>
            <a:off x="5391661" y="2840754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5264864" y="2500694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9</a:t>
            </a:r>
            <a:r>
              <a:rPr kumimoji="1" lang="ja-JP" altLang="en-US" sz="1400" dirty="0" smtClean="0"/>
              <a:t>割</a:t>
            </a:r>
            <a:endParaRPr kumimoji="1" lang="ja-JP" altLang="en-US" sz="1400" dirty="0"/>
          </a:p>
        </p:txBody>
      </p:sp>
      <p:sp>
        <p:nvSpPr>
          <p:cNvPr id="84" name="テキスト ボックス 83"/>
          <p:cNvSpPr txBox="1"/>
          <p:nvPr/>
        </p:nvSpPr>
        <p:spPr>
          <a:xfrm>
            <a:off x="5957727" y="250011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備考</a:t>
            </a:r>
            <a:endParaRPr kumimoji="1" lang="ja-JP" altLang="en-US" sz="1400" dirty="0"/>
          </a:p>
        </p:txBody>
      </p:sp>
      <p:sp>
        <p:nvSpPr>
          <p:cNvPr id="85" name="正方形/長方形 84"/>
          <p:cNvSpPr/>
          <p:nvPr/>
        </p:nvSpPr>
        <p:spPr>
          <a:xfrm>
            <a:off x="5923251" y="2808471"/>
            <a:ext cx="1999756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備考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01" name="テキスト ボックス 100"/>
          <p:cNvSpPr txBox="1"/>
          <p:nvPr/>
        </p:nvSpPr>
        <p:spPr>
          <a:xfrm>
            <a:off x="836022" y="319153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はんだ上り：</a:t>
            </a:r>
            <a:endParaRPr kumimoji="1" lang="ja-JP" altLang="en-US" sz="1400" dirty="0"/>
          </a:p>
        </p:txBody>
      </p:sp>
      <p:sp>
        <p:nvSpPr>
          <p:cNvPr id="102" name="正方形/長方形 101"/>
          <p:cNvSpPr/>
          <p:nvPr/>
        </p:nvSpPr>
        <p:spPr>
          <a:xfrm>
            <a:off x="2163212" y="3229518"/>
            <a:ext cx="1075208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シンボル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03" name="楕円 102"/>
          <p:cNvSpPr/>
          <p:nvPr/>
        </p:nvSpPr>
        <p:spPr>
          <a:xfrm>
            <a:off x="3441233" y="3261801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04" name="楕円 103"/>
          <p:cNvSpPr/>
          <p:nvPr/>
        </p:nvSpPr>
        <p:spPr>
          <a:xfrm>
            <a:off x="3925708" y="3261801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05" name="楕円 104"/>
          <p:cNvSpPr/>
          <p:nvPr/>
        </p:nvSpPr>
        <p:spPr>
          <a:xfrm>
            <a:off x="4413912" y="3261801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06" name="楕円 105"/>
          <p:cNvSpPr/>
          <p:nvPr/>
        </p:nvSpPr>
        <p:spPr>
          <a:xfrm>
            <a:off x="4902116" y="3261801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07" name="楕円 106"/>
          <p:cNvSpPr/>
          <p:nvPr/>
        </p:nvSpPr>
        <p:spPr>
          <a:xfrm>
            <a:off x="5390320" y="3257883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08" name="正方形/長方形 107"/>
          <p:cNvSpPr/>
          <p:nvPr/>
        </p:nvSpPr>
        <p:spPr>
          <a:xfrm>
            <a:off x="5921910" y="3225600"/>
            <a:ext cx="1999756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備考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09" name="テキスト ボックス 108"/>
          <p:cNvSpPr txBox="1"/>
          <p:nvPr/>
        </p:nvSpPr>
        <p:spPr>
          <a:xfrm>
            <a:off x="834681" y="366352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ブローホール：</a:t>
            </a:r>
            <a:endParaRPr kumimoji="1" lang="ja-JP" altLang="en-US" sz="1400" dirty="0"/>
          </a:p>
        </p:txBody>
      </p:sp>
      <p:sp>
        <p:nvSpPr>
          <p:cNvPr id="110" name="正方形/長方形 109"/>
          <p:cNvSpPr/>
          <p:nvPr/>
        </p:nvSpPr>
        <p:spPr>
          <a:xfrm>
            <a:off x="2161871" y="3701507"/>
            <a:ext cx="1075208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シンボル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11" name="楕円 110"/>
          <p:cNvSpPr/>
          <p:nvPr/>
        </p:nvSpPr>
        <p:spPr>
          <a:xfrm>
            <a:off x="3439892" y="3733790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2" name="楕円 111"/>
          <p:cNvSpPr/>
          <p:nvPr/>
        </p:nvSpPr>
        <p:spPr>
          <a:xfrm>
            <a:off x="3924367" y="3733790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3" name="楕円 112"/>
          <p:cNvSpPr/>
          <p:nvPr/>
        </p:nvSpPr>
        <p:spPr>
          <a:xfrm>
            <a:off x="4412571" y="3733790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4" name="楕円 113"/>
          <p:cNvSpPr/>
          <p:nvPr/>
        </p:nvSpPr>
        <p:spPr>
          <a:xfrm>
            <a:off x="4900775" y="3733790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5" name="楕円 114"/>
          <p:cNvSpPr/>
          <p:nvPr/>
        </p:nvSpPr>
        <p:spPr>
          <a:xfrm>
            <a:off x="5388979" y="3729872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6" name="正方形/長方形 115"/>
          <p:cNvSpPr/>
          <p:nvPr/>
        </p:nvSpPr>
        <p:spPr>
          <a:xfrm>
            <a:off x="5920569" y="3697589"/>
            <a:ext cx="1999756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備考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833340" y="415927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未はんだ：</a:t>
            </a:r>
            <a:endParaRPr kumimoji="1" lang="ja-JP" altLang="en-US" sz="1400" dirty="0"/>
          </a:p>
        </p:txBody>
      </p:sp>
      <p:sp>
        <p:nvSpPr>
          <p:cNvPr id="118" name="正方形/長方形 117"/>
          <p:cNvSpPr/>
          <p:nvPr/>
        </p:nvSpPr>
        <p:spPr>
          <a:xfrm>
            <a:off x="2160530" y="4197261"/>
            <a:ext cx="1075208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シンボル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19" name="楕円 118"/>
          <p:cNvSpPr/>
          <p:nvPr/>
        </p:nvSpPr>
        <p:spPr>
          <a:xfrm>
            <a:off x="3438551" y="4229544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0" name="楕円 119"/>
          <p:cNvSpPr/>
          <p:nvPr/>
        </p:nvSpPr>
        <p:spPr>
          <a:xfrm>
            <a:off x="3923026" y="4229544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1" name="楕円 120"/>
          <p:cNvSpPr/>
          <p:nvPr/>
        </p:nvSpPr>
        <p:spPr>
          <a:xfrm>
            <a:off x="4411230" y="4229544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2" name="楕円 121"/>
          <p:cNvSpPr/>
          <p:nvPr/>
        </p:nvSpPr>
        <p:spPr>
          <a:xfrm>
            <a:off x="4899434" y="4229544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3" name="楕円 122"/>
          <p:cNvSpPr/>
          <p:nvPr/>
        </p:nvSpPr>
        <p:spPr>
          <a:xfrm>
            <a:off x="5387638" y="4225626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4" name="正方形/長方形 123"/>
          <p:cNvSpPr/>
          <p:nvPr/>
        </p:nvSpPr>
        <p:spPr>
          <a:xfrm>
            <a:off x="5919228" y="4193343"/>
            <a:ext cx="1999756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備考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25" name="テキスト ボックス 124"/>
          <p:cNvSpPr txBox="1"/>
          <p:nvPr/>
        </p:nvSpPr>
        <p:spPr>
          <a:xfrm>
            <a:off x="833340" y="46312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浮き：</a:t>
            </a:r>
            <a:endParaRPr kumimoji="1" lang="ja-JP" altLang="en-US" sz="1400" dirty="0"/>
          </a:p>
        </p:txBody>
      </p:sp>
      <p:sp>
        <p:nvSpPr>
          <p:cNvPr id="126" name="正方形/長方形 125"/>
          <p:cNvSpPr/>
          <p:nvPr/>
        </p:nvSpPr>
        <p:spPr>
          <a:xfrm>
            <a:off x="2160530" y="4669250"/>
            <a:ext cx="1075208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シンボル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27" name="楕円 126"/>
          <p:cNvSpPr/>
          <p:nvPr/>
        </p:nvSpPr>
        <p:spPr>
          <a:xfrm>
            <a:off x="3438551" y="4701533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8" name="楕円 127"/>
          <p:cNvSpPr/>
          <p:nvPr/>
        </p:nvSpPr>
        <p:spPr>
          <a:xfrm>
            <a:off x="3923026" y="4701533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9" name="楕円 128"/>
          <p:cNvSpPr/>
          <p:nvPr/>
        </p:nvSpPr>
        <p:spPr>
          <a:xfrm>
            <a:off x="4411230" y="4701533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0" name="楕円 129"/>
          <p:cNvSpPr/>
          <p:nvPr/>
        </p:nvSpPr>
        <p:spPr>
          <a:xfrm>
            <a:off x="4899434" y="4701533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1" name="楕円 130"/>
          <p:cNvSpPr/>
          <p:nvPr/>
        </p:nvSpPr>
        <p:spPr>
          <a:xfrm>
            <a:off x="5387638" y="4697615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2" name="正方形/長方形 131"/>
          <p:cNvSpPr/>
          <p:nvPr/>
        </p:nvSpPr>
        <p:spPr>
          <a:xfrm>
            <a:off x="5919228" y="4665332"/>
            <a:ext cx="1999756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備考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33" name="テキスト ボックス 132"/>
          <p:cNvSpPr txBox="1"/>
          <p:nvPr/>
        </p:nvSpPr>
        <p:spPr>
          <a:xfrm>
            <a:off x="833340" y="509895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その他：</a:t>
            </a:r>
            <a:endParaRPr kumimoji="1" lang="ja-JP" altLang="en-US" sz="1400" dirty="0"/>
          </a:p>
        </p:txBody>
      </p:sp>
      <p:sp>
        <p:nvSpPr>
          <p:cNvPr id="134" name="正方形/長方形 133"/>
          <p:cNvSpPr/>
          <p:nvPr/>
        </p:nvSpPr>
        <p:spPr>
          <a:xfrm>
            <a:off x="2160530" y="5136942"/>
            <a:ext cx="1075208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シンボル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35" name="楕円 134"/>
          <p:cNvSpPr/>
          <p:nvPr/>
        </p:nvSpPr>
        <p:spPr>
          <a:xfrm>
            <a:off x="3438551" y="5169225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6" name="楕円 135"/>
          <p:cNvSpPr/>
          <p:nvPr/>
        </p:nvSpPr>
        <p:spPr>
          <a:xfrm>
            <a:off x="3923026" y="5169225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7" name="楕円 136"/>
          <p:cNvSpPr/>
          <p:nvPr/>
        </p:nvSpPr>
        <p:spPr>
          <a:xfrm>
            <a:off x="4411230" y="5169225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8" name="楕円 137"/>
          <p:cNvSpPr/>
          <p:nvPr/>
        </p:nvSpPr>
        <p:spPr>
          <a:xfrm>
            <a:off x="4899434" y="5169225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9" name="楕円 138"/>
          <p:cNvSpPr/>
          <p:nvPr/>
        </p:nvSpPr>
        <p:spPr>
          <a:xfrm>
            <a:off x="5387638" y="5165307"/>
            <a:ext cx="201980" cy="201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40" name="正方形/長方形 139"/>
          <p:cNvSpPr/>
          <p:nvPr/>
        </p:nvSpPr>
        <p:spPr>
          <a:xfrm>
            <a:off x="5919228" y="5133024"/>
            <a:ext cx="1999756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備考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872950" y="5495587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連続入力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41" name="角丸四角形 140"/>
          <p:cNvSpPr/>
          <p:nvPr/>
        </p:nvSpPr>
        <p:spPr>
          <a:xfrm>
            <a:off x="6468738" y="5499146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完了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42" name="角丸四角形 141"/>
          <p:cNvSpPr/>
          <p:nvPr/>
        </p:nvSpPr>
        <p:spPr>
          <a:xfrm>
            <a:off x="6456095" y="875909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戻る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5354342" y="200089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工程：</a:t>
            </a:r>
            <a:endParaRPr kumimoji="1" lang="ja-JP" altLang="en-US" sz="1400" dirty="0"/>
          </a:p>
        </p:txBody>
      </p:sp>
      <p:sp>
        <p:nvSpPr>
          <p:cNvPr id="144" name="正方形/長方形 143"/>
          <p:cNvSpPr/>
          <p:nvPr/>
        </p:nvSpPr>
        <p:spPr>
          <a:xfrm>
            <a:off x="6203462" y="2019906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工程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53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不良状況（週次）画面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不良状況　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r>
              <a:rPr kumimoji="1" lang="ja-JP" altLang="en-US" dirty="0" smtClean="0">
                <a:solidFill>
                  <a:schemeClr val="tx1"/>
                </a:solidFill>
              </a:rPr>
              <a:t>週次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836022" y="88878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工程選択：</a:t>
            </a:r>
            <a:endParaRPr kumimoji="1" lang="ja-JP" altLang="en-US" sz="1400" dirty="0"/>
          </a:p>
        </p:txBody>
      </p:sp>
      <p:sp>
        <p:nvSpPr>
          <p:cNvPr id="27" name="正方形/長方形 26"/>
          <p:cNvSpPr/>
          <p:nvPr/>
        </p:nvSpPr>
        <p:spPr>
          <a:xfrm>
            <a:off x="1878574" y="907803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工程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6463790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戻る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5023184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更新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836022" y="2736620"/>
            <a:ext cx="1220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Top5</a:t>
            </a:r>
            <a:r>
              <a:rPr kumimoji="1" lang="ja-JP" altLang="en-US" sz="1400" dirty="0" smtClean="0"/>
              <a:t>　</a:t>
            </a:r>
            <a:r>
              <a:rPr kumimoji="1" lang="en-US" altLang="ja-JP" sz="1400" dirty="0" smtClean="0"/>
              <a:t>–</a:t>
            </a:r>
            <a:r>
              <a:rPr kumimoji="1" lang="ja-JP" altLang="en-US" sz="1400" dirty="0" smtClean="0"/>
              <a:t>週次</a:t>
            </a:r>
            <a:r>
              <a:rPr kumimoji="1" lang="en-US" altLang="ja-JP" sz="1400" dirty="0" smtClean="0"/>
              <a:t>-</a:t>
            </a:r>
            <a:endParaRPr kumimoji="1" lang="ja-JP" altLang="en-US" sz="1400" dirty="0"/>
          </a:p>
        </p:txBody>
      </p:sp>
      <p:sp>
        <p:nvSpPr>
          <p:cNvPr id="31" name="正方形/長方形 30"/>
          <p:cNvSpPr/>
          <p:nvPr/>
        </p:nvSpPr>
        <p:spPr>
          <a:xfrm>
            <a:off x="1113474" y="310706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2672052" y="310706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4230630" y="3107067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正方形/長方形 33"/>
          <p:cNvSpPr/>
          <p:nvPr/>
        </p:nvSpPr>
        <p:spPr>
          <a:xfrm>
            <a:off x="1113474" y="348528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672052" y="348528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230630" y="3485287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4981426" y="3107067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4981425" y="3485287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正方形/長方形 38"/>
          <p:cNvSpPr/>
          <p:nvPr/>
        </p:nvSpPr>
        <p:spPr>
          <a:xfrm>
            <a:off x="1113474" y="386707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2672052" y="386707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4230630" y="3867073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正方形/長方形 41"/>
          <p:cNvSpPr/>
          <p:nvPr/>
        </p:nvSpPr>
        <p:spPr>
          <a:xfrm>
            <a:off x="4981426" y="3867073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1113473" y="4244830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2672051" y="4244830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4230629" y="4244830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4981425" y="4244830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正方形/長方形 46"/>
          <p:cNvSpPr/>
          <p:nvPr/>
        </p:nvSpPr>
        <p:spPr>
          <a:xfrm>
            <a:off x="1113473" y="4627358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2672051" y="4627358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/>
          <p:cNvSpPr/>
          <p:nvPr/>
        </p:nvSpPr>
        <p:spPr>
          <a:xfrm>
            <a:off x="4230629" y="4627358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正方形/長方形 49"/>
          <p:cNvSpPr/>
          <p:nvPr/>
        </p:nvSpPr>
        <p:spPr>
          <a:xfrm>
            <a:off x="4981425" y="4627358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840577" y="143655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品質状況　</a:t>
            </a:r>
            <a:r>
              <a:rPr kumimoji="1" lang="en-US" altLang="ja-JP" sz="1400" dirty="0" smtClean="0"/>
              <a:t>–</a:t>
            </a:r>
            <a:r>
              <a:rPr kumimoji="1" lang="ja-JP" altLang="en-US" sz="1400" dirty="0" smtClean="0"/>
              <a:t>週次</a:t>
            </a:r>
            <a:r>
              <a:rPr kumimoji="1" lang="en-US" altLang="ja-JP" sz="1400" dirty="0" smtClean="0"/>
              <a:t>-</a:t>
            </a:r>
            <a:endParaRPr kumimoji="1" lang="ja-JP" altLang="en-US" sz="1400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1121102" y="181431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不良率：</a:t>
            </a:r>
            <a:endParaRPr kumimoji="1" lang="en-US" altLang="ja-JP" sz="1400" dirty="0" smtClean="0"/>
          </a:p>
        </p:txBody>
      </p:sp>
      <p:sp>
        <p:nvSpPr>
          <p:cNvPr id="53" name="正方形/長方形 52"/>
          <p:cNvSpPr/>
          <p:nvPr/>
        </p:nvSpPr>
        <p:spPr>
          <a:xfrm>
            <a:off x="2641442" y="1834925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%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1121102" y="223175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全体不良率：</a:t>
            </a:r>
            <a:endParaRPr kumimoji="1" lang="en-US" altLang="ja-JP" sz="1400" dirty="0" smtClean="0"/>
          </a:p>
        </p:txBody>
      </p:sp>
      <p:sp>
        <p:nvSpPr>
          <p:cNvPr id="55" name="正方形/長方形 54"/>
          <p:cNvSpPr/>
          <p:nvPr/>
        </p:nvSpPr>
        <p:spPr>
          <a:xfrm>
            <a:off x="2641442" y="225237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%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角丸四角形 55"/>
          <p:cNvSpPr/>
          <p:nvPr/>
        </p:nvSpPr>
        <p:spPr>
          <a:xfrm>
            <a:off x="6456095" y="5459369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グラフ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59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不良状況（週次）画面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不良状況　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r>
              <a:rPr kumimoji="1" lang="ja-JP" altLang="en-US" dirty="0" smtClean="0">
                <a:solidFill>
                  <a:schemeClr val="tx1"/>
                </a:solidFill>
              </a:rPr>
              <a:t>週次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836022" y="88878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工程選択：</a:t>
            </a:r>
            <a:endParaRPr kumimoji="1" lang="ja-JP" altLang="en-US" sz="1400" dirty="0"/>
          </a:p>
        </p:txBody>
      </p:sp>
      <p:sp>
        <p:nvSpPr>
          <p:cNvPr id="27" name="正方形/長方形 26"/>
          <p:cNvSpPr/>
          <p:nvPr/>
        </p:nvSpPr>
        <p:spPr>
          <a:xfrm>
            <a:off x="1878574" y="907803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工程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6463790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戻る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5023184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更新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993531" y="1995854"/>
            <a:ext cx="6708531" cy="3868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週次グラフ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98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不良状況（月次）画面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不良状況　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r>
              <a:rPr kumimoji="1" lang="ja-JP" altLang="en-US" dirty="0">
                <a:solidFill>
                  <a:schemeClr val="tx1"/>
                </a:solidFill>
              </a:rPr>
              <a:t>月次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836022" y="88878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工程選択：</a:t>
            </a:r>
            <a:endParaRPr kumimoji="1" lang="ja-JP" altLang="en-US" sz="1400" dirty="0"/>
          </a:p>
        </p:txBody>
      </p:sp>
      <p:sp>
        <p:nvSpPr>
          <p:cNvPr id="27" name="正方形/長方形 26"/>
          <p:cNvSpPr/>
          <p:nvPr/>
        </p:nvSpPr>
        <p:spPr>
          <a:xfrm>
            <a:off x="1878574" y="907803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工程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6463790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戻る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5023184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更新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836022" y="2736620"/>
            <a:ext cx="1220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Top5</a:t>
            </a:r>
            <a:r>
              <a:rPr kumimoji="1" lang="ja-JP" altLang="en-US" sz="1400" dirty="0" smtClean="0"/>
              <a:t>　</a:t>
            </a:r>
            <a:r>
              <a:rPr kumimoji="1" lang="en-US" altLang="ja-JP" sz="1400" dirty="0" smtClean="0"/>
              <a:t>–</a:t>
            </a:r>
            <a:r>
              <a:rPr kumimoji="1" lang="ja-JP" altLang="en-US" sz="1400" dirty="0" smtClean="0"/>
              <a:t>週次</a:t>
            </a:r>
            <a:r>
              <a:rPr kumimoji="1" lang="en-US" altLang="ja-JP" sz="1400" dirty="0" smtClean="0"/>
              <a:t>-</a:t>
            </a:r>
            <a:endParaRPr kumimoji="1" lang="ja-JP" altLang="en-US" sz="1400" dirty="0"/>
          </a:p>
        </p:txBody>
      </p:sp>
      <p:sp>
        <p:nvSpPr>
          <p:cNvPr id="31" name="正方形/長方形 30"/>
          <p:cNvSpPr/>
          <p:nvPr/>
        </p:nvSpPr>
        <p:spPr>
          <a:xfrm>
            <a:off x="1113474" y="310706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2672052" y="310706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4230630" y="3107067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正方形/長方形 33"/>
          <p:cNvSpPr/>
          <p:nvPr/>
        </p:nvSpPr>
        <p:spPr>
          <a:xfrm>
            <a:off x="1113474" y="348528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672052" y="3485287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4230630" y="3485287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4981426" y="3107067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4981425" y="3485287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正方形/長方形 38"/>
          <p:cNvSpPr/>
          <p:nvPr/>
        </p:nvSpPr>
        <p:spPr>
          <a:xfrm>
            <a:off x="1113474" y="386707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2672052" y="386707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4230630" y="3867073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正方形/長方形 41"/>
          <p:cNvSpPr/>
          <p:nvPr/>
        </p:nvSpPr>
        <p:spPr>
          <a:xfrm>
            <a:off x="4981426" y="3867073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1113473" y="4244830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2672051" y="4244830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4230629" y="4244830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4981425" y="4244830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正方形/長方形 46"/>
          <p:cNvSpPr/>
          <p:nvPr/>
        </p:nvSpPr>
        <p:spPr>
          <a:xfrm>
            <a:off x="1113473" y="4627358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品目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2672051" y="4627358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症状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/>
          <p:cNvSpPr/>
          <p:nvPr/>
        </p:nvSpPr>
        <p:spPr>
          <a:xfrm>
            <a:off x="4230629" y="4627358"/>
            <a:ext cx="625679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件数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正方形/長方形 49"/>
          <p:cNvSpPr/>
          <p:nvPr/>
        </p:nvSpPr>
        <p:spPr>
          <a:xfrm>
            <a:off x="4981425" y="4627358"/>
            <a:ext cx="1288745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Ref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840577" y="1436553"/>
            <a:ext cx="1585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品質状況　</a:t>
            </a:r>
            <a:r>
              <a:rPr kumimoji="1" lang="en-US" altLang="ja-JP" sz="1400" dirty="0" smtClean="0"/>
              <a:t>–</a:t>
            </a:r>
            <a:r>
              <a:rPr kumimoji="1" lang="ja-JP" altLang="en-US" sz="1400" dirty="0" smtClean="0"/>
              <a:t>週次</a:t>
            </a:r>
            <a:r>
              <a:rPr kumimoji="1" lang="en-US" altLang="ja-JP" sz="1400" dirty="0" smtClean="0"/>
              <a:t>-</a:t>
            </a:r>
            <a:endParaRPr kumimoji="1" lang="ja-JP" altLang="en-US" sz="1400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1121102" y="181431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不良率：</a:t>
            </a:r>
            <a:endParaRPr kumimoji="1" lang="en-US" altLang="ja-JP" sz="1400" dirty="0" smtClean="0"/>
          </a:p>
        </p:txBody>
      </p:sp>
      <p:sp>
        <p:nvSpPr>
          <p:cNvPr id="53" name="正方形/長方形 52"/>
          <p:cNvSpPr/>
          <p:nvPr/>
        </p:nvSpPr>
        <p:spPr>
          <a:xfrm>
            <a:off x="2641442" y="1834925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%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1121102" y="223175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全体不良率：</a:t>
            </a:r>
            <a:endParaRPr kumimoji="1" lang="en-US" altLang="ja-JP" sz="1400" dirty="0" smtClean="0"/>
          </a:p>
        </p:txBody>
      </p:sp>
      <p:sp>
        <p:nvSpPr>
          <p:cNvPr id="55" name="正方形/長方形 54"/>
          <p:cNvSpPr/>
          <p:nvPr/>
        </p:nvSpPr>
        <p:spPr>
          <a:xfrm>
            <a:off x="2641442" y="2252373"/>
            <a:ext cx="1433461" cy="266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tx1"/>
                </a:solidFill>
              </a:rPr>
              <a:t>%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角丸四角形 55"/>
          <p:cNvSpPr/>
          <p:nvPr/>
        </p:nvSpPr>
        <p:spPr>
          <a:xfrm>
            <a:off x="6456095" y="5459369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グラフ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92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不良状況（月次）画面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不良状況　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r>
              <a:rPr kumimoji="1" lang="ja-JP" altLang="en-US" dirty="0">
                <a:solidFill>
                  <a:schemeClr val="tx1"/>
                </a:solidFill>
              </a:rPr>
              <a:t>月</a:t>
            </a:r>
            <a:r>
              <a:rPr kumimoji="1" lang="ja-JP" altLang="en-US" dirty="0" smtClean="0">
                <a:solidFill>
                  <a:schemeClr val="tx1"/>
                </a:solidFill>
              </a:rPr>
              <a:t>次</a:t>
            </a:r>
            <a:r>
              <a:rPr kumimoji="1" lang="ja-JP" altLang="en-US" dirty="0" err="1" smtClean="0">
                <a:solidFill>
                  <a:schemeClr val="tx1"/>
                </a:solidFill>
              </a:rPr>
              <a:t>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836022" y="88878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工程選択：</a:t>
            </a:r>
            <a:endParaRPr kumimoji="1" lang="ja-JP" altLang="en-US" sz="1400" dirty="0"/>
          </a:p>
        </p:txBody>
      </p:sp>
      <p:sp>
        <p:nvSpPr>
          <p:cNvPr id="27" name="正方形/長方形 26"/>
          <p:cNvSpPr/>
          <p:nvPr/>
        </p:nvSpPr>
        <p:spPr>
          <a:xfrm>
            <a:off x="1878574" y="907803"/>
            <a:ext cx="1433461" cy="26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FF0000"/>
                </a:solidFill>
              </a:rPr>
              <a:t>工程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6463790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戻る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5023184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更新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993531" y="1995854"/>
            <a:ext cx="6708531" cy="3868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週次グラフ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19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管理画面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740228" y="481007"/>
            <a:ext cx="7245531" cy="5684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740229" y="481006"/>
            <a:ext cx="7245530" cy="296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管理画面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8072847" y="481006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8072847" y="6165561"/>
            <a:ext cx="714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8325395" y="481006"/>
            <a:ext cx="0" cy="5684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40228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7985759" y="6216664"/>
            <a:ext cx="0" cy="470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40228" y="6363818"/>
            <a:ext cx="72455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338660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1200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45628" y="63567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1024</a:t>
            </a:r>
            <a:endParaRPr kumimoji="1" lang="ja-JP" altLang="en-US" dirty="0"/>
          </a:p>
        </p:txBody>
      </p:sp>
      <p:sp>
        <p:nvSpPr>
          <p:cNvPr id="28" name="角丸四角形 27"/>
          <p:cNvSpPr/>
          <p:nvPr/>
        </p:nvSpPr>
        <p:spPr>
          <a:xfrm>
            <a:off x="6463790" y="872013"/>
            <a:ext cx="1400052" cy="5539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戻る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909813" y="2004033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FF0000"/>
                </a:solidFill>
              </a:rPr>
              <a:t>工程追加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2512860" y="2004033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solidFill>
                  <a:srgbClr val="FF0000"/>
                </a:solidFill>
              </a:rPr>
              <a:t>作業者追加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4115907" y="2004032"/>
            <a:ext cx="1433462" cy="977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mtClean="0">
                <a:solidFill>
                  <a:srgbClr val="FF0000"/>
                </a:solidFill>
              </a:rPr>
              <a:t>作業者追加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489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5657</TotalTime>
  <Words>286</Words>
  <Application>Microsoft Office PowerPoint</Application>
  <PresentationFormat>画面に合わせる (4:3)</PresentationFormat>
  <Paragraphs>177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41</cp:revision>
  <cp:lastPrinted>2020-08-12T03:03:21Z</cp:lastPrinted>
  <dcterms:created xsi:type="dcterms:W3CDTF">2020-07-13T00:48:58Z</dcterms:created>
  <dcterms:modified xsi:type="dcterms:W3CDTF">2020-08-25T07:29:24Z</dcterms:modified>
</cp:coreProperties>
</file>