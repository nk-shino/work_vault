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96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本資料の数値・設備条件は、ユーザー提供の添付資料および入力定義に基づく。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本資料の数値・設備条件は、ユーザー提供の添付資料および入力定義に基づく。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本資料の数値・設備条件は、ユーザー提供の添付資料および入力定義に基づく。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本資料の数値・設備条件は、ユーザー提供の添付資料および入力定義に基づく。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B252D-CABB-727A-9D76-BFD0F150D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91DA7B-41C2-A625-F3CC-C821E51B0F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93E68B-6B86-A595-57AC-47DB3856E8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本資料の数値・設備条件は、ユーザー提供の添付資料および入力定義に基づく。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7C594E-A82C-B9AD-5EED-D6B5211C74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85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本資料の数値・設備条件は、ユーザー提供の添付資料および入力定義に基づく。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本資料の数値・設備条件は、ユーザー提供の添付資料および入力定義に基づく。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BF6C6-ADD6-3854-0BA9-73291B1D0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ACD62F-B164-3A89-BE73-E5C254A65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A95DA5-583F-ADCE-7497-D5BB3000F4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本資料の数値・設備条件は、ユーザー提供の添付資料および入力定義に基づく。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64D5BF-43B4-EAB6-C6C4-214BE2ADD6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35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品目選定フロー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418320" y="25603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7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実装ライン 7連結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1016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87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社内説明用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A8793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A8793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146304"/>
            <a:ext cx="12191695" cy="6345936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9270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19050" dist="889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051560" y="150876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4E79"/>
                </a:solidFill>
              </a:rPr>
              <a:t>品目選定フロー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69848" y="239572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67788"/>
                </a:solidFill>
              </a:rPr>
              <a:t>生産能力最大化に向けたグルーピングと設備適合判定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097280" y="3246120"/>
            <a:ext cx="1143000" cy="1143000"/>
          </a:xfrm>
          <a:prstGeom prst="ellipse">
            <a:avLst/>
          </a:prstGeom>
          <a:solidFill>
            <a:srgbClr val="DDEBF7"/>
          </a:solidFill>
          <a:ln w="1524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097280" y="363931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BOM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67712" y="3822192"/>
            <a:ext cx="996696" cy="1"/>
          </a:xfrm>
          <a:prstGeom prst="line">
            <a:avLst/>
          </a:prstGeom>
          <a:noFill/>
          <a:ln w="17780">
            <a:solidFill>
              <a:srgbClr val="66778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337560" y="3246120"/>
            <a:ext cx="1143000" cy="1143000"/>
          </a:xfrm>
          <a:prstGeom prst="ellipse">
            <a:avLst/>
          </a:prstGeom>
          <a:solidFill>
            <a:srgbClr val="EAF2F8"/>
          </a:solidFill>
          <a:ln w="1524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3337560" y="363931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フィーダー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07992" y="3822192"/>
            <a:ext cx="996696" cy="1"/>
          </a:xfrm>
          <a:prstGeom prst="line">
            <a:avLst/>
          </a:prstGeom>
          <a:noFill/>
          <a:ln w="17780">
            <a:solidFill>
              <a:srgbClr val="66778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5577840" y="3246120"/>
            <a:ext cx="1143000" cy="1143000"/>
          </a:xfrm>
          <a:prstGeom prst="ellipse">
            <a:avLst/>
          </a:prstGeom>
          <a:solidFill>
            <a:srgbClr val="DDEBF7"/>
          </a:solidFill>
          <a:ln w="1524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577840" y="363931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ノズル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48272" y="3822192"/>
            <a:ext cx="996696" cy="1"/>
          </a:xfrm>
          <a:prstGeom prst="line">
            <a:avLst/>
          </a:prstGeom>
          <a:noFill/>
          <a:ln w="17780">
            <a:solidFill>
              <a:srgbClr val="66778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7818120" y="3246120"/>
            <a:ext cx="1143000" cy="1143000"/>
          </a:xfrm>
          <a:prstGeom prst="ellipse">
            <a:avLst/>
          </a:prstGeom>
          <a:solidFill>
            <a:srgbClr val="EAF2F8"/>
          </a:solidFill>
          <a:ln w="1524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7818120" y="363931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ヘッド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88552" y="3822192"/>
            <a:ext cx="996696" cy="1"/>
          </a:xfrm>
          <a:prstGeom prst="line">
            <a:avLst/>
          </a:prstGeom>
          <a:noFill/>
          <a:ln w="17780">
            <a:solidFill>
              <a:srgbClr val="66778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10058400" y="3246120"/>
            <a:ext cx="1143000" cy="1143000"/>
          </a:xfrm>
          <a:prstGeom prst="ellipse">
            <a:avLst/>
          </a:prstGeom>
          <a:solidFill>
            <a:srgbClr val="DDEBF7"/>
          </a:solidFill>
          <a:ln w="1524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10058400" y="363931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能力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11680" y="482803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0AD47"/>
                </a:solidFill>
              </a:rPr>
              <a:t>入力条件を順番に確認し、品目グループを確定する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A8793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03040"/>
                </a:solidFill>
              </a:rPr>
              <a:t>1. 品目選定の考え方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788"/>
                </a:solidFill>
              </a:rPr>
              <a:t>1日の生産品目を複数グループに分け、段取りと設備制約を両立させる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3429000" cy="35204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658368" y="1600200"/>
            <a:ext cx="3429000" cy="109728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859536" y="1828800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75B5"/>
                </a:solidFill>
              </a:rPr>
              <a:t>生産単位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9536" y="2258568"/>
            <a:ext cx="3026664" cy="2715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r>
              <a:rPr lang="en-US" sz="1100" dirty="0">
                <a:solidFill>
                  <a:srgbClr val="203040"/>
                </a:solidFill>
              </a:rPr>
              <a:t>1日の生産品目を</a:t>
            </a:r>
            <a:endParaRPr lang="en-US" sz="1100" dirty="0"/>
          </a:p>
          <a:p>
            <a:r>
              <a:rPr lang="en-US" sz="1100" dirty="0">
                <a:solidFill>
                  <a:srgbClr val="203040"/>
                </a:solidFill>
              </a:rPr>
              <a:t>複数のグループに分けて生産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600200"/>
            <a:ext cx="3429000" cy="35204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10972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590288" y="1828800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7D31"/>
                </a:solidFill>
              </a:rPr>
              <a:t>BOM差異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90288" y="2258568"/>
            <a:ext cx="3026664" cy="2715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r>
              <a:rPr lang="en-US" sz="1100" dirty="0">
                <a:solidFill>
                  <a:srgbClr val="203040"/>
                </a:solidFill>
              </a:rPr>
              <a:t>品目ごとにBOM構成が異なる</a:t>
            </a:r>
            <a:endParaRPr lang="en-US" sz="1100" dirty="0"/>
          </a:p>
          <a:p>
            <a:r>
              <a:rPr lang="en-US" sz="1100" dirty="0">
                <a:solidFill>
                  <a:srgbClr val="203040"/>
                </a:solidFill>
              </a:rPr>
              <a:t>共通部品と固有部品を切り分ける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19872" y="1600200"/>
            <a:ext cx="3429000" cy="35204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8119872" y="1600200"/>
            <a:ext cx="3429000" cy="109728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8321040" y="1828800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0AD47"/>
                </a:solidFill>
              </a:rPr>
              <a:t>設備制約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21040" y="2258568"/>
            <a:ext cx="3026664" cy="2715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r>
              <a:rPr lang="en-US" sz="1100" dirty="0">
                <a:solidFill>
                  <a:srgbClr val="203040"/>
                </a:solidFill>
              </a:rPr>
              <a:t>実装機は7連結</a:t>
            </a:r>
            <a:endParaRPr lang="en-US" sz="1100" dirty="0"/>
          </a:p>
          <a:p>
            <a:r>
              <a:rPr lang="en-US" sz="1100" dirty="0">
                <a:solidFill>
                  <a:srgbClr val="203040"/>
                </a:solidFill>
              </a:rPr>
              <a:t>フィーダー・ノズル・ヘッド適合を確認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0" y="2788920"/>
            <a:ext cx="256032" cy="594360"/>
          </a:xfrm>
          <a:prstGeom prst="chevron">
            <a:avLst/>
          </a:prstGeom>
          <a:solidFill>
            <a:srgbClr val="B7C9DA"/>
          </a:solidFill>
          <a:ln w="12700">
            <a:solidFill>
              <a:srgbClr val="B7C9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7845552" y="2788920"/>
            <a:ext cx="256032" cy="594360"/>
          </a:xfrm>
          <a:prstGeom prst="chevron">
            <a:avLst/>
          </a:prstGeom>
          <a:solidFill>
            <a:srgbClr val="B7C9DA"/>
          </a:solidFill>
          <a:ln w="12700">
            <a:solidFill>
              <a:srgbClr val="B7C9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1143000" y="5623560"/>
            <a:ext cx="9921240" cy="457200"/>
          </a:xfrm>
          <a:prstGeom prst="rect">
            <a:avLst/>
          </a:prstGeom>
          <a:solidFill>
            <a:srgbClr val="EAF2F8"/>
          </a:solidFill>
          <a:ln>
            <a:solidFill>
              <a:srgbClr val="C9DCEA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</a:rPr>
              <a:t>目的：段取り替えを抑えながら、生産能力を最大限に活用する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A8793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03040"/>
                </a:solidFill>
              </a:rPr>
              <a:t>2. 選定時に確認する条件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788"/>
                </a:solidFill>
              </a:rPr>
              <a:t>BOM情報を設備条件へ変換して、グループ化の可否を判定する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554480"/>
            <a:ext cx="349300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658368" y="1554480"/>
            <a:ext cx="3493008" cy="109728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859536" y="1783080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75B5"/>
                </a:solidFill>
              </a:rPr>
              <a:t>① BOM構成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9536" y="2212848"/>
            <a:ext cx="3090672" cy="9326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3040"/>
                </a:solidFill>
              </a:rPr>
              <a:t>共通部品／固有部品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1554480"/>
            <a:ext cx="349300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4480560" y="1554480"/>
            <a:ext cx="3493008" cy="10972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681728" y="1783080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7D31"/>
                </a:solidFill>
              </a:rPr>
              <a:t>② フィーダー数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81728" y="2212848"/>
            <a:ext cx="3090672" cy="9326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r>
              <a:rPr lang="en-US" sz="1100" dirty="0">
                <a:solidFill>
                  <a:srgbClr val="203040"/>
                </a:solidFill>
              </a:rPr>
              <a:t>780種／7連結</a:t>
            </a:r>
            <a:endParaRPr lang="en-US" sz="1100" dirty="0"/>
          </a:p>
          <a:p>
            <a:r>
              <a:rPr lang="en-US" sz="1100" dirty="0">
                <a:solidFill>
                  <a:srgbClr val="203040"/>
                </a:solidFill>
              </a:rPr>
              <a:t>ダブルフィーダー換算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02752" y="1554480"/>
            <a:ext cx="349300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8302752" y="1554480"/>
            <a:ext cx="3493008" cy="109728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8503920" y="1783080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0AD47"/>
                </a:solidFill>
              </a:rPr>
              <a:t>③ フィーダー仕様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03920" y="2212848"/>
            <a:ext cx="3090672" cy="9326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r>
              <a:rPr lang="en-US" sz="1100" dirty="0">
                <a:solidFill>
                  <a:srgbClr val="203040"/>
                </a:solidFill>
              </a:rPr>
              <a:t>幅：8／12／16／24／32／48／56／64 mm</a:t>
            </a:r>
            <a:endParaRPr lang="en-US" sz="1100" dirty="0"/>
          </a:p>
          <a:p>
            <a:r>
              <a:rPr lang="en-US" sz="1100" dirty="0">
                <a:solidFill>
                  <a:srgbClr val="203040"/>
                </a:solidFill>
              </a:rPr>
              <a:t>送りピッチ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" y="3703320"/>
            <a:ext cx="349300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658368" y="3703320"/>
            <a:ext cx="3493008" cy="109728"/>
          </a:xfrm>
          <a:prstGeom prst="rect">
            <a:avLst/>
          </a:prstGeom>
          <a:solidFill>
            <a:srgbClr val="8064A2"/>
          </a:solidFill>
          <a:ln w="12700">
            <a:solidFill>
              <a:srgbClr val="8064A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859536" y="3931920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064A2"/>
                </a:solidFill>
              </a:rPr>
              <a:t>④ 部品・ノズル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9536" y="4361688"/>
            <a:ext cx="3090672" cy="9326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r>
              <a:rPr lang="en-US" sz="1100" dirty="0">
                <a:solidFill>
                  <a:srgbClr val="203040"/>
                </a:solidFill>
              </a:rPr>
              <a:t>部品寸法・高さ・質量</a:t>
            </a:r>
            <a:endParaRPr lang="en-US" sz="1100" dirty="0"/>
          </a:p>
          <a:p>
            <a:r>
              <a:rPr lang="en-US" sz="1100" dirty="0">
                <a:solidFill>
                  <a:srgbClr val="203040"/>
                </a:solidFill>
              </a:rPr>
              <a:t>使用ノズル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80560" y="3703320"/>
            <a:ext cx="349300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4480560" y="3703320"/>
            <a:ext cx="3493008" cy="109728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4681728" y="3931920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504D"/>
                </a:solidFill>
              </a:rPr>
              <a:t>⑤ ヘッド適合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81728" y="4361688"/>
            <a:ext cx="3090672" cy="9326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r>
              <a:rPr lang="en-US" sz="1100" dirty="0">
                <a:solidFill>
                  <a:srgbClr val="203040"/>
                </a:solidFill>
              </a:rPr>
              <a:t>16／12／8／3ノズルヘッド</a:t>
            </a:r>
            <a:endParaRPr lang="en-US" sz="1100" dirty="0"/>
          </a:p>
          <a:p>
            <a:r>
              <a:rPr lang="en-US" sz="1100" dirty="0">
                <a:solidFill>
                  <a:srgbClr val="203040"/>
                </a:solidFill>
              </a:rPr>
              <a:t>搭載可能モジュール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302752" y="3703320"/>
            <a:ext cx="349300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8302752" y="3703320"/>
            <a:ext cx="3493008" cy="109728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8503920" y="3931920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9BD5"/>
                </a:solidFill>
              </a:rPr>
              <a:t>⑥ 能力バランス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503920" y="4361688"/>
            <a:ext cx="3090672" cy="9326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r>
              <a:rPr lang="en-US" sz="1100" dirty="0">
                <a:solidFill>
                  <a:srgbClr val="203040"/>
                </a:solidFill>
              </a:rPr>
              <a:t>各モジュールへの負荷配分</a:t>
            </a:r>
            <a:endParaRPr lang="en-US" sz="1100" dirty="0"/>
          </a:p>
          <a:p>
            <a:r>
              <a:rPr lang="en-US" sz="1100" dirty="0">
                <a:solidFill>
                  <a:srgbClr val="203040"/>
                </a:solidFill>
              </a:rPr>
              <a:t>ボトルネック確認</a:t>
            </a:r>
            <a:endParaRPr lang="en-US" sz="11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A8793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03040"/>
                </a:solidFill>
              </a:rPr>
              <a:t>3. 品目選定フロー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788"/>
                </a:solidFill>
              </a:rPr>
              <a:t>不適合時はグループ分割または組合せ変更へ戻す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DDEBF7"/>
          </a:solidFill>
          <a:ln w="1778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87552" y="1472184"/>
            <a:ext cx="17739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03040"/>
                </a:solidFill>
              </a:rPr>
              <a:t>対象品目一覧・生産数量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74520" y="1920240"/>
            <a:ext cx="1" cy="210312"/>
          </a:xfrm>
          <a:prstGeom prst="line">
            <a:avLst/>
          </a:prstGeom>
          <a:noFill/>
          <a:ln w="17780">
            <a:solidFill>
              <a:srgbClr val="66778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914400" y="2130552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778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987552" y="2185416"/>
            <a:ext cx="17739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03040"/>
                </a:solidFill>
              </a:rPr>
              <a:t>BOM展開／共通部品確認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74520" y="2633472"/>
            <a:ext cx="1" cy="210312"/>
          </a:xfrm>
          <a:prstGeom prst="line">
            <a:avLst/>
          </a:prstGeom>
          <a:noFill/>
          <a:ln w="17780">
            <a:solidFill>
              <a:srgbClr val="66778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914400" y="2843784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778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987552" y="2898648"/>
            <a:ext cx="17739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03040"/>
                </a:solidFill>
              </a:rPr>
              <a:t>必要フィーダー数算出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74520" y="3346704"/>
            <a:ext cx="1" cy="210312"/>
          </a:xfrm>
          <a:prstGeom prst="line">
            <a:avLst/>
          </a:prstGeom>
          <a:noFill/>
          <a:ln w="17780">
            <a:solidFill>
              <a:srgbClr val="66778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914400" y="3557016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778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987552" y="3611880"/>
            <a:ext cx="17739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03040"/>
                </a:solidFill>
              </a:rPr>
              <a:t>フィーダー幅・送りピッチ確認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74520" y="4059936"/>
            <a:ext cx="1" cy="210312"/>
          </a:xfrm>
          <a:prstGeom prst="line">
            <a:avLst/>
          </a:prstGeom>
          <a:noFill/>
          <a:ln w="17780">
            <a:solidFill>
              <a:srgbClr val="66778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914400" y="4270248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778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987552" y="4325112"/>
            <a:ext cx="17739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03040"/>
                </a:solidFill>
              </a:rPr>
              <a:t>部品・ノズル・ヘッド適合確認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74520" y="4773168"/>
            <a:ext cx="1" cy="210312"/>
          </a:xfrm>
          <a:prstGeom prst="line">
            <a:avLst/>
          </a:prstGeom>
          <a:noFill/>
          <a:ln w="17780">
            <a:solidFill>
              <a:srgbClr val="66778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914400" y="498348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778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987552" y="5038344"/>
            <a:ext cx="17739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03040"/>
                </a:solidFill>
              </a:rPr>
              <a:t>能力バランス確認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03320" y="2816352"/>
            <a:ext cx="1965960" cy="658368"/>
          </a:xfrm>
          <a:prstGeom prst="diamond">
            <a:avLst/>
          </a:prstGeom>
          <a:solidFill>
            <a:srgbClr val="FFF2CC"/>
          </a:solidFill>
          <a:ln w="16510">
            <a:solidFill>
              <a:srgbClr val="C89B1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3977640" y="300837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780種以内か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834640" y="3095244"/>
            <a:ext cx="868680" cy="50292"/>
          </a:xfrm>
          <a:prstGeom prst="line">
            <a:avLst/>
          </a:prstGeom>
          <a:noFill/>
          <a:ln w="17780">
            <a:solidFill>
              <a:srgbClr val="66778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3703320" y="3538728"/>
            <a:ext cx="1965960" cy="658368"/>
          </a:xfrm>
          <a:prstGeom prst="diamond">
            <a:avLst/>
          </a:prstGeom>
          <a:solidFill>
            <a:srgbClr val="FFF2CC"/>
          </a:solidFill>
          <a:ln w="16510">
            <a:solidFill>
              <a:srgbClr val="C89B1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3977640" y="37307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配置可能か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834640" y="3808476"/>
            <a:ext cx="868680" cy="59436"/>
          </a:xfrm>
          <a:prstGeom prst="line">
            <a:avLst/>
          </a:prstGeom>
          <a:noFill/>
          <a:ln w="17780">
            <a:solidFill>
              <a:srgbClr val="66778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3703320" y="4251960"/>
            <a:ext cx="1965960" cy="658368"/>
          </a:xfrm>
          <a:prstGeom prst="diamond">
            <a:avLst/>
          </a:prstGeom>
          <a:solidFill>
            <a:srgbClr val="FFF2CC"/>
          </a:solidFill>
          <a:ln w="16510">
            <a:solidFill>
              <a:srgbClr val="C89B1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3977640" y="444398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搭載可能か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834640" y="4521708"/>
            <a:ext cx="868680" cy="59436"/>
          </a:xfrm>
          <a:prstGeom prst="line">
            <a:avLst/>
          </a:prstGeom>
          <a:noFill/>
          <a:ln w="17780">
            <a:solidFill>
              <a:srgbClr val="66778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3703320" y="4965192"/>
            <a:ext cx="1965960" cy="658368"/>
          </a:xfrm>
          <a:prstGeom prst="diamond">
            <a:avLst/>
          </a:prstGeom>
          <a:solidFill>
            <a:srgbClr val="FFF2CC"/>
          </a:solidFill>
          <a:ln w="16510">
            <a:solidFill>
              <a:srgbClr val="C89B1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3977640" y="515721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負荷は妥当か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834640" y="5234940"/>
            <a:ext cx="868680" cy="59436"/>
          </a:xfrm>
          <a:prstGeom prst="line">
            <a:avLst/>
          </a:prstGeom>
          <a:noFill/>
          <a:ln w="17780">
            <a:solidFill>
              <a:srgbClr val="66778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/>
          <p:cNvSpPr/>
          <p:nvPr/>
        </p:nvSpPr>
        <p:spPr>
          <a:xfrm>
            <a:off x="6629400" y="2953512"/>
            <a:ext cx="2148840" cy="713232"/>
          </a:xfrm>
          <a:prstGeom prst="roundRect">
            <a:avLst>
              <a:gd name="adj" fmla="val 7692"/>
            </a:avLst>
          </a:prstGeom>
          <a:solidFill>
            <a:srgbClr val="FCE4D6"/>
          </a:solidFill>
          <a:ln w="1778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6702552" y="3008376"/>
            <a:ext cx="200253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3040"/>
                </a:solidFill>
              </a:rPr>
              <a:t>グループ分割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03040"/>
                </a:solidFill>
              </a:rPr>
              <a:t>または組合せ変更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372600" y="4855464"/>
            <a:ext cx="1920240" cy="749808"/>
          </a:xfrm>
          <a:prstGeom prst="roundRect">
            <a:avLst>
              <a:gd name="adj" fmla="val 7317"/>
            </a:avLst>
          </a:prstGeom>
          <a:solidFill>
            <a:srgbClr val="E2F0D9"/>
          </a:solidFill>
          <a:ln w="1778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9445752" y="4910328"/>
            <a:ext cx="177393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3040"/>
                </a:solidFill>
              </a:rPr>
              <a:t>グループ確定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669280" y="3145536"/>
            <a:ext cx="960120" cy="164592"/>
          </a:xfrm>
          <a:prstGeom prst="line">
            <a:avLst/>
          </a:prstGeom>
          <a:noFill/>
          <a:ln w="17780">
            <a:solidFill>
              <a:srgbClr val="66778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5948172" y="3108960"/>
            <a:ext cx="402336" cy="182880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788"/>
                </a:solidFill>
              </a:rPr>
              <a:t>No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 flipV="1">
            <a:off x="5669280" y="3310128"/>
            <a:ext cx="960120" cy="557784"/>
          </a:xfrm>
          <a:prstGeom prst="line">
            <a:avLst/>
          </a:prstGeom>
          <a:noFill/>
          <a:ln w="17780">
            <a:solidFill>
              <a:srgbClr val="66778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5948172" y="3470148"/>
            <a:ext cx="402336" cy="182880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788"/>
                </a:solidFill>
              </a:rPr>
              <a:t>No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 flipV="1">
            <a:off x="5669280" y="3310128"/>
            <a:ext cx="960120" cy="1280160"/>
          </a:xfrm>
          <a:prstGeom prst="line">
            <a:avLst/>
          </a:prstGeom>
          <a:noFill/>
          <a:ln w="17780">
            <a:solidFill>
              <a:srgbClr val="66778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5948172" y="3831336"/>
            <a:ext cx="402336" cy="182880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788"/>
                </a:solidFill>
              </a:rPr>
              <a:t>No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 flipV="1">
            <a:off x="5669280" y="3310128"/>
            <a:ext cx="960120" cy="2002536"/>
          </a:xfrm>
          <a:prstGeom prst="line">
            <a:avLst/>
          </a:prstGeom>
          <a:noFill/>
          <a:ln w="17780">
            <a:solidFill>
              <a:srgbClr val="66778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Text 42"/>
          <p:cNvSpPr/>
          <p:nvPr/>
        </p:nvSpPr>
        <p:spPr>
          <a:xfrm>
            <a:off x="5948172" y="4192524"/>
            <a:ext cx="402336" cy="182880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788"/>
                </a:solidFill>
              </a:rPr>
              <a:t>No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 flipV="1">
            <a:off x="5669280" y="5230368"/>
            <a:ext cx="3703320" cy="64008"/>
          </a:xfrm>
          <a:prstGeom prst="line">
            <a:avLst/>
          </a:prstGeom>
          <a:noFill/>
          <a:ln w="17780">
            <a:solidFill>
              <a:srgbClr val="66778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4"/>
          <p:cNvSpPr/>
          <p:nvPr/>
        </p:nvSpPr>
        <p:spPr>
          <a:xfrm>
            <a:off x="7319772" y="5143500"/>
            <a:ext cx="402336" cy="182880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788"/>
                </a:solidFill>
              </a:rPr>
              <a:t>Yes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 flipV="1">
            <a:off x="7699248" y="1947672"/>
            <a:ext cx="1" cy="1719072"/>
          </a:xfrm>
          <a:prstGeom prst="line">
            <a:avLst/>
          </a:prstGeom>
          <a:noFill/>
          <a:ln w="17780">
            <a:solidFill>
              <a:srgbClr val="66778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Shape 46"/>
          <p:cNvSpPr/>
          <p:nvPr/>
        </p:nvSpPr>
        <p:spPr>
          <a:xfrm flipH="1">
            <a:off x="2468880" y="1947672"/>
            <a:ext cx="5230368" cy="1"/>
          </a:xfrm>
          <a:prstGeom prst="line">
            <a:avLst/>
          </a:prstGeom>
          <a:noFill/>
          <a:ln w="17780">
            <a:solidFill>
              <a:srgbClr val="66778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6492240" y="1600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D7D31"/>
                </a:solidFill>
              </a:rPr>
              <a:t>条件を見直して再判定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246120" y="5989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7788"/>
                </a:solidFill>
              </a:rPr>
              <a:t>各判定がYesの場合は次の確認へ</a:t>
            </a:r>
            <a:endParaRPr lang="en-US" sz="100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A8793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25FB9-2651-9D5E-BAF7-1F1BCFBE11C0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45052972-06C2-3C97-0F7E-4EA7803CED4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A8793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02605FE7-67E9-E7F8-4A3E-BEF6F2A11E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7327"/>
          <a:stretch>
            <a:fillRect/>
          </a:stretch>
        </p:blipFill>
        <p:spPr>
          <a:xfrm>
            <a:off x="533400" y="626067"/>
            <a:ext cx="3665871" cy="5465975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173559A4-3DC1-783C-EDFF-23A1AA738E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3858"/>
          <a:stretch>
            <a:fillRect/>
          </a:stretch>
        </p:blipFill>
        <p:spPr>
          <a:xfrm>
            <a:off x="7698534" y="924970"/>
            <a:ext cx="3665871" cy="6046200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671663CB-D505-0712-FC0F-582A454069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254" b="35357"/>
          <a:stretch>
            <a:fillRect/>
          </a:stretch>
        </p:blipFill>
        <p:spPr>
          <a:xfrm>
            <a:off x="3687643" y="924970"/>
            <a:ext cx="3665871" cy="5585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278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03040"/>
                </a:solidFill>
              </a:rPr>
              <a:t>4. 7連結のヘッド構成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788"/>
                </a:solidFill>
              </a:rPr>
              <a:t>部品サイズ・要求精度・能力に応じて各モジュールへ配分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1417320" cy="2514600"/>
          </a:xfrm>
          <a:prstGeom prst="roundRect">
            <a:avLst>
              <a:gd name="adj" fmla="val 3871"/>
            </a:avLst>
          </a:prstGeom>
          <a:solidFill>
            <a:srgbClr val="DDEBF7"/>
          </a:solidFill>
          <a:ln w="1524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640080" y="208483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</a:rPr>
              <a:t>M1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0664" y="267004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6778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271016" y="267004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6778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31520" y="276148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</a:rPr>
              <a:t>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61872" y="276148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</a:rPr>
              <a:t>16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340156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03040"/>
                </a:solidFill>
              </a:rPr>
              <a:t>16ノズル － 16ノズル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67128" y="1874520"/>
            <a:ext cx="1417320" cy="2514600"/>
          </a:xfrm>
          <a:prstGeom prst="roundRect">
            <a:avLst>
              <a:gd name="adj" fmla="val 3871"/>
            </a:avLst>
          </a:prstGeom>
          <a:solidFill>
            <a:srgbClr val="DDEBF7"/>
          </a:solidFill>
          <a:ln w="1524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2304288" y="208483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</a:rPr>
              <a:t>M2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404872" y="267004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6778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2935224" y="267004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6778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2395728" y="276148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</a:rPr>
              <a:t>16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26080" y="276148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</a:rPr>
              <a:t>12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58568" y="340156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03040"/>
                </a:solidFill>
              </a:rPr>
              <a:t>16ノズル － 12ノズル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31336" y="1874520"/>
            <a:ext cx="1417320" cy="2514600"/>
          </a:xfrm>
          <a:prstGeom prst="roundRect">
            <a:avLst>
              <a:gd name="adj" fmla="val 3871"/>
            </a:avLst>
          </a:prstGeom>
          <a:solidFill>
            <a:srgbClr val="E2F0D9"/>
          </a:solidFill>
          <a:ln w="1524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3968496" y="208483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</a:rPr>
              <a:t>M3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069080" y="267004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6778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4599432" y="267004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6778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4059936" y="276148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</a:rPr>
              <a:t>12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90288" y="276148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</a:rPr>
              <a:t>12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922776" y="340156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03040"/>
                </a:solidFill>
              </a:rPr>
              <a:t>12ノズル － 12ノズル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95544" y="1874520"/>
            <a:ext cx="1417320" cy="2514600"/>
          </a:xfrm>
          <a:prstGeom prst="roundRect">
            <a:avLst>
              <a:gd name="adj" fmla="val 3871"/>
            </a:avLst>
          </a:prstGeom>
          <a:solidFill>
            <a:srgbClr val="E2F0D9"/>
          </a:solidFill>
          <a:ln w="1524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5632704" y="208483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</a:rPr>
              <a:t>M4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733288" y="267004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6778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6263640" y="267004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6778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5724144" y="276148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</a:rPr>
              <a:t>12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54496" y="276148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</a:rPr>
              <a:t>8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86984" y="340156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03040"/>
                </a:solidFill>
              </a:rPr>
              <a:t>12ノズル － 8ノズル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59752" y="1874520"/>
            <a:ext cx="1417320" cy="2514600"/>
          </a:xfrm>
          <a:prstGeom prst="roundRect">
            <a:avLst>
              <a:gd name="adj" fmla="val 3871"/>
            </a:avLst>
          </a:prstGeom>
          <a:solidFill>
            <a:srgbClr val="E2F0D9"/>
          </a:solidFill>
          <a:ln w="1524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7296912" y="208483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</a:rPr>
              <a:t>M5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397496" y="267004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6778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7927848" y="267004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6778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7388352" y="276148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</a:rPr>
              <a:t>8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918704" y="276148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</a:rPr>
              <a:t>8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251192" y="340156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03040"/>
                </a:solidFill>
              </a:rPr>
              <a:t>8ノズル － 8ノズル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823960" y="1874520"/>
            <a:ext cx="1417320" cy="2514600"/>
          </a:xfrm>
          <a:prstGeom prst="roundRect">
            <a:avLst>
              <a:gd name="adj" fmla="val 3871"/>
            </a:avLst>
          </a:prstGeom>
          <a:solidFill>
            <a:srgbClr val="FCE4D6"/>
          </a:solidFill>
          <a:ln w="1524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8961120" y="208483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</a:rPr>
              <a:t>M6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9061704" y="267004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6778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40"/>
          <p:cNvSpPr/>
          <p:nvPr/>
        </p:nvSpPr>
        <p:spPr>
          <a:xfrm>
            <a:off x="9592056" y="267004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6778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9052560" y="276148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</a:rPr>
              <a:t>3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582912" y="276148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</a:rPr>
              <a:t>3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915400" y="340156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03040"/>
                </a:solidFill>
              </a:rPr>
              <a:t>3ノズル － 3ノズル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0488168" y="1874520"/>
            <a:ext cx="1417320" cy="2514600"/>
          </a:xfrm>
          <a:prstGeom prst="roundRect">
            <a:avLst>
              <a:gd name="adj" fmla="val 3871"/>
            </a:avLst>
          </a:prstGeom>
          <a:solidFill>
            <a:srgbClr val="FCE4D6"/>
          </a:solidFill>
          <a:ln w="1524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10625328" y="208483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</a:rPr>
              <a:t>M7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10725912" y="267004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6778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Shape 47"/>
          <p:cNvSpPr/>
          <p:nvPr/>
        </p:nvSpPr>
        <p:spPr>
          <a:xfrm>
            <a:off x="11256264" y="267004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6778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Text 48"/>
          <p:cNvSpPr/>
          <p:nvPr/>
        </p:nvSpPr>
        <p:spPr>
          <a:xfrm>
            <a:off x="10716768" y="276148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</a:rPr>
              <a:t>3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247120" y="276148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</a:rPr>
              <a:t>3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579608" y="340156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03040"/>
                </a:solidFill>
              </a:rPr>
              <a:t>3ノズル － 3ノズル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58368" y="4892040"/>
            <a:ext cx="4389120" cy="347472"/>
          </a:xfrm>
          <a:prstGeom prst="rect">
            <a:avLst/>
          </a:prstGeom>
          <a:solidFill>
            <a:srgbClr val="DDEBF7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75B5"/>
                </a:solidFill>
              </a:rPr>
              <a:t>高速・小型部品側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257800" y="4892040"/>
            <a:ext cx="3017520" cy="347472"/>
          </a:xfrm>
          <a:prstGeom prst="rect">
            <a:avLst/>
          </a:prstGeom>
          <a:solidFill>
            <a:srgbClr val="E2F0D9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0AD47"/>
                </a:solidFill>
              </a:rPr>
              <a:t>中型部品側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8503920" y="4892040"/>
            <a:ext cx="3017520" cy="347472"/>
          </a:xfrm>
          <a:prstGeom prst="rect">
            <a:avLst/>
          </a:prstGeom>
          <a:solidFill>
            <a:srgbClr val="FCE4D6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D7D31"/>
                </a:solidFill>
              </a:rPr>
              <a:t>大型・異形部品側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2560320" y="57150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7788"/>
                </a:solidFill>
              </a:rPr>
              <a:t>※実際の搭載可否は、添付の基本性能表・ノズル適用表で確認</a:t>
            </a:r>
            <a:endParaRPr lang="en-US" sz="1000" dirty="0"/>
          </a:p>
        </p:txBody>
      </p:sp>
      <p:sp>
        <p:nvSpPr>
          <p:cNvPr id="5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A8793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03040"/>
                </a:solidFill>
              </a:rPr>
              <a:t>5. グルーピングの判断ポイント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788"/>
                </a:solidFill>
              </a:rPr>
              <a:t>候補グループ間で、共通化効果と設備負荷を比較する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490472"/>
            <a:ext cx="1074420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868680" y="163677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確認軸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880360" y="1636776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判定内容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0" y="163677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狙い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993392"/>
            <a:ext cx="1074420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868680" y="21945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</a:rPr>
              <a:t>共通部品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80360" y="217627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3040"/>
                </a:solidFill>
              </a:rPr>
              <a:t>共通化できる部品が多いか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95360" y="21762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0AD47"/>
                </a:solidFill>
              </a:rPr>
              <a:t>段取り替え削減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706624"/>
            <a:ext cx="10744200" cy="658368"/>
          </a:xfrm>
          <a:prstGeom prst="rect">
            <a:avLst/>
          </a:prstGeom>
          <a:solidFill>
            <a:srgbClr val="F1F5F9"/>
          </a:solidFill>
          <a:ln w="889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868680" y="29077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</a:rPr>
              <a:t>フィーダー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80360" y="288950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3040"/>
                </a:solidFill>
              </a:rPr>
              <a:t>必要数・幅・送りピッチが収まるか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95360" y="28895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0AD47"/>
                </a:solidFill>
              </a:rPr>
              <a:t>配置成立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419856"/>
            <a:ext cx="1074420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868680" y="36210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</a:rPr>
              <a:t>ノズル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80360" y="360273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3040"/>
                </a:solidFill>
              </a:rPr>
              <a:t>対象部品に適合するノズルがあるか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95360" y="360273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0AD47"/>
                </a:solidFill>
              </a:rPr>
              <a:t>吸着・搭載成立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133088"/>
            <a:ext cx="10744200" cy="658368"/>
          </a:xfrm>
          <a:prstGeom prst="rect">
            <a:avLst/>
          </a:prstGeom>
          <a:solidFill>
            <a:srgbClr val="F1F5F9"/>
          </a:solidFill>
          <a:ln w="889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868680" y="4334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</a:rPr>
              <a:t>ヘッド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80360" y="431596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3040"/>
                </a:solidFill>
              </a:rPr>
              <a:t>対象ヘッドの性能範囲内か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95360" y="43159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0AD47"/>
                </a:solidFill>
              </a:rPr>
              <a:t>品質・能力確保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4846320"/>
            <a:ext cx="1074420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868680" y="50474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</a:rPr>
              <a:t>負荷配分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880360" y="50292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3040"/>
                </a:solidFill>
              </a:rPr>
              <a:t>特定モジュールへ集中していないか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95360" y="5029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0AD47"/>
                </a:solidFill>
              </a:rPr>
              <a:t>ボトルネック抑制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011680" y="583387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D7D31"/>
                </a:solidFill>
              </a:rPr>
              <a:t>数値基準が未設定の項目は、実績データを用いて基準化する</a:t>
            </a:r>
            <a:endParaRPr lang="en-US" sz="1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A8793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7DE02-44F6-564F-AEB0-10AE844B14DB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8797E98-10B6-5155-7B67-62EBB33D8F19}"/>
              </a:ext>
            </a:extLst>
          </p:cNvPr>
          <p:cNvSpPr/>
          <p:nvPr/>
        </p:nvSpPr>
        <p:spPr>
          <a:xfrm>
            <a:off x="566928" y="65836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2500" b="1" dirty="0">
                <a:solidFill>
                  <a:srgbClr val="203040"/>
                </a:solidFill>
              </a:rPr>
              <a:t>6</a:t>
            </a:r>
            <a:r>
              <a:rPr lang="en-US" sz="2500" b="1" dirty="0">
                <a:solidFill>
                  <a:srgbClr val="203040"/>
                </a:solidFill>
              </a:rPr>
              <a:t>. </a:t>
            </a:r>
            <a:r>
              <a:rPr lang="ja-JP" altLang="en-US" sz="2500" b="1" dirty="0">
                <a:solidFill>
                  <a:srgbClr val="203040"/>
                </a:solidFill>
              </a:rPr>
              <a:t>品目選定基準</a:t>
            </a:r>
            <a:r>
              <a:rPr lang="en-US" altLang="ja-JP" sz="2500" b="1" dirty="0">
                <a:solidFill>
                  <a:srgbClr val="203040"/>
                </a:solidFill>
              </a:rPr>
              <a:t>(</a:t>
            </a:r>
            <a:r>
              <a:rPr lang="ja-JP" altLang="en-US" sz="2500" b="1" dirty="0">
                <a:solidFill>
                  <a:srgbClr val="203040"/>
                </a:solidFill>
              </a:rPr>
              <a:t>目標値の決定</a:t>
            </a:r>
            <a:r>
              <a:rPr lang="en-US" altLang="ja-JP" sz="2500" b="1" dirty="0">
                <a:solidFill>
                  <a:srgbClr val="203040"/>
                </a:solidFill>
              </a:rPr>
              <a:t>)</a:t>
            </a:r>
            <a:endParaRPr lang="en-US" sz="25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1AC0A4CD-EE9E-0529-EB39-C5AFB79E417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A8793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BFCBFDEE-1DBF-5536-C955-2283D5AED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7045" y="1532297"/>
            <a:ext cx="5825655" cy="2280437"/>
          </a:xfrm>
          <a:prstGeom prst="rect">
            <a:avLst/>
          </a:prstGeom>
        </p:spPr>
      </p:pic>
      <p:sp>
        <p:nvSpPr>
          <p:cNvPr id="19" name="Text 0">
            <a:extLst>
              <a:ext uri="{FF2B5EF4-FFF2-40B4-BE49-F238E27FC236}">
                <a16:creationId xmlns:a16="http://schemas.microsoft.com/office/drawing/2014/main" id="{BA9937A9-A7EF-123D-94D7-2DEE83A6B806}"/>
              </a:ext>
            </a:extLst>
          </p:cNvPr>
          <p:cNvSpPr/>
          <p:nvPr/>
        </p:nvSpPr>
        <p:spPr>
          <a:xfrm>
            <a:off x="777240" y="4705874"/>
            <a:ext cx="10881360" cy="1493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>
              <a:lnSpc>
                <a:spcPct val="100000"/>
              </a:lnSpc>
              <a:buNone/>
            </a:pPr>
            <a:r>
              <a:rPr lang="ja-JP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今後は、共通部品率、フィーダー使用率、ヘッド負荷率などの目標値を決定し、その基準に基づいた品目選定フローチャートを作成・運用標準化することが望ましいと考えます。</a:t>
            </a:r>
            <a:br>
              <a:rPr lang="ja-JP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これにより、品目グルーピングの統一化、段取り工数の削減、および実装ラインの生産能力向上が期待できます。</a:t>
            </a:r>
          </a:p>
        </p:txBody>
      </p:sp>
    </p:spTree>
    <p:extLst>
      <p:ext uri="{BB962C8B-B14F-4D97-AF65-F5344CB8AC3E}">
        <p14:creationId xmlns:p14="http://schemas.microsoft.com/office/powerpoint/2010/main" val="4128367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376</Words>
  <Application>Microsoft Office PowerPoint</Application>
  <PresentationFormat>ワイド画面</PresentationFormat>
  <Paragraphs>142</Paragraphs>
  <Slides>8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Meiryo UI</vt:lpstr>
      <vt:lpstr>Yu Gothic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品目選定フロー</dc:title>
  <dc:subject>品目選定フロー説明資料</dc:subject>
  <dc:creator>TAKEBUCHI Masaki (竹渕 正樹)</dc:creator>
  <cp:lastModifiedBy>TAKEBUCHI Masaki (竹渕 正樹)</cp:lastModifiedBy>
  <cp:revision>3</cp:revision>
  <dcterms:created xsi:type="dcterms:W3CDTF">2026-10-07T04:41:37Z</dcterms:created>
  <dcterms:modified xsi:type="dcterms:W3CDTF">2026-10-07T04:57:19Z</dcterms:modified>
</cp:coreProperties>
</file>