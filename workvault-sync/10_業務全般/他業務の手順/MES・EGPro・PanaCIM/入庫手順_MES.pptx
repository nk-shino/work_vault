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70" r:id="rId4"/>
    <p:sldId id="268" r:id="rId5"/>
    <p:sldId id="271" r:id="rId6"/>
    <p:sldId id="273" r:id="rId7"/>
    <p:sldId id="300" r:id="rId8"/>
    <p:sldId id="291" r:id="rId9"/>
    <p:sldId id="302" r:id="rId10"/>
    <p:sldId id="303" r:id="rId11"/>
    <p:sldId id="304" r:id="rId12"/>
    <p:sldId id="294" r:id="rId13"/>
    <p:sldId id="305" r:id="rId14"/>
    <p:sldId id="306" r:id="rId15"/>
    <p:sldId id="307" r:id="rId16"/>
    <p:sldId id="308" r:id="rId17"/>
    <p:sldId id="296" r:id="rId18"/>
    <p:sldId id="297" r:id="rId19"/>
    <p:sldId id="298" r:id="rId20"/>
    <p:sldId id="299" r:id="rId21"/>
    <p:sldId id="287" r:id="rId22"/>
    <p:sldId id="288" r:id="rId23"/>
    <p:sldId id="289" r:id="rId24"/>
    <p:sldId id="290" r:id="rId25"/>
    <p:sldId id="269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77" r:id="rId37"/>
    <p:sldId id="279" r:id="rId38"/>
    <p:sldId id="310" r:id="rId39"/>
    <p:sldId id="309" r:id="rId40"/>
    <p:sldId id="280" r:id="rId41"/>
    <p:sldId id="283" r:id="rId42"/>
    <p:sldId id="284" r:id="rId43"/>
    <p:sldId id="285" r:id="rId44"/>
    <p:sldId id="286" r:id="rId45"/>
    <p:sldId id="311" r:id="rId46"/>
    <p:sldId id="312" r:id="rId47"/>
    <p:sldId id="281" r:id="rId4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3DEC2-46E0-9754-F64C-605592E44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D7FBC6-49EA-982E-BAAC-A1308592C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3D1131-7717-F8CE-E1B7-960A6FAD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D3BC2E-E3F2-ECCC-DE01-795CBC77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48C466-1947-6560-A5FD-DFFA89A9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87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D94164-3EC9-07AF-418B-7DA19653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513259-7E29-79F5-6695-3F5E3437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4B595A-72DC-54D4-A258-241AE4F4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B57FED-299A-48EB-9BD3-946B625D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55A48-228A-F6CD-BD2A-1947F44B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45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6E9218-00E2-3BC5-0D81-319033C0D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4794F6-E317-36A5-C7C0-261FD921F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D7C08B-56AF-DF5D-8A8F-AF53BA1E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1D4C54-78F5-3543-351E-D5CF052D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6A90A7-3991-1A87-EF97-1B79F0D2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42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DB8AA-0924-A78F-0671-79FC310B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F50CE-41D9-E840-35C1-58FBB3E39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33D678-5A7B-9154-7EFC-99806B3DC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EE4457-32B1-A89B-A826-E90D8D9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297651-1035-586A-1915-30885AAF4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46CBF3-0FB9-C608-CEED-AC2F8B8C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96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FB4C43-53AB-0D22-E4D9-4B1BCB60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D43842-2CBF-CDE9-8DDD-801536FCC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61E62D-6EB5-F60B-9E17-0BAC037E5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ACB4D8-794B-855E-CF8E-5CEA64004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6EAE93-2C43-8D8E-1841-AEDD1DB50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380DDE-6864-5409-C565-3014AA9C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8CAAE69-7E9E-CBFE-BBE1-3A360A23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B596BBD-D182-254A-9784-1E45B375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72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19040F-F5DD-EE6E-7163-6A29E6E8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346ADE-92D2-AF42-416E-46E2974A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3CC791-BAB4-B2C6-82BA-69CEEC84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7933D1-10FF-D70F-792C-5EFF8C0E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09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78E3F7D-894E-3D49-2F2E-B9F40526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39AD1D9-0528-466F-1B44-5E7CA137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CE1726-82A3-634C-0CF2-CAF4486D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25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5EA458-EB84-B8DC-01E0-478E27A8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CEECEA-5671-C162-EF58-ADE052D61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67E89A-9404-D6F0-2662-ED5E9DB1B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6E4B6B-AA15-D981-3657-4A717FF8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F42330-EF9E-C264-2385-0741F789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B7DF9C-202F-06DF-B6DE-ACCEAD12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486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5A6283-102A-E4B5-8561-C54146EA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229033-CBA6-5BEE-359E-B4C8E85CC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718E5C-93BF-20E3-53A8-EEEC50699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32C678-2900-F97E-8624-6547DD75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CD3974-D661-2BC8-C5D1-FFDF5278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FEF35F-347C-2B8F-9A05-F8F3BE6E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95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02DD90-90D3-3C42-094D-F6067BC32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CCCCE7-1E33-E363-1F86-62FB1528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FC1653-004A-2244-573F-2AE378FC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8C5B42-BF4C-0928-084D-2098201C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5616E0-A514-B011-15A8-F6F54728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49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885EA38-17CD-A1CD-F465-5A7C98FD9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D2BE76-068C-A80F-2CC4-B0F31ADDD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CDC062-0BC8-8A53-434E-9D1CDE4C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A6622E-451C-1E6A-4F29-F2DFE99D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18E25F-19B7-5CBA-CFE9-012EE010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68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9F71E2-EDBF-BCE4-7342-8624053B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5BCE29-D23F-EE29-9359-A8173C04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8AF5DD-6295-DFB0-F790-ADFD089F6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0A37B-0D57-4E20-8CC3-AC82D12BF486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04B6A0-6284-D0E1-C4DB-C3308488C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0D695F-0386-AE58-582A-D445976E0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E9B52-F52B-4A2A-897A-3867BB79A1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229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nksvmes01s.ad.nkc.co.jp/apriso/apriso/#/search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F1A5FE-2012-6CCD-7849-1B557DE3E4D4}"/>
              </a:ext>
            </a:extLst>
          </p:cNvPr>
          <p:cNvSpPr txBox="1"/>
          <p:nvPr/>
        </p:nvSpPr>
        <p:spPr>
          <a:xfrm>
            <a:off x="2814181" y="2498385"/>
            <a:ext cx="65636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b="1" dirty="0"/>
              <a:t>入庫手順</a:t>
            </a:r>
            <a:endParaRPr kumimoji="1" lang="ja-JP" alt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57709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1BF50E-BC05-4A21-2E7F-B7984FFBC4A0}"/>
              </a:ext>
            </a:extLst>
          </p:cNvPr>
          <p:cNvSpPr/>
          <p:nvPr/>
        </p:nvSpPr>
        <p:spPr>
          <a:xfrm>
            <a:off x="2564169" y="412955"/>
            <a:ext cx="1800000" cy="507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鹿島入庫処理 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709E5FF-0045-04F1-FE69-BA26398490B3}"/>
              </a:ext>
            </a:extLst>
          </p:cNvPr>
          <p:cNvSpPr/>
          <p:nvPr/>
        </p:nvSpPr>
        <p:spPr>
          <a:xfrm>
            <a:off x="2564169" y="1361770"/>
            <a:ext cx="1800000" cy="6459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04020</a:t>
            </a:r>
          </a:p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（正味量消費）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3796EAD-90EF-E7CE-3CE5-6A475E6E8925}"/>
              </a:ext>
            </a:extLst>
          </p:cNvPr>
          <p:cNvSpPr/>
          <p:nvPr/>
        </p:nvSpPr>
        <p:spPr>
          <a:xfrm>
            <a:off x="2574349" y="4608939"/>
            <a:ext cx="1779639" cy="555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04050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（入庫現品票印刷）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0F04AB3-4A73-16F7-847B-53D86EB670DC}"/>
              </a:ext>
            </a:extLst>
          </p:cNvPr>
          <p:cNvSpPr/>
          <p:nvPr/>
        </p:nvSpPr>
        <p:spPr>
          <a:xfrm>
            <a:off x="2574348" y="5661351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90010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（ロケーション変更と棚登録）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06EFCB-BEDF-5B61-2B9B-9B9C366498B2}"/>
              </a:ext>
            </a:extLst>
          </p:cNvPr>
          <p:cNvSpPr/>
          <p:nvPr/>
        </p:nvSpPr>
        <p:spPr>
          <a:xfrm>
            <a:off x="5213964" y="412955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自社入庫処理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EAB060-4E42-22C6-ECF3-5A72DC45C0FE}"/>
              </a:ext>
            </a:extLst>
          </p:cNvPr>
          <p:cNvSpPr/>
          <p:nvPr/>
        </p:nvSpPr>
        <p:spPr>
          <a:xfrm>
            <a:off x="2564168" y="3632884"/>
            <a:ext cx="1779639" cy="521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04040</a:t>
            </a:r>
            <a:r>
              <a:rPr lang="ja-JP" altLang="en-US" sz="1200" dirty="0">
                <a:solidFill>
                  <a:schemeClr val="tx1"/>
                </a:solidFill>
              </a:rPr>
              <a:t>（承認）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0D072A7-44DD-77CB-5F6C-9EA039E2AF7A}"/>
              </a:ext>
            </a:extLst>
          </p:cNvPr>
          <p:cNvSpPr/>
          <p:nvPr/>
        </p:nvSpPr>
        <p:spPr>
          <a:xfrm>
            <a:off x="5213965" y="4141531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04050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（入庫現品票印刷）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3856DE0-627B-8C4D-A236-1BCC5B11327C}"/>
              </a:ext>
            </a:extLst>
          </p:cNvPr>
          <p:cNvSpPr/>
          <p:nvPr/>
        </p:nvSpPr>
        <p:spPr>
          <a:xfrm>
            <a:off x="5213965" y="5503299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90010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（ロケーション変更と棚登録）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CFB51AA-949A-6F76-DAD6-85B0435C2A84}"/>
              </a:ext>
            </a:extLst>
          </p:cNvPr>
          <p:cNvSpPr/>
          <p:nvPr/>
        </p:nvSpPr>
        <p:spPr>
          <a:xfrm>
            <a:off x="5213964" y="2958127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04040</a:t>
            </a:r>
            <a:r>
              <a:rPr lang="ja-JP" altLang="en-US" sz="1200" dirty="0">
                <a:solidFill>
                  <a:schemeClr val="tx1"/>
                </a:solidFill>
              </a:rPr>
              <a:t>（承認）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DDAB0BA-C7F4-8DEE-8D02-EBD2FAFCDD68}"/>
              </a:ext>
            </a:extLst>
          </p:cNvPr>
          <p:cNvSpPr/>
          <p:nvPr/>
        </p:nvSpPr>
        <p:spPr>
          <a:xfrm>
            <a:off x="5213964" y="1685541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バックフラッシュ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完了確認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6E0B45F3-A37D-656A-6C17-3191FCB909BA}"/>
              </a:ext>
            </a:extLst>
          </p:cNvPr>
          <p:cNvSpPr/>
          <p:nvPr/>
        </p:nvSpPr>
        <p:spPr>
          <a:xfrm>
            <a:off x="3276187" y="92914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9393C1F9-E9C5-F815-38C3-E8986BF78FFF}"/>
              </a:ext>
            </a:extLst>
          </p:cNvPr>
          <p:cNvSpPr/>
          <p:nvPr/>
        </p:nvSpPr>
        <p:spPr>
          <a:xfrm>
            <a:off x="3286369" y="4154231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下 17">
            <a:extLst>
              <a:ext uri="{FF2B5EF4-FFF2-40B4-BE49-F238E27FC236}">
                <a16:creationId xmlns:a16="http://schemas.microsoft.com/office/drawing/2014/main" id="{E7E082D2-55CC-D06C-A5E8-69CBE12F181B}"/>
              </a:ext>
            </a:extLst>
          </p:cNvPr>
          <p:cNvSpPr/>
          <p:nvPr/>
        </p:nvSpPr>
        <p:spPr>
          <a:xfrm>
            <a:off x="3286369" y="5190860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下 18">
            <a:extLst>
              <a:ext uri="{FF2B5EF4-FFF2-40B4-BE49-F238E27FC236}">
                <a16:creationId xmlns:a16="http://schemas.microsoft.com/office/drawing/2014/main" id="{034A428D-D25E-B760-0CC6-91634ED9A231}"/>
              </a:ext>
            </a:extLst>
          </p:cNvPr>
          <p:cNvSpPr/>
          <p:nvPr/>
        </p:nvSpPr>
        <p:spPr>
          <a:xfrm>
            <a:off x="5943187" y="123681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下 19">
            <a:extLst>
              <a:ext uri="{FF2B5EF4-FFF2-40B4-BE49-F238E27FC236}">
                <a16:creationId xmlns:a16="http://schemas.microsoft.com/office/drawing/2014/main" id="{86DE21CD-167E-35E1-84B9-534443601E6B}"/>
              </a:ext>
            </a:extLst>
          </p:cNvPr>
          <p:cNvSpPr/>
          <p:nvPr/>
        </p:nvSpPr>
        <p:spPr>
          <a:xfrm>
            <a:off x="5943187" y="254980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下 20">
            <a:extLst>
              <a:ext uri="{FF2B5EF4-FFF2-40B4-BE49-F238E27FC236}">
                <a16:creationId xmlns:a16="http://schemas.microsoft.com/office/drawing/2014/main" id="{1E4CB770-F753-3B9A-2D47-B21B72650DFD}"/>
              </a:ext>
            </a:extLst>
          </p:cNvPr>
          <p:cNvSpPr/>
          <p:nvPr/>
        </p:nvSpPr>
        <p:spPr>
          <a:xfrm>
            <a:off x="5943187" y="3737743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下 21">
            <a:extLst>
              <a:ext uri="{FF2B5EF4-FFF2-40B4-BE49-F238E27FC236}">
                <a16:creationId xmlns:a16="http://schemas.microsoft.com/office/drawing/2014/main" id="{0055C80A-330A-C2AD-CC17-98C79D2648C3}"/>
              </a:ext>
            </a:extLst>
          </p:cNvPr>
          <p:cNvSpPr/>
          <p:nvPr/>
        </p:nvSpPr>
        <p:spPr>
          <a:xfrm>
            <a:off x="5943187" y="5019598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31E7414-46FC-4F84-6FF9-BD3469950A3B}"/>
              </a:ext>
            </a:extLst>
          </p:cNvPr>
          <p:cNvSpPr txBox="1"/>
          <p:nvPr/>
        </p:nvSpPr>
        <p:spPr>
          <a:xfrm>
            <a:off x="7302500" y="5732868"/>
            <a:ext cx="3661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ロケーションが</a:t>
            </a:r>
            <a:r>
              <a:rPr lang="en-US" altLang="ja-JP" sz="1400" dirty="0"/>
              <a:t> ***-1 </a:t>
            </a:r>
            <a:r>
              <a:rPr lang="ja-JP" altLang="en-US" sz="1400" dirty="0"/>
              <a:t>から</a:t>
            </a:r>
            <a:r>
              <a:rPr lang="en-US" altLang="ja-JP" sz="1400" dirty="0"/>
              <a:t>***-3</a:t>
            </a:r>
            <a:r>
              <a:rPr lang="ja-JP" altLang="en-US" sz="1400" dirty="0"/>
              <a:t>に変わる</a:t>
            </a:r>
            <a:endParaRPr kumimoji="1" lang="ja-JP" altLang="en-US" sz="1400" dirty="0"/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E9BA98C9-E546-062F-A04B-C3D760B465F3}"/>
              </a:ext>
            </a:extLst>
          </p:cNvPr>
          <p:cNvSpPr/>
          <p:nvPr/>
        </p:nvSpPr>
        <p:spPr>
          <a:xfrm>
            <a:off x="3286369" y="2004076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D72BA16-1750-96C7-DC6B-47AE0FCB28EE}"/>
              </a:ext>
            </a:extLst>
          </p:cNvPr>
          <p:cNvSpPr/>
          <p:nvPr/>
        </p:nvSpPr>
        <p:spPr>
          <a:xfrm>
            <a:off x="2564168" y="2437463"/>
            <a:ext cx="1779639" cy="766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BOSS</a:t>
            </a:r>
            <a:r>
              <a:rPr lang="ja-JP" altLang="en-US" sz="1200" dirty="0">
                <a:solidFill>
                  <a:schemeClr val="tx1"/>
                </a:solidFill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</a:rPr>
              <a:t>ME25</a:t>
            </a:r>
          </a:p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正味量消費引き落とし確認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95FBF192-B810-C8C6-2D81-A7CEDE821195}"/>
              </a:ext>
            </a:extLst>
          </p:cNvPr>
          <p:cNvSpPr/>
          <p:nvPr/>
        </p:nvSpPr>
        <p:spPr>
          <a:xfrm>
            <a:off x="3286369" y="3212815"/>
            <a:ext cx="355600" cy="416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A9BC8C1-2617-EC31-5C63-617B1ED6790E}"/>
              </a:ext>
            </a:extLst>
          </p:cNvPr>
          <p:cNvSpPr txBox="1"/>
          <p:nvPr/>
        </p:nvSpPr>
        <p:spPr>
          <a:xfrm>
            <a:off x="251069" y="2466952"/>
            <a:ext cx="33909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kumimoji="1" lang="ja-JP" altLang="en-US" sz="1400" dirty="0"/>
              <a:t>注意</a:t>
            </a:r>
            <a:endParaRPr kumimoji="1" lang="en-US" altLang="ja-JP" sz="1400" dirty="0"/>
          </a:p>
          <a:p>
            <a:r>
              <a:rPr kumimoji="1" lang="en-US" altLang="ja-JP" sz="1400" dirty="0"/>
              <a:t>BOSS</a:t>
            </a:r>
            <a:r>
              <a:rPr kumimoji="1" lang="ja-JP" altLang="en-US" sz="1400" dirty="0"/>
              <a:t>に適用される</a:t>
            </a:r>
            <a:endParaRPr lang="en-US" altLang="ja-JP" sz="1400" dirty="0"/>
          </a:p>
          <a:p>
            <a:r>
              <a:rPr kumimoji="1" lang="ja-JP" altLang="en-US" sz="1400" dirty="0"/>
              <a:t>時間が決まっているので</a:t>
            </a:r>
            <a:endParaRPr kumimoji="1" lang="en-US" altLang="ja-JP" sz="1400" dirty="0"/>
          </a:p>
          <a:p>
            <a:r>
              <a:rPr kumimoji="1" lang="ja-JP" altLang="en-US" sz="1400" dirty="0"/>
              <a:t>その時間でないと確認</a:t>
            </a:r>
            <a:endParaRPr kumimoji="1" lang="en-US" altLang="ja-JP" sz="1400" dirty="0"/>
          </a:p>
          <a:p>
            <a:r>
              <a:rPr lang="ja-JP" altLang="en-US" sz="1400" dirty="0"/>
              <a:t>出来ない</a:t>
            </a:r>
            <a:endParaRPr kumimoji="1"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42452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B77122A-91EF-9E7A-876C-C9D1E083A538}"/>
              </a:ext>
            </a:extLst>
          </p:cNvPr>
          <p:cNvSpPr txBox="1"/>
          <p:nvPr/>
        </p:nvSpPr>
        <p:spPr>
          <a:xfrm>
            <a:off x="1417528" y="1536174"/>
            <a:ext cx="935694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0" b="1" dirty="0"/>
              <a:t>04020</a:t>
            </a:r>
          </a:p>
          <a:p>
            <a:pPr algn="ctr"/>
            <a:r>
              <a:rPr lang="ja-JP" altLang="en-US" sz="6000" b="1" dirty="0"/>
              <a:t>正味量消費手順</a:t>
            </a:r>
            <a:endParaRPr lang="en-US" altLang="ja-JP" sz="6000" b="1" dirty="0"/>
          </a:p>
          <a:p>
            <a:pPr algn="ctr"/>
            <a:r>
              <a:rPr lang="en-US" altLang="ja-JP" sz="6000" b="1" dirty="0"/>
              <a:t>(</a:t>
            </a:r>
            <a:r>
              <a:rPr lang="ja-JP" altLang="en-US" sz="6000" b="1" dirty="0"/>
              <a:t>使用部品を落とす方法</a:t>
            </a:r>
            <a:r>
              <a:rPr lang="en-US" altLang="ja-JP" sz="6000" b="1" dirty="0"/>
              <a:t>)</a:t>
            </a:r>
          </a:p>
          <a:p>
            <a:pPr algn="ctr"/>
            <a:endParaRPr kumimoji="1" lang="en-US" altLang="ja-JP" sz="6000" b="1" dirty="0"/>
          </a:p>
          <a:p>
            <a:pPr algn="ctr"/>
            <a:r>
              <a:rPr kumimoji="1" lang="ja-JP" altLang="en-US" sz="6000" b="1" dirty="0"/>
              <a:t>鹿島生産のみ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264891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61C5F7-3FF2-9A88-58CD-CDB7680F0B83}"/>
              </a:ext>
            </a:extLst>
          </p:cNvPr>
          <p:cNvSpPr txBox="1"/>
          <p:nvPr/>
        </p:nvSpPr>
        <p:spPr>
          <a:xfrm>
            <a:off x="1027132" y="764088"/>
            <a:ext cx="82421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r>
              <a:rPr lang="en-US" altLang="ja-JP" dirty="0"/>
              <a:t>04020_</a:t>
            </a:r>
            <a:r>
              <a:rPr lang="ja-JP" altLang="en-US" dirty="0"/>
              <a:t>製造実績登録をクリック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							</a:t>
            </a:r>
          </a:p>
          <a:p>
            <a:r>
              <a:rPr lang="ja-JP" altLang="en-US" dirty="0"/>
              <a:t>②</a:t>
            </a:r>
            <a:r>
              <a:rPr lang="en-US" altLang="ja-JP" dirty="0"/>
              <a:t>【</a:t>
            </a:r>
            <a:r>
              <a:rPr lang="ja-JP" altLang="en-US" dirty="0"/>
              <a:t>製造指図</a:t>
            </a:r>
            <a:r>
              <a:rPr lang="en-US" altLang="ja-JP" dirty="0"/>
              <a:t>No.】</a:t>
            </a:r>
            <a:r>
              <a:rPr lang="ja-JP" altLang="en-US" dirty="0"/>
              <a:t>に指図を入れ、</a:t>
            </a:r>
            <a:r>
              <a:rPr lang="en-US" altLang="ja-JP" dirty="0"/>
              <a:t>【</a:t>
            </a:r>
            <a:r>
              <a:rPr lang="ja-JP" altLang="en-US" dirty="0"/>
              <a:t>検索</a:t>
            </a:r>
            <a:r>
              <a:rPr lang="en-US" altLang="ja-JP" dirty="0"/>
              <a:t>】</a:t>
            </a:r>
            <a:r>
              <a:rPr lang="ja-JP" altLang="en-US" dirty="0"/>
              <a:t>をクリックすると、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【</a:t>
            </a:r>
            <a:r>
              <a:rPr lang="ja-JP" altLang="en-US" dirty="0"/>
              <a:t>プラント</a:t>
            </a:r>
            <a:r>
              <a:rPr lang="en-US" altLang="ja-JP" dirty="0"/>
              <a:t>】</a:t>
            </a:r>
            <a:r>
              <a:rPr lang="ja-JP" altLang="en-US" dirty="0"/>
              <a:t>と</a:t>
            </a:r>
            <a:r>
              <a:rPr lang="en-US" altLang="ja-JP" dirty="0"/>
              <a:t>【</a:t>
            </a:r>
            <a:r>
              <a:rPr lang="ja-JP" altLang="en-US" dirty="0"/>
              <a:t>製造ライン</a:t>
            </a:r>
            <a:r>
              <a:rPr lang="en-US" altLang="ja-JP" dirty="0"/>
              <a:t>】</a:t>
            </a:r>
            <a:r>
              <a:rPr lang="ja-JP" altLang="en-US" dirty="0"/>
              <a:t>の所に情報が入る。</a:t>
            </a:r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428DF17-9AB0-1F49-57E5-ED3CA405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163" y="1554587"/>
            <a:ext cx="1448002" cy="148610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5BA769E-5FE9-CF78-3C9F-EF489239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4503201"/>
            <a:ext cx="9859751" cy="1600423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2149D65-1168-4C98-AD16-084A4EA2469D}"/>
              </a:ext>
            </a:extLst>
          </p:cNvPr>
          <p:cNvSpPr/>
          <p:nvPr/>
        </p:nvSpPr>
        <p:spPr>
          <a:xfrm>
            <a:off x="1786163" y="4503202"/>
            <a:ext cx="2834998" cy="3932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8D43FC5-2E5F-A9CA-0EC1-D5E2877838C2}"/>
              </a:ext>
            </a:extLst>
          </p:cNvPr>
          <p:cNvSpPr/>
          <p:nvPr/>
        </p:nvSpPr>
        <p:spPr>
          <a:xfrm>
            <a:off x="1240473" y="5730039"/>
            <a:ext cx="725979" cy="3932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80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C482F9-AEB4-0891-A404-E9CB2BFD089E}"/>
              </a:ext>
            </a:extLst>
          </p:cNvPr>
          <p:cNvSpPr txBox="1"/>
          <p:nvPr/>
        </p:nvSpPr>
        <p:spPr>
          <a:xfrm>
            <a:off x="1027132" y="764088"/>
            <a:ext cx="82421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③チェックを入れる。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④</a:t>
            </a:r>
            <a:r>
              <a:rPr lang="en-US" altLang="ja-JP" dirty="0"/>
              <a:t>【</a:t>
            </a:r>
            <a:r>
              <a:rPr lang="ja-JP" altLang="en-US" dirty="0"/>
              <a:t>工程別詳細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B01544A-ECC5-29DC-CC1E-2DD5AD31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32" y="1410419"/>
            <a:ext cx="7659169" cy="145752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613F4B8-D154-A8AD-7BD8-6A7F5B62A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47" y="3847429"/>
            <a:ext cx="8242127" cy="609978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60FBD7A-C308-4B36-E58B-64C1583DA44F}"/>
              </a:ext>
            </a:extLst>
          </p:cNvPr>
          <p:cNvSpPr/>
          <p:nvPr/>
        </p:nvSpPr>
        <p:spPr>
          <a:xfrm>
            <a:off x="1215046" y="3851642"/>
            <a:ext cx="1519780" cy="666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6E2051C-DFB0-61EC-49C7-90E78DA1E8E6}"/>
              </a:ext>
            </a:extLst>
          </p:cNvPr>
          <p:cNvSpPr/>
          <p:nvPr/>
        </p:nvSpPr>
        <p:spPr>
          <a:xfrm>
            <a:off x="852057" y="2414115"/>
            <a:ext cx="725979" cy="3932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99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DCA9E-8A80-F06E-04E6-0D353993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08D5B3E7-AE52-75E7-3012-8BF1F0DB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2" y="2488744"/>
            <a:ext cx="9624045" cy="230832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CF620E-6ED4-099B-7298-B9B62EF6E111}"/>
              </a:ext>
            </a:extLst>
          </p:cNvPr>
          <p:cNvSpPr txBox="1"/>
          <p:nvPr/>
        </p:nvSpPr>
        <p:spPr>
          <a:xfrm>
            <a:off x="1027132" y="764088"/>
            <a:ext cx="103457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r>
              <a:rPr lang="en-US" altLang="ja-JP" dirty="0"/>
              <a:t>【</a:t>
            </a:r>
            <a:r>
              <a:rPr lang="ja-JP" altLang="en-US" dirty="0"/>
              <a:t>工程別詳細</a:t>
            </a:r>
            <a:r>
              <a:rPr lang="en-US" altLang="ja-JP" dirty="0"/>
              <a:t>】</a:t>
            </a:r>
            <a:r>
              <a:rPr lang="ja-JP" altLang="en-US" dirty="0"/>
              <a:t>の所で、入力ミスが無いか確認する。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【</a:t>
            </a:r>
            <a:r>
              <a:rPr lang="ja-JP" altLang="en-US" dirty="0"/>
              <a:t>工程進捗ステータス</a:t>
            </a:r>
            <a:r>
              <a:rPr lang="en-US" altLang="ja-JP" dirty="0"/>
              <a:t>】</a:t>
            </a:r>
            <a:r>
              <a:rPr lang="ja-JP" altLang="en-US" dirty="0"/>
              <a:t>の所が、半成品入庫以外、完了になっていること。</a:t>
            </a:r>
            <a:endParaRPr lang="en-US" altLang="ja-JP" dirty="0"/>
          </a:p>
          <a:p>
            <a:r>
              <a:rPr lang="ja-JP" altLang="en-US" dirty="0"/>
              <a:t>　　また、入力漏れ、間違いが無いことを確認する。</a:t>
            </a:r>
            <a:endParaRPr lang="en-US" altLang="ja-JP" dirty="0"/>
          </a:p>
          <a:p>
            <a:r>
              <a:rPr lang="ja-JP" altLang="en-US" dirty="0"/>
              <a:t>　　</a:t>
            </a:r>
            <a:r>
              <a:rPr lang="en-US" altLang="ja-JP" dirty="0"/>
              <a:t>※</a:t>
            </a:r>
            <a:r>
              <a:rPr lang="ja-JP" altLang="en-US" dirty="0"/>
              <a:t>漏れ、間違いがあった場合、外生に連絡し、鹿島様に処置を実施してもらってから</a:t>
            </a:r>
            <a:endParaRPr lang="en-US" altLang="ja-JP" dirty="0"/>
          </a:p>
          <a:p>
            <a:r>
              <a:rPr lang="ja-JP" altLang="en-US" dirty="0"/>
              <a:t>　　入庫作業を実施する。　</a:t>
            </a:r>
            <a:r>
              <a:rPr lang="en-US" altLang="ja-JP" dirty="0"/>
              <a:t>SMT</a:t>
            </a:r>
            <a:r>
              <a:rPr lang="ja-JP" altLang="en-US" dirty="0"/>
              <a:t>配膳の漏れは、日本光電の配膳に連絡する。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278C46F-8A3F-451F-AAAE-21159771B161}"/>
              </a:ext>
            </a:extLst>
          </p:cNvPr>
          <p:cNvSpPr/>
          <p:nvPr/>
        </p:nvSpPr>
        <p:spPr>
          <a:xfrm>
            <a:off x="5250027" y="4047106"/>
            <a:ext cx="845973" cy="2004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568289E-A87D-6B6F-C405-C682174B70B6}"/>
              </a:ext>
            </a:extLst>
          </p:cNvPr>
          <p:cNvSpPr/>
          <p:nvPr/>
        </p:nvSpPr>
        <p:spPr>
          <a:xfrm>
            <a:off x="9031689" y="4047106"/>
            <a:ext cx="1998367" cy="2004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51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B064-E35C-2C2C-C966-39FB7B25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978AF5-92DF-28AD-6DBE-215ADF77BB57}"/>
              </a:ext>
            </a:extLst>
          </p:cNvPr>
          <p:cNvSpPr txBox="1"/>
          <p:nvPr/>
        </p:nvSpPr>
        <p:spPr>
          <a:xfrm>
            <a:off x="1027132" y="764088"/>
            <a:ext cx="103457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⑥戻る　　　をクリックする。　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⑦再度、チェックを入れる。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⑧</a:t>
            </a:r>
            <a:r>
              <a:rPr lang="en-US" altLang="ja-JP" dirty="0"/>
              <a:t>【</a:t>
            </a:r>
            <a:r>
              <a:rPr lang="ja-JP" altLang="en-US" dirty="0"/>
              <a:t>正味量消費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⑨</a:t>
            </a:r>
            <a:r>
              <a:rPr lang="en-US" altLang="ja-JP" dirty="0"/>
              <a:t>【</a:t>
            </a:r>
            <a:r>
              <a:rPr lang="ja-JP" altLang="en-US" dirty="0"/>
              <a:t>作業着手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DDACDEA-338F-8659-6C0B-323A063B6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74" y="764088"/>
            <a:ext cx="400106" cy="31436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742314D-682A-153D-BBC8-0222CAC35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146" y="2394409"/>
            <a:ext cx="8242127" cy="60997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B7FECAA-EE85-22D9-998E-75DC49C49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146" y="3898863"/>
            <a:ext cx="4391638" cy="1724266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4C121FD-DBA6-995B-F600-E8B56F41D6FC}"/>
              </a:ext>
            </a:extLst>
          </p:cNvPr>
          <p:cNvSpPr/>
          <p:nvPr/>
        </p:nvSpPr>
        <p:spPr>
          <a:xfrm>
            <a:off x="1597720" y="4851798"/>
            <a:ext cx="929170" cy="3494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0C2169E-564E-B490-3809-5AFEF0DA69B2}"/>
              </a:ext>
            </a:extLst>
          </p:cNvPr>
          <p:cNvSpPr/>
          <p:nvPr/>
        </p:nvSpPr>
        <p:spPr>
          <a:xfrm>
            <a:off x="2955089" y="2477729"/>
            <a:ext cx="1518588" cy="5266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870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B85BCE-A676-ACB3-6745-18805203DD79}"/>
              </a:ext>
            </a:extLst>
          </p:cNvPr>
          <p:cNvSpPr txBox="1"/>
          <p:nvPr/>
        </p:nvSpPr>
        <p:spPr>
          <a:xfrm>
            <a:off x="999423" y="736379"/>
            <a:ext cx="1034571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⑩</a:t>
            </a:r>
            <a:r>
              <a:rPr lang="en-US" altLang="ja-JP" dirty="0"/>
              <a:t>【</a:t>
            </a:r>
            <a:r>
              <a:rPr lang="ja-JP" altLang="en-US" dirty="0"/>
              <a:t>一括実績登録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　　　　　　　　　　　　　　　　　　　　　　</a:t>
            </a:r>
            <a:r>
              <a:rPr lang="en-US" altLang="ja-JP" dirty="0"/>
              <a:t>※</a:t>
            </a:r>
            <a:r>
              <a:rPr lang="ja-JP" altLang="en-US" dirty="0"/>
              <a:t>注意</a:t>
            </a:r>
            <a:endParaRPr lang="en-US" altLang="ja-JP" dirty="0"/>
          </a:p>
          <a:p>
            <a:r>
              <a:rPr lang="ja-JP" altLang="en-US" dirty="0"/>
              <a:t>　　　　　　　　　　　　　　　　　　　　　　　　 </a:t>
            </a:r>
            <a:r>
              <a:rPr lang="en-US" altLang="ja-JP" dirty="0"/>
              <a:t>【</a:t>
            </a:r>
            <a:r>
              <a:rPr lang="ja-JP" altLang="en-US" dirty="0"/>
              <a:t>一括実績登録</a:t>
            </a:r>
            <a:r>
              <a:rPr lang="en-US" altLang="ja-JP" dirty="0"/>
              <a:t>】</a:t>
            </a:r>
            <a:r>
              <a:rPr lang="ja-JP" altLang="en-US" dirty="0"/>
              <a:t>をクリックした時、</a:t>
            </a:r>
            <a:endParaRPr lang="en-US" altLang="ja-JP" dirty="0"/>
          </a:p>
          <a:p>
            <a:r>
              <a:rPr lang="ja-JP" altLang="en-US" dirty="0"/>
              <a:t>　　　　　　　　　　　　　　　　　　　　　　　　　エラーがでたら、？を参照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⑪</a:t>
            </a:r>
            <a:r>
              <a:rPr lang="en-US" altLang="ja-JP" dirty="0"/>
              <a:t>【</a:t>
            </a:r>
            <a:r>
              <a:rPr lang="ja-JP" altLang="en-US" dirty="0"/>
              <a:t>消費数合計</a:t>
            </a:r>
            <a:r>
              <a:rPr lang="en-US" altLang="ja-JP" dirty="0"/>
              <a:t>】</a:t>
            </a:r>
            <a:r>
              <a:rPr lang="ja-JP" altLang="en-US" dirty="0"/>
              <a:t>の　　をクリックし、整頓する。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674A164-C943-A981-653A-3B62C074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156852" y="3613292"/>
            <a:ext cx="349988" cy="52472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E6C1BBF-F47F-8C68-0245-DFD29325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642" y="1128194"/>
            <a:ext cx="4391638" cy="172426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7A16374-3781-CA9B-4C5C-FF639C7C2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655" y="4356848"/>
            <a:ext cx="5578764" cy="1516009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D91DE60-757A-AF3A-65D1-8178A22587C2}"/>
              </a:ext>
            </a:extLst>
          </p:cNvPr>
          <p:cNvSpPr/>
          <p:nvPr/>
        </p:nvSpPr>
        <p:spPr>
          <a:xfrm>
            <a:off x="4427692" y="2054174"/>
            <a:ext cx="1304514" cy="3940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EB0A95B-25CE-9DCB-32DC-7B19495CB49C}"/>
              </a:ext>
            </a:extLst>
          </p:cNvPr>
          <p:cNvSpPr/>
          <p:nvPr/>
        </p:nvSpPr>
        <p:spPr>
          <a:xfrm>
            <a:off x="5732206" y="4955458"/>
            <a:ext cx="717755" cy="285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6807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88C02C-78AB-DC23-EF7D-1EC20DD0093C}"/>
              </a:ext>
            </a:extLst>
          </p:cNvPr>
          <p:cNvSpPr txBox="1"/>
          <p:nvPr/>
        </p:nvSpPr>
        <p:spPr>
          <a:xfrm>
            <a:off x="999423" y="736379"/>
            <a:ext cx="103457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⑫</a:t>
            </a:r>
            <a:r>
              <a:rPr lang="en-US" altLang="ja-JP" dirty="0"/>
              <a:t>【</a:t>
            </a:r>
            <a:r>
              <a:rPr lang="ja-JP" altLang="en-US" dirty="0"/>
              <a:t>所要量</a:t>
            </a:r>
            <a:r>
              <a:rPr lang="en-US" altLang="ja-JP" dirty="0"/>
              <a:t>】</a:t>
            </a:r>
            <a:r>
              <a:rPr lang="ja-JP" altLang="en-US" dirty="0"/>
              <a:t>の所に数字が入っているが、</a:t>
            </a:r>
            <a:r>
              <a:rPr lang="en-US" altLang="ja-JP" dirty="0"/>
              <a:t>【</a:t>
            </a:r>
            <a:r>
              <a:rPr lang="ja-JP" altLang="en-US" dirty="0"/>
              <a:t>消費数合計</a:t>
            </a:r>
            <a:r>
              <a:rPr lang="en-US" altLang="ja-JP" dirty="0"/>
              <a:t>】</a:t>
            </a:r>
            <a:r>
              <a:rPr lang="ja-JP" altLang="en-US" dirty="0"/>
              <a:t>の所に数字が入っていない箇所を探す。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D7AB215D-9C43-786E-31B6-D658C790E532}"/>
              </a:ext>
            </a:extLst>
          </p:cNvPr>
          <p:cNvGrpSpPr/>
          <p:nvPr/>
        </p:nvGrpSpPr>
        <p:grpSpPr>
          <a:xfrm>
            <a:off x="1431636" y="1345914"/>
            <a:ext cx="6777644" cy="3325225"/>
            <a:chOff x="1431636" y="1345914"/>
            <a:chExt cx="6777644" cy="3325225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F17B68E1-3939-0B8F-6F4B-3547D6D69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1636" y="1345914"/>
              <a:ext cx="6777644" cy="3325225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4C1E20E4-9D5F-9815-E25C-92A67FD2B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7783" y="3673057"/>
              <a:ext cx="171474" cy="133369"/>
            </a:xfrm>
            <a:prstGeom prst="rect">
              <a:avLst/>
            </a:prstGeom>
          </p:spPr>
        </p:pic>
      </p:grp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43A4CF1-AB8B-EDC7-D46A-9B1A028EEF15}"/>
              </a:ext>
            </a:extLst>
          </p:cNvPr>
          <p:cNvSpPr/>
          <p:nvPr/>
        </p:nvSpPr>
        <p:spPr>
          <a:xfrm>
            <a:off x="5941502" y="3663858"/>
            <a:ext cx="1550679" cy="1425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444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191A1D-A228-80AC-4966-7AB8D094E427}"/>
              </a:ext>
            </a:extLst>
          </p:cNvPr>
          <p:cNvSpPr txBox="1"/>
          <p:nvPr/>
        </p:nvSpPr>
        <p:spPr>
          <a:xfrm>
            <a:off x="999423" y="736379"/>
            <a:ext cx="10345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⑬上記のパターンがあったら、そこをクリックし、</a:t>
            </a:r>
            <a:r>
              <a:rPr lang="en-US" altLang="ja-JP" dirty="0"/>
              <a:t>【</a:t>
            </a:r>
            <a:r>
              <a:rPr lang="ja-JP" altLang="en-US" dirty="0"/>
              <a:t>実績登録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B27DFBB-26CF-84CC-C36E-012A776EF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79" y="1336542"/>
            <a:ext cx="6495012" cy="379723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69D3324-A1F0-3D2A-6DB8-96D30042C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932" y="3811602"/>
            <a:ext cx="171474" cy="133369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15C469-84BD-9E95-D3F5-FC109189CDF4}"/>
              </a:ext>
            </a:extLst>
          </p:cNvPr>
          <p:cNvSpPr/>
          <p:nvPr/>
        </p:nvSpPr>
        <p:spPr>
          <a:xfrm>
            <a:off x="1243781" y="4902169"/>
            <a:ext cx="516194" cy="2316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A6D431D-4ED4-D89C-F672-462728254F71}"/>
              </a:ext>
            </a:extLst>
          </p:cNvPr>
          <p:cNvSpPr/>
          <p:nvPr/>
        </p:nvSpPr>
        <p:spPr>
          <a:xfrm>
            <a:off x="1300479" y="3716594"/>
            <a:ext cx="302179" cy="3042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35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D74E19-43A6-1BBB-F244-61C19C095D3F}"/>
              </a:ext>
            </a:extLst>
          </p:cNvPr>
          <p:cNvSpPr txBox="1"/>
          <p:nvPr/>
        </p:nvSpPr>
        <p:spPr>
          <a:xfrm>
            <a:off x="923141" y="717906"/>
            <a:ext cx="103457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⑭</a:t>
            </a:r>
            <a:r>
              <a:rPr lang="en-US" altLang="ja-JP" dirty="0"/>
              <a:t>【</a:t>
            </a:r>
            <a:r>
              <a:rPr lang="ja-JP" altLang="en-US" dirty="0"/>
              <a:t>計算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エラーが出なかったら、</a:t>
            </a:r>
            <a:r>
              <a:rPr lang="en-US" altLang="ja-JP" dirty="0"/>
              <a:t>【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エラーが出てら、</a:t>
            </a:r>
            <a:r>
              <a:rPr lang="en-US" altLang="ja-JP" dirty="0"/>
              <a:t>【</a:t>
            </a:r>
            <a:r>
              <a:rPr lang="ja-JP" altLang="en-US" dirty="0"/>
              <a:t>在庫照会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⑮</a:t>
            </a:r>
            <a:r>
              <a:rPr lang="en-US" altLang="ja-JP" dirty="0"/>
              <a:t>【</a:t>
            </a:r>
            <a:r>
              <a:rPr lang="ja-JP" altLang="en-US" dirty="0"/>
              <a:t>検索</a:t>
            </a:r>
            <a:r>
              <a:rPr lang="en-US" altLang="ja-JP" dirty="0"/>
              <a:t>】</a:t>
            </a:r>
            <a:r>
              <a:rPr lang="ja-JP" altLang="en-US" dirty="0"/>
              <a:t>をクリックする</a:t>
            </a:r>
            <a:r>
              <a:rPr lang="en-US" altLang="ja-JP" dirty="0"/>
              <a:t>	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B72AA04-921F-FB43-EA2B-BD93ECE57BF0}"/>
              </a:ext>
            </a:extLst>
          </p:cNvPr>
          <p:cNvGrpSpPr/>
          <p:nvPr/>
        </p:nvGrpSpPr>
        <p:grpSpPr>
          <a:xfrm>
            <a:off x="2205248" y="2405182"/>
            <a:ext cx="2985588" cy="1470087"/>
            <a:chOff x="1337030" y="2113035"/>
            <a:chExt cx="4409735" cy="2514254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E4D56676-8877-B19C-E455-1DED36172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7030" y="2113035"/>
              <a:ext cx="4409735" cy="2514254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D5E4CD5-9E21-AD21-804E-086D1615D939}"/>
                </a:ext>
              </a:extLst>
            </p:cNvPr>
            <p:cNvSpPr/>
            <p:nvPr/>
          </p:nvSpPr>
          <p:spPr>
            <a:xfrm>
              <a:off x="2466109" y="3075709"/>
              <a:ext cx="757382" cy="1887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6" name="図 5">
            <a:extLst>
              <a:ext uri="{FF2B5EF4-FFF2-40B4-BE49-F238E27FC236}">
                <a16:creationId xmlns:a16="http://schemas.microsoft.com/office/drawing/2014/main" id="{1E20F0FE-4EC7-45F6-8A5D-66BD75C07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478" y="4573921"/>
            <a:ext cx="8888194" cy="1977247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C2A13A3-6A3B-88DA-9951-7C98ABC3BB1B}"/>
              </a:ext>
            </a:extLst>
          </p:cNvPr>
          <p:cNvSpPr/>
          <p:nvPr/>
        </p:nvSpPr>
        <p:spPr>
          <a:xfrm>
            <a:off x="3482467" y="3523829"/>
            <a:ext cx="717755" cy="285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08C63FE-8892-9085-63F6-2B818BF90C4C}"/>
              </a:ext>
            </a:extLst>
          </p:cNvPr>
          <p:cNvSpPr/>
          <p:nvPr/>
        </p:nvSpPr>
        <p:spPr>
          <a:xfrm>
            <a:off x="2092022" y="3523829"/>
            <a:ext cx="717755" cy="285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62B3023-2997-0AE3-19C9-C9AD3328E937}"/>
              </a:ext>
            </a:extLst>
          </p:cNvPr>
          <p:cNvSpPr/>
          <p:nvPr/>
        </p:nvSpPr>
        <p:spPr>
          <a:xfrm>
            <a:off x="1451451" y="5211097"/>
            <a:ext cx="554330" cy="2556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87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B819A5-068B-E3BE-C9EA-F941317E3629}"/>
              </a:ext>
            </a:extLst>
          </p:cNvPr>
          <p:cNvSpPr txBox="1"/>
          <p:nvPr/>
        </p:nvSpPr>
        <p:spPr>
          <a:xfrm>
            <a:off x="1027132" y="764088"/>
            <a:ext cx="103457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⑯品目コードが</a:t>
            </a:r>
            <a:r>
              <a:rPr lang="en-US" altLang="ja-JP" dirty="0"/>
              <a:t>1</a:t>
            </a:r>
            <a:r>
              <a:rPr lang="ja-JP" altLang="en-US" dirty="0"/>
              <a:t>つの場合　　　</a:t>
            </a:r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品目コードが多数出てきた場合は処理に注意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 dirty="0">
                <a:solidFill>
                  <a:srgbClr val="FF0000"/>
                </a:solidFill>
              </a:rPr>
              <a:t>⑲参照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</a:p>
          <a:p>
            <a:r>
              <a:rPr lang="ja-JP" altLang="en-US" dirty="0"/>
              <a:t>　在庫数が所要量より大きければ、ロット</a:t>
            </a:r>
            <a:r>
              <a:rPr lang="en-US" altLang="ja-JP" dirty="0"/>
              <a:t>No,</a:t>
            </a:r>
            <a:r>
              <a:rPr lang="ja-JP" altLang="en-US" dirty="0"/>
              <a:t>をコピーし、　　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⑰</a:t>
            </a:r>
            <a:r>
              <a:rPr lang="en-US" altLang="ja-JP" dirty="0"/>
              <a:t>【</a:t>
            </a:r>
            <a:r>
              <a:rPr lang="ja-JP" altLang="en-US" dirty="0"/>
              <a:t>消費ロット</a:t>
            </a:r>
            <a:r>
              <a:rPr lang="en-US" altLang="ja-JP" dirty="0"/>
              <a:t>No,】</a:t>
            </a:r>
            <a:r>
              <a:rPr lang="ja-JP" altLang="en-US" dirty="0"/>
              <a:t>の所にロット</a:t>
            </a:r>
            <a:r>
              <a:rPr lang="en-US" altLang="ja-JP" dirty="0"/>
              <a:t>No,</a:t>
            </a:r>
            <a:r>
              <a:rPr lang="ja-JP" altLang="en-US" dirty="0"/>
              <a:t>を先ほどコピーした値を張り付ける。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⑱</a:t>
            </a:r>
            <a:r>
              <a:rPr lang="en-US" altLang="ja-JP" dirty="0"/>
              <a:t>【</a:t>
            </a:r>
            <a:r>
              <a:rPr lang="ja-JP" altLang="en-US" dirty="0"/>
              <a:t>計算</a:t>
            </a:r>
            <a:r>
              <a:rPr lang="en-US" altLang="ja-JP" dirty="0"/>
              <a:t>】</a:t>
            </a:r>
            <a:r>
              <a:rPr lang="ja-JP" altLang="en-US" dirty="0"/>
              <a:t>をクリックし、</a:t>
            </a:r>
            <a:r>
              <a:rPr lang="en-US" altLang="ja-JP" dirty="0"/>
              <a:t>【</a:t>
            </a:r>
            <a:r>
              <a:rPr lang="ja-JP" altLang="en-US" dirty="0"/>
              <a:t>数量</a:t>
            </a:r>
            <a:r>
              <a:rPr lang="en-US" altLang="ja-JP" dirty="0"/>
              <a:t>】</a:t>
            </a:r>
            <a:r>
              <a:rPr lang="ja-JP" altLang="en-US" dirty="0"/>
              <a:t>の所に数が入力されたら、</a:t>
            </a:r>
            <a:r>
              <a:rPr lang="en-US" altLang="ja-JP" dirty="0"/>
              <a:t>【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4B05596-7E2D-35F9-E2A3-DB5F63E1C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97" y="1533236"/>
            <a:ext cx="8888194" cy="197724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69F2102-A461-3669-6262-D393753C3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555" y="1049883"/>
            <a:ext cx="400106" cy="314369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A6C896E-3E0E-9798-CEC4-F63BBA4D930B}"/>
              </a:ext>
            </a:extLst>
          </p:cNvPr>
          <p:cNvGrpSpPr/>
          <p:nvPr/>
        </p:nvGrpSpPr>
        <p:grpSpPr>
          <a:xfrm>
            <a:off x="1539661" y="4279631"/>
            <a:ext cx="2985588" cy="1470087"/>
            <a:chOff x="1337030" y="2113035"/>
            <a:chExt cx="4409735" cy="2514254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EFD6D35C-922E-5A16-BC4B-EDF7BEBEB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7030" y="2113035"/>
              <a:ext cx="4409735" cy="2514254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3D4D8D66-CFD7-EB40-B6A3-0ABAD69ED58A}"/>
                </a:ext>
              </a:extLst>
            </p:cNvPr>
            <p:cNvSpPr/>
            <p:nvPr/>
          </p:nvSpPr>
          <p:spPr>
            <a:xfrm>
              <a:off x="2466109" y="3075709"/>
              <a:ext cx="757382" cy="1887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770EE8E-D641-8376-A8A1-5EDBDD92D7C1}"/>
              </a:ext>
            </a:extLst>
          </p:cNvPr>
          <p:cNvSpPr/>
          <p:nvPr/>
        </p:nvSpPr>
        <p:spPr>
          <a:xfrm>
            <a:off x="1535543" y="5434014"/>
            <a:ext cx="521857" cy="1993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518AE8A-ABA7-2138-7256-DBD390508257}"/>
              </a:ext>
            </a:extLst>
          </p:cNvPr>
          <p:cNvSpPr/>
          <p:nvPr/>
        </p:nvSpPr>
        <p:spPr>
          <a:xfrm>
            <a:off x="7031730" y="3225347"/>
            <a:ext cx="558931" cy="285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3B0EA07-644D-ADFD-31D4-3FB9B59F06F7}"/>
              </a:ext>
            </a:extLst>
          </p:cNvPr>
          <p:cNvSpPr/>
          <p:nvPr/>
        </p:nvSpPr>
        <p:spPr>
          <a:xfrm>
            <a:off x="1535543" y="4791708"/>
            <a:ext cx="2020457" cy="1993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468BF5C-C6C7-751D-8E29-0EDD75710266}"/>
              </a:ext>
            </a:extLst>
          </p:cNvPr>
          <p:cNvSpPr/>
          <p:nvPr/>
        </p:nvSpPr>
        <p:spPr>
          <a:xfrm>
            <a:off x="3556001" y="4991100"/>
            <a:ext cx="393700" cy="1993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4635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256132-E29E-51B3-586C-8383D26D6D13}"/>
              </a:ext>
            </a:extLst>
          </p:cNvPr>
          <p:cNvSpPr txBox="1"/>
          <p:nvPr/>
        </p:nvSpPr>
        <p:spPr>
          <a:xfrm>
            <a:off x="923141" y="717906"/>
            <a:ext cx="10345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⑲品目コードが多数出てきた場合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   </a:t>
            </a:r>
            <a:r>
              <a:rPr lang="ja-JP" altLang="en-US" dirty="0">
                <a:solidFill>
                  <a:srgbClr val="FF0000"/>
                </a:solidFill>
              </a:rPr>
              <a:t>注意：ロット</a:t>
            </a:r>
            <a:r>
              <a:rPr lang="en-US" altLang="ja-JP" dirty="0">
                <a:solidFill>
                  <a:srgbClr val="FF0000"/>
                </a:solidFill>
              </a:rPr>
              <a:t>No,</a:t>
            </a:r>
            <a:r>
              <a:rPr lang="ja-JP" altLang="en-US" dirty="0">
                <a:solidFill>
                  <a:srgbClr val="FF0000"/>
                </a:solidFill>
              </a:rPr>
              <a:t>が若い順に部品処理を実施すること。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　　　　間違って若くない方から処理を実施すると、完了できなくなるので注意。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　　　　</a:t>
            </a:r>
            <a:endParaRPr lang="en-US" altLang="ja-JP" dirty="0">
              <a:solidFill>
                <a:srgbClr val="FF0000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34B9F88-A8F0-E40E-67DF-42DE8D6C5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41" y="2324325"/>
            <a:ext cx="10266116" cy="2602677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F690781-4C12-6D53-0EE2-C996205E7C1B}"/>
              </a:ext>
            </a:extLst>
          </p:cNvPr>
          <p:cNvSpPr/>
          <p:nvPr/>
        </p:nvSpPr>
        <p:spPr>
          <a:xfrm>
            <a:off x="6289453" y="3625662"/>
            <a:ext cx="939686" cy="13013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280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F9B6-2034-C053-9131-33E81A8A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C26295-2222-FCE9-0AA3-80EF4EFD61D2}"/>
              </a:ext>
            </a:extLst>
          </p:cNvPr>
          <p:cNvSpPr txBox="1"/>
          <p:nvPr/>
        </p:nvSpPr>
        <p:spPr>
          <a:xfrm>
            <a:off x="923141" y="717906"/>
            <a:ext cx="10345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⑳</a:t>
            </a:r>
            <a:r>
              <a:rPr lang="en-US" altLang="ja-JP" dirty="0"/>
              <a:t>【</a:t>
            </a:r>
            <a:r>
              <a:rPr lang="ja-JP" altLang="en-US" dirty="0"/>
              <a:t>作業完了</a:t>
            </a:r>
            <a:r>
              <a:rPr lang="en-US" altLang="ja-JP" dirty="0"/>
              <a:t>】</a:t>
            </a:r>
            <a:r>
              <a:rPr lang="ja-JP" altLang="en-US" dirty="0"/>
              <a:t>をクリックし、</a:t>
            </a:r>
            <a:r>
              <a:rPr lang="en-US" altLang="ja-JP" dirty="0"/>
              <a:t>【</a:t>
            </a:r>
            <a:r>
              <a:rPr lang="ja-JP" altLang="en-US" dirty="0"/>
              <a:t>工程完了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　エラー</a:t>
            </a:r>
            <a:r>
              <a:rPr lang="en-US" altLang="ja-JP" dirty="0"/>
              <a:t>(</a:t>
            </a:r>
            <a:r>
              <a:rPr lang="ja-JP" altLang="en-US" dirty="0"/>
              <a:t>下記</a:t>
            </a:r>
            <a:r>
              <a:rPr lang="en-US" altLang="ja-JP" dirty="0"/>
              <a:t>)</a:t>
            </a:r>
            <a:r>
              <a:rPr lang="ja-JP" altLang="en-US" dirty="0"/>
              <a:t>が出なければ、正味量消費作業は完了。</a:t>
            </a:r>
            <a:endParaRPr lang="en-US" altLang="ja-JP" dirty="0"/>
          </a:p>
          <a:p>
            <a:r>
              <a:rPr lang="ja-JP" altLang="en-US" dirty="0"/>
              <a:t>　　エラーが出た場合は、正味量消費の漏れの為、</a:t>
            </a:r>
            <a:r>
              <a:rPr lang="en-US" altLang="ja-JP" dirty="0"/>
              <a:t>【</a:t>
            </a:r>
            <a:r>
              <a:rPr lang="ja-JP" altLang="en-US" dirty="0"/>
              <a:t>いいえ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r>
              <a:rPr lang="ja-JP" altLang="en-US" dirty="0"/>
              <a:t>　　</a:t>
            </a:r>
            <a:r>
              <a:rPr lang="en-US" altLang="ja-JP" dirty="0"/>
              <a:t>※</a:t>
            </a:r>
            <a:r>
              <a:rPr lang="ja-JP" altLang="en-US" dirty="0"/>
              <a:t>注意：</a:t>
            </a:r>
            <a:r>
              <a:rPr lang="en-US" altLang="ja-JP" dirty="0"/>
              <a:t>【</a:t>
            </a:r>
            <a:r>
              <a:rPr lang="ja-JP" altLang="en-US" dirty="0"/>
              <a:t>はい</a:t>
            </a:r>
            <a:r>
              <a:rPr lang="en-US" altLang="ja-JP" dirty="0"/>
              <a:t>】</a:t>
            </a:r>
            <a:r>
              <a:rPr lang="ja-JP" altLang="en-US" dirty="0"/>
              <a:t>はクリックしないこと。　再度、漏れていた所を正味量消費作業を実施する。</a:t>
            </a:r>
            <a:endParaRPr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4C1A9EE-8316-1C7B-71EC-BD05FB25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22" y="2435750"/>
            <a:ext cx="4391638" cy="172426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28FB6A3-1E38-19FA-6631-BC2F48AF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812" y="4514982"/>
            <a:ext cx="3458058" cy="132416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C5B6208-3024-0E63-C040-6EFC7004AF5F}"/>
              </a:ext>
            </a:extLst>
          </p:cNvPr>
          <p:cNvSpPr/>
          <p:nvPr/>
        </p:nvSpPr>
        <p:spPr>
          <a:xfrm>
            <a:off x="3087929" y="3381195"/>
            <a:ext cx="963371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6A4D67D-89A9-A910-9E48-C9A0BCACA71E}"/>
              </a:ext>
            </a:extLst>
          </p:cNvPr>
          <p:cNvSpPr/>
          <p:nvPr/>
        </p:nvSpPr>
        <p:spPr>
          <a:xfrm>
            <a:off x="2225588" y="4631723"/>
            <a:ext cx="3870412" cy="120741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305CD11-62EB-63BD-C010-7D9FC6382269}"/>
              </a:ext>
            </a:extLst>
          </p:cNvPr>
          <p:cNvSpPr/>
          <p:nvPr/>
        </p:nvSpPr>
        <p:spPr>
          <a:xfrm>
            <a:off x="4091229" y="3393895"/>
            <a:ext cx="861771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911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45C024-4AD5-1C4E-50B2-8DEFCC93D004}"/>
              </a:ext>
            </a:extLst>
          </p:cNvPr>
          <p:cNvSpPr txBox="1"/>
          <p:nvPr/>
        </p:nvSpPr>
        <p:spPr>
          <a:xfrm>
            <a:off x="923141" y="717906"/>
            <a:ext cx="1034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㉑　　　をクリックし、ファイルを選択後、</a:t>
            </a:r>
            <a:r>
              <a:rPr lang="en-US" altLang="ja-JP" dirty="0"/>
              <a:t>【</a:t>
            </a:r>
            <a:r>
              <a:rPr lang="ja-JP" altLang="en-US" dirty="0"/>
              <a:t>工程別詳細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3015707-C83B-2E3B-664E-1529B7067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858" y="1267935"/>
            <a:ext cx="5999941" cy="4548598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600FD25-2D54-A03F-6602-D4FC6EDA4D4F}"/>
              </a:ext>
            </a:extLst>
          </p:cNvPr>
          <p:cNvSpPr/>
          <p:nvPr/>
        </p:nvSpPr>
        <p:spPr>
          <a:xfrm>
            <a:off x="2178859" y="5615466"/>
            <a:ext cx="500842" cy="2010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846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8454CE-8EEF-029A-51BA-640B3984D2D0}"/>
              </a:ext>
            </a:extLst>
          </p:cNvPr>
          <p:cNvSpPr txBox="1"/>
          <p:nvPr/>
        </p:nvSpPr>
        <p:spPr>
          <a:xfrm>
            <a:off x="923141" y="717906"/>
            <a:ext cx="1034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㉒正味量消費が完了になっていること。また、漏れが無いか確認する。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16ABECB-F381-4C81-84C6-612E1385C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" y="1394660"/>
            <a:ext cx="9601200" cy="2093654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8E9E938-1834-A3E7-C57C-ED606CC4B78E}"/>
              </a:ext>
            </a:extLst>
          </p:cNvPr>
          <p:cNvSpPr/>
          <p:nvPr/>
        </p:nvSpPr>
        <p:spPr>
          <a:xfrm>
            <a:off x="3964229" y="3101795"/>
            <a:ext cx="6663131" cy="1875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930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6D56C-0B4F-42BE-A6D0-FC19ADC2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7EAEB3-1A40-06B6-B35F-3A9C3BAC5458}"/>
              </a:ext>
            </a:extLst>
          </p:cNvPr>
          <p:cNvSpPr txBox="1"/>
          <p:nvPr/>
        </p:nvSpPr>
        <p:spPr>
          <a:xfrm>
            <a:off x="2066793" y="2413337"/>
            <a:ext cx="82421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0" b="1" dirty="0"/>
              <a:t>BOSS</a:t>
            </a:r>
            <a:r>
              <a:rPr lang="ja-JP" altLang="en-US" sz="6000" b="1" dirty="0"/>
              <a:t>　</a:t>
            </a:r>
            <a:r>
              <a:rPr lang="en-US" altLang="ja-JP" sz="6000" b="1" dirty="0"/>
              <a:t>ME25</a:t>
            </a:r>
          </a:p>
          <a:p>
            <a:pPr algn="ctr"/>
            <a:r>
              <a:rPr lang="ja-JP" altLang="en-US" sz="6000" b="1" dirty="0"/>
              <a:t>正味量消費</a:t>
            </a:r>
            <a:endParaRPr lang="en-US" altLang="ja-JP" sz="6000" b="1" dirty="0"/>
          </a:p>
          <a:p>
            <a:pPr algn="ctr"/>
            <a:r>
              <a:rPr lang="ja-JP" altLang="en-US" sz="6000" b="1" dirty="0"/>
              <a:t>引き落とし確認</a:t>
            </a:r>
            <a:endParaRPr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3316261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468E81-7973-9B63-06FD-297AAA620482}"/>
              </a:ext>
            </a:extLst>
          </p:cNvPr>
          <p:cNvSpPr txBox="1"/>
          <p:nvPr/>
        </p:nvSpPr>
        <p:spPr>
          <a:xfrm>
            <a:off x="1027132" y="764088"/>
            <a:ext cx="103457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r>
              <a:rPr lang="en-US" altLang="ja-JP" dirty="0"/>
              <a:t>BOSS</a:t>
            </a:r>
            <a:r>
              <a:rPr lang="ja-JP" altLang="en-US" dirty="0"/>
              <a:t>の</a:t>
            </a:r>
            <a:r>
              <a:rPr lang="en-US" altLang="ja-JP" dirty="0"/>
              <a:t>ME25 –</a:t>
            </a:r>
            <a:r>
              <a:rPr lang="ja-JP" altLang="en-US" dirty="0"/>
              <a:t>入出庫予定一覧をクリック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②</a:t>
            </a:r>
            <a:r>
              <a:rPr lang="en-US" altLang="ja-JP" dirty="0"/>
              <a:t>【</a:t>
            </a:r>
            <a:r>
              <a:rPr lang="ja-JP" altLang="en-US" dirty="0"/>
              <a:t>指図</a:t>
            </a:r>
            <a:r>
              <a:rPr lang="en-US" altLang="ja-JP" dirty="0"/>
              <a:t>】</a:t>
            </a:r>
            <a:r>
              <a:rPr lang="ja-JP" altLang="en-US" dirty="0"/>
              <a:t>の所に指図を入力し、実行ボタンをクリックする。</a:t>
            </a:r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B155C8-ECCF-0E84-D10D-CD1F7886B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14" y="1321520"/>
            <a:ext cx="2981741" cy="32389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5443A60-09B6-6755-E373-66028FDA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876" y="2665635"/>
            <a:ext cx="4406108" cy="2240142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80EC351-F44C-489F-D68E-DDF8943DD3D6}"/>
              </a:ext>
            </a:extLst>
          </p:cNvPr>
          <p:cNvSpPr/>
          <p:nvPr/>
        </p:nvSpPr>
        <p:spPr>
          <a:xfrm>
            <a:off x="1468876" y="1277520"/>
            <a:ext cx="3319024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6A98C39-8659-E790-8DF5-E28F4DE7AF8D}"/>
              </a:ext>
            </a:extLst>
          </p:cNvPr>
          <p:cNvSpPr/>
          <p:nvPr/>
        </p:nvSpPr>
        <p:spPr>
          <a:xfrm>
            <a:off x="3190244" y="4503187"/>
            <a:ext cx="683255" cy="1450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DA59865-9082-9849-7D75-65AF520F328D}"/>
              </a:ext>
            </a:extLst>
          </p:cNvPr>
          <p:cNvSpPr/>
          <p:nvPr/>
        </p:nvSpPr>
        <p:spPr>
          <a:xfrm>
            <a:off x="1468877" y="2810104"/>
            <a:ext cx="247138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132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2A4F47-4367-877B-AE69-EE1A55BDFBE8}"/>
              </a:ext>
            </a:extLst>
          </p:cNvPr>
          <p:cNvSpPr txBox="1"/>
          <p:nvPr/>
        </p:nvSpPr>
        <p:spPr>
          <a:xfrm>
            <a:off x="1027132" y="764088"/>
            <a:ext cx="103457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③差異数量の所で右クリックし、降順ソートをクリックする。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差異数量の所が</a:t>
            </a:r>
            <a:r>
              <a:rPr lang="en-US" altLang="ja-JP" dirty="0">
                <a:solidFill>
                  <a:srgbClr val="FF0000"/>
                </a:solidFill>
              </a:rPr>
              <a:t>0</a:t>
            </a:r>
            <a:r>
              <a:rPr lang="ja-JP" altLang="en-US" dirty="0">
                <a:solidFill>
                  <a:srgbClr val="FF0000"/>
                </a:solidFill>
              </a:rPr>
              <a:t>で無い所を注意</a:t>
            </a:r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部品で差異数量が</a:t>
            </a:r>
            <a:r>
              <a:rPr lang="en-US" altLang="ja-JP" dirty="0">
                <a:solidFill>
                  <a:srgbClr val="FF0000"/>
                </a:solidFill>
              </a:rPr>
              <a:t>0</a:t>
            </a:r>
            <a:r>
              <a:rPr lang="ja-JP" altLang="en-US" dirty="0">
                <a:solidFill>
                  <a:srgbClr val="FF0000"/>
                </a:solidFill>
              </a:rPr>
              <a:t>で無い場合、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正味量消費のやり忘れの為、注意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/>
              <a:t>④問題無いことを確認後、</a:t>
            </a:r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承認</a:t>
            </a:r>
            <a:r>
              <a:rPr lang="en-US" altLang="ja-JP" dirty="0"/>
              <a:t>】</a:t>
            </a:r>
            <a:r>
              <a:rPr lang="ja-JP" altLang="en-US" dirty="0"/>
              <a:t>作業依頼を実施すること。</a:t>
            </a:r>
            <a:endParaRPr lang="en-US" altLang="ja-JP" dirty="0"/>
          </a:p>
          <a:p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/>
              <a:t>	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7C10F7D-046F-8952-56B1-2511F03A0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22" y="1401980"/>
            <a:ext cx="8860183" cy="239180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A38BB5A-C482-DAB5-E8CE-8569417E3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359" y="4079153"/>
            <a:ext cx="5782482" cy="2372056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EE25737-E13C-65B4-A9D1-2DFA6B285C30}"/>
              </a:ext>
            </a:extLst>
          </p:cNvPr>
          <p:cNvSpPr/>
          <p:nvPr/>
        </p:nvSpPr>
        <p:spPr>
          <a:xfrm>
            <a:off x="7435651" y="1767440"/>
            <a:ext cx="963371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B6AD30D-F633-DACF-C9EB-271239DA6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755" y="4733629"/>
            <a:ext cx="1638529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91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4F51C4E-7D09-019D-FDBD-A68775149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467" y="2508103"/>
            <a:ext cx="6211167" cy="306747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A7B8618-AABA-6F9D-9D1B-2E570A1FE120}"/>
              </a:ext>
            </a:extLst>
          </p:cNvPr>
          <p:cNvSpPr txBox="1"/>
          <p:nvPr/>
        </p:nvSpPr>
        <p:spPr>
          <a:xfrm>
            <a:off x="1027132" y="764088"/>
            <a:ext cx="10345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SMT</a:t>
            </a:r>
            <a:r>
              <a:rPr lang="ja-JP" altLang="en-US" dirty="0">
                <a:solidFill>
                  <a:srgbClr val="FF0000"/>
                </a:solidFill>
              </a:rPr>
              <a:t>実装部品なのか確認する時は、</a:t>
            </a:r>
            <a:r>
              <a:rPr lang="en-US" altLang="ja-JP" dirty="0" err="1">
                <a:solidFill>
                  <a:srgbClr val="FF0000"/>
                </a:solidFill>
              </a:rPr>
              <a:t>i</a:t>
            </a:r>
            <a:r>
              <a:rPr lang="en-US" altLang="ja-JP" dirty="0">
                <a:solidFill>
                  <a:srgbClr val="FF0000"/>
                </a:solidFill>
              </a:rPr>
              <a:t>-Fail</a:t>
            </a:r>
            <a:r>
              <a:rPr lang="ja-JP" altLang="en-US" dirty="0">
                <a:solidFill>
                  <a:srgbClr val="FF0000"/>
                </a:solidFill>
              </a:rPr>
              <a:t>で確認する。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/>
              <a:t>ファイルを確認し、</a:t>
            </a:r>
            <a:r>
              <a:rPr lang="en-US" altLang="ja-JP" dirty="0"/>
              <a:t>SMT</a:t>
            </a:r>
            <a:r>
              <a:rPr lang="ja-JP" altLang="en-US" dirty="0"/>
              <a:t>部品で実装部品だった場合、正味量消費の抜けなので、再度、正味量消費を実施すること。</a:t>
            </a:r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承認が終わってしまうと、修正が出来ないので注意。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09368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4080-9BE6-20B8-5985-F24D77A0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BA8BE1-9C3F-A906-AE21-3772371CC299}"/>
              </a:ext>
            </a:extLst>
          </p:cNvPr>
          <p:cNvSpPr txBox="1"/>
          <p:nvPr/>
        </p:nvSpPr>
        <p:spPr>
          <a:xfrm>
            <a:off x="2066793" y="2413337"/>
            <a:ext cx="8242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/>
              <a:t>承認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3474473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3299E83-6B68-AF7C-A245-0627DB57E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894" y="1313024"/>
            <a:ext cx="1609950" cy="167663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1DDC51-64B2-C0D0-2514-598C294BEF4C}"/>
              </a:ext>
            </a:extLst>
          </p:cNvPr>
          <p:cNvSpPr txBox="1"/>
          <p:nvPr/>
        </p:nvSpPr>
        <p:spPr>
          <a:xfrm>
            <a:off x="1027132" y="764088"/>
            <a:ext cx="82421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r>
              <a:rPr lang="en-US" altLang="ja-JP" dirty="0"/>
              <a:t>04040_</a:t>
            </a:r>
            <a:r>
              <a:rPr lang="ja-JP" altLang="en-US" dirty="0"/>
              <a:t>製造実績承認をクリック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②製造指図</a:t>
            </a:r>
            <a:r>
              <a:rPr kumimoji="1" lang="en-US" altLang="ja-JP" dirty="0"/>
              <a:t>No.</a:t>
            </a:r>
            <a:r>
              <a:rPr kumimoji="1" lang="ja-JP" altLang="en-US" dirty="0"/>
              <a:t>の所に指図を入力し、検索をクリックする。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AB40A93-3FA3-5C5B-82D9-61811E898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99" y="3792802"/>
            <a:ext cx="9731258" cy="2722298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42114F2-7564-528A-FF5C-5354EEDF1E75}"/>
              </a:ext>
            </a:extLst>
          </p:cNvPr>
          <p:cNvSpPr/>
          <p:nvPr/>
        </p:nvSpPr>
        <p:spPr>
          <a:xfrm>
            <a:off x="5589528" y="4457407"/>
            <a:ext cx="2792472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7861705-4525-D1C3-DE2D-859F83CC77B6}"/>
              </a:ext>
            </a:extLst>
          </p:cNvPr>
          <p:cNvSpPr/>
          <p:nvPr/>
        </p:nvSpPr>
        <p:spPr>
          <a:xfrm>
            <a:off x="1563929" y="4771912"/>
            <a:ext cx="810971" cy="2344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5205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7E8B2C-2C25-7F40-AB6F-30AB52F385EA}"/>
              </a:ext>
            </a:extLst>
          </p:cNvPr>
          <p:cNvSpPr txBox="1"/>
          <p:nvPr/>
        </p:nvSpPr>
        <p:spPr>
          <a:xfrm>
            <a:off x="1027132" y="764088"/>
            <a:ext cx="82421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③チェックをいれ、</a:t>
            </a:r>
            <a:r>
              <a:rPr lang="en-US" altLang="ja-JP" dirty="0"/>
              <a:t>【</a:t>
            </a:r>
            <a:r>
              <a:rPr lang="ja-JP" altLang="en-US" dirty="0"/>
              <a:t>承認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④数量を入れ、</a:t>
            </a:r>
            <a:r>
              <a:rPr lang="en-US" altLang="ja-JP" dirty="0"/>
              <a:t>【</a:t>
            </a:r>
            <a:r>
              <a:rPr lang="ja-JP" altLang="en-US" dirty="0"/>
              <a:t>承認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AECE67E-BD3A-70D5-8498-E9FF4039B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58" y="1340285"/>
            <a:ext cx="9281366" cy="220984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137FDDA-1277-B1EF-DE93-41715D35C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633" y="4644405"/>
            <a:ext cx="2891066" cy="1355562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DDEE8CE-351D-C535-F4EB-D43AB184490C}"/>
              </a:ext>
            </a:extLst>
          </p:cNvPr>
          <p:cNvSpPr/>
          <p:nvPr/>
        </p:nvSpPr>
        <p:spPr>
          <a:xfrm>
            <a:off x="1251557" y="3265397"/>
            <a:ext cx="407519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5BD04A4-BB80-6D14-DF02-F2A9BE4461AA}"/>
              </a:ext>
            </a:extLst>
          </p:cNvPr>
          <p:cNvSpPr/>
          <p:nvPr/>
        </p:nvSpPr>
        <p:spPr>
          <a:xfrm>
            <a:off x="1251559" y="1511301"/>
            <a:ext cx="297842" cy="279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C4647CC-B0E4-CD1A-91F9-8EC4E735FE18}"/>
              </a:ext>
            </a:extLst>
          </p:cNvPr>
          <p:cNvSpPr/>
          <p:nvPr/>
        </p:nvSpPr>
        <p:spPr>
          <a:xfrm>
            <a:off x="1455316" y="4994981"/>
            <a:ext cx="2151484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AA1C0CF-3A28-5166-4AB4-612F576CC4CC}"/>
              </a:ext>
            </a:extLst>
          </p:cNvPr>
          <p:cNvSpPr/>
          <p:nvPr/>
        </p:nvSpPr>
        <p:spPr>
          <a:xfrm>
            <a:off x="1567687" y="5621730"/>
            <a:ext cx="1086613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993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D8955C-C1B4-35D7-87BC-5D9589082AA9}"/>
              </a:ext>
            </a:extLst>
          </p:cNvPr>
          <p:cNvSpPr txBox="1"/>
          <p:nvPr/>
        </p:nvSpPr>
        <p:spPr>
          <a:xfrm>
            <a:off x="1027132" y="764088"/>
            <a:ext cx="8242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r>
              <a:rPr lang="en-US" altLang="ja-JP" dirty="0"/>
              <a:t>【</a:t>
            </a:r>
            <a:r>
              <a:rPr lang="ja-JP" altLang="en-US" dirty="0"/>
              <a:t>ユーザー名</a:t>
            </a:r>
            <a:r>
              <a:rPr lang="en-US" altLang="ja-JP" dirty="0"/>
              <a:t>】</a:t>
            </a:r>
            <a:r>
              <a:rPr lang="ja-JP" altLang="en-US" dirty="0"/>
              <a:t>と</a:t>
            </a:r>
            <a:r>
              <a:rPr lang="en-US" altLang="ja-JP" dirty="0"/>
              <a:t>【</a:t>
            </a:r>
            <a:r>
              <a:rPr lang="ja-JP" altLang="en-US" dirty="0"/>
              <a:t>パスワード</a:t>
            </a:r>
            <a:r>
              <a:rPr lang="en-US" altLang="ja-JP" dirty="0"/>
              <a:t>】</a:t>
            </a:r>
            <a:r>
              <a:rPr lang="ja-JP" altLang="en-US" dirty="0"/>
              <a:t>を入れ</a:t>
            </a:r>
            <a:r>
              <a:rPr lang="en-US" altLang="ja-JP" dirty="0"/>
              <a:t>【OK】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E5B31DA-007D-5AA9-1DBA-0248F2819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265" y="1364251"/>
            <a:ext cx="3131283" cy="165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70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6AA1A9-E8D4-AC66-E672-6DA4D8E72B63}"/>
              </a:ext>
            </a:extLst>
          </p:cNvPr>
          <p:cNvSpPr txBox="1"/>
          <p:nvPr/>
        </p:nvSpPr>
        <p:spPr>
          <a:xfrm>
            <a:off x="2066793" y="2413337"/>
            <a:ext cx="8242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/>
              <a:t>入庫現品票　出力手順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641698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138E89-B79B-8DEF-B8E3-3EE20F9E383C}"/>
              </a:ext>
            </a:extLst>
          </p:cNvPr>
          <p:cNvSpPr txBox="1"/>
          <p:nvPr/>
        </p:nvSpPr>
        <p:spPr>
          <a:xfrm>
            <a:off x="1027132" y="764088"/>
            <a:ext cx="82421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</a:t>
            </a:r>
            <a:r>
              <a:rPr kumimoji="1" lang="en-US" altLang="ja-JP" dirty="0"/>
              <a:t>MES</a:t>
            </a:r>
            <a:r>
              <a:rPr kumimoji="1" lang="ja-JP" altLang="en-US" dirty="0"/>
              <a:t>を立ち上げる</a:t>
            </a:r>
            <a:endParaRPr kumimoji="1"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>
                <a:hlinkClick r:id="rId2"/>
              </a:rPr>
              <a:t>https://nksvmes01s.ad.nkc.co.jp/apriso/apriso/#/search</a:t>
            </a:r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②</a:t>
            </a:r>
            <a:r>
              <a:rPr lang="en-US" altLang="ja-JP" dirty="0"/>
              <a:t>04050_</a:t>
            </a:r>
            <a:r>
              <a:rPr lang="ja-JP" altLang="en-US" dirty="0"/>
              <a:t>完成品入庫をクリック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CC2044-73B3-DAB2-0093-53BB83C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944" y="3580243"/>
            <a:ext cx="1552792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91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90C2F5-0D2A-8F4F-4B78-65AC1F8681A1}"/>
              </a:ext>
            </a:extLst>
          </p:cNvPr>
          <p:cNvSpPr txBox="1"/>
          <p:nvPr/>
        </p:nvSpPr>
        <p:spPr>
          <a:xfrm>
            <a:off x="1027132" y="764088"/>
            <a:ext cx="82421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③</a:t>
            </a:r>
            <a:r>
              <a:rPr kumimoji="1" lang="en-US" altLang="ja-JP" dirty="0"/>
              <a:t>【</a:t>
            </a:r>
            <a:r>
              <a:rPr kumimoji="1" lang="ja-JP" altLang="en-US" dirty="0"/>
              <a:t>製造指図</a:t>
            </a:r>
            <a:r>
              <a:rPr kumimoji="1" lang="en-US" altLang="ja-JP" dirty="0"/>
              <a:t>No.】</a:t>
            </a:r>
            <a:r>
              <a:rPr kumimoji="1" lang="ja-JP" altLang="en-US" dirty="0"/>
              <a:t>を入力する。</a:t>
            </a:r>
            <a:endParaRPr kumimoji="1" lang="en-US" altLang="ja-JP" dirty="0"/>
          </a:p>
          <a:p>
            <a:r>
              <a:rPr kumimoji="1" lang="ja-JP" altLang="en-US" dirty="0"/>
              <a:t>④</a:t>
            </a:r>
            <a:r>
              <a:rPr kumimoji="1" lang="en-US" altLang="ja-JP" dirty="0"/>
              <a:t>【</a:t>
            </a:r>
            <a:r>
              <a:rPr kumimoji="1" lang="ja-JP" altLang="en-US" dirty="0"/>
              <a:t>ロット承認済</a:t>
            </a:r>
            <a:r>
              <a:rPr kumimoji="1" lang="en-US" altLang="ja-JP" dirty="0"/>
              <a:t>】</a:t>
            </a:r>
            <a:r>
              <a:rPr kumimoji="1" lang="ja-JP" altLang="en-US" dirty="0"/>
              <a:t>を選択</a:t>
            </a:r>
            <a:endParaRPr kumimoji="1" lang="en-US" altLang="ja-JP" dirty="0"/>
          </a:p>
          <a:p>
            <a:r>
              <a:rPr lang="ja-JP" altLang="en-US" dirty="0"/>
              <a:t>⑤</a:t>
            </a:r>
            <a:r>
              <a:rPr lang="en-US" altLang="ja-JP" dirty="0"/>
              <a:t>【</a:t>
            </a:r>
            <a:r>
              <a:rPr lang="ja-JP" altLang="en-US" dirty="0"/>
              <a:t>検索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※</a:t>
            </a:r>
            <a:r>
              <a:rPr kumimoji="1" lang="ja-JP" altLang="en-US" dirty="0"/>
              <a:t>プラントは</a:t>
            </a:r>
            <a:r>
              <a:rPr lang="ja-JP" altLang="en-US" dirty="0"/>
              <a:t>「</a:t>
            </a:r>
            <a:r>
              <a:rPr kumimoji="1" lang="en-US" altLang="ja-JP" dirty="0"/>
              <a:t>R020</a:t>
            </a:r>
            <a:r>
              <a:rPr kumimoji="1" lang="ja-JP" altLang="en-US" dirty="0"/>
              <a:t>」</a:t>
            </a:r>
            <a:r>
              <a:rPr lang="en-US" altLang="ja-JP" dirty="0"/>
              <a:t>   </a:t>
            </a:r>
            <a:r>
              <a:rPr lang="ja-JP" altLang="en-US" dirty="0"/>
              <a:t>製造ラインは「</a:t>
            </a:r>
            <a:r>
              <a:rPr lang="en-US" altLang="ja-JP" dirty="0"/>
              <a:t>R02</a:t>
            </a:r>
            <a:r>
              <a:rPr lang="ja-JP" altLang="en-US" dirty="0"/>
              <a:t>」が自動で入る</a:t>
            </a:r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0A92DC-1EE0-EED8-2B13-1C8D11C9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2911941"/>
            <a:ext cx="9745435" cy="1409897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047DBF14-3ED0-FFBB-7698-CC33ADE68AC0}"/>
              </a:ext>
            </a:extLst>
          </p:cNvPr>
          <p:cNvSpPr/>
          <p:nvPr/>
        </p:nvSpPr>
        <p:spPr>
          <a:xfrm>
            <a:off x="1322629" y="2911941"/>
            <a:ext cx="2893771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3093B76-FA4A-99F7-F430-EB75EEC833F7}"/>
              </a:ext>
            </a:extLst>
          </p:cNvPr>
          <p:cNvSpPr/>
          <p:nvPr/>
        </p:nvSpPr>
        <p:spPr>
          <a:xfrm>
            <a:off x="1223283" y="3944094"/>
            <a:ext cx="757918" cy="3777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F18D2C8-7163-56E3-4D7A-1D9B1AD427D6}"/>
              </a:ext>
            </a:extLst>
          </p:cNvPr>
          <p:cNvSpPr/>
          <p:nvPr/>
        </p:nvSpPr>
        <p:spPr>
          <a:xfrm>
            <a:off x="2427529" y="3616889"/>
            <a:ext cx="1217371" cy="3272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3851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101A23-91AA-3971-4F31-ACCD4E4F4745}"/>
              </a:ext>
            </a:extLst>
          </p:cNvPr>
          <p:cNvSpPr txBox="1"/>
          <p:nvPr/>
        </p:nvSpPr>
        <p:spPr>
          <a:xfrm>
            <a:off x="1027132" y="764088"/>
            <a:ext cx="82421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　下記のように選択する。（クリック）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⑦</a:t>
            </a:r>
            <a:r>
              <a:rPr lang="en-US" altLang="ja-JP" dirty="0"/>
              <a:t>【</a:t>
            </a:r>
            <a:r>
              <a:rPr lang="ja-JP" altLang="en-US" dirty="0"/>
              <a:t>指図出来高明細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r>
              <a:rPr kumimoji="1" lang="ja-JP" altLang="en-US" dirty="0"/>
              <a:t>　　指図、品目、生産指示数、承認数などを確認する。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⑧戻るボタン　　　をクリックする</a:t>
            </a:r>
            <a:endParaRPr kumimoji="1" lang="en-US" altLang="ja-JP" dirty="0"/>
          </a:p>
          <a:p>
            <a:r>
              <a:rPr lang="ja-JP" altLang="en-US" dirty="0"/>
              <a:t>　　　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9E1E1B3-4B5D-7E60-E0D7-AE02C271F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102" y="1428580"/>
            <a:ext cx="9199028" cy="118090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91E86D9-CE8B-7FDB-A6FC-BAB8852B0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26" y="4248515"/>
            <a:ext cx="9809748" cy="915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FD12219-4D85-D335-0B97-AE8C101DD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630" y="5524122"/>
            <a:ext cx="2076740" cy="77163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B45DE7C-2F6F-B296-DA7B-D4B77EF3C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142" y="5734054"/>
            <a:ext cx="400106" cy="295316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14A3C65-7010-12BB-3434-81FE4723ADA7}"/>
              </a:ext>
            </a:extLst>
          </p:cNvPr>
          <p:cNvSpPr/>
          <p:nvPr/>
        </p:nvSpPr>
        <p:spPr>
          <a:xfrm>
            <a:off x="1191127" y="2179096"/>
            <a:ext cx="396374" cy="4303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6D85CB0-83B0-C91D-56E9-9101859F8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370" y="2757998"/>
            <a:ext cx="2556716" cy="1180905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0CEB241-5077-3477-166E-AFF3CD52E4CD}"/>
              </a:ext>
            </a:extLst>
          </p:cNvPr>
          <p:cNvSpPr/>
          <p:nvPr/>
        </p:nvSpPr>
        <p:spPr>
          <a:xfrm>
            <a:off x="7897713" y="3473526"/>
            <a:ext cx="1500287" cy="4303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491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4112D8-2793-F62B-A9B2-A78FC51923A7}"/>
              </a:ext>
            </a:extLst>
          </p:cNvPr>
          <p:cNvSpPr txBox="1"/>
          <p:nvPr/>
        </p:nvSpPr>
        <p:spPr>
          <a:xfrm>
            <a:off x="1027132" y="764088"/>
            <a:ext cx="82421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⑨　選択し、チェックを入れる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⑩</a:t>
            </a:r>
            <a:r>
              <a:rPr lang="en-US" altLang="ja-JP" dirty="0"/>
              <a:t>【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をクリックする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14CD4F-8CAC-77E2-9F5A-958E08672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32" y="1340897"/>
            <a:ext cx="9199028" cy="118090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8E517C0-8740-B963-9B10-0C3A96B6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888" y="3332024"/>
            <a:ext cx="2556716" cy="1180905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CCA0A94-3982-71BE-ACC9-D269A26347D1}"/>
              </a:ext>
            </a:extLst>
          </p:cNvPr>
          <p:cNvSpPr/>
          <p:nvPr/>
        </p:nvSpPr>
        <p:spPr>
          <a:xfrm>
            <a:off x="1229227" y="2095500"/>
            <a:ext cx="396373" cy="3175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2F0CFF0-A582-BFCD-0F30-F1EE7D6C6399}"/>
              </a:ext>
            </a:extLst>
          </p:cNvPr>
          <p:cNvSpPr/>
          <p:nvPr/>
        </p:nvSpPr>
        <p:spPr>
          <a:xfrm>
            <a:off x="4686299" y="3986948"/>
            <a:ext cx="711201" cy="52598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612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22F0AF2-E899-41A5-F6D1-CDAC3A704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39" y="1542787"/>
            <a:ext cx="6668431" cy="188621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915A84-4676-D59F-4FA8-48EA220348A0}"/>
              </a:ext>
            </a:extLst>
          </p:cNvPr>
          <p:cNvSpPr txBox="1"/>
          <p:nvPr/>
        </p:nvSpPr>
        <p:spPr>
          <a:xfrm>
            <a:off x="1027132" y="764088"/>
            <a:ext cx="824212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⑪下記のように選択する。（クリック）</a:t>
            </a:r>
            <a:endParaRPr lang="en-US" altLang="ja-JP" dirty="0"/>
          </a:p>
          <a:p>
            <a:r>
              <a:rPr lang="ja-JP" altLang="en-US" dirty="0"/>
              <a:t>⑫良品数を確認 </a:t>
            </a:r>
            <a:r>
              <a:rPr lang="en-US" altLang="ja-JP" dirty="0"/>
              <a:t>or</a:t>
            </a:r>
            <a:r>
              <a:rPr lang="ja-JP" altLang="en-US" dirty="0"/>
              <a:t>入力する。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⑬</a:t>
            </a:r>
            <a:r>
              <a:rPr lang="en-US" altLang="ja-JP" dirty="0"/>
              <a:t>【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⑭戻るボタン　　　をクリックする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C548E9B-2168-3C19-3F6D-9D50C4745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72" y="4357327"/>
            <a:ext cx="2476846" cy="85737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8E3FA7B-7E31-DF17-9791-A588D38C9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142" y="5734054"/>
            <a:ext cx="400106" cy="29531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48C49D2-97DA-1D91-210A-CEB079D67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248" y="5816215"/>
            <a:ext cx="2076740" cy="771633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A74BD9E-3F68-43A3-484D-93427322C480}"/>
              </a:ext>
            </a:extLst>
          </p:cNvPr>
          <p:cNvSpPr/>
          <p:nvPr/>
        </p:nvSpPr>
        <p:spPr>
          <a:xfrm>
            <a:off x="1296239" y="2832100"/>
            <a:ext cx="494461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08AC259-856D-3BC0-E656-21C3ABA0C8C7}"/>
              </a:ext>
            </a:extLst>
          </p:cNvPr>
          <p:cNvSpPr/>
          <p:nvPr/>
        </p:nvSpPr>
        <p:spPr>
          <a:xfrm>
            <a:off x="2897341" y="2485892"/>
            <a:ext cx="1611159" cy="7780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6A89B2B-2BBD-DB62-4680-7EAA1BDEE0A2}"/>
              </a:ext>
            </a:extLst>
          </p:cNvPr>
          <p:cNvSpPr/>
          <p:nvPr/>
        </p:nvSpPr>
        <p:spPr>
          <a:xfrm>
            <a:off x="3909772" y="4719396"/>
            <a:ext cx="687628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217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70CF4F3-2102-3B5B-3A18-DEB7476581A2}"/>
              </a:ext>
            </a:extLst>
          </p:cNvPr>
          <p:cNvSpPr txBox="1"/>
          <p:nvPr/>
        </p:nvSpPr>
        <p:spPr>
          <a:xfrm>
            <a:off x="1027132" y="764088"/>
            <a:ext cx="82421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⑮下記のように選択する。（クリック）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⑯</a:t>
            </a:r>
            <a:r>
              <a:rPr lang="en-US" altLang="ja-JP" dirty="0"/>
              <a:t>【</a:t>
            </a:r>
            <a:r>
              <a:rPr lang="ja-JP" altLang="en-US" dirty="0"/>
              <a:t>入庫現品票印刷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3FDEE08-A22C-7E12-3815-FCD35CA1A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78" y="1457875"/>
            <a:ext cx="9502027" cy="197112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29AB7C5-482D-E8DE-5D28-DED47AB7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771" y="4859500"/>
            <a:ext cx="2000529" cy="628738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2A10F44-A5D9-FF83-BC89-C767B1CC083E}"/>
              </a:ext>
            </a:extLst>
          </p:cNvPr>
          <p:cNvSpPr/>
          <p:nvPr/>
        </p:nvSpPr>
        <p:spPr>
          <a:xfrm>
            <a:off x="1244779" y="3019716"/>
            <a:ext cx="393522" cy="4092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76AEFAB-71C3-72ED-5B57-ED17C8B2C244}"/>
              </a:ext>
            </a:extLst>
          </p:cNvPr>
          <p:cNvSpPr/>
          <p:nvPr/>
        </p:nvSpPr>
        <p:spPr>
          <a:xfrm>
            <a:off x="5227574" y="5011405"/>
            <a:ext cx="1363726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701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204C5E-9F32-4399-112A-FCE30BB7C3E8}"/>
              </a:ext>
            </a:extLst>
          </p:cNvPr>
          <p:cNvSpPr txBox="1"/>
          <p:nvPr/>
        </p:nvSpPr>
        <p:spPr>
          <a:xfrm>
            <a:off x="1027132" y="764088"/>
            <a:ext cx="82421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⑰</a:t>
            </a:r>
            <a:r>
              <a:rPr lang="en-US" altLang="ja-JP" dirty="0"/>
              <a:t>【</a:t>
            </a:r>
            <a:r>
              <a:rPr lang="ja-JP" altLang="en-US" dirty="0"/>
              <a:t>個数総数</a:t>
            </a:r>
            <a:r>
              <a:rPr lang="en-US" altLang="ja-JP" dirty="0"/>
              <a:t>】</a:t>
            </a:r>
            <a:r>
              <a:rPr lang="ja-JP" altLang="en-US" dirty="0"/>
              <a:t>に個数を入力　（箱が何箱）</a:t>
            </a:r>
            <a:endParaRPr lang="en-US" altLang="ja-JP" dirty="0"/>
          </a:p>
          <a:p>
            <a:r>
              <a:rPr lang="ja-JP" altLang="en-US" dirty="0"/>
              <a:t>　　</a:t>
            </a:r>
            <a:endParaRPr lang="en-US" altLang="ja-JP" dirty="0"/>
          </a:p>
          <a:p>
            <a:r>
              <a:rPr lang="ja-JP" altLang="en-US" dirty="0"/>
              <a:t>　　</a:t>
            </a:r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注意：</a:t>
            </a:r>
            <a:r>
              <a:rPr lang="en-US" altLang="ja-JP" dirty="0">
                <a:solidFill>
                  <a:srgbClr val="FF0000"/>
                </a:solidFill>
              </a:rPr>
              <a:t>【</a:t>
            </a:r>
            <a:r>
              <a:rPr lang="ja-JP" altLang="en-US" dirty="0">
                <a:solidFill>
                  <a:srgbClr val="FF0000"/>
                </a:solidFill>
              </a:rPr>
              <a:t>シリアルごとに出力</a:t>
            </a:r>
            <a:r>
              <a:rPr lang="en-US" altLang="ja-JP" dirty="0">
                <a:solidFill>
                  <a:srgbClr val="FF0000"/>
                </a:solidFill>
              </a:rPr>
              <a:t>】</a:t>
            </a:r>
            <a:r>
              <a:rPr lang="ja-JP" altLang="en-US" dirty="0">
                <a:solidFill>
                  <a:srgbClr val="FF0000"/>
                </a:solidFill>
              </a:rPr>
              <a:t>にチェックを入れないこと</a:t>
            </a:r>
            <a:endParaRPr lang="en-US" altLang="ja-JP" dirty="0">
              <a:solidFill>
                <a:srgbClr val="FF0000"/>
              </a:solidFill>
            </a:endParaRPr>
          </a:p>
          <a:p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/>
              <a:t>⑱プリンターを選択　　　</a:t>
            </a:r>
            <a:r>
              <a:rPr lang="en-US" altLang="ja-JP" dirty="0"/>
              <a:t>AOI2</a:t>
            </a:r>
            <a:r>
              <a:rPr lang="ja-JP" altLang="en-US" dirty="0"/>
              <a:t>ライン付近のプリンタ　第</a:t>
            </a:r>
            <a:r>
              <a:rPr lang="en-US" altLang="ja-JP" dirty="0"/>
              <a:t>2</a:t>
            </a:r>
            <a:r>
              <a:rPr lang="ja-JP" altLang="en-US" dirty="0"/>
              <a:t>生産</a:t>
            </a:r>
            <a:r>
              <a:rPr lang="en-US" altLang="ja-JP" dirty="0"/>
              <a:t>1_01412</a:t>
            </a: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⑲</a:t>
            </a:r>
            <a:r>
              <a:rPr lang="en-US" altLang="ja-JP" dirty="0"/>
              <a:t>【</a:t>
            </a:r>
            <a:r>
              <a:rPr lang="ja-JP" altLang="en-US" dirty="0"/>
              <a:t>個口入数入力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　</a:t>
            </a:r>
            <a:endParaRPr lang="en-US" altLang="ja-JP" dirty="0">
              <a:solidFill>
                <a:srgbClr val="FF0000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9D35930-7B8E-2368-F6F6-6B753929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930" y="3429000"/>
            <a:ext cx="7647995" cy="186951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DB9A395-D7F3-7A03-B8BD-4C09A8E6F851}"/>
              </a:ext>
            </a:extLst>
          </p:cNvPr>
          <p:cNvSpPr/>
          <p:nvPr/>
        </p:nvSpPr>
        <p:spPr>
          <a:xfrm>
            <a:off x="1379474" y="4866710"/>
            <a:ext cx="1363726" cy="3402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2B97356-1040-EB9B-9476-E8A729145BB7}"/>
              </a:ext>
            </a:extLst>
          </p:cNvPr>
          <p:cNvSpPr/>
          <p:nvPr/>
        </p:nvSpPr>
        <p:spPr>
          <a:xfrm>
            <a:off x="1314098" y="4426453"/>
            <a:ext cx="2853455" cy="3402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D470DF6-F3BB-EDCB-372E-1BE73C8C78D0}"/>
              </a:ext>
            </a:extLst>
          </p:cNvPr>
          <p:cNvSpPr/>
          <p:nvPr/>
        </p:nvSpPr>
        <p:spPr>
          <a:xfrm>
            <a:off x="1314097" y="4036180"/>
            <a:ext cx="2853455" cy="3402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438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C2F9D2-A38D-DCA2-504B-C4E74FA635E0}"/>
              </a:ext>
            </a:extLst>
          </p:cNvPr>
          <p:cNvSpPr txBox="1"/>
          <p:nvPr/>
        </p:nvSpPr>
        <p:spPr>
          <a:xfrm>
            <a:off x="1027132" y="764088"/>
            <a:ext cx="82421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⑳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に台数を入力する。</a:t>
            </a:r>
            <a:endParaRPr lang="en-US" altLang="ja-JP" dirty="0"/>
          </a:p>
          <a:p>
            <a:r>
              <a:rPr lang="ja-JP" altLang="en-US" dirty="0"/>
              <a:t>㉑</a:t>
            </a:r>
            <a:r>
              <a:rPr lang="en-US" altLang="ja-JP" dirty="0"/>
              <a:t>【</a:t>
            </a:r>
            <a:r>
              <a:rPr lang="ja-JP" altLang="en-US" dirty="0"/>
              <a:t>印刷</a:t>
            </a:r>
            <a:r>
              <a:rPr lang="en-US" altLang="ja-JP" dirty="0"/>
              <a:t>】</a:t>
            </a:r>
            <a:r>
              <a:rPr lang="ja-JP" altLang="en-US" dirty="0"/>
              <a:t>をクリック　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㉒下記のシールが発行（印刷）される。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CB469FA-79C5-161C-9E5E-B8ECF539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924" y="1540079"/>
            <a:ext cx="4315427" cy="144800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CA83FFD-9B38-830E-BBD9-2538A1B8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71" y="4053346"/>
            <a:ext cx="3629531" cy="188145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CFCF392-4F3C-6EA3-99DB-99BDE1EC5B90}"/>
              </a:ext>
            </a:extLst>
          </p:cNvPr>
          <p:cNvSpPr/>
          <p:nvPr/>
        </p:nvSpPr>
        <p:spPr>
          <a:xfrm>
            <a:off x="1357924" y="1800980"/>
            <a:ext cx="2223476" cy="3402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10E2840-E82A-1880-171C-618C9CA9FB67}"/>
              </a:ext>
            </a:extLst>
          </p:cNvPr>
          <p:cNvSpPr/>
          <p:nvPr/>
        </p:nvSpPr>
        <p:spPr>
          <a:xfrm>
            <a:off x="2088909" y="2647791"/>
            <a:ext cx="578092" cy="3402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516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2DBCB4-7CF8-D072-0640-A53FBF9B0553}"/>
              </a:ext>
            </a:extLst>
          </p:cNvPr>
          <p:cNvSpPr txBox="1"/>
          <p:nvPr/>
        </p:nvSpPr>
        <p:spPr>
          <a:xfrm>
            <a:off x="1027132" y="764088"/>
            <a:ext cx="105469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【</a:t>
            </a:r>
            <a:r>
              <a:rPr lang="ja-JP" altLang="en-US" dirty="0"/>
              <a:t>個数総数</a:t>
            </a:r>
            <a:r>
              <a:rPr lang="en-US" altLang="ja-JP" dirty="0"/>
              <a:t>】</a:t>
            </a:r>
            <a:r>
              <a:rPr lang="ja-JP" altLang="en-US" dirty="0"/>
              <a:t>が複数の場合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個口総数</a:t>
            </a:r>
            <a:r>
              <a:rPr lang="en-US" altLang="ja-JP" dirty="0"/>
              <a:t>】</a:t>
            </a:r>
            <a:r>
              <a:rPr lang="ja-JP" altLang="en-US" dirty="0"/>
              <a:t>に箱数を入力する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個口入数入力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箱に入っている基板数が同じの場合、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を入力。</a:t>
            </a:r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同じ個口入数で残りを作成</a:t>
            </a:r>
            <a:r>
              <a:rPr lang="en-US" altLang="ja-JP" dirty="0"/>
              <a:t>】</a:t>
            </a:r>
            <a:r>
              <a:rPr lang="ja-JP" altLang="en-US" dirty="0"/>
              <a:t>にチェックを入れて</a:t>
            </a:r>
            <a:r>
              <a:rPr lang="en-US" altLang="ja-JP" dirty="0"/>
              <a:t>【</a:t>
            </a:r>
            <a:r>
              <a:rPr lang="ja-JP" altLang="en-US" dirty="0"/>
              <a:t>印刷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8A2D7B2-9C3F-4EFB-0DA2-BCB4507D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010" y="2443258"/>
            <a:ext cx="5287113" cy="144800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FE97301-2815-67CE-2A84-48E1AF146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910" y="5011405"/>
            <a:ext cx="4305901" cy="1648055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100035C-A853-ACAB-382C-E87AD79D36A5}"/>
              </a:ext>
            </a:extLst>
          </p:cNvPr>
          <p:cNvSpPr/>
          <p:nvPr/>
        </p:nvSpPr>
        <p:spPr>
          <a:xfrm>
            <a:off x="1680010" y="2882900"/>
            <a:ext cx="228239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183551-D625-7D04-D057-8985F8E8EB98}"/>
              </a:ext>
            </a:extLst>
          </p:cNvPr>
          <p:cNvSpPr/>
          <p:nvPr/>
        </p:nvSpPr>
        <p:spPr>
          <a:xfrm>
            <a:off x="1794310" y="3517901"/>
            <a:ext cx="99969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F146E02-4348-A84C-10EA-B145526A70D5}"/>
              </a:ext>
            </a:extLst>
          </p:cNvPr>
          <p:cNvSpPr/>
          <p:nvPr/>
        </p:nvSpPr>
        <p:spPr>
          <a:xfrm>
            <a:off x="3182371" y="5514547"/>
            <a:ext cx="2126229" cy="27665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44DB713-6384-BE49-BF56-A97A5719D090}"/>
              </a:ext>
            </a:extLst>
          </p:cNvPr>
          <p:cNvSpPr/>
          <p:nvPr/>
        </p:nvSpPr>
        <p:spPr>
          <a:xfrm>
            <a:off x="5337061" y="5514547"/>
            <a:ext cx="1813039" cy="27665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5CEE84E-4694-6695-0485-F4CE747465CE}"/>
              </a:ext>
            </a:extLst>
          </p:cNvPr>
          <p:cNvSpPr/>
          <p:nvPr/>
        </p:nvSpPr>
        <p:spPr>
          <a:xfrm>
            <a:off x="3823721" y="6354660"/>
            <a:ext cx="646679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695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7A478C04-BC71-08AC-59B3-869914D68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249" y="3539598"/>
            <a:ext cx="4353533" cy="143847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CA38A54-C655-09FA-B764-8CBB149B6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249" y="1611789"/>
            <a:ext cx="4305901" cy="142894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623E0F-BC58-B827-9F61-1B18C605C99C}"/>
              </a:ext>
            </a:extLst>
          </p:cNvPr>
          <p:cNvSpPr txBox="1"/>
          <p:nvPr/>
        </p:nvSpPr>
        <p:spPr>
          <a:xfrm>
            <a:off x="1027132" y="764088"/>
            <a:ext cx="10546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箱に入っている基板数が違う場合、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を入れ、</a:t>
            </a:r>
            <a:r>
              <a:rPr lang="en-US" altLang="ja-JP" dirty="0"/>
              <a:t>【</a:t>
            </a:r>
            <a:r>
              <a:rPr lang="ja-JP" altLang="en-US" dirty="0"/>
              <a:t>次へ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r>
              <a:rPr lang="ja-JP" altLang="en-US" dirty="0"/>
              <a:t>次の箱の</a:t>
            </a:r>
            <a:r>
              <a:rPr lang="en-US" altLang="ja-JP" dirty="0"/>
              <a:t>【</a:t>
            </a:r>
            <a:r>
              <a:rPr lang="ja-JP" altLang="en-US" dirty="0"/>
              <a:t>個口入数</a:t>
            </a:r>
            <a:r>
              <a:rPr lang="en-US" altLang="ja-JP" dirty="0"/>
              <a:t>】</a:t>
            </a:r>
            <a:r>
              <a:rPr lang="ja-JP" altLang="en-US" dirty="0"/>
              <a:t>を入れて、</a:t>
            </a:r>
            <a:r>
              <a:rPr lang="en-US" altLang="ja-JP" dirty="0"/>
              <a:t>【</a:t>
            </a:r>
            <a:r>
              <a:rPr lang="ja-JP" altLang="en-US" dirty="0"/>
              <a:t>印刷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A19B13C-7364-A223-382B-0F20986A885A}"/>
              </a:ext>
            </a:extLst>
          </p:cNvPr>
          <p:cNvSpPr/>
          <p:nvPr/>
        </p:nvSpPr>
        <p:spPr>
          <a:xfrm>
            <a:off x="1479249" y="2685138"/>
            <a:ext cx="646679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67560F2-EAE3-A85F-FFDB-5B393DA7B261}"/>
              </a:ext>
            </a:extLst>
          </p:cNvPr>
          <p:cNvSpPr/>
          <p:nvPr/>
        </p:nvSpPr>
        <p:spPr>
          <a:xfrm>
            <a:off x="2226496" y="4664910"/>
            <a:ext cx="646679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8878AA9-6B8B-BAF3-88BF-4FC972E99556}"/>
              </a:ext>
            </a:extLst>
          </p:cNvPr>
          <p:cNvSpPr/>
          <p:nvPr/>
        </p:nvSpPr>
        <p:spPr>
          <a:xfrm>
            <a:off x="1480173" y="1881478"/>
            <a:ext cx="2139327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55F06ED-65F6-DF23-25DC-9CE9667A1C79}"/>
              </a:ext>
            </a:extLst>
          </p:cNvPr>
          <p:cNvSpPr/>
          <p:nvPr/>
        </p:nvSpPr>
        <p:spPr>
          <a:xfrm>
            <a:off x="1497015" y="3801636"/>
            <a:ext cx="2224085" cy="3385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714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2D7FC6-3C2C-781F-53ED-919B6E62BF0F}"/>
              </a:ext>
            </a:extLst>
          </p:cNvPr>
          <p:cNvSpPr txBox="1"/>
          <p:nvPr/>
        </p:nvSpPr>
        <p:spPr>
          <a:xfrm>
            <a:off x="2066793" y="2413337"/>
            <a:ext cx="82421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000" b="1" dirty="0"/>
              <a:t>自社生産品　</a:t>
            </a:r>
            <a:endParaRPr lang="en-US" altLang="ja-JP" sz="6000" b="1" dirty="0"/>
          </a:p>
          <a:p>
            <a:pPr algn="ctr"/>
            <a:r>
              <a:rPr lang="ja-JP" altLang="en-US" sz="6000" b="1" dirty="0"/>
              <a:t>倉庫棚に</a:t>
            </a:r>
            <a:r>
              <a:rPr kumimoji="1" lang="ja-JP" altLang="en-US" sz="6000" b="1" dirty="0"/>
              <a:t>入庫する手順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4082025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48D358-7B29-7C37-778B-610C5147A4C6}"/>
              </a:ext>
            </a:extLst>
          </p:cNvPr>
          <p:cNvSpPr txBox="1"/>
          <p:nvPr/>
        </p:nvSpPr>
        <p:spPr>
          <a:xfrm>
            <a:off x="1027132" y="691899"/>
            <a:ext cx="1054691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入庫時の棚置き確認手順　　　</a:t>
            </a:r>
          </a:p>
          <a:p>
            <a:endParaRPr lang="ja-JP" altLang="en-US" dirty="0"/>
          </a:p>
          <a:p>
            <a:endParaRPr lang="ja-JP" altLang="en-US" dirty="0"/>
          </a:p>
          <a:p>
            <a:r>
              <a:rPr lang="ja-JP" altLang="en-US" dirty="0"/>
              <a:t>①</a:t>
            </a:r>
            <a:r>
              <a:rPr lang="en-US" altLang="ja-JP" dirty="0"/>
              <a:t>MES</a:t>
            </a:r>
            <a:r>
              <a:rPr lang="ja-JP" altLang="en-US" dirty="0"/>
              <a:t>の</a:t>
            </a:r>
            <a:r>
              <a:rPr lang="en-US" altLang="ja-JP" dirty="0"/>
              <a:t>【08030_</a:t>
            </a:r>
            <a:r>
              <a:rPr lang="ja-JP" altLang="en-US" dirty="0"/>
              <a:t>在庫照会</a:t>
            </a:r>
            <a:r>
              <a:rPr lang="en-US" altLang="ja-JP" dirty="0"/>
              <a:t>】</a:t>
            </a:r>
            <a:r>
              <a:rPr lang="ja-JP" altLang="en-US" dirty="0"/>
              <a:t>をクリックする</a:t>
            </a:r>
            <a:endParaRPr lang="en-US" altLang="ja-JP" dirty="0"/>
          </a:p>
          <a:p>
            <a:r>
              <a:rPr lang="ja-JP" altLang="en-US" dirty="0"/>
              <a:t>②プラントを設定する　</a:t>
            </a:r>
            <a:r>
              <a:rPr lang="en-US" altLang="ja-JP" dirty="0"/>
              <a:t>B020</a:t>
            </a:r>
          </a:p>
          <a:p>
            <a:r>
              <a:rPr lang="en-US" altLang="ja-JP" dirty="0"/>
              <a:t>③</a:t>
            </a:r>
            <a:r>
              <a:rPr lang="ja-JP" altLang="en-US" dirty="0"/>
              <a:t>品目コードを入力する　</a:t>
            </a:r>
          </a:p>
          <a:p>
            <a:r>
              <a:rPr lang="ja-JP" altLang="en-US" dirty="0"/>
              <a:t>④検索をクリックする</a:t>
            </a:r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⑤ロット</a:t>
            </a:r>
            <a:r>
              <a:rPr lang="en-US" altLang="ja-JP" dirty="0"/>
              <a:t>No</a:t>
            </a:r>
            <a:r>
              <a:rPr lang="ja-JP" altLang="en-US" dirty="0"/>
              <a:t>が同じものがあった場合は、同じ場所に置く。</a:t>
            </a:r>
            <a:br>
              <a:rPr lang="en-US" altLang="ja-JP" dirty="0"/>
            </a:br>
            <a:r>
              <a:rPr lang="ja-JP" altLang="en-US" dirty="0"/>
              <a:t>　同じものが無い場合は指定の棚番に置く。</a:t>
            </a:r>
            <a:endParaRPr lang="en-US" altLang="ja-JP" dirty="0"/>
          </a:p>
          <a:p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A52CBD2-782D-4BC7-1C54-B31CEE16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31" y="2776086"/>
            <a:ext cx="8715453" cy="1927993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2033746-CB05-A316-4F77-5B8E925FA1C6}"/>
              </a:ext>
            </a:extLst>
          </p:cNvPr>
          <p:cNvSpPr/>
          <p:nvPr/>
        </p:nvSpPr>
        <p:spPr>
          <a:xfrm>
            <a:off x="1027130" y="2912310"/>
            <a:ext cx="763570" cy="2753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2051304-EF49-FB39-ADF4-CB64DA48F35D}"/>
              </a:ext>
            </a:extLst>
          </p:cNvPr>
          <p:cNvSpPr/>
          <p:nvPr/>
        </p:nvSpPr>
        <p:spPr>
          <a:xfrm>
            <a:off x="4413212" y="2882900"/>
            <a:ext cx="1263688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CF7E894-9353-58AB-E79A-0893DE96201A}"/>
              </a:ext>
            </a:extLst>
          </p:cNvPr>
          <p:cNvSpPr/>
          <p:nvPr/>
        </p:nvSpPr>
        <p:spPr>
          <a:xfrm>
            <a:off x="1027131" y="3276600"/>
            <a:ext cx="420670" cy="152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400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B504C76-E568-1752-4AE7-241A71DADE63}"/>
              </a:ext>
            </a:extLst>
          </p:cNvPr>
          <p:cNvSpPr txBox="1"/>
          <p:nvPr/>
        </p:nvSpPr>
        <p:spPr>
          <a:xfrm>
            <a:off x="1027132" y="691899"/>
            <a:ext cx="105469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⑥ハンディーで登録する　</a:t>
            </a:r>
            <a:endParaRPr lang="en-US" altLang="ja-JP" dirty="0"/>
          </a:p>
          <a:p>
            <a:r>
              <a:rPr lang="ja-JP" altLang="en-US" dirty="0"/>
              <a:t>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【90010_[HT]</a:t>
            </a:r>
            <a:r>
              <a:rPr lang="ja-JP" altLang="en-US" dirty="0"/>
              <a:t>検査後移動実績登録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</a:p>
          <a:p>
            <a:r>
              <a:rPr lang="ja-JP" altLang="en-US" dirty="0"/>
              <a:t>　　・プラントが</a:t>
            </a:r>
            <a:r>
              <a:rPr lang="en-US" altLang="ja-JP" dirty="0"/>
              <a:t>B020</a:t>
            </a:r>
            <a:r>
              <a:rPr lang="ja-JP" altLang="en-US" dirty="0"/>
              <a:t>が選択されていることを確認し、</a:t>
            </a:r>
            <a:r>
              <a:rPr lang="en-US" altLang="ja-JP" dirty="0"/>
              <a:t>【F4</a:t>
            </a:r>
            <a:r>
              <a:rPr lang="ja-JP" altLang="en-US" dirty="0"/>
              <a:t>次へ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QR</a:t>
            </a:r>
            <a:r>
              <a:rPr lang="ja-JP" altLang="en-US" dirty="0"/>
              <a:t>を読み込む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【F4</a:t>
            </a:r>
            <a:r>
              <a:rPr lang="ja-JP" altLang="en-US" dirty="0"/>
              <a:t>次へ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</a:p>
          <a:p>
            <a:r>
              <a:rPr lang="ja-JP" altLang="en-US" dirty="0"/>
              <a:t>　　・置いた棚の札を読み込む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F4</a:t>
            </a:r>
            <a:r>
              <a:rPr lang="ja-JP" altLang="en-US" dirty="0"/>
              <a:t>登録をクリック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F3</a:t>
            </a:r>
            <a:r>
              <a:rPr lang="ja-JP" altLang="en-US" dirty="0"/>
              <a:t>終了</a:t>
            </a:r>
            <a:r>
              <a:rPr lang="ja-JP" altLang="en-US"/>
              <a:t>をクリック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3504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73CF48-638C-53C5-AB8E-9002ABD25EFA}"/>
              </a:ext>
            </a:extLst>
          </p:cNvPr>
          <p:cNvSpPr txBox="1"/>
          <p:nvPr/>
        </p:nvSpPr>
        <p:spPr>
          <a:xfrm>
            <a:off x="1027132" y="691899"/>
            <a:ext cx="1054691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①入庫時の棚置き確認手順　　　ロケーション変更</a:t>
            </a:r>
          </a:p>
          <a:p>
            <a:endParaRPr lang="ja-JP" altLang="en-US" dirty="0"/>
          </a:p>
          <a:p>
            <a:endParaRPr lang="ja-JP" altLang="en-US" dirty="0"/>
          </a:p>
          <a:p>
            <a:r>
              <a:rPr lang="ja-JP" altLang="en-US" dirty="0"/>
              <a:t>①</a:t>
            </a:r>
            <a:r>
              <a:rPr lang="en-US" altLang="ja-JP" dirty="0"/>
              <a:t>MES</a:t>
            </a:r>
            <a:r>
              <a:rPr lang="ja-JP" altLang="en-US" dirty="0"/>
              <a:t>の</a:t>
            </a:r>
            <a:r>
              <a:rPr lang="en-US" altLang="ja-JP" dirty="0"/>
              <a:t>【08030_</a:t>
            </a:r>
            <a:r>
              <a:rPr lang="ja-JP" altLang="en-US" dirty="0"/>
              <a:t>在庫照会</a:t>
            </a:r>
            <a:r>
              <a:rPr lang="en-US" altLang="ja-JP" dirty="0"/>
              <a:t>】</a:t>
            </a:r>
            <a:r>
              <a:rPr lang="ja-JP" altLang="en-US" dirty="0"/>
              <a:t>をクリックする</a:t>
            </a:r>
            <a:endParaRPr lang="en-US" altLang="ja-JP" dirty="0"/>
          </a:p>
          <a:p>
            <a:endParaRPr lang="ja-JP" altLang="en-US" dirty="0"/>
          </a:p>
          <a:p>
            <a:r>
              <a:rPr lang="ja-JP" altLang="en-US" dirty="0"/>
              <a:t>②プラントを設定する　</a:t>
            </a:r>
            <a:r>
              <a:rPr lang="en-US" altLang="ja-JP" dirty="0"/>
              <a:t>B020</a:t>
            </a:r>
          </a:p>
          <a:p>
            <a:r>
              <a:rPr lang="en-US" altLang="ja-JP" dirty="0"/>
              <a:t>③</a:t>
            </a:r>
            <a:r>
              <a:rPr lang="ja-JP" altLang="en-US" dirty="0"/>
              <a:t>品目コードを入力する　</a:t>
            </a:r>
          </a:p>
          <a:p>
            <a:r>
              <a:rPr lang="ja-JP" altLang="en-US" dirty="0"/>
              <a:t>④検索をクリックする</a:t>
            </a:r>
          </a:p>
          <a:p>
            <a:r>
              <a:rPr lang="ja-JP" altLang="en-US" dirty="0"/>
              <a:t>⑤ロケーションが入庫登録で*****</a:t>
            </a:r>
            <a:r>
              <a:rPr lang="en-US" altLang="ja-JP" dirty="0"/>
              <a:t>-1</a:t>
            </a:r>
            <a:r>
              <a:rPr lang="ja-JP" altLang="en-US" dirty="0"/>
              <a:t>が</a:t>
            </a:r>
            <a:r>
              <a:rPr lang="en-US" altLang="ja-JP" dirty="0"/>
              <a:t>-3</a:t>
            </a:r>
            <a:r>
              <a:rPr lang="ja-JP" altLang="en-US" dirty="0"/>
              <a:t>になることを確認する。</a:t>
            </a:r>
          </a:p>
          <a:p>
            <a:endParaRPr lang="ja-JP" altLang="en-US" dirty="0"/>
          </a:p>
          <a:p>
            <a:r>
              <a:rPr lang="ja-JP" altLang="en-US" dirty="0"/>
              <a:t>⑥ハンディーで登録する　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90010</a:t>
            </a:r>
            <a:r>
              <a:rPr lang="ja-JP" altLang="en-US" dirty="0"/>
              <a:t>を選択</a:t>
            </a:r>
          </a:p>
          <a:p>
            <a:r>
              <a:rPr lang="ja-JP" altLang="en-US" dirty="0"/>
              <a:t>　　・プラント  </a:t>
            </a:r>
            <a:r>
              <a:rPr lang="en-US" altLang="ja-JP" dirty="0"/>
              <a:t>F4</a:t>
            </a:r>
            <a:r>
              <a:rPr lang="ja-JP" altLang="en-US" dirty="0"/>
              <a:t>次へをクリック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QR</a:t>
            </a:r>
            <a:r>
              <a:rPr lang="ja-JP" altLang="en-US" dirty="0"/>
              <a:t>を読み込む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F4</a:t>
            </a:r>
            <a:r>
              <a:rPr lang="ja-JP" altLang="en-US" dirty="0"/>
              <a:t>次へをクリック</a:t>
            </a:r>
          </a:p>
          <a:p>
            <a:r>
              <a:rPr lang="ja-JP" altLang="en-US" dirty="0"/>
              <a:t>　　・置いた棚の札を読み込む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F4</a:t>
            </a:r>
            <a:r>
              <a:rPr lang="ja-JP" altLang="en-US" dirty="0"/>
              <a:t>登録をクリック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F3</a:t>
            </a:r>
            <a:r>
              <a:rPr lang="ja-JP" altLang="en-US" dirty="0"/>
              <a:t>終了をクリック</a:t>
            </a:r>
          </a:p>
          <a:p>
            <a:endParaRPr lang="ja-JP" altLang="en-US" dirty="0"/>
          </a:p>
          <a:p>
            <a:r>
              <a:rPr lang="ja-JP" altLang="en-US" dirty="0"/>
              <a:t>⑦⑤の所で検索をクリックし、******</a:t>
            </a:r>
            <a:r>
              <a:rPr lang="en-US" altLang="ja-JP" dirty="0"/>
              <a:t>-3</a:t>
            </a:r>
            <a:r>
              <a:rPr lang="ja-JP" altLang="en-US" dirty="0"/>
              <a:t>になっていることを確認する。</a:t>
            </a:r>
          </a:p>
          <a:p>
            <a:endParaRPr lang="ja-JP" altLang="en-US" dirty="0"/>
          </a:p>
          <a:p>
            <a:r>
              <a:rPr lang="ja-JP" altLang="en-US" dirty="0"/>
              <a:t>　分納の場合は、</a:t>
            </a:r>
            <a:r>
              <a:rPr lang="en-US" altLang="ja-JP" dirty="0"/>
              <a:t>1</a:t>
            </a:r>
            <a:r>
              <a:rPr lang="ja-JP" altLang="en-US" dirty="0"/>
              <a:t>つに統合される</a:t>
            </a:r>
          </a:p>
        </p:txBody>
      </p:sp>
    </p:spTree>
    <p:extLst>
      <p:ext uri="{BB962C8B-B14F-4D97-AF65-F5344CB8AC3E}">
        <p14:creationId xmlns:p14="http://schemas.microsoft.com/office/powerpoint/2010/main" val="2859302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274082-070F-779B-66ED-01A09ECC2866}"/>
              </a:ext>
            </a:extLst>
          </p:cNvPr>
          <p:cNvSpPr txBox="1"/>
          <p:nvPr/>
        </p:nvSpPr>
        <p:spPr>
          <a:xfrm>
            <a:off x="1027132" y="691899"/>
            <a:ext cx="105469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入庫済みの物を棚から棚に移動する時の方法　　　（ロケーションが</a:t>
            </a:r>
            <a:r>
              <a:rPr lang="en-US" altLang="ja-JP" dirty="0"/>
              <a:t>***-3</a:t>
            </a:r>
            <a:r>
              <a:rPr lang="ja-JP" altLang="en-US" dirty="0"/>
              <a:t>になっているもの）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ハンディー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①</a:t>
            </a:r>
            <a:r>
              <a:rPr lang="en-US" altLang="ja-JP" dirty="0"/>
              <a:t>【90050_[HT]</a:t>
            </a:r>
            <a:r>
              <a:rPr lang="ja-JP" altLang="en-US" dirty="0"/>
              <a:t>棚移動実績登録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②物を移動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③</a:t>
            </a:r>
            <a:r>
              <a:rPr lang="en-US" altLang="ja-JP" dirty="0"/>
              <a:t>QR</a:t>
            </a:r>
            <a:r>
              <a:rPr lang="ja-JP" altLang="en-US" dirty="0"/>
              <a:t>を読み込む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④</a:t>
            </a:r>
            <a:r>
              <a:rPr lang="en-US" altLang="ja-JP" dirty="0"/>
              <a:t>【F4</a:t>
            </a:r>
            <a:r>
              <a:rPr lang="ja-JP" altLang="en-US" dirty="0"/>
              <a:t>次へ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⑤置いた棚の札を読み込む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⑥</a:t>
            </a:r>
            <a:r>
              <a:rPr lang="en-US" altLang="ja-JP" dirty="0"/>
              <a:t> 【F4</a:t>
            </a:r>
            <a:r>
              <a:rPr lang="ja-JP" altLang="en-US" dirty="0"/>
              <a:t>登録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⑦</a:t>
            </a:r>
            <a:r>
              <a:rPr lang="en-US" altLang="ja-JP" dirty="0"/>
              <a:t> 【F3</a:t>
            </a:r>
            <a:r>
              <a:rPr lang="ja-JP" altLang="en-US" dirty="0"/>
              <a:t>終了</a:t>
            </a:r>
            <a:r>
              <a:rPr lang="en-US" altLang="ja-JP" dirty="0"/>
              <a:t>】</a:t>
            </a:r>
            <a:r>
              <a:rPr lang="ja-JP" altLang="en-US" dirty="0"/>
              <a:t>をクリック</a:t>
            </a:r>
            <a:endParaRPr lang="en-US" altLang="ja-JP" dirty="0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00077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6DC4F3A-9BEF-91EC-D558-8875CBE3A3DB}"/>
              </a:ext>
            </a:extLst>
          </p:cNvPr>
          <p:cNvSpPr txBox="1"/>
          <p:nvPr/>
        </p:nvSpPr>
        <p:spPr>
          <a:xfrm>
            <a:off x="914401" y="2413337"/>
            <a:ext cx="104467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/>
              <a:t>鹿島 半成品入庫伝票通い袋　対応</a:t>
            </a:r>
            <a:endParaRPr kumimoji="1" lang="en-US" altLang="ja-JP" sz="6000" b="1" dirty="0"/>
          </a:p>
        </p:txBody>
      </p:sp>
    </p:spTree>
    <p:extLst>
      <p:ext uri="{BB962C8B-B14F-4D97-AF65-F5344CB8AC3E}">
        <p14:creationId xmlns:p14="http://schemas.microsoft.com/office/powerpoint/2010/main" val="3506958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75BDD16-B7D5-1E6D-7A51-E618FEEED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87" y="1307925"/>
            <a:ext cx="5099456" cy="361480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3D1FBD-7B26-D12D-D908-54B7D05469A1}"/>
              </a:ext>
            </a:extLst>
          </p:cNvPr>
          <p:cNvSpPr txBox="1"/>
          <p:nvPr/>
        </p:nvSpPr>
        <p:spPr>
          <a:xfrm>
            <a:off x="1027132" y="691899"/>
            <a:ext cx="1054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半成品 入庫伝票通い袋が指定の箇所に置かれていたら、下記の処理を実施する。</a:t>
            </a:r>
          </a:p>
        </p:txBody>
      </p:sp>
    </p:spTree>
    <p:extLst>
      <p:ext uri="{BB962C8B-B14F-4D97-AF65-F5344CB8AC3E}">
        <p14:creationId xmlns:p14="http://schemas.microsoft.com/office/powerpoint/2010/main" val="1180609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9A99F55-28A2-EFC5-30B0-9FE232FB4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51" y="1151193"/>
            <a:ext cx="1583626" cy="208880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68C333-07D9-3783-046E-883FADB373DF}"/>
              </a:ext>
            </a:extLst>
          </p:cNvPr>
          <p:cNvSpPr txBox="1"/>
          <p:nvPr/>
        </p:nvSpPr>
        <p:spPr>
          <a:xfrm>
            <a:off x="1027132" y="691899"/>
            <a:ext cx="105469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①袋から温度プロファイル用紙を出す。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②正味量消費の処理を実施する　</a:t>
            </a:r>
            <a:endParaRPr lang="en-US" altLang="ja-JP" dirty="0"/>
          </a:p>
          <a:p>
            <a:r>
              <a:rPr lang="ja-JP" altLang="en-US" dirty="0"/>
              <a:t>③</a:t>
            </a:r>
            <a:r>
              <a:rPr lang="en-US" altLang="ja-JP" dirty="0"/>
              <a:t>BOSS</a:t>
            </a:r>
            <a:r>
              <a:rPr lang="ja-JP" altLang="en-US" dirty="0"/>
              <a:t>　</a:t>
            </a:r>
            <a:r>
              <a:rPr lang="en-US" altLang="ja-JP" dirty="0"/>
              <a:t>ME25</a:t>
            </a:r>
            <a:r>
              <a:rPr lang="ja-JP" altLang="en-US" dirty="0"/>
              <a:t>　正味量消費　引き落とし確認　</a:t>
            </a:r>
            <a:endParaRPr lang="en-US" altLang="ja-JP" dirty="0"/>
          </a:p>
          <a:p>
            <a:r>
              <a:rPr lang="ja-JP" altLang="en-US" dirty="0"/>
              <a:t>④入庫現品票を実施　　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44F24C5-59E0-2092-A724-B1C0396F0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615" y="4828034"/>
            <a:ext cx="2671474" cy="133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3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755F63-66DD-E497-9423-6AD491148126}"/>
              </a:ext>
            </a:extLst>
          </p:cNvPr>
          <p:cNvSpPr txBox="1"/>
          <p:nvPr/>
        </p:nvSpPr>
        <p:spPr>
          <a:xfrm>
            <a:off x="977028" y="716951"/>
            <a:ext cx="1054691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⑤ハンディーでロケーションを</a:t>
            </a:r>
            <a:r>
              <a:rPr lang="en-US" altLang="ja-JP" dirty="0"/>
              <a:t>***-1</a:t>
            </a:r>
            <a:r>
              <a:rPr lang="ja-JP" altLang="en-US" dirty="0"/>
              <a:t>から</a:t>
            </a:r>
            <a:r>
              <a:rPr lang="en-US" altLang="ja-JP" dirty="0"/>
              <a:t>-3</a:t>
            </a:r>
            <a:r>
              <a:rPr lang="ja-JP" altLang="en-US" dirty="0"/>
              <a:t>に変更する。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⑥ハンディーで登録する　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90010</a:t>
            </a:r>
            <a:r>
              <a:rPr lang="ja-JP" altLang="en-US" dirty="0"/>
              <a:t>を選択</a:t>
            </a:r>
          </a:p>
          <a:p>
            <a:r>
              <a:rPr lang="ja-JP" altLang="en-US" dirty="0"/>
              <a:t>　　・プラント  </a:t>
            </a:r>
            <a:r>
              <a:rPr lang="en-US" altLang="ja-JP" dirty="0"/>
              <a:t>F4</a:t>
            </a:r>
            <a:r>
              <a:rPr lang="ja-JP" altLang="en-US" dirty="0"/>
              <a:t>次へをクリック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QR</a:t>
            </a:r>
            <a:r>
              <a:rPr lang="ja-JP" altLang="en-US" dirty="0"/>
              <a:t>を読み込む　　　　　　　　　　入庫伝票通い袋専用　</a:t>
            </a:r>
            <a:r>
              <a:rPr lang="en-US" altLang="ja-JP" dirty="0"/>
              <a:t>QR</a:t>
            </a:r>
            <a:endParaRPr lang="ja-JP" altLang="en-US" dirty="0"/>
          </a:p>
          <a:p>
            <a:r>
              <a:rPr lang="ja-JP" altLang="en-US" dirty="0"/>
              <a:t>　　・</a:t>
            </a:r>
            <a:r>
              <a:rPr lang="en-US" altLang="ja-JP" dirty="0"/>
              <a:t>F4</a:t>
            </a:r>
            <a:r>
              <a:rPr lang="ja-JP" altLang="en-US" dirty="0"/>
              <a:t>次へをクリック</a:t>
            </a:r>
          </a:p>
          <a:p>
            <a:r>
              <a:rPr lang="ja-JP" altLang="en-US" dirty="0"/>
              <a:t>　　・置いた棚の札を読み込む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F4</a:t>
            </a:r>
            <a:r>
              <a:rPr lang="ja-JP" altLang="en-US" dirty="0"/>
              <a:t>登録をクリック</a:t>
            </a:r>
          </a:p>
          <a:p>
            <a:r>
              <a:rPr lang="ja-JP" altLang="en-US" dirty="0"/>
              <a:t>　　・</a:t>
            </a:r>
            <a:r>
              <a:rPr lang="en-US" altLang="ja-JP" dirty="0"/>
              <a:t>F3</a:t>
            </a:r>
            <a:r>
              <a:rPr lang="ja-JP" altLang="en-US" dirty="0"/>
              <a:t>終了をクリック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  <a:p>
            <a:r>
              <a:rPr lang="ja-JP" altLang="en-US" dirty="0"/>
              <a:t>⑦</a:t>
            </a:r>
            <a:r>
              <a:rPr lang="en-US" altLang="ja-JP" dirty="0"/>
              <a:t>08030_</a:t>
            </a:r>
            <a:r>
              <a:rPr lang="ja-JP" altLang="en-US" dirty="0"/>
              <a:t>在庫照会でロケーションが</a:t>
            </a:r>
            <a:r>
              <a:rPr lang="en-US" altLang="ja-JP" dirty="0"/>
              <a:t>***-1</a:t>
            </a:r>
            <a:r>
              <a:rPr lang="ja-JP" altLang="en-US" dirty="0"/>
              <a:t>から</a:t>
            </a:r>
            <a:r>
              <a:rPr lang="en-US" altLang="ja-JP" dirty="0"/>
              <a:t>-3</a:t>
            </a:r>
            <a:r>
              <a:rPr lang="ja-JP" altLang="en-US" dirty="0"/>
              <a:t>に変わっていることを確認する。</a:t>
            </a:r>
          </a:p>
          <a:p>
            <a:r>
              <a:rPr lang="ja-JP" altLang="en-US" dirty="0"/>
              <a:t>⑧半成品 入庫伝票通い袋に入庫現品票を入れ、指定の場所に置く。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4D245D4-668B-E4F1-2211-855FF2BF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507" y="3429000"/>
            <a:ext cx="2707957" cy="198134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1A99CF4-CA74-ED08-B6BA-DD0321916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398" y="3762876"/>
            <a:ext cx="3520858" cy="131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57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798665-94C2-3AC5-9BB8-6C1A013F515E}"/>
              </a:ext>
            </a:extLst>
          </p:cNvPr>
          <p:cNvSpPr txBox="1"/>
          <p:nvPr/>
        </p:nvSpPr>
        <p:spPr>
          <a:xfrm>
            <a:off x="977028" y="716951"/>
            <a:ext cx="105469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正味量消費時の注意点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①ロケーションが</a:t>
            </a:r>
            <a:r>
              <a:rPr lang="en-US" altLang="ja-JP" dirty="0"/>
              <a:t>001B-3</a:t>
            </a:r>
            <a:r>
              <a:rPr lang="ja-JP" altLang="en-US" dirty="0"/>
              <a:t>になっていること。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　もし、ロケーションが違っていたら、関口さんに報告後、ロケーション変更を実施する。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C8D447B-CBAA-95C3-E40A-065ED8E18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788" y="2431475"/>
            <a:ext cx="9124472" cy="4033871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F02A72D-369C-C030-1F8E-9655DAFCD958}"/>
              </a:ext>
            </a:extLst>
          </p:cNvPr>
          <p:cNvSpPr/>
          <p:nvPr/>
        </p:nvSpPr>
        <p:spPr>
          <a:xfrm>
            <a:off x="9690100" y="3327400"/>
            <a:ext cx="777160" cy="2984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4837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B7400F-D483-9092-0D18-58A992C4BC3D}"/>
              </a:ext>
            </a:extLst>
          </p:cNvPr>
          <p:cNvSpPr txBox="1"/>
          <p:nvPr/>
        </p:nvSpPr>
        <p:spPr>
          <a:xfrm>
            <a:off x="977028" y="716951"/>
            <a:ext cx="10546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正味量消費時の注意点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②間違って登録してしまったら、</a:t>
            </a:r>
            <a:r>
              <a:rPr lang="en-US" altLang="ja-JP" dirty="0"/>
              <a:t>【</a:t>
            </a:r>
            <a:r>
              <a:rPr lang="ja-JP" altLang="en-US" dirty="0"/>
              <a:t>取消</a:t>
            </a:r>
            <a:r>
              <a:rPr lang="en-US" altLang="ja-JP" dirty="0"/>
              <a:t>】</a:t>
            </a:r>
            <a:r>
              <a:rPr lang="ja-JP" altLang="en-US" dirty="0"/>
              <a:t>をクリックする。</a:t>
            </a:r>
            <a:endParaRPr lang="en-US" altLang="ja-JP" dirty="0"/>
          </a:p>
          <a:p>
            <a:r>
              <a:rPr lang="ja-JP" altLang="en-US" dirty="0"/>
              <a:t>　棚番を聞かれたらは</a:t>
            </a:r>
            <a:r>
              <a:rPr lang="en-US" altLang="ja-JP" dirty="0"/>
              <a:t>A1A-A1-1-1</a:t>
            </a:r>
            <a:r>
              <a:rPr lang="ja-JP" altLang="en-US" dirty="0"/>
              <a:t>を入力する。</a:t>
            </a:r>
            <a:endParaRPr lang="en-US" altLang="ja-JP" dirty="0"/>
          </a:p>
          <a:p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417E606-F4ED-6AB7-8F83-E95332088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70" y="2482390"/>
            <a:ext cx="8253798" cy="3972197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783B1B9-232A-7657-DEF7-68A585E36B04}"/>
              </a:ext>
            </a:extLst>
          </p:cNvPr>
          <p:cNvSpPr/>
          <p:nvPr/>
        </p:nvSpPr>
        <p:spPr>
          <a:xfrm>
            <a:off x="1352512" y="6149787"/>
            <a:ext cx="646679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45950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4E6BDA-50FA-8168-B3E8-8059F9266C01}"/>
              </a:ext>
            </a:extLst>
          </p:cNvPr>
          <p:cNvSpPr txBox="1"/>
          <p:nvPr/>
        </p:nvSpPr>
        <p:spPr>
          <a:xfrm>
            <a:off x="1027132" y="691899"/>
            <a:ext cx="105469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参考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・自社生産の入庫時は、正味量消費作業は実施しない。</a:t>
            </a:r>
            <a:endParaRPr lang="en-US" altLang="ja-JP" dirty="0"/>
          </a:p>
          <a:p>
            <a:r>
              <a:rPr lang="ja-JP" altLang="en-US" dirty="0"/>
              <a:t>　承認から実施する。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・承認が終わると、修正が出来ないので注意。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764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c195f3310394cb9b894710a9321e70df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c3e7da538600a02657f189895887e4bd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D5340DFE-0393-47D0-9642-BC74522EE155}"/>
</file>

<file path=customXml/itemProps2.xml><?xml version="1.0" encoding="utf-8"?>
<ds:datastoreItem xmlns:ds="http://schemas.openxmlformats.org/officeDocument/2006/customXml" ds:itemID="{7DEB0693-7332-4B57-BDE1-BE7068192134}"/>
</file>

<file path=customXml/itemProps3.xml><?xml version="1.0" encoding="utf-8"?>
<ds:datastoreItem xmlns:ds="http://schemas.openxmlformats.org/officeDocument/2006/customXml" ds:itemID="{B1848578-A043-40AE-8A47-2A30F7468972}"/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1896</Words>
  <Application>Microsoft Office PowerPoint</Application>
  <PresentationFormat>ワイド画面</PresentationFormat>
  <Paragraphs>485</Paragraphs>
  <Slides>47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47</vt:i4>
      </vt:variant>
    </vt:vector>
  </HeadingPairs>
  <TitlesOfParts>
    <vt:vector size="5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TSUCHIYA Makoto (土屋 誠)</dc:creator>
  <cp:lastModifiedBy>TSUCHIYA Makoto (土屋 誠)</cp:lastModifiedBy>
  <cp:revision>42</cp:revision>
  <dcterms:created xsi:type="dcterms:W3CDTF">2025-11-10T00:03:28Z</dcterms:created>
  <dcterms:modified xsi:type="dcterms:W3CDTF">2025-12-25T00:05:01Z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</Properties>
</file>