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396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68B85-F23C-417F-AEE7-2094C2EAB7DD}" type="datetimeFigureOut">
              <a:rPr kumimoji="1" lang="ja-JP" altLang="en-US" smtClean="0"/>
              <a:pPr/>
              <a:t>2021/4/15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C656-2B95-491C-A5BC-E52A27638F66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68B85-F23C-417F-AEE7-2094C2EAB7DD}" type="datetimeFigureOut">
              <a:rPr kumimoji="1" lang="ja-JP" altLang="en-US" smtClean="0"/>
              <a:pPr/>
              <a:t>2021/4/15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C656-2B95-491C-A5BC-E52A27638F66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68B85-F23C-417F-AEE7-2094C2EAB7DD}" type="datetimeFigureOut">
              <a:rPr kumimoji="1" lang="ja-JP" altLang="en-US" smtClean="0"/>
              <a:pPr/>
              <a:t>2021/4/15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C656-2B95-491C-A5BC-E52A27638F66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68B85-F23C-417F-AEE7-2094C2EAB7DD}" type="datetimeFigureOut">
              <a:rPr kumimoji="1" lang="ja-JP" altLang="en-US" smtClean="0"/>
              <a:pPr/>
              <a:t>2021/4/15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C656-2B95-491C-A5BC-E52A27638F66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68B85-F23C-417F-AEE7-2094C2EAB7DD}" type="datetimeFigureOut">
              <a:rPr kumimoji="1" lang="ja-JP" altLang="en-US" smtClean="0"/>
              <a:pPr/>
              <a:t>2021/4/15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C656-2B95-491C-A5BC-E52A27638F66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68B85-F23C-417F-AEE7-2094C2EAB7DD}" type="datetimeFigureOut">
              <a:rPr kumimoji="1" lang="ja-JP" altLang="en-US" smtClean="0"/>
              <a:pPr/>
              <a:t>2021/4/15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C656-2B95-491C-A5BC-E52A27638F66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68B85-F23C-417F-AEE7-2094C2EAB7DD}" type="datetimeFigureOut">
              <a:rPr kumimoji="1" lang="ja-JP" altLang="en-US" smtClean="0"/>
              <a:pPr/>
              <a:t>2021/4/15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C656-2B95-491C-A5BC-E52A27638F66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68B85-F23C-417F-AEE7-2094C2EAB7DD}" type="datetimeFigureOut">
              <a:rPr kumimoji="1" lang="ja-JP" altLang="en-US" smtClean="0"/>
              <a:pPr/>
              <a:t>2021/4/15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C656-2B95-491C-A5BC-E52A27638F66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68B85-F23C-417F-AEE7-2094C2EAB7DD}" type="datetimeFigureOut">
              <a:rPr kumimoji="1" lang="ja-JP" altLang="en-US" smtClean="0"/>
              <a:pPr/>
              <a:t>2021/4/15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C656-2B95-491C-A5BC-E52A27638F66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68B85-F23C-417F-AEE7-2094C2EAB7DD}" type="datetimeFigureOut">
              <a:rPr kumimoji="1" lang="ja-JP" altLang="en-US" smtClean="0"/>
              <a:pPr/>
              <a:t>2021/4/15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C656-2B95-491C-A5BC-E52A27638F66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68B85-F23C-417F-AEE7-2094C2EAB7DD}" type="datetimeFigureOut">
              <a:rPr kumimoji="1" lang="ja-JP" altLang="en-US" smtClean="0"/>
              <a:pPr/>
              <a:t>2021/4/15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C656-2B95-491C-A5BC-E52A27638F66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68B85-F23C-417F-AEE7-2094C2EAB7DD}" type="datetimeFigureOut">
              <a:rPr kumimoji="1" lang="ja-JP" altLang="en-US" smtClean="0"/>
              <a:pPr/>
              <a:t>2021/4/15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4C656-2B95-491C-A5BC-E52A27638F66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539552" y="404664"/>
            <a:ext cx="53864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生産する人の投入方式に</a:t>
            </a:r>
            <a:r>
              <a:rPr lang="ja-JP" altLang="en-US" sz="2800"/>
              <a:t>よる表現</a:t>
            </a:r>
            <a:endParaRPr kumimoji="1" lang="ja-JP" altLang="en-US" sz="2800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539552" y="1196752"/>
            <a:ext cx="462658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ja-JP" altLang="en-US" sz="2400" dirty="0"/>
              <a:t>セル</a:t>
            </a:r>
            <a:r>
              <a:rPr lang="ja-JP" altLang="en-US" sz="2400"/>
              <a:t>生産方式</a:t>
            </a:r>
            <a:br>
              <a:rPr lang="en-US" altLang="ja-JP" sz="2400"/>
            </a:br>
            <a:r>
              <a:rPr lang="en-US" altLang="ja-JP" dirty="0"/>
              <a:t>	</a:t>
            </a:r>
            <a:r>
              <a:rPr lang="ja-JP" altLang="en-US"/>
              <a:t>一人で全工程を担当</a:t>
            </a:r>
            <a:r>
              <a:rPr lang="ja-JP" altLang="en-US" dirty="0"/>
              <a:t>する生産方式。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539552" y="2762037"/>
            <a:ext cx="524214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ja-JP" altLang="en-US" sz="2400" dirty="0"/>
              <a:t>分割セル</a:t>
            </a:r>
            <a:r>
              <a:rPr lang="ja-JP" altLang="en-US" sz="2400"/>
              <a:t>生産方式</a:t>
            </a:r>
            <a:br>
              <a:rPr lang="en-US" altLang="ja-JP" dirty="0"/>
            </a:br>
            <a:r>
              <a:rPr lang="en-US" altLang="ja-JP" dirty="0"/>
              <a:t>	</a:t>
            </a:r>
            <a:r>
              <a:rPr lang="ja-JP" altLang="en-US"/>
              <a:t>数人で工程を分担して担当する生産方式。</a:t>
            </a:r>
            <a:endParaRPr kumimoji="1" lang="ja-JP" altLang="en-US" dirty="0"/>
          </a:p>
        </p:txBody>
      </p:sp>
      <p:grpSp>
        <p:nvGrpSpPr>
          <p:cNvPr id="11" name="グループ化 10"/>
          <p:cNvGrpSpPr/>
          <p:nvPr/>
        </p:nvGrpSpPr>
        <p:grpSpPr>
          <a:xfrm>
            <a:off x="2339752" y="2003457"/>
            <a:ext cx="727637" cy="484947"/>
            <a:chOff x="2339752" y="2132856"/>
            <a:chExt cx="727637" cy="484947"/>
          </a:xfrm>
        </p:grpSpPr>
        <p:sp>
          <p:nvSpPr>
            <p:cNvPr id="5" name="月 4"/>
            <p:cNvSpPr/>
            <p:nvPr/>
          </p:nvSpPr>
          <p:spPr>
            <a:xfrm rot="5400000">
              <a:off x="2627784" y="1988840"/>
              <a:ext cx="144016" cy="432048"/>
            </a:xfrm>
            <a:prstGeom prst="mo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円/楕円 5"/>
            <p:cNvSpPr/>
            <p:nvPr/>
          </p:nvSpPr>
          <p:spPr>
            <a:xfrm>
              <a:off x="2627784" y="2132856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/>
            <p:cNvSpPr/>
            <p:nvPr/>
          </p:nvSpPr>
          <p:spPr>
            <a:xfrm>
              <a:off x="2601118" y="2333766"/>
              <a:ext cx="216024" cy="144016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正方形/長方形 7"/>
            <p:cNvSpPr/>
            <p:nvPr/>
          </p:nvSpPr>
          <p:spPr>
            <a:xfrm>
              <a:off x="2411760" y="2530681"/>
              <a:ext cx="602730" cy="87122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/>
            <p:cNvSpPr/>
            <p:nvPr/>
          </p:nvSpPr>
          <p:spPr>
            <a:xfrm rot="16200000">
              <a:off x="2874036" y="2299543"/>
              <a:ext cx="314698" cy="72008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正方形/長方形 9"/>
            <p:cNvSpPr/>
            <p:nvPr/>
          </p:nvSpPr>
          <p:spPr>
            <a:xfrm rot="16200000">
              <a:off x="2218407" y="2299544"/>
              <a:ext cx="314698" cy="72008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8" name="グループ化 27"/>
          <p:cNvGrpSpPr/>
          <p:nvPr/>
        </p:nvGrpSpPr>
        <p:grpSpPr>
          <a:xfrm>
            <a:off x="2385094" y="3664133"/>
            <a:ext cx="2114898" cy="484947"/>
            <a:chOff x="2411760" y="3356992"/>
            <a:chExt cx="2114898" cy="484947"/>
          </a:xfrm>
        </p:grpSpPr>
        <p:sp>
          <p:nvSpPr>
            <p:cNvPr id="13" name="月 12"/>
            <p:cNvSpPr/>
            <p:nvPr/>
          </p:nvSpPr>
          <p:spPr>
            <a:xfrm rot="5400000">
              <a:off x="2627784" y="3212976"/>
              <a:ext cx="144016" cy="432048"/>
            </a:xfrm>
            <a:prstGeom prst="mo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円/楕円 13"/>
            <p:cNvSpPr/>
            <p:nvPr/>
          </p:nvSpPr>
          <p:spPr>
            <a:xfrm>
              <a:off x="2627784" y="3356992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/>
            <p:cNvSpPr/>
            <p:nvPr/>
          </p:nvSpPr>
          <p:spPr>
            <a:xfrm>
              <a:off x="2601118" y="3557902"/>
              <a:ext cx="216024" cy="14401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正方形/長方形 15"/>
            <p:cNvSpPr/>
            <p:nvPr/>
          </p:nvSpPr>
          <p:spPr>
            <a:xfrm>
              <a:off x="2411760" y="3754817"/>
              <a:ext cx="602730" cy="87122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月 18"/>
            <p:cNvSpPr/>
            <p:nvPr/>
          </p:nvSpPr>
          <p:spPr>
            <a:xfrm rot="5400000">
              <a:off x="3374530" y="3212976"/>
              <a:ext cx="144016" cy="432048"/>
            </a:xfrm>
            <a:prstGeom prst="mo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円/楕円 19"/>
            <p:cNvSpPr/>
            <p:nvPr/>
          </p:nvSpPr>
          <p:spPr>
            <a:xfrm>
              <a:off x="3374530" y="3356992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正方形/長方形 20"/>
            <p:cNvSpPr/>
            <p:nvPr/>
          </p:nvSpPr>
          <p:spPr>
            <a:xfrm>
              <a:off x="3347864" y="3557902"/>
              <a:ext cx="216024" cy="14401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正方形/長方形 21"/>
            <p:cNvSpPr/>
            <p:nvPr/>
          </p:nvSpPr>
          <p:spPr>
            <a:xfrm>
              <a:off x="3158506" y="3754817"/>
              <a:ext cx="602730" cy="87122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月 22"/>
            <p:cNvSpPr/>
            <p:nvPr/>
          </p:nvSpPr>
          <p:spPr>
            <a:xfrm rot="5400000">
              <a:off x="4139952" y="3212976"/>
              <a:ext cx="144016" cy="432048"/>
            </a:xfrm>
            <a:prstGeom prst="mo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円/楕円 23"/>
            <p:cNvSpPr/>
            <p:nvPr/>
          </p:nvSpPr>
          <p:spPr>
            <a:xfrm>
              <a:off x="4139952" y="3356992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正方形/長方形 24"/>
            <p:cNvSpPr/>
            <p:nvPr/>
          </p:nvSpPr>
          <p:spPr>
            <a:xfrm>
              <a:off x="4113286" y="3557902"/>
              <a:ext cx="216024" cy="144016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正方形/長方形 25"/>
            <p:cNvSpPr/>
            <p:nvPr/>
          </p:nvSpPr>
          <p:spPr>
            <a:xfrm>
              <a:off x="3923928" y="3754817"/>
              <a:ext cx="602730" cy="87122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7" name="テキスト ボックス 26"/>
          <p:cNvSpPr txBox="1"/>
          <p:nvPr/>
        </p:nvSpPr>
        <p:spPr>
          <a:xfrm>
            <a:off x="539552" y="4274512"/>
            <a:ext cx="835837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ja-JP" altLang="en-US" sz="2400" dirty="0"/>
              <a:t>リレー生産方式</a:t>
            </a:r>
            <a:r>
              <a:rPr lang="ja-JP" altLang="en-US" dirty="0"/>
              <a:t>（</a:t>
            </a:r>
            <a:r>
              <a:rPr lang="en-US" altLang="ja-JP" dirty="0"/>
              <a:t>NEC</a:t>
            </a:r>
            <a:r>
              <a:rPr lang="ja-JP" altLang="en-US" dirty="0"/>
              <a:t>で取り入れている方式）</a:t>
            </a:r>
            <a:br>
              <a:rPr lang="en-US" altLang="ja-JP" dirty="0"/>
            </a:br>
            <a:r>
              <a:rPr lang="en-US" altLang="ja-JP" dirty="0"/>
              <a:t>	</a:t>
            </a:r>
            <a:r>
              <a:rPr lang="ja-JP" altLang="en-US"/>
              <a:t>数人で工程を担当し、自分</a:t>
            </a:r>
            <a:r>
              <a:rPr lang="ja-JP" altLang="en-US" dirty="0"/>
              <a:t>の作業が</a:t>
            </a:r>
            <a:r>
              <a:rPr lang="ja-JP" altLang="en-US"/>
              <a:t>終われば、前工程</a:t>
            </a:r>
            <a:r>
              <a:rPr lang="ja-JP" altLang="en-US" dirty="0"/>
              <a:t>の作業を奪い取る。 </a:t>
            </a:r>
            <a:br>
              <a:rPr lang="en-US" altLang="ja-JP" dirty="0"/>
            </a:br>
            <a:r>
              <a:rPr lang="en-US" altLang="ja-JP" dirty="0"/>
              <a:t>	</a:t>
            </a:r>
            <a:r>
              <a:rPr lang="ja-JP" altLang="en-US" dirty="0"/>
              <a:t>奪い取られた人</a:t>
            </a:r>
            <a:r>
              <a:rPr lang="ja-JP" altLang="en-US"/>
              <a:t>はさらに前工程の</a:t>
            </a:r>
            <a:r>
              <a:rPr lang="ja-JP" altLang="en-US" dirty="0"/>
              <a:t>・・・・先頭の人</a:t>
            </a:r>
            <a:r>
              <a:rPr lang="ja-JP" altLang="en-US"/>
              <a:t>は新たに次を着手する。</a:t>
            </a:r>
            <a:endParaRPr kumimoji="1" lang="ja-JP" altLang="en-US" dirty="0"/>
          </a:p>
        </p:txBody>
      </p:sp>
      <p:grpSp>
        <p:nvGrpSpPr>
          <p:cNvPr id="29" name="グループ化 28"/>
          <p:cNvGrpSpPr/>
          <p:nvPr/>
        </p:nvGrpSpPr>
        <p:grpSpPr>
          <a:xfrm>
            <a:off x="1547664" y="5895182"/>
            <a:ext cx="2114898" cy="484947"/>
            <a:chOff x="2411760" y="3356992"/>
            <a:chExt cx="2114898" cy="484947"/>
          </a:xfrm>
        </p:grpSpPr>
        <p:sp>
          <p:nvSpPr>
            <p:cNvPr id="30" name="月 29"/>
            <p:cNvSpPr/>
            <p:nvPr/>
          </p:nvSpPr>
          <p:spPr>
            <a:xfrm rot="5400000">
              <a:off x="2627784" y="3212976"/>
              <a:ext cx="144016" cy="432048"/>
            </a:xfrm>
            <a:prstGeom prst="mo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円/楕円 30"/>
            <p:cNvSpPr/>
            <p:nvPr/>
          </p:nvSpPr>
          <p:spPr>
            <a:xfrm>
              <a:off x="2627784" y="3356992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正方形/長方形 31"/>
            <p:cNvSpPr/>
            <p:nvPr/>
          </p:nvSpPr>
          <p:spPr>
            <a:xfrm>
              <a:off x="2601118" y="3557902"/>
              <a:ext cx="216024" cy="14401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正方形/長方形 32"/>
            <p:cNvSpPr/>
            <p:nvPr/>
          </p:nvSpPr>
          <p:spPr>
            <a:xfrm>
              <a:off x="2411760" y="3754817"/>
              <a:ext cx="602730" cy="87122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月 33"/>
            <p:cNvSpPr/>
            <p:nvPr/>
          </p:nvSpPr>
          <p:spPr>
            <a:xfrm rot="5400000">
              <a:off x="3374530" y="3212976"/>
              <a:ext cx="144016" cy="432048"/>
            </a:xfrm>
            <a:prstGeom prst="mo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円/楕円 34"/>
            <p:cNvSpPr/>
            <p:nvPr/>
          </p:nvSpPr>
          <p:spPr>
            <a:xfrm>
              <a:off x="3374530" y="3356992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3347864" y="3557902"/>
              <a:ext cx="216024" cy="14401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正方形/長方形 36"/>
            <p:cNvSpPr/>
            <p:nvPr/>
          </p:nvSpPr>
          <p:spPr>
            <a:xfrm>
              <a:off x="3158506" y="3754817"/>
              <a:ext cx="602730" cy="87122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月 37"/>
            <p:cNvSpPr/>
            <p:nvPr/>
          </p:nvSpPr>
          <p:spPr>
            <a:xfrm rot="5400000">
              <a:off x="4139952" y="3212976"/>
              <a:ext cx="144016" cy="432048"/>
            </a:xfrm>
            <a:prstGeom prst="mo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円/楕円 38"/>
            <p:cNvSpPr/>
            <p:nvPr/>
          </p:nvSpPr>
          <p:spPr>
            <a:xfrm>
              <a:off x="4139952" y="3356992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正方形/長方形 39"/>
            <p:cNvSpPr/>
            <p:nvPr/>
          </p:nvSpPr>
          <p:spPr>
            <a:xfrm>
              <a:off x="4113286" y="3557902"/>
              <a:ext cx="216024" cy="144016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3923928" y="3754817"/>
              <a:ext cx="602730" cy="87122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72" name="直線矢印コネクタ 71"/>
          <p:cNvCxnSpPr/>
          <p:nvPr/>
        </p:nvCxnSpPr>
        <p:spPr>
          <a:xfrm>
            <a:off x="2825400" y="2273081"/>
            <a:ext cx="432048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/>
          <p:cNvCxnSpPr/>
          <p:nvPr/>
        </p:nvCxnSpPr>
        <p:spPr>
          <a:xfrm>
            <a:off x="4311580" y="3936124"/>
            <a:ext cx="432048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線矢印コネクタ 75"/>
          <p:cNvCxnSpPr/>
          <p:nvPr/>
        </p:nvCxnSpPr>
        <p:spPr>
          <a:xfrm>
            <a:off x="3597636" y="3936124"/>
            <a:ext cx="432048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/>
          <p:cNvCxnSpPr/>
          <p:nvPr/>
        </p:nvCxnSpPr>
        <p:spPr>
          <a:xfrm>
            <a:off x="2843808" y="3933056"/>
            <a:ext cx="432048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矢印コネクタ 77"/>
          <p:cNvCxnSpPr/>
          <p:nvPr/>
        </p:nvCxnSpPr>
        <p:spPr>
          <a:xfrm>
            <a:off x="3479608" y="6177078"/>
            <a:ext cx="216024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グループ化 107"/>
          <p:cNvGrpSpPr/>
          <p:nvPr/>
        </p:nvGrpSpPr>
        <p:grpSpPr>
          <a:xfrm>
            <a:off x="4067944" y="5895182"/>
            <a:ext cx="2258914" cy="484947"/>
            <a:chOff x="4067944" y="5445224"/>
            <a:chExt cx="2258914" cy="484947"/>
          </a:xfrm>
        </p:grpSpPr>
        <p:sp>
          <p:nvSpPr>
            <p:cNvPr id="43" name="月 42"/>
            <p:cNvSpPr/>
            <p:nvPr/>
          </p:nvSpPr>
          <p:spPr>
            <a:xfrm rot="5400000">
              <a:off x="4427984" y="5301208"/>
              <a:ext cx="144016" cy="432048"/>
            </a:xfrm>
            <a:prstGeom prst="mo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円/楕円 43"/>
            <p:cNvSpPr/>
            <p:nvPr/>
          </p:nvSpPr>
          <p:spPr>
            <a:xfrm>
              <a:off x="4427984" y="5445224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正方形/長方形 44"/>
            <p:cNvSpPr/>
            <p:nvPr/>
          </p:nvSpPr>
          <p:spPr>
            <a:xfrm>
              <a:off x="4499992" y="5646134"/>
              <a:ext cx="216024" cy="14401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正方形/長方形 45"/>
            <p:cNvSpPr/>
            <p:nvPr/>
          </p:nvSpPr>
          <p:spPr>
            <a:xfrm>
              <a:off x="4211960" y="5843049"/>
              <a:ext cx="602730" cy="87122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月 46"/>
            <p:cNvSpPr/>
            <p:nvPr/>
          </p:nvSpPr>
          <p:spPr>
            <a:xfrm rot="5400000">
              <a:off x="5076056" y="5301208"/>
              <a:ext cx="144016" cy="432048"/>
            </a:xfrm>
            <a:prstGeom prst="mo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円/楕円 47"/>
            <p:cNvSpPr/>
            <p:nvPr/>
          </p:nvSpPr>
          <p:spPr>
            <a:xfrm>
              <a:off x="5076056" y="5445224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" name="正方形/長方形 48"/>
            <p:cNvSpPr/>
            <p:nvPr/>
          </p:nvSpPr>
          <p:spPr>
            <a:xfrm>
              <a:off x="5220072" y="5646134"/>
              <a:ext cx="216024" cy="14401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" name="正方形/長方形 49"/>
            <p:cNvSpPr/>
            <p:nvPr/>
          </p:nvSpPr>
          <p:spPr>
            <a:xfrm>
              <a:off x="4958706" y="5843049"/>
              <a:ext cx="602730" cy="87122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" name="月 50"/>
            <p:cNvSpPr/>
            <p:nvPr/>
          </p:nvSpPr>
          <p:spPr>
            <a:xfrm rot="5400000">
              <a:off x="5868144" y="5301208"/>
              <a:ext cx="144016" cy="432048"/>
            </a:xfrm>
            <a:prstGeom prst="mo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" name="円/楕円 51"/>
            <p:cNvSpPr/>
            <p:nvPr/>
          </p:nvSpPr>
          <p:spPr>
            <a:xfrm>
              <a:off x="5868144" y="5445224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正方形/長方形 53"/>
            <p:cNvSpPr/>
            <p:nvPr/>
          </p:nvSpPr>
          <p:spPr>
            <a:xfrm>
              <a:off x="5724128" y="5843049"/>
              <a:ext cx="602730" cy="87122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" name="正方形/長方形 67"/>
            <p:cNvSpPr/>
            <p:nvPr/>
          </p:nvSpPr>
          <p:spPr>
            <a:xfrm>
              <a:off x="4067944" y="5646134"/>
              <a:ext cx="216024" cy="1440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82" name="直線矢印コネクタ 81"/>
            <p:cNvCxnSpPr>
              <a:stCxn id="51" idx="2"/>
            </p:cNvCxnSpPr>
            <p:nvPr/>
          </p:nvCxnSpPr>
          <p:spPr>
            <a:xfrm flipH="1">
              <a:off x="5454504" y="5589240"/>
              <a:ext cx="269624" cy="15344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矢印コネクタ 84"/>
            <p:cNvCxnSpPr/>
            <p:nvPr/>
          </p:nvCxnSpPr>
          <p:spPr>
            <a:xfrm flipH="1">
              <a:off x="4716017" y="5589240"/>
              <a:ext cx="216023" cy="14999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矢印コネクタ 86"/>
            <p:cNvCxnSpPr/>
            <p:nvPr/>
          </p:nvCxnSpPr>
          <p:spPr>
            <a:xfrm flipH="1">
              <a:off x="4283968" y="5586172"/>
              <a:ext cx="144016" cy="14708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9" name="グループ化 108"/>
          <p:cNvGrpSpPr/>
          <p:nvPr/>
        </p:nvGrpSpPr>
        <p:grpSpPr>
          <a:xfrm>
            <a:off x="6732240" y="5895182"/>
            <a:ext cx="2114898" cy="504055"/>
            <a:chOff x="6732240" y="5445224"/>
            <a:chExt cx="2114898" cy="504055"/>
          </a:xfrm>
        </p:grpSpPr>
        <p:sp>
          <p:nvSpPr>
            <p:cNvPr id="90" name="月 89"/>
            <p:cNvSpPr/>
            <p:nvPr/>
          </p:nvSpPr>
          <p:spPr>
            <a:xfrm rot="5400000">
              <a:off x="6932470" y="5317002"/>
              <a:ext cx="175604" cy="432048"/>
            </a:xfrm>
            <a:prstGeom prst="mo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1" name="円/楕円 90"/>
            <p:cNvSpPr/>
            <p:nvPr/>
          </p:nvSpPr>
          <p:spPr>
            <a:xfrm>
              <a:off x="6948264" y="5445224"/>
              <a:ext cx="144016" cy="1756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2" name="正方形/長方形 91"/>
            <p:cNvSpPr/>
            <p:nvPr/>
          </p:nvSpPr>
          <p:spPr>
            <a:xfrm>
              <a:off x="7164288" y="5646134"/>
              <a:ext cx="216024" cy="17560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3" name="正方形/長方形 92"/>
            <p:cNvSpPr/>
            <p:nvPr/>
          </p:nvSpPr>
          <p:spPr>
            <a:xfrm>
              <a:off x="6732240" y="5843048"/>
              <a:ext cx="602730" cy="106231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4" name="月 93"/>
            <p:cNvSpPr/>
            <p:nvPr/>
          </p:nvSpPr>
          <p:spPr>
            <a:xfrm rot="5400000">
              <a:off x="7436526" y="5317002"/>
              <a:ext cx="175604" cy="432048"/>
            </a:xfrm>
            <a:prstGeom prst="mo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5" name="円/楕円 94"/>
            <p:cNvSpPr/>
            <p:nvPr/>
          </p:nvSpPr>
          <p:spPr>
            <a:xfrm>
              <a:off x="7452320" y="5445224"/>
              <a:ext cx="144016" cy="1756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6" name="正方形/長方形 95"/>
            <p:cNvSpPr/>
            <p:nvPr/>
          </p:nvSpPr>
          <p:spPr>
            <a:xfrm>
              <a:off x="7884368" y="5646134"/>
              <a:ext cx="216024" cy="17560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7" name="正方形/長方形 96"/>
            <p:cNvSpPr/>
            <p:nvPr/>
          </p:nvSpPr>
          <p:spPr>
            <a:xfrm>
              <a:off x="7478986" y="5843048"/>
              <a:ext cx="602730" cy="106231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8" name="月 97"/>
            <p:cNvSpPr/>
            <p:nvPr/>
          </p:nvSpPr>
          <p:spPr>
            <a:xfrm rot="5400000">
              <a:off x="8012590" y="5317002"/>
              <a:ext cx="175604" cy="432048"/>
            </a:xfrm>
            <a:prstGeom prst="mo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9" name="円/楕円 98"/>
            <p:cNvSpPr/>
            <p:nvPr/>
          </p:nvSpPr>
          <p:spPr>
            <a:xfrm>
              <a:off x="8028384" y="5445224"/>
              <a:ext cx="144016" cy="17560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0" name="正方形/長方形 99"/>
            <p:cNvSpPr/>
            <p:nvPr/>
          </p:nvSpPr>
          <p:spPr>
            <a:xfrm>
              <a:off x="8244408" y="5843048"/>
              <a:ext cx="602730" cy="106231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1" name="正方形/長方形 100"/>
            <p:cNvSpPr/>
            <p:nvPr/>
          </p:nvSpPr>
          <p:spPr>
            <a:xfrm>
              <a:off x="6732240" y="5646134"/>
              <a:ext cx="216024" cy="17560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06" name="右矢印 105"/>
          <p:cNvSpPr/>
          <p:nvPr/>
        </p:nvSpPr>
        <p:spPr>
          <a:xfrm>
            <a:off x="3779912" y="6039197"/>
            <a:ext cx="216024" cy="2160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" name="右矢印 106"/>
          <p:cNvSpPr/>
          <p:nvPr/>
        </p:nvSpPr>
        <p:spPr>
          <a:xfrm>
            <a:off x="6418330" y="6039196"/>
            <a:ext cx="216024" cy="2880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フリーフォーム 196"/>
          <p:cNvSpPr/>
          <p:nvPr/>
        </p:nvSpPr>
        <p:spPr>
          <a:xfrm flipH="1">
            <a:off x="3762375" y="5335062"/>
            <a:ext cx="1104413" cy="352269"/>
          </a:xfrm>
          <a:custGeom>
            <a:avLst/>
            <a:gdLst>
              <a:gd name="connsiteX0" fmla="*/ 0 w 533400"/>
              <a:gd name="connsiteY0" fmla="*/ 0 h 523875"/>
              <a:gd name="connsiteX1" fmla="*/ 514350 w 533400"/>
              <a:gd name="connsiteY1" fmla="*/ 19050 h 523875"/>
              <a:gd name="connsiteX2" fmla="*/ 533400 w 533400"/>
              <a:gd name="connsiteY2" fmla="*/ 523875 h 523875"/>
              <a:gd name="connsiteX3" fmla="*/ 9525 w 533400"/>
              <a:gd name="connsiteY3" fmla="*/ 504825 h 523875"/>
              <a:gd name="connsiteX0" fmla="*/ 0 w 617538"/>
              <a:gd name="connsiteY0" fmla="*/ 68263 h 592138"/>
              <a:gd name="connsiteX1" fmla="*/ 514350 w 617538"/>
              <a:gd name="connsiteY1" fmla="*/ 87313 h 592138"/>
              <a:gd name="connsiteX2" fmla="*/ 533400 w 617538"/>
              <a:gd name="connsiteY2" fmla="*/ 592138 h 592138"/>
              <a:gd name="connsiteX3" fmla="*/ 9525 w 617538"/>
              <a:gd name="connsiteY3" fmla="*/ 573088 h 592138"/>
              <a:gd name="connsiteX0" fmla="*/ 0 w 617538"/>
              <a:gd name="connsiteY0" fmla="*/ 68263 h 673101"/>
              <a:gd name="connsiteX1" fmla="*/ 514350 w 617538"/>
              <a:gd name="connsiteY1" fmla="*/ 87313 h 673101"/>
              <a:gd name="connsiteX2" fmla="*/ 533400 w 617538"/>
              <a:gd name="connsiteY2" fmla="*/ 592138 h 673101"/>
              <a:gd name="connsiteX3" fmla="*/ 9525 w 617538"/>
              <a:gd name="connsiteY3" fmla="*/ 573088 h 673101"/>
              <a:gd name="connsiteX0" fmla="*/ 0 w 624384"/>
              <a:gd name="connsiteY0" fmla="*/ 53086 h 566866"/>
              <a:gd name="connsiteX1" fmla="*/ 514350 w 624384"/>
              <a:gd name="connsiteY1" fmla="*/ 72136 h 566866"/>
              <a:gd name="connsiteX2" fmla="*/ 540246 w 624384"/>
              <a:gd name="connsiteY2" fmla="*/ 485903 h 566866"/>
              <a:gd name="connsiteX3" fmla="*/ 9525 w 624384"/>
              <a:gd name="connsiteY3" fmla="*/ 557911 h 566866"/>
              <a:gd name="connsiteX0" fmla="*/ 0 w 616698"/>
              <a:gd name="connsiteY0" fmla="*/ 0 h 511175"/>
              <a:gd name="connsiteX1" fmla="*/ 468238 w 616698"/>
              <a:gd name="connsiteY1" fmla="*/ 72776 h 511175"/>
              <a:gd name="connsiteX2" fmla="*/ 540246 w 616698"/>
              <a:gd name="connsiteY2" fmla="*/ 432817 h 511175"/>
              <a:gd name="connsiteX3" fmla="*/ 9525 w 616698"/>
              <a:gd name="connsiteY3" fmla="*/ 504825 h 511175"/>
              <a:gd name="connsiteX0" fmla="*/ 0 w 632321"/>
              <a:gd name="connsiteY0" fmla="*/ 0 h 511175"/>
              <a:gd name="connsiteX1" fmla="*/ 468238 w 632321"/>
              <a:gd name="connsiteY1" fmla="*/ 72776 h 511175"/>
              <a:gd name="connsiteX2" fmla="*/ 561975 w 632321"/>
              <a:gd name="connsiteY2" fmla="*/ 219075 h 511175"/>
              <a:gd name="connsiteX3" fmla="*/ 540246 w 632321"/>
              <a:gd name="connsiteY3" fmla="*/ 432817 h 511175"/>
              <a:gd name="connsiteX4" fmla="*/ 9525 w 632321"/>
              <a:gd name="connsiteY4" fmla="*/ 504825 h 511175"/>
              <a:gd name="connsiteX0" fmla="*/ 0 w 640701"/>
              <a:gd name="connsiteY0" fmla="*/ 0 h 511175"/>
              <a:gd name="connsiteX1" fmla="*/ 468238 w 640701"/>
              <a:gd name="connsiteY1" fmla="*/ 72776 h 511175"/>
              <a:gd name="connsiteX2" fmla="*/ 612254 w 640701"/>
              <a:gd name="connsiteY2" fmla="*/ 216793 h 511175"/>
              <a:gd name="connsiteX3" fmla="*/ 540246 w 640701"/>
              <a:gd name="connsiteY3" fmla="*/ 432817 h 511175"/>
              <a:gd name="connsiteX4" fmla="*/ 9525 w 640701"/>
              <a:gd name="connsiteY4" fmla="*/ 504825 h 511175"/>
              <a:gd name="connsiteX0" fmla="*/ 0 w 624255"/>
              <a:gd name="connsiteY0" fmla="*/ 0 h 552830"/>
              <a:gd name="connsiteX1" fmla="*/ 468238 w 624255"/>
              <a:gd name="connsiteY1" fmla="*/ 72776 h 552830"/>
              <a:gd name="connsiteX2" fmla="*/ 612254 w 624255"/>
              <a:gd name="connsiteY2" fmla="*/ 216793 h 552830"/>
              <a:gd name="connsiteX3" fmla="*/ 396230 w 624255"/>
              <a:gd name="connsiteY3" fmla="*/ 504825 h 552830"/>
              <a:gd name="connsiteX4" fmla="*/ 9525 w 624255"/>
              <a:gd name="connsiteY4" fmla="*/ 504825 h 552830"/>
              <a:gd name="connsiteX0" fmla="*/ 35818 w 660073"/>
              <a:gd name="connsiteY0" fmla="*/ 0 h 583182"/>
              <a:gd name="connsiteX1" fmla="*/ 504056 w 660073"/>
              <a:gd name="connsiteY1" fmla="*/ 72776 h 583182"/>
              <a:gd name="connsiteX2" fmla="*/ 648072 w 660073"/>
              <a:gd name="connsiteY2" fmla="*/ 216793 h 583182"/>
              <a:gd name="connsiteX3" fmla="*/ 432048 w 660073"/>
              <a:gd name="connsiteY3" fmla="*/ 504825 h 583182"/>
              <a:gd name="connsiteX4" fmla="*/ 0 w 660073"/>
              <a:gd name="connsiteY4" fmla="*/ 576832 h 583182"/>
              <a:gd name="connsiteX0" fmla="*/ 41850 w 666105"/>
              <a:gd name="connsiteY0" fmla="*/ 83369 h 666551"/>
              <a:gd name="connsiteX1" fmla="*/ 78040 w 666105"/>
              <a:gd name="connsiteY1" fmla="*/ 12129 h 666551"/>
              <a:gd name="connsiteX2" fmla="*/ 510088 w 666105"/>
              <a:gd name="connsiteY2" fmla="*/ 156145 h 666551"/>
              <a:gd name="connsiteX3" fmla="*/ 654104 w 666105"/>
              <a:gd name="connsiteY3" fmla="*/ 300162 h 666551"/>
              <a:gd name="connsiteX4" fmla="*/ 438080 w 666105"/>
              <a:gd name="connsiteY4" fmla="*/ 588194 h 666551"/>
              <a:gd name="connsiteX5" fmla="*/ 6032 w 666105"/>
              <a:gd name="connsiteY5" fmla="*/ 660201 h 666551"/>
              <a:gd name="connsiteX0" fmla="*/ 72008 w 660073"/>
              <a:gd name="connsiteY0" fmla="*/ 0 h 654422"/>
              <a:gd name="connsiteX1" fmla="*/ 504056 w 660073"/>
              <a:gd name="connsiteY1" fmla="*/ 144016 h 654422"/>
              <a:gd name="connsiteX2" fmla="*/ 648072 w 660073"/>
              <a:gd name="connsiteY2" fmla="*/ 288033 h 654422"/>
              <a:gd name="connsiteX3" fmla="*/ 432048 w 660073"/>
              <a:gd name="connsiteY3" fmla="*/ 576065 h 654422"/>
              <a:gd name="connsiteX4" fmla="*/ 0 w 660073"/>
              <a:gd name="connsiteY4" fmla="*/ 648072 h 654422"/>
              <a:gd name="connsiteX0" fmla="*/ 0 w 588065"/>
              <a:gd name="connsiteY0" fmla="*/ 0 h 654422"/>
              <a:gd name="connsiteX1" fmla="*/ 432048 w 588065"/>
              <a:gd name="connsiteY1" fmla="*/ 144016 h 654422"/>
              <a:gd name="connsiteX2" fmla="*/ 576064 w 588065"/>
              <a:gd name="connsiteY2" fmla="*/ 288033 h 654422"/>
              <a:gd name="connsiteX3" fmla="*/ 360040 w 588065"/>
              <a:gd name="connsiteY3" fmla="*/ 576065 h 654422"/>
              <a:gd name="connsiteX4" fmla="*/ 0 w 588065"/>
              <a:gd name="connsiteY4" fmla="*/ 648072 h 654422"/>
              <a:gd name="connsiteX0" fmla="*/ 0 w 588065"/>
              <a:gd name="connsiteY0" fmla="*/ 36132 h 690554"/>
              <a:gd name="connsiteX1" fmla="*/ 432048 w 588065"/>
              <a:gd name="connsiteY1" fmla="*/ 36132 h 690554"/>
              <a:gd name="connsiteX2" fmla="*/ 576064 w 588065"/>
              <a:gd name="connsiteY2" fmla="*/ 324165 h 690554"/>
              <a:gd name="connsiteX3" fmla="*/ 360040 w 588065"/>
              <a:gd name="connsiteY3" fmla="*/ 612197 h 690554"/>
              <a:gd name="connsiteX4" fmla="*/ 0 w 588065"/>
              <a:gd name="connsiteY4" fmla="*/ 684204 h 690554"/>
              <a:gd name="connsiteX0" fmla="*/ 0 w 576064"/>
              <a:gd name="connsiteY0" fmla="*/ 36132 h 744210"/>
              <a:gd name="connsiteX1" fmla="*/ 432048 w 576064"/>
              <a:gd name="connsiteY1" fmla="*/ 36132 h 744210"/>
              <a:gd name="connsiteX2" fmla="*/ 576064 w 576064"/>
              <a:gd name="connsiteY2" fmla="*/ 324165 h 744210"/>
              <a:gd name="connsiteX3" fmla="*/ 432048 w 576064"/>
              <a:gd name="connsiteY3" fmla="*/ 684204 h 744210"/>
              <a:gd name="connsiteX4" fmla="*/ 0 w 576064"/>
              <a:gd name="connsiteY4" fmla="*/ 684204 h 744210"/>
              <a:gd name="connsiteX0" fmla="*/ 0 w 576064"/>
              <a:gd name="connsiteY0" fmla="*/ 36132 h 690554"/>
              <a:gd name="connsiteX1" fmla="*/ 432048 w 576064"/>
              <a:gd name="connsiteY1" fmla="*/ 36132 h 690554"/>
              <a:gd name="connsiteX2" fmla="*/ 576064 w 576064"/>
              <a:gd name="connsiteY2" fmla="*/ 324165 h 690554"/>
              <a:gd name="connsiteX3" fmla="*/ 432048 w 576064"/>
              <a:gd name="connsiteY3" fmla="*/ 612196 h 690554"/>
              <a:gd name="connsiteX4" fmla="*/ 0 w 576064"/>
              <a:gd name="connsiteY4" fmla="*/ 684204 h 690554"/>
              <a:gd name="connsiteX0" fmla="*/ 0 w 576064"/>
              <a:gd name="connsiteY0" fmla="*/ 0 h 654422"/>
              <a:gd name="connsiteX1" fmla="*/ 432048 w 576064"/>
              <a:gd name="connsiteY1" fmla="*/ 72008 h 654422"/>
              <a:gd name="connsiteX2" fmla="*/ 576064 w 576064"/>
              <a:gd name="connsiteY2" fmla="*/ 288033 h 654422"/>
              <a:gd name="connsiteX3" fmla="*/ 432048 w 576064"/>
              <a:gd name="connsiteY3" fmla="*/ 576064 h 654422"/>
              <a:gd name="connsiteX4" fmla="*/ 0 w 576064"/>
              <a:gd name="connsiteY4" fmla="*/ 648072 h 654422"/>
              <a:gd name="connsiteX0" fmla="*/ 0 w 576064"/>
              <a:gd name="connsiteY0" fmla="*/ 0 h 654422"/>
              <a:gd name="connsiteX1" fmla="*/ 432048 w 576064"/>
              <a:gd name="connsiteY1" fmla="*/ 72008 h 654422"/>
              <a:gd name="connsiteX2" fmla="*/ 576064 w 576064"/>
              <a:gd name="connsiteY2" fmla="*/ 360040 h 654422"/>
              <a:gd name="connsiteX3" fmla="*/ 432048 w 576064"/>
              <a:gd name="connsiteY3" fmla="*/ 576064 h 654422"/>
              <a:gd name="connsiteX4" fmla="*/ 0 w 576064"/>
              <a:gd name="connsiteY4" fmla="*/ 648072 h 654422"/>
              <a:gd name="connsiteX0" fmla="*/ 0 w 576064"/>
              <a:gd name="connsiteY0" fmla="*/ 36132 h 690554"/>
              <a:gd name="connsiteX1" fmla="*/ 432048 w 576064"/>
              <a:gd name="connsiteY1" fmla="*/ 36132 h 690554"/>
              <a:gd name="connsiteX2" fmla="*/ 576064 w 576064"/>
              <a:gd name="connsiteY2" fmla="*/ 396172 h 690554"/>
              <a:gd name="connsiteX3" fmla="*/ 432048 w 576064"/>
              <a:gd name="connsiteY3" fmla="*/ 612196 h 690554"/>
              <a:gd name="connsiteX4" fmla="*/ 0 w 576064"/>
              <a:gd name="connsiteY4" fmla="*/ 684204 h 690554"/>
              <a:gd name="connsiteX0" fmla="*/ 0 w 576064"/>
              <a:gd name="connsiteY0" fmla="*/ 36132 h 690554"/>
              <a:gd name="connsiteX1" fmla="*/ 432048 w 576064"/>
              <a:gd name="connsiteY1" fmla="*/ 36132 h 690554"/>
              <a:gd name="connsiteX2" fmla="*/ 576064 w 576064"/>
              <a:gd name="connsiteY2" fmla="*/ 396172 h 690554"/>
              <a:gd name="connsiteX3" fmla="*/ 432048 w 576064"/>
              <a:gd name="connsiteY3" fmla="*/ 612196 h 690554"/>
              <a:gd name="connsiteX4" fmla="*/ 0 w 576064"/>
              <a:gd name="connsiteY4" fmla="*/ 684204 h 690554"/>
              <a:gd name="connsiteX0" fmla="*/ 0 w 577893"/>
              <a:gd name="connsiteY0" fmla="*/ 14186 h 668608"/>
              <a:gd name="connsiteX1" fmla="*/ 421075 w 577893"/>
              <a:gd name="connsiteY1" fmla="*/ 36132 h 668608"/>
              <a:gd name="connsiteX2" fmla="*/ 576064 w 577893"/>
              <a:gd name="connsiteY2" fmla="*/ 374226 h 668608"/>
              <a:gd name="connsiteX3" fmla="*/ 432048 w 577893"/>
              <a:gd name="connsiteY3" fmla="*/ 590250 h 668608"/>
              <a:gd name="connsiteX4" fmla="*/ 0 w 577893"/>
              <a:gd name="connsiteY4" fmla="*/ 662258 h 668608"/>
              <a:gd name="connsiteX0" fmla="*/ 0 w 578502"/>
              <a:gd name="connsiteY0" fmla="*/ 14186 h 668608"/>
              <a:gd name="connsiteX1" fmla="*/ 421075 w 578502"/>
              <a:gd name="connsiteY1" fmla="*/ 36132 h 668608"/>
              <a:gd name="connsiteX2" fmla="*/ 576064 w 578502"/>
              <a:gd name="connsiteY2" fmla="*/ 374226 h 668608"/>
              <a:gd name="connsiteX3" fmla="*/ 406445 w 578502"/>
              <a:gd name="connsiteY3" fmla="*/ 601223 h 668608"/>
              <a:gd name="connsiteX4" fmla="*/ 0 w 578502"/>
              <a:gd name="connsiteY4" fmla="*/ 662258 h 668608"/>
              <a:gd name="connsiteX0" fmla="*/ 0 w 574844"/>
              <a:gd name="connsiteY0" fmla="*/ 14186 h 668608"/>
              <a:gd name="connsiteX1" fmla="*/ 421075 w 574844"/>
              <a:gd name="connsiteY1" fmla="*/ 36132 h 668608"/>
              <a:gd name="connsiteX2" fmla="*/ 572406 w 574844"/>
              <a:gd name="connsiteY2" fmla="*/ 333992 h 668608"/>
              <a:gd name="connsiteX3" fmla="*/ 406445 w 574844"/>
              <a:gd name="connsiteY3" fmla="*/ 601223 h 668608"/>
              <a:gd name="connsiteX4" fmla="*/ 0 w 574844"/>
              <a:gd name="connsiteY4" fmla="*/ 662258 h 668608"/>
              <a:gd name="connsiteX0" fmla="*/ 0 w 574844"/>
              <a:gd name="connsiteY0" fmla="*/ 14186 h 668608"/>
              <a:gd name="connsiteX1" fmla="*/ 421075 w 574844"/>
              <a:gd name="connsiteY1" fmla="*/ 36132 h 668608"/>
              <a:gd name="connsiteX2" fmla="*/ 572406 w 574844"/>
              <a:gd name="connsiteY2" fmla="*/ 333992 h 668608"/>
              <a:gd name="connsiteX3" fmla="*/ 406445 w 574844"/>
              <a:gd name="connsiteY3" fmla="*/ 601223 h 668608"/>
              <a:gd name="connsiteX4" fmla="*/ 0 w 574844"/>
              <a:gd name="connsiteY4" fmla="*/ 662258 h 668608"/>
              <a:gd name="connsiteX0" fmla="*/ 0 w 574844"/>
              <a:gd name="connsiteY0" fmla="*/ 43447 h 697869"/>
              <a:gd name="connsiteX1" fmla="*/ 421075 w 574844"/>
              <a:gd name="connsiteY1" fmla="*/ 65393 h 697869"/>
              <a:gd name="connsiteX2" fmla="*/ 572406 w 574844"/>
              <a:gd name="connsiteY2" fmla="*/ 363253 h 697869"/>
              <a:gd name="connsiteX3" fmla="*/ 406445 w 574844"/>
              <a:gd name="connsiteY3" fmla="*/ 630484 h 697869"/>
              <a:gd name="connsiteX4" fmla="*/ 0 w 574844"/>
              <a:gd name="connsiteY4" fmla="*/ 691519 h 697869"/>
              <a:gd name="connsiteX0" fmla="*/ 0 w 573016"/>
              <a:gd name="connsiteY0" fmla="*/ 32474 h 686896"/>
              <a:gd name="connsiteX1" fmla="*/ 410103 w 573016"/>
              <a:gd name="connsiteY1" fmla="*/ 65393 h 686896"/>
              <a:gd name="connsiteX2" fmla="*/ 572406 w 573016"/>
              <a:gd name="connsiteY2" fmla="*/ 352280 h 686896"/>
              <a:gd name="connsiteX3" fmla="*/ 406445 w 573016"/>
              <a:gd name="connsiteY3" fmla="*/ 619511 h 686896"/>
              <a:gd name="connsiteX4" fmla="*/ 0 w 573016"/>
              <a:gd name="connsiteY4" fmla="*/ 680546 h 686896"/>
              <a:gd name="connsiteX0" fmla="*/ 0 w 573016"/>
              <a:gd name="connsiteY0" fmla="*/ 32474 h 686896"/>
              <a:gd name="connsiteX1" fmla="*/ 410103 w 573016"/>
              <a:gd name="connsiteY1" fmla="*/ 65393 h 686896"/>
              <a:gd name="connsiteX2" fmla="*/ 572406 w 573016"/>
              <a:gd name="connsiteY2" fmla="*/ 396171 h 686896"/>
              <a:gd name="connsiteX3" fmla="*/ 406445 w 573016"/>
              <a:gd name="connsiteY3" fmla="*/ 619511 h 686896"/>
              <a:gd name="connsiteX4" fmla="*/ 0 w 573016"/>
              <a:gd name="connsiteY4" fmla="*/ 680546 h 686896"/>
              <a:gd name="connsiteX0" fmla="*/ 0 w 576673"/>
              <a:gd name="connsiteY0" fmla="*/ 32474 h 686896"/>
              <a:gd name="connsiteX1" fmla="*/ 410103 w 576673"/>
              <a:gd name="connsiteY1" fmla="*/ 65393 h 686896"/>
              <a:gd name="connsiteX2" fmla="*/ 576063 w 576673"/>
              <a:gd name="connsiteY2" fmla="*/ 366911 h 686896"/>
              <a:gd name="connsiteX3" fmla="*/ 406445 w 576673"/>
              <a:gd name="connsiteY3" fmla="*/ 619511 h 686896"/>
              <a:gd name="connsiteX4" fmla="*/ 0 w 576673"/>
              <a:gd name="connsiteY4" fmla="*/ 680546 h 686896"/>
              <a:gd name="connsiteX0" fmla="*/ 0 w 576673"/>
              <a:gd name="connsiteY0" fmla="*/ 32474 h 686896"/>
              <a:gd name="connsiteX1" fmla="*/ 410103 w 576673"/>
              <a:gd name="connsiteY1" fmla="*/ 65393 h 686896"/>
              <a:gd name="connsiteX2" fmla="*/ 576063 w 576673"/>
              <a:gd name="connsiteY2" fmla="*/ 366911 h 686896"/>
              <a:gd name="connsiteX3" fmla="*/ 406445 w 576673"/>
              <a:gd name="connsiteY3" fmla="*/ 619511 h 686896"/>
              <a:gd name="connsiteX4" fmla="*/ 0 w 576673"/>
              <a:gd name="connsiteY4" fmla="*/ 680546 h 686896"/>
              <a:gd name="connsiteX0" fmla="*/ 0 w 576673"/>
              <a:gd name="connsiteY0" fmla="*/ 32474 h 672922"/>
              <a:gd name="connsiteX1" fmla="*/ 410103 w 576673"/>
              <a:gd name="connsiteY1" fmla="*/ 65393 h 672922"/>
              <a:gd name="connsiteX2" fmla="*/ 576063 w 576673"/>
              <a:gd name="connsiteY2" fmla="*/ 366911 h 672922"/>
              <a:gd name="connsiteX3" fmla="*/ 406445 w 576673"/>
              <a:gd name="connsiteY3" fmla="*/ 619511 h 672922"/>
              <a:gd name="connsiteX4" fmla="*/ 142549 w 576673"/>
              <a:gd name="connsiteY4" fmla="*/ 666573 h 672922"/>
              <a:gd name="connsiteX0" fmla="*/ 0 w 580089"/>
              <a:gd name="connsiteY0" fmla="*/ 32474 h 678771"/>
              <a:gd name="connsiteX1" fmla="*/ 410103 w 580089"/>
              <a:gd name="connsiteY1" fmla="*/ 65393 h 678771"/>
              <a:gd name="connsiteX2" fmla="*/ 576063 w 580089"/>
              <a:gd name="connsiteY2" fmla="*/ 366911 h 678771"/>
              <a:gd name="connsiteX3" fmla="*/ 434259 w 580089"/>
              <a:gd name="connsiteY3" fmla="*/ 626498 h 678771"/>
              <a:gd name="connsiteX4" fmla="*/ 142549 w 580089"/>
              <a:gd name="connsiteY4" fmla="*/ 666573 h 678771"/>
              <a:gd name="connsiteX0" fmla="*/ 0 w 581828"/>
              <a:gd name="connsiteY0" fmla="*/ 32474 h 699729"/>
              <a:gd name="connsiteX1" fmla="*/ 410103 w 581828"/>
              <a:gd name="connsiteY1" fmla="*/ 65393 h 699729"/>
              <a:gd name="connsiteX2" fmla="*/ 576063 w 581828"/>
              <a:gd name="connsiteY2" fmla="*/ 366911 h 699729"/>
              <a:gd name="connsiteX3" fmla="*/ 444690 w 581828"/>
              <a:gd name="connsiteY3" fmla="*/ 647456 h 699729"/>
              <a:gd name="connsiteX4" fmla="*/ 142549 w 581828"/>
              <a:gd name="connsiteY4" fmla="*/ 666573 h 699729"/>
              <a:gd name="connsiteX0" fmla="*/ 0 w 581828"/>
              <a:gd name="connsiteY0" fmla="*/ 32474 h 699729"/>
              <a:gd name="connsiteX1" fmla="*/ 410103 w 581828"/>
              <a:gd name="connsiteY1" fmla="*/ 65393 h 699729"/>
              <a:gd name="connsiteX2" fmla="*/ 576063 w 581828"/>
              <a:gd name="connsiteY2" fmla="*/ 366911 h 699729"/>
              <a:gd name="connsiteX3" fmla="*/ 444690 w 581828"/>
              <a:gd name="connsiteY3" fmla="*/ 647456 h 699729"/>
              <a:gd name="connsiteX4" fmla="*/ 142549 w 581828"/>
              <a:gd name="connsiteY4" fmla="*/ 666573 h 699729"/>
              <a:gd name="connsiteX0" fmla="*/ 0 w 581828"/>
              <a:gd name="connsiteY0" fmla="*/ 32474 h 707855"/>
              <a:gd name="connsiteX1" fmla="*/ 410103 w 581828"/>
              <a:gd name="connsiteY1" fmla="*/ 65393 h 707855"/>
              <a:gd name="connsiteX2" fmla="*/ 576063 w 581828"/>
              <a:gd name="connsiteY2" fmla="*/ 366911 h 707855"/>
              <a:gd name="connsiteX3" fmla="*/ 444690 w 581828"/>
              <a:gd name="connsiteY3" fmla="*/ 647456 h 707855"/>
              <a:gd name="connsiteX4" fmla="*/ 142549 w 581828"/>
              <a:gd name="connsiteY4" fmla="*/ 701505 h 707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1828" h="707855">
                <a:moveTo>
                  <a:pt x="0" y="32474"/>
                </a:moveTo>
                <a:cubicBezTo>
                  <a:pt x="78040" y="44603"/>
                  <a:pt x="267828" y="0"/>
                  <a:pt x="410103" y="65393"/>
                </a:cubicBezTo>
                <a:cubicBezTo>
                  <a:pt x="558629" y="138481"/>
                  <a:pt x="570299" y="269901"/>
                  <a:pt x="576063" y="366911"/>
                </a:cubicBezTo>
                <a:cubicBezTo>
                  <a:pt x="581828" y="463922"/>
                  <a:pt x="563550" y="556594"/>
                  <a:pt x="444690" y="647456"/>
                </a:cubicBezTo>
                <a:cubicBezTo>
                  <a:pt x="348680" y="699729"/>
                  <a:pt x="317174" y="707855"/>
                  <a:pt x="142549" y="701505"/>
                </a:cubicBezTo>
              </a:path>
            </a:pathLst>
          </a:cu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63" name="グループ化 162"/>
          <p:cNvGrpSpPr/>
          <p:nvPr/>
        </p:nvGrpSpPr>
        <p:grpSpPr>
          <a:xfrm flipH="1">
            <a:off x="5148064" y="4797152"/>
            <a:ext cx="288032" cy="720080"/>
            <a:chOff x="3419872" y="1916832"/>
            <a:chExt cx="432048" cy="1080120"/>
          </a:xfrm>
        </p:grpSpPr>
        <p:sp>
          <p:nvSpPr>
            <p:cNvPr id="164" name="円/楕円 163"/>
            <p:cNvSpPr/>
            <p:nvPr/>
          </p:nvSpPr>
          <p:spPr>
            <a:xfrm>
              <a:off x="3474628" y="1916832"/>
              <a:ext cx="288032" cy="27365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65" name="直線コネクタ 164"/>
            <p:cNvCxnSpPr>
              <a:stCxn id="164" idx="4"/>
            </p:cNvCxnSpPr>
            <p:nvPr/>
          </p:nvCxnSpPr>
          <p:spPr>
            <a:xfrm flipH="1">
              <a:off x="3546638" y="2190486"/>
              <a:ext cx="72006" cy="518434"/>
            </a:xfrm>
            <a:prstGeom prst="line">
              <a:avLst/>
            </a:prstGeom>
            <a:ln w="10160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直線コネクタ 165"/>
            <p:cNvCxnSpPr/>
            <p:nvPr/>
          </p:nvCxnSpPr>
          <p:spPr>
            <a:xfrm>
              <a:off x="3579690" y="2636912"/>
              <a:ext cx="200222" cy="360040"/>
            </a:xfrm>
            <a:prstGeom prst="line">
              <a:avLst/>
            </a:prstGeom>
            <a:ln w="10160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直線コネクタ 166"/>
            <p:cNvCxnSpPr/>
            <p:nvPr/>
          </p:nvCxnSpPr>
          <p:spPr>
            <a:xfrm flipH="1">
              <a:off x="3419872" y="2636912"/>
              <a:ext cx="144016" cy="360040"/>
            </a:xfrm>
            <a:prstGeom prst="line">
              <a:avLst/>
            </a:prstGeom>
            <a:ln w="10160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線コネクタ 167"/>
            <p:cNvCxnSpPr/>
            <p:nvPr/>
          </p:nvCxnSpPr>
          <p:spPr>
            <a:xfrm>
              <a:off x="3618644" y="2256620"/>
              <a:ext cx="233276" cy="164268"/>
            </a:xfrm>
            <a:prstGeom prst="line">
              <a:avLst/>
            </a:prstGeom>
            <a:ln w="10160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テキスト ボックス 1"/>
          <p:cNvSpPr txBox="1"/>
          <p:nvPr/>
        </p:nvSpPr>
        <p:spPr>
          <a:xfrm>
            <a:off x="539552" y="404664"/>
            <a:ext cx="4373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部材の供給方式による表現</a:t>
            </a:r>
            <a:endParaRPr kumimoji="1" lang="ja-JP" altLang="en-US" sz="2800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539552" y="1196752"/>
            <a:ext cx="817082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ja-JP" altLang="en-US" sz="2400" dirty="0"/>
              <a:t>キット</a:t>
            </a:r>
            <a:r>
              <a:rPr lang="ja-JP" altLang="en-US" sz="2400"/>
              <a:t>配膳方式</a:t>
            </a:r>
            <a:br>
              <a:rPr lang="en-US" altLang="ja-JP"/>
            </a:br>
            <a:r>
              <a:rPr lang="en-US" altLang="ja-JP" dirty="0"/>
              <a:t>	</a:t>
            </a:r>
            <a:r>
              <a:rPr lang="ja-JP" altLang="en-US" dirty="0"/>
              <a:t>計画に基づき、所要台数分の部材一式が一度に現場に投入される方式。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539552" y="3645024"/>
            <a:ext cx="786785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ja-JP" altLang="en-US" sz="2400"/>
              <a:t>カンバン方式</a:t>
            </a:r>
            <a:br>
              <a:rPr lang="en-US" altLang="ja-JP" dirty="0"/>
            </a:br>
            <a:r>
              <a:rPr lang="en-US" altLang="ja-JP" dirty="0"/>
              <a:t>	</a:t>
            </a:r>
            <a:r>
              <a:rPr lang="ja-JP" altLang="en-US" dirty="0"/>
              <a:t>計画に基づく</a:t>
            </a:r>
            <a:r>
              <a:rPr lang="ja-JP" altLang="en-US"/>
              <a:t>作業で、部材が無くなりそうなタイミングで供給する方式。</a:t>
            </a:r>
            <a:br>
              <a:rPr lang="en-US" altLang="ja-JP" dirty="0"/>
            </a:br>
            <a:r>
              <a:rPr lang="en-US" altLang="ja-JP"/>
              <a:t>	</a:t>
            </a:r>
            <a:r>
              <a:rPr lang="ja-JP" altLang="en-US"/>
              <a:t>無くなりそうなタイミング</a:t>
            </a:r>
            <a:r>
              <a:rPr lang="ja-JP" altLang="en-US" dirty="0"/>
              <a:t>は“</a:t>
            </a:r>
            <a:r>
              <a:rPr lang="ja-JP" altLang="en-US"/>
              <a:t>カンバン”発行で行う</a:t>
            </a:r>
            <a:r>
              <a:rPr lang="ja-JP" altLang="en-US" dirty="0"/>
              <a:t>。</a:t>
            </a:r>
            <a:endParaRPr kumimoji="1" lang="ja-JP" altLang="en-US" dirty="0"/>
          </a:p>
        </p:txBody>
      </p:sp>
      <p:grpSp>
        <p:nvGrpSpPr>
          <p:cNvPr id="142" name="グループ化 141"/>
          <p:cNvGrpSpPr/>
          <p:nvPr/>
        </p:nvGrpSpPr>
        <p:grpSpPr>
          <a:xfrm>
            <a:off x="5579662" y="2060848"/>
            <a:ext cx="1512618" cy="1008112"/>
            <a:chOff x="5579662" y="2060848"/>
            <a:chExt cx="1512618" cy="1008112"/>
          </a:xfrm>
        </p:grpSpPr>
        <p:sp>
          <p:nvSpPr>
            <p:cNvPr id="80" name="月 79"/>
            <p:cNvSpPr/>
            <p:nvPr/>
          </p:nvSpPr>
          <p:spPr>
            <a:xfrm rot="5400000">
              <a:off x="6178425" y="1761466"/>
              <a:ext cx="299382" cy="898145"/>
            </a:xfrm>
            <a:prstGeom prst="mo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" name="円/楕円 80"/>
            <p:cNvSpPr/>
            <p:nvPr/>
          </p:nvSpPr>
          <p:spPr>
            <a:xfrm>
              <a:off x="6178425" y="2060848"/>
              <a:ext cx="299382" cy="29938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" name="正方形/長方形 82"/>
            <p:cNvSpPr/>
            <p:nvPr/>
          </p:nvSpPr>
          <p:spPr>
            <a:xfrm>
              <a:off x="6122992" y="2478501"/>
              <a:ext cx="449073" cy="299382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" name="正方形/長方形 83"/>
            <p:cNvSpPr/>
            <p:nvPr/>
          </p:nvSpPr>
          <p:spPr>
            <a:xfrm>
              <a:off x="5729353" y="2887850"/>
              <a:ext cx="1252960" cy="181110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6" name="正方形/長方形 85"/>
            <p:cNvSpPr/>
            <p:nvPr/>
          </p:nvSpPr>
          <p:spPr>
            <a:xfrm rot="16200000">
              <a:off x="6690336" y="2407358"/>
              <a:ext cx="654197" cy="149691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8" name="正方形/長方形 87"/>
            <p:cNvSpPr/>
            <p:nvPr/>
          </p:nvSpPr>
          <p:spPr>
            <a:xfrm rot="16200000">
              <a:off x="5327409" y="2407360"/>
              <a:ext cx="654197" cy="149691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34" name="グループ化 133"/>
          <p:cNvGrpSpPr/>
          <p:nvPr/>
        </p:nvGrpSpPr>
        <p:grpSpPr>
          <a:xfrm>
            <a:off x="4034760" y="2204864"/>
            <a:ext cx="792088" cy="840281"/>
            <a:chOff x="3851920" y="2204864"/>
            <a:chExt cx="792088" cy="840281"/>
          </a:xfrm>
        </p:grpSpPr>
        <p:sp>
          <p:nvSpPr>
            <p:cNvPr id="105" name="正方形/長方形 104"/>
            <p:cNvSpPr/>
            <p:nvPr/>
          </p:nvSpPr>
          <p:spPr>
            <a:xfrm>
              <a:off x="3851920" y="2204864"/>
              <a:ext cx="792088" cy="7200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9" name="正方形/長方形 88"/>
            <p:cNvSpPr/>
            <p:nvPr/>
          </p:nvSpPr>
          <p:spPr>
            <a:xfrm>
              <a:off x="3923928" y="2276872"/>
              <a:ext cx="654197" cy="149691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2" name="正方形/長方形 101"/>
            <p:cNvSpPr/>
            <p:nvPr/>
          </p:nvSpPr>
          <p:spPr>
            <a:xfrm>
              <a:off x="3923928" y="2492896"/>
              <a:ext cx="654197" cy="149691"/>
            </a:xfrm>
            <a:prstGeom prst="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4" name="正方形/長方形 103"/>
            <p:cNvSpPr/>
            <p:nvPr/>
          </p:nvSpPr>
          <p:spPr>
            <a:xfrm>
              <a:off x="3923928" y="2708920"/>
              <a:ext cx="654197" cy="149691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8" name="円/楕円 107"/>
            <p:cNvSpPr/>
            <p:nvPr/>
          </p:nvSpPr>
          <p:spPr>
            <a:xfrm>
              <a:off x="3920396" y="2924944"/>
              <a:ext cx="120201" cy="1202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9" name="円/楕円 108"/>
            <p:cNvSpPr/>
            <p:nvPr/>
          </p:nvSpPr>
          <p:spPr>
            <a:xfrm>
              <a:off x="4427984" y="2924944"/>
              <a:ext cx="120201" cy="1202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10" name="正方形/長方形 109"/>
          <p:cNvSpPr/>
          <p:nvPr/>
        </p:nvSpPr>
        <p:spPr>
          <a:xfrm>
            <a:off x="1747113" y="2060848"/>
            <a:ext cx="1283592" cy="293707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" name="正方形/長方形 110"/>
          <p:cNvSpPr/>
          <p:nvPr/>
        </p:nvSpPr>
        <p:spPr>
          <a:xfrm>
            <a:off x="1747113" y="2412341"/>
            <a:ext cx="1296144" cy="296579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" name="正方形/長方形 111"/>
          <p:cNvSpPr/>
          <p:nvPr/>
        </p:nvSpPr>
        <p:spPr>
          <a:xfrm>
            <a:off x="1747113" y="2780928"/>
            <a:ext cx="1296144" cy="28803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" name="右矢印 112"/>
          <p:cNvSpPr/>
          <p:nvPr/>
        </p:nvSpPr>
        <p:spPr>
          <a:xfrm>
            <a:off x="3226097" y="2420888"/>
            <a:ext cx="288032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4" name="右矢印 113"/>
          <p:cNvSpPr/>
          <p:nvPr/>
        </p:nvSpPr>
        <p:spPr>
          <a:xfrm>
            <a:off x="5042872" y="2420888"/>
            <a:ext cx="288032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35" name="グループ化 134"/>
          <p:cNvGrpSpPr/>
          <p:nvPr/>
        </p:nvGrpSpPr>
        <p:grpSpPr>
          <a:xfrm>
            <a:off x="3602712" y="1916832"/>
            <a:ext cx="432048" cy="1080120"/>
            <a:chOff x="3419872" y="1916832"/>
            <a:chExt cx="432048" cy="1080120"/>
          </a:xfrm>
        </p:grpSpPr>
        <p:sp>
          <p:nvSpPr>
            <p:cNvPr id="115" name="円/楕円 114"/>
            <p:cNvSpPr/>
            <p:nvPr/>
          </p:nvSpPr>
          <p:spPr>
            <a:xfrm>
              <a:off x="3474628" y="1916832"/>
              <a:ext cx="288032" cy="27365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17" name="直線コネクタ 116"/>
            <p:cNvCxnSpPr>
              <a:stCxn id="115" idx="4"/>
            </p:cNvCxnSpPr>
            <p:nvPr/>
          </p:nvCxnSpPr>
          <p:spPr>
            <a:xfrm flipH="1">
              <a:off x="3546638" y="2190486"/>
              <a:ext cx="72006" cy="518434"/>
            </a:xfrm>
            <a:prstGeom prst="line">
              <a:avLst/>
            </a:prstGeom>
            <a:ln w="10160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線コネクタ 117"/>
            <p:cNvCxnSpPr/>
            <p:nvPr/>
          </p:nvCxnSpPr>
          <p:spPr>
            <a:xfrm>
              <a:off x="3579690" y="2636912"/>
              <a:ext cx="200222" cy="360040"/>
            </a:xfrm>
            <a:prstGeom prst="line">
              <a:avLst/>
            </a:prstGeom>
            <a:ln w="10160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コネクタ 121"/>
            <p:cNvCxnSpPr/>
            <p:nvPr/>
          </p:nvCxnSpPr>
          <p:spPr>
            <a:xfrm flipH="1">
              <a:off x="3419872" y="2636912"/>
              <a:ext cx="144016" cy="360040"/>
            </a:xfrm>
            <a:prstGeom prst="line">
              <a:avLst/>
            </a:prstGeom>
            <a:ln w="10160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線コネクタ 127"/>
            <p:cNvCxnSpPr/>
            <p:nvPr/>
          </p:nvCxnSpPr>
          <p:spPr>
            <a:xfrm>
              <a:off x="3618644" y="2256620"/>
              <a:ext cx="233276" cy="164268"/>
            </a:xfrm>
            <a:prstGeom prst="line">
              <a:avLst/>
            </a:prstGeom>
            <a:ln w="10160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6" name="月 135"/>
          <p:cNvSpPr/>
          <p:nvPr/>
        </p:nvSpPr>
        <p:spPr>
          <a:xfrm rot="5400000">
            <a:off x="6178425" y="4619535"/>
            <a:ext cx="299382" cy="898145"/>
          </a:xfrm>
          <a:prstGeom prst="mo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7" name="円/楕円 136"/>
          <p:cNvSpPr/>
          <p:nvPr/>
        </p:nvSpPr>
        <p:spPr>
          <a:xfrm>
            <a:off x="6178425" y="4918917"/>
            <a:ext cx="299382" cy="2993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8" name="正方形/長方形 137"/>
          <p:cNvSpPr/>
          <p:nvPr/>
        </p:nvSpPr>
        <p:spPr>
          <a:xfrm>
            <a:off x="6122992" y="5336570"/>
            <a:ext cx="449073" cy="29938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9" name="正方形/長方形 138"/>
          <p:cNvSpPr/>
          <p:nvPr/>
        </p:nvSpPr>
        <p:spPr>
          <a:xfrm>
            <a:off x="5729353" y="5745919"/>
            <a:ext cx="354815" cy="18111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0" name="正方形/長方形 139"/>
          <p:cNvSpPr/>
          <p:nvPr/>
        </p:nvSpPr>
        <p:spPr>
          <a:xfrm rot="16200000">
            <a:off x="6978370" y="5553458"/>
            <a:ext cx="78130" cy="149691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1" name="正方形/長方形 140"/>
          <p:cNvSpPr/>
          <p:nvPr/>
        </p:nvSpPr>
        <p:spPr>
          <a:xfrm rot="16200000">
            <a:off x="5576826" y="5520069"/>
            <a:ext cx="150140" cy="144466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3" name="正方形/長方形 142"/>
          <p:cNvSpPr/>
          <p:nvPr/>
        </p:nvSpPr>
        <p:spPr>
          <a:xfrm rot="16200000">
            <a:off x="5576826" y="5304045"/>
            <a:ext cx="150140" cy="144466"/>
          </a:xfrm>
          <a:prstGeom prst="rect">
            <a:avLst/>
          </a:prstGeom>
          <a:noFill/>
          <a:ln>
            <a:solidFill>
              <a:srgbClr val="92D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4" name="正方形/長方形 143"/>
          <p:cNvSpPr/>
          <p:nvPr/>
        </p:nvSpPr>
        <p:spPr>
          <a:xfrm rot="16200000">
            <a:off x="6978369" y="5409445"/>
            <a:ext cx="78131" cy="149691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6" name="正方形/長方形 145"/>
          <p:cNvSpPr/>
          <p:nvPr/>
        </p:nvSpPr>
        <p:spPr>
          <a:xfrm>
            <a:off x="6156176" y="5745919"/>
            <a:ext cx="354815" cy="18111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7" name="正方形/長方形 146"/>
          <p:cNvSpPr/>
          <p:nvPr/>
        </p:nvSpPr>
        <p:spPr>
          <a:xfrm>
            <a:off x="6588224" y="5745919"/>
            <a:ext cx="354815" cy="18111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8" name="正方形/長方形 147"/>
          <p:cNvSpPr/>
          <p:nvPr/>
        </p:nvSpPr>
        <p:spPr>
          <a:xfrm rot="16200000">
            <a:off x="6978369" y="5265428"/>
            <a:ext cx="78131" cy="149691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9" name="正方形/長方形 148"/>
          <p:cNvSpPr/>
          <p:nvPr/>
        </p:nvSpPr>
        <p:spPr>
          <a:xfrm rot="16200000">
            <a:off x="6978369" y="5121412"/>
            <a:ext cx="78131" cy="149691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0" name="大波 149"/>
          <p:cNvSpPr/>
          <p:nvPr/>
        </p:nvSpPr>
        <p:spPr>
          <a:xfrm>
            <a:off x="4644008" y="4941168"/>
            <a:ext cx="504056" cy="360040"/>
          </a:xfrm>
          <a:prstGeom prst="wav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/>
          <a:lstStyle/>
          <a:p>
            <a:pPr algn="ctr"/>
            <a:r>
              <a:rPr kumimoji="1" lang="ja-JP" altLang="en-US" sz="1100" dirty="0"/>
              <a:t>カンバン</a:t>
            </a:r>
          </a:p>
        </p:txBody>
      </p:sp>
      <p:grpSp>
        <p:nvGrpSpPr>
          <p:cNvPr id="151" name="グループ化 150"/>
          <p:cNvGrpSpPr/>
          <p:nvPr/>
        </p:nvGrpSpPr>
        <p:grpSpPr>
          <a:xfrm>
            <a:off x="3818016" y="5301208"/>
            <a:ext cx="288032" cy="720080"/>
            <a:chOff x="3419872" y="1916832"/>
            <a:chExt cx="432048" cy="1080120"/>
          </a:xfrm>
        </p:grpSpPr>
        <p:sp>
          <p:nvSpPr>
            <p:cNvPr id="152" name="円/楕円 151"/>
            <p:cNvSpPr/>
            <p:nvPr/>
          </p:nvSpPr>
          <p:spPr>
            <a:xfrm>
              <a:off x="3474628" y="1916832"/>
              <a:ext cx="288032" cy="27365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53" name="直線コネクタ 152"/>
            <p:cNvCxnSpPr>
              <a:stCxn id="152" idx="4"/>
            </p:cNvCxnSpPr>
            <p:nvPr/>
          </p:nvCxnSpPr>
          <p:spPr>
            <a:xfrm flipH="1">
              <a:off x="3546638" y="2190486"/>
              <a:ext cx="72006" cy="518434"/>
            </a:xfrm>
            <a:prstGeom prst="line">
              <a:avLst/>
            </a:prstGeom>
            <a:ln w="10160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線コネクタ 153"/>
            <p:cNvCxnSpPr/>
            <p:nvPr/>
          </p:nvCxnSpPr>
          <p:spPr>
            <a:xfrm>
              <a:off x="3579690" y="2636912"/>
              <a:ext cx="200222" cy="360040"/>
            </a:xfrm>
            <a:prstGeom prst="line">
              <a:avLst/>
            </a:prstGeom>
            <a:ln w="10160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線コネクタ 154"/>
            <p:cNvCxnSpPr/>
            <p:nvPr/>
          </p:nvCxnSpPr>
          <p:spPr>
            <a:xfrm flipH="1">
              <a:off x="3419872" y="2636912"/>
              <a:ext cx="144016" cy="360040"/>
            </a:xfrm>
            <a:prstGeom prst="line">
              <a:avLst/>
            </a:prstGeom>
            <a:ln w="10160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線コネクタ 155"/>
            <p:cNvCxnSpPr/>
            <p:nvPr/>
          </p:nvCxnSpPr>
          <p:spPr>
            <a:xfrm>
              <a:off x="3618644" y="2256620"/>
              <a:ext cx="233276" cy="164268"/>
            </a:xfrm>
            <a:prstGeom prst="line">
              <a:avLst/>
            </a:prstGeom>
            <a:ln w="101600" cap="rnd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9" name="正方形/長方形 168"/>
          <p:cNvSpPr/>
          <p:nvPr/>
        </p:nvSpPr>
        <p:spPr>
          <a:xfrm rot="16200000">
            <a:off x="4137115" y="5520069"/>
            <a:ext cx="150140" cy="144466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1" name="カギ線コネクタ 170"/>
          <p:cNvCxnSpPr>
            <a:stCxn id="143" idx="3"/>
            <a:endCxn id="150" idx="3"/>
          </p:cNvCxnSpPr>
          <p:nvPr/>
        </p:nvCxnSpPr>
        <p:spPr>
          <a:xfrm rot="16200000" flipV="1">
            <a:off x="5309970" y="4959282"/>
            <a:ext cx="180020" cy="503832"/>
          </a:xfrm>
          <a:prstGeom prst="bentConnector2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正方形/長方形 172"/>
          <p:cNvSpPr/>
          <p:nvPr/>
        </p:nvSpPr>
        <p:spPr>
          <a:xfrm>
            <a:off x="1747113" y="5013176"/>
            <a:ext cx="1283592" cy="293707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4" name="正方形/長方形 173"/>
          <p:cNvSpPr/>
          <p:nvPr/>
        </p:nvSpPr>
        <p:spPr>
          <a:xfrm>
            <a:off x="1747113" y="5364669"/>
            <a:ext cx="1296144" cy="296579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5" name="正方形/長方形 174"/>
          <p:cNvSpPr/>
          <p:nvPr/>
        </p:nvSpPr>
        <p:spPr>
          <a:xfrm>
            <a:off x="1747113" y="5733256"/>
            <a:ext cx="1296144" cy="28803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6" name="正方形/長方形 175"/>
          <p:cNvSpPr/>
          <p:nvPr/>
        </p:nvSpPr>
        <p:spPr>
          <a:xfrm rot="16200000">
            <a:off x="3201011" y="5016013"/>
            <a:ext cx="150140" cy="144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7" name="正方形/長方形 176"/>
          <p:cNvSpPr/>
          <p:nvPr/>
        </p:nvSpPr>
        <p:spPr>
          <a:xfrm rot="16200000">
            <a:off x="2884401" y="5016013"/>
            <a:ext cx="150140" cy="144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8" name="右矢印 177"/>
          <p:cNvSpPr/>
          <p:nvPr/>
        </p:nvSpPr>
        <p:spPr>
          <a:xfrm>
            <a:off x="3226097" y="5445224"/>
            <a:ext cx="288032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0" name="円/楕円 179"/>
          <p:cNvSpPr/>
          <p:nvPr/>
        </p:nvSpPr>
        <p:spPr>
          <a:xfrm flipH="1">
            <a:off x="4904662" y="3068960"/>
            <a:ext cx="144016" cy="13682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1" name="直線コネクタ 180"/>
          <p:cNvCxnSpPr>
            <a:stCxn id="180" idx="4"/>
          </p:cNvCxnSpPr>
          <p:nvPr/>
        </p:nvCxnSpPr>
        <p:spPr>
          <a:xfrm>
            <a:off x="4976670" y="3205787"/>
            <a:ext cx="36003" cy="259217"/>
          </a:xfrm>
          <a:prstGeom prst="line">
            <a:avLst/>
          </a:prstGeom>
          <a:ln w="635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線コネクタ 181"/>
          <p:cNvCxnSpPr/>
          <p:nvPr/>
        </p:nvCxnSpPr>
        <p:spPr>
          <a:xfrm flipH="1">
            <a:off x="4896036" y="3429000"/>
            <a:ext cx="100111" cy="180020"/>
          </a:xfrm>
          <a:prstGeom prst="line">
            <a:avLst/>
          </a:prstGeom>
          <a:ln w="635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線コネクタ 182"/>
          <p:cNvCxnSpPr/>
          <p:nvPr/>
        </p:nvCxnSpPr>
        <p:spPr>
          <a:xfrm>
            <a:off x="5004048" y="3429000"/>
            <a:ext cx="72008" cy="180020"/>
          </a:xfrm>
          <a:prstGeom prst="line">
            <a:avLst/>
          </a:prstGeom>
          <a:ln w="635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線コネクタ 183"/>
          <p:cNvCxnSpPr/>
          <p:nvPr/>
        </p:nvCxnSpPr>
        <p:spPr>
          <a:xfrm flipH="1">
            <a:off x="4860032" y="3238854"/>
            <a:ext cx="116638" cy="82134"/>
          </a:xfrm>
          <a:prstGeom prst="line">
            <a:avLst/>
          </a:prstGeom>
          <a:ln w="635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グループ化 191"/>
          <p:cNvGrpSpPr/>
          <p:nvPr/>
        </p:nvGrpSpPr>
        <p:grpSpPr>
          <a:xfrm>
            <a:off x="4341687" y="3171847"/>
            <a:ext cx="475478" cy="504407"/>
            <a:chOff x="3995936" y="2924944"/>
            <a:chExt cx="792088" cy="840281"/>
          </a:xfrm>
        </p:grpSpPr>
        <p:sp>
          <p:nvSpPr>
            <p:cNvPr id="186" name="正方形/長方形 185"/>
            <p:cNvSpPr/>
            <p:nvPr/>
          </p:nvSpPr>
          <p:spPr>
            <a:xfrm>
              <a:off x="3995936" y="2924944"/>
              <a:ext cx="792088" cy="72008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0" name="円/楕円 189"/>
            <p:cNvSpPr/>
            <p:nvPr/>
          </p:nvSpPr>
          <p:spPr>
            <a:xfrm>
              <a:off x="4064412" y="3645024"/>
              <a:ext cx="120201" cy="1202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1" name="円/楕円 190"/>
            <p:cNvSpPr/>
            <p:nvPr/>
          </p:nvSpPr>
          <p:spPr>
            <a:xfrm>
              <a:off x="4572000" y="3645024"/>
              <a:ext cx="120201" cy="12020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94" name="テキスト ボックス 193"/>
          <p:cNvSpPr txBox="1"/>
          <p:nvPr/>
        </p:nvSpPr>
        <p:spPr>
          <a:xfrm>
            <a:off x="1835696" y="306896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部品倉庫</a:t>
            </a:r>
          </a:p>
        </p:txBody>
      </p:sp>
      <p:sp>
        <p:nvSpPr>
          <p:cNvPr id="195" name="テキスト ボックス 194"/>
          <p:cNvSpPr txBox="1"/>
          <p:nvPr/>
        </p:nvSpPr>
        <p:spPr>
          <a:xfrm>
            <a:off x="1403648" y="6021288"/>
            <a:ext cx="2249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部品倉庫・現場ストア</a:t>
            </a:r>
          </a:p>
        </p:txBody>
      </p:sp>
      <p:sp>
        <p:nvSpPr>
          <p:cNvPr id="196" name="フリーフォーム 195"/>
          <p:cNvSpPr/>
          <p:nvPr/>
        </p:nvSpPr>
        <p:spPr>
          <a:xfrm>
            <a:off x="4894560" y="2687112"/>
            <a:ext cx="581828" cy="352269"/>
          </a:xfrm>
          <a:custGeom>
            <a:avLst/>
            <a:gdLst>
              <a:gd name="connsiteX0" fmla="*/ 0 w 533400"/>
              <a:gd name="connsiteY0" fmla="*/ 0 h 523875"/>
              <a:gd name="connsiteX1" fmla="*/ 514350 w 533400"/>
              <a:gd name="connsiteY1" fmla="*/ 19050 h 523875"/>
              <a:gd name="connsiteX2" fmla="*/ 533400 w 533400"/>
              <a:gd name="connsiteY2" fmla="*/ 523875 h 523875"/>
              <a:gd name="connsiteX3" fmla="*/ 9525 w 533400"/>
              <a:gd name="connsiteY3" fmla="*/ 504825 h 523875"/>
              <a:gd name="connsiteX0" fmla="*/ 0 w 617538"/>
              <a:gd name="connsiteY0" fmla="*/ 68263 h 592138"/>
              <a:gd name="connsiteX1" fmla="*/ 514350 w 617538"/>
              <a:gd name="connsiteY1" fmla="*/ 87313 h 592138"/>
              <a:gd name="connsiteX2" fmla="*/ 533400 w 617538"/>
              <a:gd name="connsiteY2" fmla="*/ 592138 h 592138"/>
              <a:gd name="connsiteX3" fmla="*/ 9525 w 617538"/>
              <a:gd name="connsiteY3" fmla="*/ 573088 h 592138"/>
              <a:gd name="connsiteX0" fmla="*/ 0 w 617538"/>
              <a:gd name="connsiteY0" fmla="*/ 68263 h 673101"/>
              <a:gd name="connsiteX1" fmla="*/ 514350 w 617538"/>
              <a:gd name="connsiteY1" fmla="*/ 87313 h 673101"/>
              <a:gd name="connsiteX2" fmla="*/ 533400 w 617538"/>
              <a:gd name="connsiteY2" fmla="*/ 592138 h 673101"/>
              <a:gd name="connsiteX3" fmla="*/ 9525 w 617538"/>
              <a:gd name="connsiteY3" fmla="*/ 573088 h 673101"/>
              <a:gd name="connsiteX0" fmla="*/ 0 w 624384"/>
              <a:gd name="connsiteY0" fmla="*/ 53086 h 566866"/>
              <a:gd name="connsiteX1" fmla="*/ 514350 w 624384"/>
              <a:gd name="connsiteY1" fmla="*/ 72136 h 566866"/>
              <a:gd name="connsiteX2" fmla="*/ 540246 w 624384"/>
              <a:gd name="connsiteY2" fmla="*/ 485903 h 566866"/>
              <a:gd name="connsiteX3" fmla="*/ 9525 w 624384"/>
              <a:gd name="connsiteY3" fmla="*/ 557911 h 566866"/>
              <a:gd name="connsiteX0" fmla="*/ 0 w 616698"/>
              <a:gd name="connsiteY0" fmla="*/ 0 h 511175"/>
              <a:gd name="connsiteX1" fmla="*/ 468238 w 616698"/>
              <a:gd name="connsiteY1" fmla="*/ 72776 h 511175"/>
              <a:gd name="connsiteX2" fmla="*/ 540246 w 616698"/>
              <a:gd name="connsiteY2" fmla="*/ 432817 h 511175"/>
              <a:gd name="connsiteX3" fmla="*/ 9525 w 616698"/>
              <a:gd name="connsiteY3" fmla="*/ 504825 h 511175"/>
              <a:gd name="connsiteX0" fmla="*/ 0 w 632321"/>
              <a:gd name="connsiteY0" fmla="*/ 0 h 511175"/>
              <a:gd name="connsiteX1" fmla="*/ 468238 w 632321"/>
              <a:gd name="connsiteY1" fmla="*/ 72776 h 511175"/>
              <a:gd name="connsiteX2" fmla="*/ 561975 w 632321"/>
              <a:gd name="connsiteY2" fmla="*/ 219075 h 511175"/>
              <a:gd name="connsiteX3" fmla="*/ 540246 w 632321"/>
              <a:gd name="connsiteY3" fmla="*/ 432817 h 511175"/>
              <a:gd name="connsiteX4" fmla="*/ 9525 w 632321"/>
              <a:gd name="connsiteY4" fmla="*/ 504825 h 511175"/>
              <a:gd name="connsiteX0" fmla="*/ 0 w 640701"/>
              <a:gd name="connsiteY0" fmla="*/ 0 h 511175"/>
              <a:gd name="connsiteX1" fmla="*/ 468238 w 640701"/>
              <a:gd name="connsiteY1" fmla="*/ 72776 h 511175"/>
              <a:gd name="connsiteX2" fmla="*/ 612254 w 640701"/>
              <a:gd name="connsiteY2" fmla="*/ 216793 h 511175"/>
              <a:gd name="connsiteX3" fmla="*/ 540246 w 640701"/>
              <a:gd name="connsiteY3" fmla="*/ 432817 h 511175"/>
              <a:gd name="connsiteX4" fmla="*/ 9525 w 640701"/>
              <a:gd name="connsiteY4" fmla="*/ 504825 h 511175"/>
              <a:gd name="connsiteX0" fmla="*/ 0 w 624255"/>
              <a:gd name="connsiteY0" fmla="*/ 0 h 552830"/>
              <a:gd name="connsiteX1" fmla="*/ 468238 w 624255"/>
              <a:gd name="connsiteY1" fmla="*/ 72776 h 552830"/>
              <a:gd name="connsiteX2" fmla="*/ 612254 w 624255"/>
              <a:gd name="connsiteY2" fmla="*/ 216793 h 552830"/>
              <a:gd name="connsiteX3" fmla="*/ 396230 w 624255"/>
              <a:gd name="connsiteY3" fmla="*/ 504825 h 552830"/>
              <a:gd name="connsiteX4" fmla="*/ 9525 w 624255"/>
              <a:gd name="connsiteY4" fmla="*/ 504825 h 552830"/>
              <a:gd name="connsiteX0" fmla="*/ 35818 w 660073"/>
              <a:gd name="connsiteY0" fmla="*/ 0 h 583182"/>
              <a:gd name="connsiteX1" fmla="*/ 504056 w 660073"/>
              <a:gd name="connsiteY1" fmla="*/ 72776 h 583182"/>
              <a:gd name="connsiteX2" fmla="*/ 648072 w 660073"/>
              <a:gd name="connsiteY2" fmla="*/ 216793 h 583182"/>
              <a:gd name="connsiteX3" fmla="*/ 432048 w 660073"/>
              <a:gd name="connsiteY3" fmla="*/ 504825 h 583182"/>
              <a:gd name="connsiteX4" fmla="*/ 0 w 660073"/>
              <a:gd name="connsiteY4" fmla="*/ 576832 h 583182"/>
              <a:gd name="connsiteX0" fmla="*/ 41850 w 666105"/>
              <a:gd name="connsiteY0" fmla="*/ 83369 h 666551"/>
              <a:gd name="connsiteX1" fmla="*/ 78040 w 666105"/>
              <a:gd name="connsiteY1" fmla="*/ 12129 h 666551"/>
              <a:gd name="connsiteX2" fmla="*/ 510088 w 666105"/>
              <a:gd name="connsiteY2" fmla="*/ 156145 h 666551"/>
              <a:gd name="connsiteX3" fmla="*/ 654104 w 666105"/>
              <a:gd name="connsiteY3" fmla="*/ 300162 h 666551"/>
              <a:gd name="connsiteX4" fmla="*/ 438080 w 666105"/>
              <a:gd name="connsiteY4" fmla="*/ 588194 h 666551"/>
              <a:gd name="connsiteX5" fmla="*/ 6032 w 666105"/>
              <a:gd name="connsiteY5" fmla="*/ 660201 h 666551"/>
              <a:gd name="connsiteX0" fmla="*/ 72008 w 660073"/>
              <a:gd name="connsiteY0" fmla="*/ 0 h 654422"/>
              <a:gd name="connsiteX1" fmla="*/ 504056 w 660073"/>
              <a:gd name="connsiteY1" fmla="*/ 144016 h 654422"/>
              <a:gd name="connsiteX2" fmla="*/ 648072 w 660073"/>
              <a:gd name="connsiteY2" fmla="*/ 288033 h 654422"/>
              <a:gd name="connsiteX3" fmla="*/ 432048 w 660073"/>
              <a:gd name="connsiteY3" fmla="*/ 576065 h 654422"/>
              <a:gd name="connsiteX4" fmla="*/ 0 w 660073"/>
              <a:gd name="connsiteY4" fmla="*/ 648072 h 654422"/>
              <a:gd name="connsiteX0" fmla="*/ 0 w 588065"/>
              <a:gd name="connsiteY0" fmla="*/ 0 h 654422"/>
              <a:gd name="connsiteX1" fmla="*/ 432048 w 588065"/>
              <a:gd name="connsiteY1" fmla="*/ 144016 h 654422"/>
              <a:gd name="connsiteX2" fmla="*/ 576064 w 588065"/>
              <a:gd name="connsiteY2" fmla="*/ 288033 h 654422"/>
              <a:gd name="connsiteX3" fmla="*/ 360040 w 588065"/>
              <a:gd name="connsiteY3" fmla="*/ 576065 h 654422"/>
              <a:gd name="connsiteX4" fmla="*/ 0 w 588065"/>
              <a:gd name="connsiteY4" fmla="*/ 648072 h 654422"/>
              <a:gd name="connsiteX0" fmla="*/ 0 w 588065"/>
              <a:gd name="connsiteY0" fmla="*/ 36132 h 690554"/>
              <a:gd name="connsiteX1" fmla="*/ 432048 w 588065"/>
              <a:gd name="connsiteY1" fmla="*/ 36132 h 690554"/>
              <a:gd name="connsiteX2" fmla="*/ 576064 w 588065"/>
              <a:gd name="connsiteY2" fmla="*/ 324165 h 690554"/>
              <a:gd name="connsiteX3" fmla="*/ 360040 w 588065"/>
              <a:gd name="connsiteY3" fmla="*/ 612197 h 690554"/>
              <a:gd name="connsiteX4" fmla="*/ 0 w 588065"/>
              <a:gd name="connsiteY4" fmla="*/ 684204 h 690554"/>
              <a:gd name="connsiteX0" fmla="*/ 0 w 576064"/>
              <a:gd name="connsiteY0" fmla="*/ 36132 h 744210"/>
              <a:gd name="connsiteX1" fmla="*/ 432048 w 576064"/>
              <a:gd name="connsiteY1" fmla="*/ 36132 h 744210"/>
              <a:gd name="connsiteX2" fmla="*/ 576064 w 576064"/>
              <a:gd name="connsiteY2" fmla="*/ 324165 h 744210"/>
              <a:gd name="connsiteX3" fmla="*/ 432048 w 576064"/>
              <a:gd name="connsiteY3" fmla="*/ 684204 h 744210"/>
              <a:gd name="connsiteX4" fmla="*/ 0 w 576064"/>
              <a:gd name="connsiteY4" fmla="*/ 684204 h 744210"/>
              <a:gd name="connsiteX0" fmla="*/ 0 w 576064"/>
              <a:gd name="connsiteY0" fmla="*/ 36132 h 690554"/>
              <a:gd name="connsiteX1" fmla="*/ 432048 w 576064"/>
              <a:gd name="connsiteY1" fmla="*/ 36132 h 690554"/>
              <a:gd name="connsiteX2" fmla="*/ 576064 w 576064"/>
              <a:gd name="connsiteY2" fmla="*/ 324165 h 690554"/>
              <a:gd name="connsiteX3" fmla="*/ 432048 w 576064"/>
              <a:gd name="connsiteY3" fmla="*/ 612196 h 690554"/>
              <a:gd name="connsiteX4" fmla="*/ 0 w 576064"/>
              <a:gd name="connsiteY4" fmla="*/ 684204 h 690554"/>
              <a:gd name="connsiteX0" fmla="*/ 0 w 576064"/>
              <a:gd name="connsiteY0" fmla="*/ 0 h 654422"/>
              <a:gd name="connsiteX1" fmla="*/ 432048 w 576064"/>
              <a:gd name="connsiteY1" fmla="*/ 72008 h 654422"/>
              <a:gd name="connsiteX2" fmla="*/ 576064 w 576064"/>
              <a:gd name="connsiteY2" fmla="*/ 288033 h 654422"/>
              <a:gd name="connsiteX3" fmla="*/ 432048 w 576064"/>
              <a:gd name="connsiteY3" fmla="*/ 576064 h 654422"/>
              <a:gd name="connsiteX4" fmla="*/ 0 w 576064"/>
              <a:gd name="connsiteY4" fmla="*/ 648072 h 654422"/>
              <a:gd name="connsiteX0" fmla="*/ 0 w 576064"/>
              <a:gd name="connsiteY0" fmla="*/ 0 h 654422"/>
              <a:gd name="connsiteX1" fmla="*/ 432048 w 576064"/>
              <a:gd name="connsiteY1" fmla="*/ 72008 h 654422"/>
              <a:gd name="connsiteX2" fmla="*/ 576064 w 576064"/>
              <a:gd name="connsiteY2" fmla="*/ 360040 h 654422"/>
              <a:gd name="connsiteX3" fmla="*/ 432048 w 576064"/>
              <a:gd name="connsiteY3" fmla="*/ 576064 h 654422"/>
              <a:gd name="connsiteX4" fmla="*/ 0 w 576064"/>
              <a:gd name="connsiteY4" fmla="*/ 648072 h 654422"/>
              <a:gd name="connsiteX0" fmla="*/ 0 w 576064"/>
              <a:gd name="connsiteY0" fmla="*/ 36132 h 690554"/>
              <a:gd name="connsiteX1" fmla="*/ 432048 w 576064"/>
              <a:gd name="connsiteY1" fmla="*/ 36132 h 690554"/>
              <a:gd name="connsiteX2" fmla="*/ 576064 w 576064"/>
              <a:gd name="connsiteY2" fmla="*/ 396172 h 690554"/>
              <a:gd name="connsiteX3" fmla="*/ 432048 w 576064"/>
              <a:gd name="connsiteY3" fmla="*/ 612196 h 690554"/>
              <a:gd name="connsiteX4" fmla="*/ 0 w 576064"/>
              <a:gd name="connsiteY4" fmla="*/ 684204 h 690554"/>
              <a:gd name="connsiteX0" fmla="*/ 0 w 576064"/>
              <a:gd name="connsiteY0" fmla="*/ 36132 h 690554"/>
              <a:gd name="connsiteX1" fmla="*/ 432048 w 576064"/>
              <a:gd name="connsiteY1" fmla="*/ 36132 h 690554"/>
              <a:gd name="connsiteX2" fmla="*/ 576064 w 576064"/>
              <a:gd name="connsiteY2" fmla="*/ 396172 h 690554"/>
              <a:gd name="connsiteX3" fmla="*/ 432048 w 576064"/>
              <a:gd name="connsiteY3" fmla="*/ 612196 h 690554"/>
              <a:gd name="connsiteX4" fmla="*/ 0 w 576064"/>
              <a:gd name="connsiteY4" fmla="*/ 684204 h 690554"/>
              <a:gd name="connsiteX0" fmla="*/ 0 w 577893"/>
              <a:gd name="connsiteY0" fmla="*/ 14186 h 668608"/>
              <a:gd name="connsiteX1" fmla="*/ 421075 w 577893"/>
              <a:gd name="connsiteY1" fmla="*/ 36132 h 668608"/>
              <a:gd name="connsiteX2" fmla="*/ 576064 w 577893"/>
              <a:gd name="connsiteY2" fmla="*/ 374226 h 668608"/>
              <a:gd name="connsiteX3" fmla="*/ 432048 w 577893"/>
              <a:gd name="connsiteY3" fmla="*/ 590250 h 668608"/>
              <a:gd name="connsiteX4" fmla="*/ 0 w 577893"/>
              <a:gd name="connsiteY4" fmla="*/ 662258 h 668608"/>
              <a:gd name="connsiteX0" fmla="*/ 0 w 578502"/>
              <a:gd name="connsiteY0" fmla="*/ 14186 h 668608"/>
              <a:gd name="connsiteX1" fmla="*/ 421075 w 578502"/>
              <a:gd name="connsiteY1" fmla="*/ 36132 h 668608"/>
              <a:gd name="connsiteX2" fmla="*/ 576064 w 578502"/>
              <a:gd name="connsiteY2" fmla="*/ 374226 h 668608"/>
              <a:gd name="connsiteX3" fmla="*/ 406445 w 578502"/>
              <a:gd name="connsiteY3" fmla="*/ 601223 h 668608"/>
              <a:gd name="connsiteX4" fmla="*/ 0 w 578502"/>
              <a:gd name="connsiteY4" fmla="*/ 662258 h 668608"/>
              <a:gd name="connsiteX0" fmla="*/ 0 w 574844"/>
              <a:gd name="connsiteY0" fmla="*/ 14186 h 668608"/>
              <a:gd name="connsiteX1" fmla="*/ 421075 w 574844"/>
              <a:gd name="connsiteY1" fmla="*/ 36132 h 668608"/>
              <a:gd name="connsiteX2" fmla="*/ 572406 w 574844"/>
              <a:gd name="connsiteY2" fmla="*/ 333992 h 668608"/>
              <a:gd name="connsiteX3" fmla="*/ 406445 w 574844"/>
              <a:gd name="connsiteY3" fmla="*/ 601223 h 668608"/>
              <a:gd name="connsiteX4" fmla="*/ 0 w 574844"/>
              <a:gd name="connsiteY4" fmla="*/ 662258 h 668608"/>
              <a:gd name="connsiteX0" fmla="*/ 0 w 574844"/>
              <a:gd name="connsiteY0" fmla="*/ 14186 h 668608"/>
              <a:gd name="connsiteX1" fmla="*/ 421075 w 574844"/>
              <a:gd name="connsiteY1" fmla="*/ 36132 h 668608"/>
              <a:gd name="connsiteX2" fmla="*/ 572406 w 574844"/>
              <a:gd name="connsiteY2" fmla="*/ 333992 h 668608"/>
              <a:gd name="connsiteX3" fmla="*/ 406445 w 574844"/>
              <a:gd name="connsiteY3" fmla="*/ 601223 h 668608"/>
              <a:gd name="connsiteX4" fmla="*/ 0 w 574844"/>
              <a:gd name="connsiteY4" fmla="*/ 662258 h 668608"/>
              <a:gd name="connsiteX0" fmla="*/ 0 w 574844"/>
              <a:gd name="connsiteY0" fmla="*/ 43447 h 697869"/>
              <a:gd name="connsiteX1" fmla="*/ 421075 w 574844"/>
              <a:gd name="connsiteY1" fmla="*/ 65393 h 697869"/>
              <a:gd name="connsiteX2" fmla="*/ 572406 w 574844"/>
              <a:gd name="connsiteY2" fmla="*/ 363253 h 697869"/>
              <a:gd name="connsiteX3" fmla="*/ 406445 w 574844"/>
              <a:gd name="connsiteY3" fmla="*/ 630484 h 697869"/>
              <a:gd name="connsiteX4" fmla="*/ 0 w 574844"/>
              <a:gd name="connsiteY4" fmla="*/ 691519 h 697869"/>
              <a:gd name="connsiteX0" fmla="*/ 0 w 573016"/>
              <a:gd name="connsiteY0" fmla="*/ 32474 h 686896"/>
              <a:gd name="connsiteX1" fmla="*/ 410103 w 573016"/>
              <a:gd name="connsiteY1" fmla="*/ 65393 h 686896"/>
              <a:gd name="connsiteX2" fmla="*/ 572406 w 573016"/>
              <a:gd name="connsiteY2" fmla="*/ 352280 h 686896"/>
              <a:gd name="connsiteX3" fmla="*/ 406445 w 573016"/>
              <a:gd name="connsiteY3" fmla="*/ 619511 h 686896"/>
              <a:gd name="connsiteX4" fmla="*/ 0 w 573016"/>
              <a:gd name="connsiteY4" fmla="*/ 680546 h 686896"/>
              <a:gd name="connsiteX0" fmla="*/ 0 w 573016"/>
              <a:gd name="connsiteY0" fmla="*/ 32474 h 686896"/>
              <a:gd name="connsiteX1" fmla="*/ 410103 w 573016"/>
              <a:gd name="connsiteY1" fmla="*/ 65393 h 686896"/>
              <a:gd name="connsiteX2" fmla="*/ 572406 w 573016"/>
              <a:gd name="connsiteY2" fmla="*/ 396171 h 686896"/>
              <a:gd name="connsiteX3" fmla="*/ 406445 w 573016"/>
              <a:gd name="connsiteY3" fmla="*/ 619511 h 686896"/>
              <a:gd name="connsiteX4" fmla="*/ 0 w 573016"/>
              <a:gd name="connsiteY4" fmla="*/ 680546 h 686896"/>
              <a:gd name="connsiteX0" fmla="*/ 0 w 576673"/>
              <a:gd name="connsiteY0" fmla="*/ 32474 h 686896"/>
              <a:gd name="connsiteX1" fmla="*/ 410103 w 576673"/>
              <a:gd name="connsiteY1" fmla="*/ 65393 h 686896"/>
              <a:gd name="connsiteX2" fmla="*/ 576063 w 576673"/>
              <a:gd name="connsiteY2" fmla="*/ 366911 h 686896"/>
              <a:gd name="connsiteX3" fmla="*/ 406445 w 576673"/>
              <a:gd name="connsiteY3" fmla="*/ 619511 h 686896"/>
              <a:gd name="connsiteX4" fmla="*/ 0 w 576673"/>
              <a:gd name="connsiteY4" fmla="*/ 680546 h 686896"/>
              <a:gd name="connsiteX0" fmla="*/ 0 w 576673"/>
              <a:gd name="connsiteY0" fmla="*/ 32474 h 686896"/>
              <a:gd name="connsiteX1" fmla="*/ 410103 w 576673"/>
              <a:gd name="connsiteY1" fmla="*/ 65393 h 686896"/>
              <a:gd name="connsiteX2" fmla="*/ 576063 w 576673"/>
              <a:gd name="connsiteY2" fmla="*/ 366911 h 686896"/>
              <a:gd name="connsiteX3" fmla="*/ 406445 w 576673"/>
              <a:gd name="connsiteY3" fmla="*/ 619511 h 686896"/>
              <a:gd name="connsiteX4" fmla="*/ 0 w 576673"/>
              <a:gd name="connsiteY4" fmla="*/ 680546 h 686896"/>
              <a:gd name="connsiteX0" fmla="*/ 0 w 576673"/>
              <a:gd name="connsiteY0" fmla="*/ 32474 h 672922"/>
              <a:gd name="connsiteX1" fmla="*/ 410103 w 576673"/>
              <a:gd name="connsiteY1" fmla="*/ 65393 h 672922"/>
              <a:gd name="connsiteX2" fmla="*/ 576063 w 576673"/>
              <a:gd name="connsiteY2" fmla="*/ 366911 h 672922"/>
              <a:gd name="connsiteX3" fmla="*/ 406445 w 576673"/>
              <a:gd name="connsiteY3" fmla="*/ 619511 h 672922"/>
              <a:gd name="connsiteX4" fmla="*/ 142549 w 576673"/>
              <a:gd name="connsiteY4" fmla="*/ 666573 h 672922"/>
              <a:gd name="connsiteX0" fmla="*/ 0 w 580089"/>
              <a:gd name="connsiteY0" fmla="*/ 32474 h 678771"/>
              <a:gd name="connsiteX1" fmla="*/ 410103 w 580089"/>
              <a:gd name="connsiteY1" fmla="*/ 65393 h 678771"/>
              <a:gd name="connsiteX2" fmla="*/ 576063 w 580089"/>
              <a:gd name="connsiteY2" fmla="*/ 366911 h 678771"/>
              <a:gd name="connsiteX3" fmla="*/ 434259 w 580089"/>
              <a:gd name="connsiteY3" fmla="*/ 626498 h 678771"/>
              <a:gd name="connsiteX4" fmla="*/ 142549 w 580089"/>
              <a:gd name="connsiteY4" fmla="*/ 666573 h 678771"/>
              <a:gd name="connsiteX0" fmla="*/ 0 w 581828"/>
              <a:gd name="connsiteY0" fmla="*/ 32474 h 699729"/>
              <a:gd name="connsiteX1" fmla="*/ 410103 w 581828"/>
              <a:gd name="connsiteY1" fmla="*/ 65393 h 699729"/>
              <a:gd name="connsiteX2" fmla="*/ 576063 w 581828"/>
              <a:gd name="connsiteY2" fmla="*/ 366911 h 699729"/>
              <a:gd name="connsiteX3" fmla="*/ 444690 w 581828"/>
              <a:gd name="connsiteY3" fmla="*/ 647456 h 699729"/>
              <a:gd name="connsiteX4" fmla="*/ 142549 w 581828"/>
              <a:gd name="connsiteY4" fmla="*/ 666573 h 699729"/>
              <a:gd name="connsiteX0" fmla="*/ 0 w 581828"/>
              <a:gd name="connsiteY0" fmla="*/ 32474 h 699729"/>
              <a:gd name="connsiteX1" fmla="*/ 410103 w 581828"/>
              <a:gd name="connsiteY1" fmla="*/ 65393 h 699729"/>
              <a:gd name="connsiteX2" fmla="*/ 576063 w 581828"/>
              <a:gd name="connsiteY2" fmla="*/ 366911 h 699729"/>
              <a:gd name="connsiteX3" fmla="*/ 444690 w 581828"/>
              <a:gd name="connsiteY3" fmla="*/ 647456 h 699729"/>
              <a:gd name="connsiteX4" fmla="*/ 142549 w 581828"/>
              <a:gd name="connsiteY4" fmla="*/ 666573 h 699729"/>
              <a:gd name="connsiteX0" fmla="*/ 0 w 581828"/>
              <a:gd name="connsiteY0" fmla="*/ 32474 h 707855"/>
              <a:gd name="connsiteX1" fmla="*/ 410103 w 581828"/>
              <a:gd name="connsiteY1" fmla="*/ 65393 h 707855"/>
              <a:gd name="connsiteX2" fmla="*/ 576063 w 581828"/>
              <a:gd name="connsiteY2" fmla="*/ 366911 h 707855"/>
              <a:gd name="connsiteX3" fmla="*/ 444690 w 581828"/>
              <a:gd name="connsiteY3" fmla="*/ 647456 h 707855"/>
              <a:gd name="connsiteX4" fmla="*/ 142549 w 581828"/>
              <a:gd name="connsiteY4" fmla="*/ 701505 h 707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1828" h="707855">
                <a:moveTo>
                  <a:pt x="0" y="32474"/>
                </a:moveTo>
                <a:cubicBezTo>
                  <a:pt x="78040" y="44603"/>
                  <a:pt x="267828" y="0"/>
                  <a:pt x="410103" y="65393"/>
                </a:cubicBezTo>
                <a:cubicBezTo>
                  <a:pt x="558629" y="138481"/>
                  <a:pt x="570299" y="269901"/>
                  <a:pt x="576063" y="366911"/>
                </a:cubicBezTo>
                <a:cubicBezTo>
                  <a:pt x="581828" y="463922"/>
                  <a:pt x="563550" y="556594"/>
                  <a:pt x="444690" y="647456"/>
                </a:cubicBezTo>
                <a:cubicBezTo>
                  <a:pt x="348680" y="699729"/>
                  <a:pt x="317174" y="707855"/>
                  <a:pt x="142549" y="701505"/>
                </a:cubicBezTo>
              </a:path>
            </a:pathLst>
          </a:cu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676650" cy="849312"/>
          </a:xfrm>
        </p:spPr>
        <p:txBody>
          <a:bodyPr>
            <a:normAutofit/>
          </a:bodyPr>
          <a:lstStyle/>
          <a:p>
            <a:pPr algn="l"/>
            <a:r>
              <a:rPr kumimoji="1" lang="ja-JP" altLang="en-US" sz="2800" dirty="0"/>
              <a:t>ロット流しと１個流し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5F74E3B-AF98-4036-85BA-55A08B12526E}"/>
              </a:ext>
            </a:extLst>
          </p:cNvPr>
          <p:cNvSpPr txBox="1"/>
          <p:nvPr/>
        </p:nvSpPr>
        <p:spPr>
          <a:xfrm>
            <a:off x="539552" y="1196752"/>
            <a:ext cx="698460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ja-JP" altLang="en-US" sz="2400"/>
              <a:t>ロット流し</a:t>
            </a:r>
            <a:br>
              <a:rPr lang="en-US" altLang="ja-JP" dirty="0"/>
            </a:br>
            <a:r>
              <a:rPr lang="en-US" altLang="ja-JP"/>
              <a:t>	</a:t>
            </a:r>
            <a:r>
              <a:rPr lang="ja-JP" altLang="en-US"/>
              <a:t>工程ごとに全数の作業を完了させ、次工程に渡す生産方式。</a:t>
            </a:r>
            <a:endParaRPr lang="en-US" altLang="ja-JP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A51B1DC-7AEF-44A5-9A7E-64D5C1D7B76B}"/>
              </a:ext>
            </a:extLst>
          </p:cNvPr>
          <p:cNvSpPr txBox="1"/>
          <p:nvPr/>
        </p:nvSpPr>
        <p:spPr>
          <a:xfrm>
            <a:off x="539552" y="3429000"/>
            <a:ext cx="736611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ja-JP" altLang="en-US" sz="2400"/>
              <a:t>１個流し</a:t>
            </a:r>
            <a:br>
              <a:rPr lang="en-US" altLang="ja-JP" dirty="0"/>
            </a:br>
            <a:r>
              <a:rPr lang="en-US" altLang="ja-JP"/>
              <a:t>	</a:t>
            </a:r>
            <a:r>
              <a:rPr lang="ja-JP" altLang="en-US"/>
              <a:t>各工程で１台の作業を行い、完了したら次工程に渡す生産方式。</a:t>
            </a:r>
            <a:endParaRPr lang="en-US" altLang="ja-JP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5BC3E0D-FD4E-4B17-815B-0079F33EACE6}"/>
              </a:ext>
            </a:extLst>
          </p:cNvPr>
          <p:cNvSpPr/>
          <p:nvPr/>
        </p:nvSpPr>
        <p:spPr>
          <a:xfrm>
            <a:off x="2961526" y="2623369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5F3D3E8-DB94-4ADC-A6B0-F1E1AB2BF948}"/>
              </a:ext>
            </a:extLst>
          </p:cNvPr>
          <p:cNvSpPr/>
          <p:nvPr/>
        </p:nvSpPr>
        <p:spPr>
          <a:xfrm>
            <a:off x="3177550" y="2623369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C2E688B-4669-40FD-B7C3-C7D55699CEA9}"/>
              </a:ext>
            </a:extLst>
          </p:cNvPr>
          <p:cNvSpPr/>
          <p:nvPr/>
        </p:nvSpPr>
        <p:spPr>
          <a:xfrm>
            <a:off x="3393574" y="2623369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314C684-5860-4012-84C4-8DC9CBEE919F}"/>
              </a:ext>
            </a:extLst>
          </p:cNvPr>
          <p:cNvSpPr/>
          <p:nvPr/>
        </p:nvSpPr>
        <p:spPr>
          <a:xfrm>
            <a:off x="3285562" y="2479353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90D3318-7CA3-44B8-91B9-514CABAACAA2}"/>
              </a:ext>
            </a:extLst>
          </p:cNvPr>
          <p:cNvSpPr/>
          <p:nvPr/>
        </p:nvSpPr>
        <p:spPr>
          <a:xfrm>
            <a:off x="3069538" y="2479353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9AFF0F0-632A-4D2D-AF75-6431D8FB6648}"/>
              </a:ext>
            </a:extLst>
          </p:cNvPr>
          <p:cNvSpPr/>
          <p:nvPr/>
        </p:nvSpPr>
        <p:spPr>
          <a:xfrm>
            <a:off x="3177550" y="2320750"/>
            <a:ext cx="216024" cy="1440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8B2DFC0-DFFE-4F9D-A488-5619B384ACB5}"/>
              </a:ext>
            </a:extLst>
          </p:cNvPr>
          <p:cNvSpPr/>
          <p:nvPr/>
        </p:nvSpPr>
        <p:spPr>
          <a:xfrm>
            <a:off x="1519739" y="2623369"/>
            <a:ext cx="216024" cy="1440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60DD701-8CD7-4BC6-B3E0-931603EE4D2F}"/>
              </a:ext>
            </a:extLst>
          </p:cNvPr>
          <p:cNvSpPr/>
          <p:nvPr/>
        </p:nvSpPr>
        <p:spPr>
          <a:xfrm>
            <a:off x="1735763" y="2623369"/>
            <a:ext cx="216024" cy="1440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21771D5-7BAF-4FA2-9D37-C1CC44904646}"/>
              </a:ext>
            </a:extLst>
          </p:cNvPr>
          <p:cNvSpPr/>
          <p:nvPr/>
        </p:nvSpPr>
        <p:spPr>
          <a:xfrm>
            <a:off x="1951787" y="2623369"/>
            <a:ext cx="216024" cy="1440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7978640-62EE-48DC-88CC-5CC74EAA1E4A}"/>
              </a:ext>
            </a:extLst>
          </p:cNvPr>
          <p:cNvSpPr/>
          <p:nvPr/>
        </p:nvSpPr>
        <p:spPr>
          <a:xfrm>
            <a:off x="1843775" y="2479353"/>
            <a:ext cx="216024" cy="1440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805BAE3-9FD8-4197-830B-AC34546D15E6}"/>
              </a:ext>
            </a:extLst>
          </p:cNvPr>
          <p:cNvSpPr/>
          <p:nvPr/>
        </p:nvSpPr>
        <p:spPr>
          <a:xfrm>
            <a:off x="1627751" y="2479353"/>
            <a:ext cx="216024" cy="1440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A6DE210-8A6A-446F-B8F1-32F0F6F722CB}"/>
              </a:ext>
            </a:extLst>
          </p:cNvPr>
          <p:cNvSpPr/>
          <p:nvPr/>
        </p:nvSpPr>
        <p:spPr>
          <a:xfrm>
            <a:off x="1735763" y="2320750"/>
            <a:ext cx="216024" cy="1440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月 17">
            <a:extLst>
              <a:ext uri="{FF2B5EF4-FFF2-40B4-BE49-F238E27FC236}">
                <a16:creationId xmlns:a16="http://schemas.microsoft.com/office/drawing/2014/main" id="{E4810456-41A3-45AD-A1DD-F1DD5CF28A7D}"/>
              </a:ext>
            </a:extLst>
          </p:cNvPr>
          <p:cNvSpPr/>
          <p:nvPr/>
        </p:nvSpPr>
        <p:spPr>
          <a:xfrm rot="5400000">
            <a:off x="4003146" y="1981313"/>
            <a:ext cx="144016" cy="432048"/>
          </a:xfrm>
          <a:prstGeom prst="mo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5C7884F-66B2-40F2-A1D1-415BC7D38112}"/>
              </a:ext>
            </a:extLst>
          </p:cNvPr>
          <p:cNvSpPr/>
          <p:nvPr/>
        </p:nvSpPr>
        <p:spPr>
          <a:xfrm>
            <a:off x="3976480" y="2326239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740A59C-E753-4634-8036-1273C2BFD4EA}"/>
              </a:ext>
            </a:extLst>
          </p:cNvPr>
          <p:cNvSpPr/>
          <p:nvPr/>
        </p:nvSpPr>
        <p:spPr>
          <a:xfrm>
            <a:off x="3787122" y="2523154"/>
            <a:ext cx="602730" cy="8712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13">
            <a:extLst>
              <a:ext uri="{FF2B5EF4-FFF2-40B4-BE49-F238E27FC236}">
                <a16:creationId xmlns:a16="http://schemas.microsoft.com/office/drawing/2014/main" id="{EA7B6AAA-C1B0-4414-8B9C-B1DC090E9E00}"/>
              </a:ext>
            </a:extLst>
          </p:cNvPr>
          <p:cNvSpPr/>
          <p:nvPr/>
        </p:nvSpPr>
        <p:spPr>
          <a:xfrm>
            <a:off x="4012484" y="2151779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7BAD9AF-9046-44C2-98C7-932A48C0B607}"/>
              </a:ext>
            </a:extLst>
          </p:cNvPr>
          <p:cNvSpPr/>
          <p:nvPr/>
        </p:nvSpPr>
        <p:spPr>
          <a:xfrm>
            <a:off x="2234955" y="2523154"/>
            <a:ext cx="602730" cy="8712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36257821-FCD4-4973-9C80-465EC71070BF}"/>
              </a:ext>
            </a:extLst>
          </p:cNvPr>
          <p:cNvSpPr/>
          <p:nvPr/>
        </p:nvSpPr>
        <p:spPr>
          <a:xfrm>
            <a:off x="5288665" y="2523154"/>
            <a:ext cx="602730" cy="8712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28F9F343-76F5-4782-9A5B-FB523D91E345}"/>
              </a:ext>
            </a:extLst>
          </p:cNvPr>
          <p:cNvSpPr/>
          <p:nvPr/>
        </p:nvSpPr>
        <p:spPr>
          <a:xfrm>
            <a:off x="4515422" y="2623369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D910853D-3FBB-4B42-844B-C9F702208BE4}"/>
              </a:ext>
            </a:extLst>
          </p:cNvPr>
          <p:cNvSpPr/>
          <p:nvPr/>
        </p:nvSpPr>
        <p:spPr>
          <a:xfrm>
            <a:off x="4731446" y="2623369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D048040-0625-48ED-8F1C-DC4A7F0AA7AF}"/>
              </a:ext>
            </a:extLst>
          </p:cNvPr>
          <p:cNvSpPr/>
          <p:nvPr/>
        </p:nvSpPr>
        <p:spPr>
          <a:xfrm>
            <a:off x="4947470" y="2623369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8971B49C-EEAB-4604-8839-01BB08F474B6}"/>
              </a:ext>
            </a:extLst>
          </p:cNvPr>
          <p:cNvSpPr/>
          <p:nvPr/>
        </p:nvSpPr>
        <p:spPr>
          <a:xfrm>
            <a:off x="4839458" y="2479353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5C44B2AD-9BB8-437B-812D-738AB24E2486}"/>
              </a:ext>
            </a:extLst>
          </p:cNvPr>
          <p:cNvSpPr/>
          <p:nvPr/>
        </p:nvSpPr>
        <p:spPr>
          <a:xfrm>
            <a:off x="4623434" y="2479353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54719519-FA89-47A0-8578-E14AF45E2E02}"/>
              </a:ext>
            </a:extLst>
          </p:cNvPr>
          <p:cNvSpPr/>
          <p:nvPr/>
        </p:nvSpPr>
        <p:spPr>
          <a:xfrm>
            <a:off x="4731446" y="2320750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E81164B7-6015-48CD-9B8C-0EA79B0FEAC5}"/>
              </a:ext>
            </a:extLst>
          </p:cNvPr>
          <p:cNvSpPr/>
          <p:nvPr/>
        </p:nvSpPr>
        <p:spPr>
          <a:xfrm>
            <a:off x="6087779" y="2623369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347C4CAC-E164-4066-924B-F9282458B96B}"/>
              </a:ext>
            </a:extLst>
          </p:cNvPr>
          <p:cNvSpPr/>
          <p:nvPr/>
        </p:nvSpPr>
        <p:spPr>
          <a:xfrm>
            <a:off x="6303803" y="2623369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2B790D3E-B2D8-4858-AE42-915FDEFC120F}"/>
              </a:ext>
            </a:extLst>
          </p:cNvPr>
          <p:cNvSpPr/>
          <p:nvPr/>
        </p:nvSpPr>
        <p:spPr>
          <a:xfrm>
            <a:off x="6519827" y="2623369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B17AC433-8DC2-4F35-AE62-89884CACBE74}"/>
              </a:ext>
            </a:extLst>
          </p:cNvPr>
          <p:cNvSpPr/>
          <p:nvPr/>
        </p:nvSpPr>
        <p:spPr>
          <a:xfrm>
            <a:off x="6411815" y="2479353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72D885F9-DF7C-459D-9B8E-429A310A470D}"/>
              </a:ext>
            </a:extLst>
          </p:cNvPr>
          <p:cNvSpPr/>
          <p:nvPr/>
        </p:nvSpPr>
        <p:spPr>
          <a:xfrm>
            <a:off x="6195791" y="2479353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1D75C229-15C6-4C41-A15B-299FFC98D73E}"/>
              </a:ext>
            </a:extLst>
          </p:cNvPr>
          <p:cNvSpPr/>
          <p:nvPr/>
        </p:nvSpPr>
        <p:spPr>
          <a:xfrm>
            <a:off x="6303803" y="2320750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月 38">
            <a:extLst>
              <a:ext uri="{FF2B5EF4-FFF2-40B4-BE49-F238E27FC236}">
                <a16:creationId xmlns:a16="http://schemas.microsoft.com/office/drawing/2014/main" id="{18EFA1C1-04A0-453F-9C9B-AC99D1C24005}"/>
              </a:ext>
            </a:extLst>
          </p:cNvPr>
          <p:cNvSpPr/>
          <p:nvPr/>
        </p:nvSpPr>
        <p:spPr>
          <a:xfrm rot="5400000">
            <a:off x="2454282" y="1981313"/>
            <a:ext cx="144016" cy="432048"/>
          </a:xfrm>
          <a:prstGeom prst="moon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円/楕円 13">
            <a:extLst>
              <a:ext uri="{FF2B5EF4-FFF2-40B4-BE49-F238E27FC236}">
                <a16:creationId xmlns:a16="http://schemas.microsoft.com/office/drawing/2014/main" id="{E09F4F7D-BF31-44FD-8700-84BFFDD0ACB4}"/>
              </a:ext>
            </a:extLst>
          </p:cNvPr>
          <p:cNvSpPr/>
          <p:nvPr/>
        </p:nvSpPr>
        <p:spPr>
          <a:xfrm>
            <a:off x="2463620" y="2151779"/>
            <a:ext cx="144016" cy="14401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月 40">
            <a:extLst>
              <a:ext uri="{FF2B5EF4-FFF2-40B4-BE49-F238E27FC236}">
                <a16:creationId xmlns:a16="http://schemas.microsoft.com/office/drawing/2014/main" id="{A3035411-1916-41D0-B582-2E88DE097F96}"/>
              </a:ext>
            </a:extLst>
          </p:cNvPr>
          <p:cNvSpPr/>
          <p:nvPr/>
        </p:nvSpPr>
        <p:spPr>
          <a:xfrm rot="5400000">
            <a:off x="5518215" y="1981313"/>
            <a:ext cx="144016" cy="432048"/>
          </a:xfrm>
          <a:prstGeom prst="moon">
            <a:avLst/>
          </a:prstGeom>
          <a:noFill/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円/楕円 13">
            <a:extLst>
              <a:ext uri="{FF2B5EF4-FFF2-40B4-BE49-F238E27FC236}">
                <a16:creationId xmlns:a16="http://schemas.microsoft.com/office/drawing/2014/main" id="{A4A5C993-3B47-470D-A4F3-36DC37C9250F}"/>
              </a:ext>
            </a:extLst>
          </p:cNvPr>
          <p:cNvSpPr/>
          <p:nvPr/>
        </p:nvSpPr>
        <p:spPr>
          <a:xfrm>
            <a:off x="5527553" y="2151779"/>
            <a:ext cx="144016" cy="144016"/>
          </a:xfrm>
          <a:prstGeom prst="ellipse">
            <a:avLst/>
          </a:prstGeom>
          <a:noFill/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81A16203-D0B7-41B4-B427-763BBB3A60FF}"/>
              </a:ext>
            </a:extLst>
          </p:cNvPr>
          <p:cNvCxnSpPr/>
          <p:nvPr/>
        </p:nvCxnSpPr>
        <p:spPr>
          <a:xfrm>
            <a:off x="2637490" y="2378501"/>
            <a:ext cx="432048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D80709AE-3B14-4B92-866A-5A7521BE29AA}"/>
              </a:ext>
            </a:extLst>
          </p:cNvPr>
          <p:cNvCxnSpPr/>
          <p:nvPr/>
        </p:nvCxnSpPr>
        <p:spPr>
          <a:xfrm>
            <a:off x="3465387" y="2378501"/>
            <a:ext cx="432048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9AA840F5-487E-48A8-8381-E69E24A506FD}"/>
              </a:ext>
            </a:extLst>
          </p:cNvPr>
          <p:cNvCxnSpPr/>
          <p:nvPr/>
        </p:nvCxnSpPr>
        <p:spPr>
          <a:xfrm>
            <a:off x="4236140" y="2378501"/>
            <a:ext cx="432048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F631A72C-7E19-4EEE-B798-19818697B692}"/>
              </a:ext>
            </a:extLst>
          </p:cNvPr>
          <p:cNvCxnSpPr/>
          <p:nvPr/>
        </p:nvCxnSpPr>
        <p:spPr>
          <a:xfrm>
            <a:off x="5055482" y="2378501"/>
            <a:ext cx="432048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09138C38-E9BE-4507-A89A-0324021CCE12}"/>
              </a:ext>
            </a:extLst>
          </p:cNvPr>
          <p:cNvCxnSpPr/>
          <p:nvPr/>
        </p:nvCxnSpPr>
        <p:spPr>
          <a:xfrm>
            <a:off x="5806247" y="2378501"/>
            <a:ext cx="432048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085953DB-5FB2-44F3-85E3-D10E5E350F93}"/>
              </a:ext>
            </a:extLst>
          </p:cNvPr>
          <p:cNvSpPr/>
          <p:nvPr/>
        </p:nvSpPr>
        <p:spPr>
          <a:xfrm>
            <a:off x="1519739" y="4951516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43477692-907D-41A3-B0C1-06C646E37442}"/>
              </a:ext>
            </a:extLst>
          </p:cNvPr>
          <p:cNvSpPr/>
          <p:nvPr/>
        </p:nvSpPr>
        <p:spPr>
          <a:xfrm>
            <a:off x="1735763" y="4951516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C6005572-431E-493B-AABD-4C118CCE6F45}"/>
              </a:ext>
            </a:extLst>
          </p:cNvPr>
          <p:cNvSpPr/>
          <p:nvPr/>
        </p:nvSpPr>
        <p:spPr>
          <a:xfrm>
            <a:off x="1951787" y="4951516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E1366751-D917-4C97-880E-B0C50BB10F73}"/>
              </a:ext>
            </a:extLst>
          </p:cNvPr>
          <p:cNvSpPr/>
          <p:nvPr/>
        </p:nvSpPr>
        <p:spPr>
          <a:xfrm>
            <a:off x="1843775" y="4807500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AB00A52E-E961-4FED-9483-32CF6675478C}"/>
              </a:ext>
            </a:extLst>
          </p:cNvPr>
          <p:cNvSpPr/>
          <p:nvPr/>
        </p:nvSpPr>
        <p:spPr>
          <a:xfrm>
            <a:off x="1627751" y="4807500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FAFE8F66-E746-4EAF-BBD1-45DA59C6E5F0}"/>
              </a:ext>
            </a:extLst>
          </p:cNvPr>
          <p:cNvSpPr/>
          <p:nvPr/>
        </p:nvSpPr>
        <p:spPr>
          <a:xfrm>
            <a:off x="1735763" y="4648897"/>
            <a:ext cx="216024" cy="1440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月 59">
            <a:extLst>
              <a:ext uri="{FF2B5EF4-FFF2-40B4-BE49-F238E27FC236}">
                <a16:creationId xmlns:a16="http://schemas.microsoft.com/office/drawing/2014/main" id="{4EF4C918-186B-46C3-BA60-4B39CABD989D}"/>
              </a:ext>
            </a:extLst>
          </p:cNvPr>
          <p:cNvSpPr/>
          <p:nvPr/>
        </p:nvSpPr>
        <p:spPr>
          <a:xfrm rot="5400000">
            <a:off x="4003146" y="4309460"/>
            <a:ext cx="144016" cy="432048"/>
          </a:xfrm>
          <a:prstGeom prst="mo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7FFACCD3-5CCD-45C2-9500-2654BF182310}"/>
              </a:ext>
            </a:extLst>
          </p:cNvPr>
          <p:cNvSpPr/>
          <p:nvPr/>
        </p:nvSpPr>
        <p:spPr>
          <a:xfrm>
            <a:off x="3976480" y="4654386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A772FDB9-BE94-4241-B883-DA9816821841}"/>
              </a:ext>
            </a:extLst>
          </p:cNvPr>
          <p:cNvSpPr/>
          <p:nvPr/>
        </p:nvSpPr>
        <p:spPr>
          <a:xfrm>
            <a:off x="3787122" y="4851301"/>
            <a:ext cx="602730" cy="8712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円/楕円 13">
            <a:extLst>
              <a:ext uri="{FF2B5EF4-FFF2-40B4-BE49-F238E27FC236}">
                <a16:creationId xmlns:a16="http://schemas.microsoft.com/office/drawing/2014/main" id="{38A7F15C-5D4B-453C-8F87-826A9F315FD2}"/>
              </a:ext>
            </a:extLst>
          </p:cNvPr>
          <p:cNvSpPr/>
          <p:nvPr/>
        </p:nvSpPr>
        <p:spPr>
          <a:xfrm>
            <a:off x="4012484" y="4479926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382B3B0D-5885-4C9C-B86D-8F161369993F}"/>
              </a:ext>
            </a:extLst>
          </p:cNvPr>
          <p:cNvSpPr/>
          <p:nvPr/>
        </p:nvSpPr>
        <p:spPr>
          <a:xfrm>
            <a:off x="2234955" y="4851301"/>
            <a:ext cx="602730" cy="8712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2DAA429E-7A50-41A2-8225-CC0020C576BC}"/>
              </a:ext>
            </a:extLst>
          </p:cNvPr>
          <p:cNvSpPr/>
          <p:nvPr/>
        </p:nvSpPr>
        <p:spPr>
          <a:xfrm>
            <a:off x="5288665" y="4851301"/>
            <a:ext cx="602730" cy="8712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4DF1B4EA-A6D4-4AF0-8407-D01D562E6BA7}"/>
              </a:ext>
            </a:extLst>
          </p:cNvPr>
          <p:cNvSpPr/>
          <p:nvPr/>
        </p:nvSpPr>
        <p:spPr>
          <a:xfrm>
            <a:off x="6087779" y="4951516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85644208-B921-4206-883D-0307B7969704}"/>
              </a:ext>
            </a:extLst>
          </p:cNvPr>
          <p:cNvSpPr/>
          <p:nvPr/>
        </p:nvSpPr>
        <p:spPr>
          <a:xfrm>
            <a:off x="6303803" y="4951516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27FD4870-644A-4910-9688-EFC75D1DF4E8}"/>
              </a:ext>
            </a:extLst>
          </p:cNvPr>
          <p:cNvSpPr/>
          <p:nvPr/>
        </p:nvSpPr>
        <p:spPr>
          <a:xfrm>
            <a:off x="6519827" y="4951516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7EA6769D-1A69-4210-815A-93DF698195CC}"/>
              </a:ext>
            </a:extLst>
          </p:cNvPr>
          <p:cNvSpPr/>
          <p:nvPr/>
        </p:nvSpPr>
        <p:spPr>
          <a:xfrm>
            <a:off x="6411815" y="4807500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8D36E226-D946-4EF8-A6EF-9D5F12F47331}"/>
              </a:ext>
            </a:extLst>
          </p:cNvPr>
          <p:cNvSpPr/>
          <p:nvPr/>
        </p:nvSpPr>
        <p:spPr>
          <a:xfrm>
            <a:off x="6195791" y="4807500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9BA04E1F-6D4B-4F4C-8BDF-52C89900B7E1}"/>
              </a:ext>
            </a:extLst>
          </p:cNvPr>
          <p:cNvSpPr/>
          <p:nvPr/>
        </p:nvSpPr>
        <p:spPr>
          <a:xfrm>
            <a:off x="6303803" y="4648897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2" name="直線矢印コネクタ 81">
            <a:extLst>
              <a:ext uri="{FF2B5EF4-FFF2-40B4-BE49-F238E27FC236}">
                <a16:creationId xmlns:a16="http://schemas.microsoft.com/office/drawing/2014/main" id="{9933D2DA-E303-4CF1-BD09-47150CD44952}"/>
              </a:ext>
            </a:extLst>
          </p:cNvPr>
          <p:cNvCxnSpPr>
            <a:cxnSpLocks/>
          </p:cNvCxnSpPr>
          <p:nvPr/>
        </p:nvCxnSpPr>
        <p:spPr>
          <a:xfrm>
            <a:off x="2685615" y="4706648"/>
            <a:ext cx="12216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矢印コネクタ 83">
            <a:extLst>
              <a:ext uri="{FF2B5EF4-FFF2-40B4-BE49-F238E27FC236}">
                <a16:creationId xmlns:a16="http://schemas.microsoft.com/office/drawing/2014/main" id="{4E519CBA-F81F-46E0-8C9D-2E1AEBBD7040}"/>
              </a:ext>
            </a:extLst>
          </p:cNvPr>
          <p:cNvCxnSpPr>
            <a:cxnSpLocks/>
          </p:cNvCxnSpPr>
          <p:nvPr/>
        </p:nvCxnSpPr>
        <p:spPr>
          <a:xfrm>
            <a:off x="4245765" y="4706648"/>
            <a:ext cx="125139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00318923-9C70-4A76-8579-EC269D5FB854}"/>
              </a:ext>
            </a:extLst>
          </p:cNvPr>
          <p:cNvCxnSpPr/>
          <p:nvPr/>
        </p:nvCxnSpPr>
        <p:spPr>
          <a:xfrm>
            <a:off x="5806247" y="4706648"/>
            <a:ext cx="432048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月 86">
            <a:extLst>
              <a:ext uri="{FF2B5EF4-FFF2-40B4-BE49-F238E27FC236}">
                <a16:creationId xmlns:a16="http://schemas.microsoft.com/office/drawing/2014/main" id="{11A6425B-1DCB-4C68-9D36-1AEF0AAF1C35}"/>
              </a:ext>
            </a:extLst>
          </p:cNvPr>
          <p:cNvSpPr/>
          <p:nvPr/>
        </p:nvSpPr>
        <p:spPr>
          <a:xfrm rot="5400000">
            <a:off x="2414520" y="4309460"/>
            <a:ext cx="144016" cy="432048"/>
          </a:xfrm>
          <a:prstGeom prst="mo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662AC222-86CA-4D0E-8BCC-F585795EB982}"/>
              </a:ext>
            </a:extLst>
          </p:cNvPr>
          <p:cNvSpPr/>
          <p:nvPr/>
        </p:nvSpPr>
        <p:spPr>
          <a:xfrm>
            <a:off x="2387854" y="4654386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円/楕円 13">
            <a:extLst>
              <a:ext uri="{FF2B5EF4-FFF2-40B4-BE49-F238E27FC236}">
                <a16:creationId xmlns:a16="http://schemas.microsoft.com/office/drawing/2014/main" id="{4F31FE47-F8F8-4D4C-9755-2B747B50386C}"/>
              </a:ext>
            </a:extLst>
          </p:cNvPr>
          <p:cNvSpPr/>
          <p:nvPr/>
        </p:nvSpPr>
        <p:spPr>
          <a:xfrm>
            <a:off x="2423858" y="4479926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月 89">
            <a:extLst>
              <a:ext uri="{FF2B5EF4-FFF2-40B4-BE49-F238E27FC236}">
                <a16:creationId xmlns:a16="http://schemas.microsoft.com/office/drawing/2014/main" id="{283350C0-1648-4B4C-923D-2FDAE43ACF2F}"/>
              </a:ext>
            </a:extLst>
          </p:cNvPr>
          <p:cNvSpPr/>
          <p:nvPr/>
        </p:nvSpPr>
        <p:spPr>
          <a:xfrm rot="5400000">
            <a:off x="5565106" y="4309460"/>
            <a:ext cx="144016" cy="432048"/>
          </a:xfrm>
          <a:prstGeom prst="mo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4AE6CDA8-6278-4A8B-8104-BE71968E72E1}"/>
              </a:ext>
            </a:extLst>
          </p:cNvPr>
          <p:cNvSpPr/>
          <p:nvPr/>
        </p:nvSpPr>
        <p:spPr>
          <a:xfrm>
            <a:off x="5538440" y="4654386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円/楕円 13">
            <a:extLst>
              <a:ext uri="{FF2B5EF4-FFF2-40B4-BE49-F238E27FC236}">
                <a16:creationId xmlns:a16="http://schemas.microsoft.com/office/drawing/2014/main" id="{C409A4D9-2333-4219-8E30-CDBA2BA9AC69}"/>
              </a:ext>
            </a:extLst>
          </p:cNvPr>
          <p:cNvSpPr/>
          <p:nvPr/>
        </p:nvSpPr>
        <p:spPr>
          <a:xfrm>
            <a:off x="5574444" y="4479926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7628022" cy="849312"/>
          </a:xfrm>
        </p:spPr>
        <p:txBody>
          <a:bodyPr>
            <a:normAutofit/>
          </a:bodyPr>
          <a:lstStyle/>
          <a:p>
            <a:pPr algn="l"/>
            <a:r>
              <a:rPr kumimoji="1" lang="ja-JP" altLang="en-US" sz="2800"/>
              <a:t>タクトタイム</a:t>
            </a:r>
            <a:r>
              <a:rPr kumimoji="1" lang="en-US" altLang="ja-JP" sz="2800"/>
              <a:t>/</a:t>
            </a:r>
            <a:r>
              <a:rPr kumimoji="1" lang="ja-JP" altLang="en-US" sz="2800"/>
              <a:t>サイクルタイムとリードタイム</a:t>
            </a:r>
            <a:endParaRPr kumimoji="1" lang="ja-JP" altLang="en-US" sz="28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5F74E3B-AF98-4036-85BA-55A08B12526E}"/>
              </a:ext>
            </a:extLst>
          </p:cNvPr>
          <p:cNvSpPr txBox="1"/>
          <p:nvPr/>
        </p:nvSpPr>
        <p:spPr>
          <a:xfrm>
            <a:off x="539552" y="1196752"/>
            <a:ext cx="564930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ja-JP" altLang="en-US" sz="2400"/>
              <a:t>タクトタイム</a:t>
            </a:r>
            <a:r>
              <a:rPr lang="en-US" altLang="ja-JP" sz="2400"/>
              <a:t>(tact time:TT)</a:t>
            </a:r>
            <a:br>
              <a:rPr lang="en-US" altLang="ja-JP" dirty="0"/>
            </a:br>
            <a:r>
              <a:rPr lang="en-US" altLang="ja-JP"/>
              <a:t>	</a:t>
            </a:r>
            <a:r>
              <a:rPr lang="ja-JP" altLang="en-US"/>
              <a:t>計画上モノが流れなければならない周期時間。</a:t>
            </a:r>
            <a:endParaRPr lang="en-US" altLang="ja-JP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A51B1DC-7AEF-44A5-9A7E-64D5C1D7B76B}"/>
              </a:ext>
            </a:extLst>
          </p:cNvPr>
          <p:cNvSpPr txBox="1"/>
          <p:nvPr/>
        </p:nvSpPr>
        <p:spPr>
          <a:xfrm>
            <a:off x="539552" y="2884170"/>
            <a:ext cx="419377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ja-JP" altLang="en-US" sz="2400"/>
              <a:t>サイクルタイム</a:t>
            </a:r>
            <a:r>
              <a:rPr lang="en-US" altLang="ja-JP" sz="2400"/>
              <a:t>(cycle</a:t>
            </a:r>
            <a:r>
              <a:rPr lang="ja-JP" altLang="en-US" sz="2400"/>
              <a:t> </a:t>
            </a:r>
            <a:r>
              <a:rPr lang="en-US" altLang="ja-JP" sz="2400"/>
              <a:t>time:CT)</a:t>
            </a:r>
            <a:br>
              <a:rPr lang="en-US" altLang="ja-JP" dirty="0"/>
            </a:br>
            <a:r>
              <a:rPr lang="en-US" altLang="ja-JP"/>
              <a:t>	</a:t>
            </a:r>
            <a:r>
              <a:rPr lang="ja-JP" altLang="en-US"/>
              <a:t>実際にモノが完成する周期時間</a:t>
            </a:r>
            <a:endParaRPr lang="en-US" altLang="ja-JP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8B2DFC0-DFFE-4F9D-A488-5619B384ACB5}"/>
              </a:ext>
            </a:extLst>
          </p:cNvPr>
          <p:cNvSpPr/>
          <p:nvPr/>
        </p:nvSpPr>
        <p:spPr>
          <a:xfrm>
            <a:off x="1519739" y="2549709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60DD701-8CD7-4BC6-B3E0-931603EE4D2F}"/>
              </a:ext>
            </a:extLst>
          </p:cNvPr>
          <p:cNvSpPr/>
          <p:nvPr/>
        </p:nvSpPr>
        <p:spPr>
          <a:xfrm>
            <a:off x="1735763" y="2549709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21771D5-7BAF-4FA2-9D37-C1CC44904646}"/>
              </a:ext>
            </a:extLst>
          </p:cNvPr>
          <p:cNvSpPr/>
          <p:nvPr/>
        </p:nvSpPr>
        <p:spPr>
          <a:xfrm>
            <a:off x="1951787" y="2549709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7978640-62EE-48DC-88CC-5CC74EAA1E4A}"/>
              </a:ext>
            </a:extLst>
          </p:cNvPr>
          <p:cNvSpPr/>
          <p:nvPr/>
        </p:nvSpPr>
        <p:spPr>
          <a:xfrm>
            <a:off x="1843775" y="2405693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805BAE3-9FD8-4197-830B-AC34546D15E6}"/>
              </a:ext>
            </a:extLst>
          </p:cNvPr>
          <p:cNvSpPr/>
          <p:nvPr/>
        </p:nvSpPr>
        <p:spPr>
          <a:xfrm>
            <a:off x="1627751" y="2405693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A6DE210-8A6A-446F-B8F1-32F0F6F722CB}"/>
              </a:ext>
            </a:extLst>
          </p:cNvPr>
          <p:cNvSpPr/>
          <p:nvPr/>
        </p:nvSpPr>
        <p:spPr>
          <a:xfrm>
            <a:off x="1735763" y="2247090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7BAD9AF-9046-44C2-98C7-932A48C0B607}"/>
              </a:ext>
            </a:extLst>
          </p:cNvPr>
          <p:cNvSpPr/>
          <p:nvPr/>
        </p:nvSpPr>
        <p:spPr>
          <a:xfrm>
            <a:off x="2234955" y="2449494"/>
            <a:ext cx="3744812" cy="8712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E81164B7-6015-48CD-9B8C-0EA79B0FEAC5}"/>
              </a:ext>
            </a:extLst>
          </p:cNvPr>
          <p:cNvSpPr/>
          <p:nvPr/>
        </p:nvSpPr>
        <p:spPr>
          <a:xfrm>
            <a:off x="6087779" y="2549709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347C4CAC-E164-4066-924B-F9282458B96B}"/>
              </a:ext>
            </a:extLst>
          </p:cNvPr>
          <p:cNvSpPr/>
          <p:nvPr/>
        </p:nvSpPr>
        <p:spPr>
          <a:xfrm>
            <a:off x="6303803" y="2549709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2B790D3E-B2D8-4858-AE42-915FDEFC120F}"/>
              </a:ext>
            </a:extLst>
          </p:cNvPr>
          <p:cNvSpPr/>
          <p:nvPr/>
        </p:nvSpPr>
        <p:spPr>
          <a:xfrm>
            <a:off x="6519827" y="2549709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B17AC433-8DC2-4F35-AE62-89884CACBE74}"/>
              </a:ext>
            </a:extLst>
          </p:cNvPr>
          <p:cNvSpPr/>
          <p:nvPr/>
        </p:nvSpPr>
        <p:spPr>
          <a:xfrm>
            <a:off x="6411815" y="2405693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72D885F9-DF7C-459D-9B8E-429A310A470D}"/>
              </a:ext>
            </a:extLst>
          </p:cNvPr>
          <p:cNvSpPr/>
          <p:nvPr/>
        </p:nvSpPr>
        <p:spPr>
          <a:xfrm>
            <a:off x="6195791" y="2405693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1D75C229-15C6-4C41-A15B-299FFC98D73E}"/>
              </a:ext>
            </a:extLst>
          </p:cNvPr>
          <p:cNvSpPr/>
          <p:nvPr/>
        </p:nvSpPr>
        <p:spPr>
          <a:xfrm>
            <a:off x="6303803" y="2247090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09138C38-E9BE-4507-A89A-0324021CCE12}"/>
              </a:ext>
            </a:extLst>
          </p:cNvPr>
          <p:cNvCxnSpPr>
            <a:cxnSpLocks/>
          </p:cNvCxnSpPr>
          <p:nvPr/>
        </p:nvCxnSpPr>
        <p:spPr>
          <a:xfrm>
            <a:off x="2234955" y="2304841"/>
            <a:ext cx="3727695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085953DB-5FB2-44F3-85E3-D10E5E350F93}"/>
              </a:ext>
            </a:extLst>
          </p:cNvPr>
          <p:cNvSpPr/>
          <p:nvPr/>
        </p:nvSpPr>
        <p:spPr>
          <a:xfrm>
            <a:off x="1519739" y="4223806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43477692-907D-41A3-B0C1-06C646E37442}"/>
              </a:ext>
            </a:extLst>
          </p:cNvPr>
          <p:cNvSpPr/>
          <p:nvPr/>
        </p:nvSpPr>
        <p:spPr>
          <a:xfrm>
            <a:off x="1735763" y="4223806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C6005572-431E-493B-AABD-4C118CCE6F45}"/>
              </a:ext>
            </a:extLst>
          </p:cNvPr>
          <p:cNvSpPr/>
          <p:nvPr/>
        </p:nvSpPr>
        <p:spPr>
          <a:xfrm>
            <a:off x="1951787" y="4223806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E1366751-D917-4C97-880E-B0C50BB10F73}"/>
              </a:ext>
            </a:extLst>
          </p:cNvPr>
          <p:cNvSpPr/>
          <p:nvPr/>
        </p:nvSpPr>
        <p:spPr>
          <a:xfrm>
            <a:off x="1843775" y="4079790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AB00A52E-E961-4FED-9483-32CF6675478C}"/>
              </a:ext>
            </a:extLst>
          </p:cNvPr>
          <p:cNvSpPr/>
          <p:nvPr/>
        </p:nvSpPr>
        <p:spPr>
          <a:xfrm>
            <a:off x="1627751" y="4079790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FAFE8F66-E746-4EAF-BBD1-45DA59C6E5F0}"/>
              </a:ext>
            </a:extLst>
          </p:cNvPr>
          <p:cNvSpPr/>
          <p:nvPr/>
        </p:nvSpPr>
        <p:spPr>
          <a:xfrm>
            <a:off x="1735763" y="3921187"/>
            <a:ext cx="216024" cy="1440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月 59">
            <a:extLst>
              <a:ext uri="{FF2B5EF4-FFF2-40B4-BE49-F238E27FC236}">
                <a16:creationId xmlns:a16="http://schemas.microsoft.com/office/drawing/2014/main" id="{4EF4C918-186B-46C3-BA60-4B39CABD989D}"/>
              </a:ext>
            </a:extLst>
          </p:cNvPr>
          <p:cNvSpPr/>
          <p:nvPr/>
        </p:nvSpPr>
        <p:spPr>
          <a:xfrm rot="5400000">
            <a:off x="4003146" y="3581750"/>
            <a:ext cx="144016" cy="432048"/>
          </a:xfrm>
          <a:prstGeom prst="mo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7FFACCD3-5CCD-45C2-9500-2654BF182310}"/>
              </a:ext>
            </a:extLst>
          </p:cNvPr>
          <p:cNvSpPr/>
          <p:nvPr/>
        </p:nvSpPr>
        <p:spPr>
          <a:xfrm>
            <a:off x="3976480" y="3926676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円/楕円 13">
            <a:extLst>
              <a:ext uri="{FF2B5EF4-FFF2-40B4-BE49-F238E27FC236}">
                <a16:creationId xmlns:a16="http://schemas.microsoft.com/office/drawing/2014/main" id="{38A7F15C-5D4B-453C-8F87-826A9F315FD2}"/>
              </a:ext>
            </a:extLst>
          </p:cNvPr>
          <p:cNvSpPr/>
          <p:nvPr/>
        </p:nvSpPr>
        <p:spPr>
          <a:xfrm>
            <a:off x="4012484" y="3752216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4DF1B4EA-A6D4-4AF0-8407-D01D562E6BA7}"/>
              </a:ext>
            </a:extLst>
          </p:cNvPr>
          <p:cNvSpPr/>
          <p:nvPr/>
        </p:nvSpPr>
        <p:spPr>
          <a:xfrm>
            <a:off x="6087779" y="4223806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85644208-B921-4206-883D-0307B7969704}"/>
              </a:ext>
            </a:extLst>
          </p:cNvPr>
          <p:cNvSpPr/>
          <p:nvPr/>
        </p:nvSpPr>
        <p:spPr>
          <a:xfrm>
            <a:off x="6303803" y="4223806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27FD4870-644A-4910-9688-EFC75D1DF4E8}"/>
              </a:ext>
            </a:extLst>
          </p:cNvPr>
          <p:cNvSpPr/>
          <p:nvPr/>
        </p:nvSpPr>
        <p:spPr>
          <a:xfrm>
            <a:off x="6519827" y="4223806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7EA6769D-1A69-4210-815A-93DF698195CC}"/>
              </a:ext>
            </a:extLst>
          </p:cNvPr>
          <p:cNvSpPr/>
          <p:nvPr/>
        </p:nvSpPr>
        <p:spPr>
          <a:xfrm>
            <a:off x="6411815" y="4079790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8D36E226-D946-4EF8-A6EF-9D5F12F47331}"/>
              </a:ext>
            </a:extLst>
          </p:cNvPr>
          <p:cNvSpPr/>
          <p:nvPr/>
        </p:nvSpPr>
        <p:spPr>
          <a:xfrm>
            <a:off x="6195791" y="4079790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9BA04E1F-6D4B-4F4C-8BDF-52C89900B7E1}"/>
              </a:ext>
            </a:extLst>
          </p:cNvPr>
          <p:cNvSpPr/>
          <p:nvPr/>
        </p:nvSpPr>
        <p:spPr>
          <a:xfrm>
            <a:off x="6303803" y="3921187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2" name="直線矢印コネクタ 81">
            <a:extLst>
              <a:ext uri="{FF2B5EF4-FFF2-40B4-BE49-F238E27FC236}">
                <a16:creationId xmlns:a16="http://schemas.microsoft.com/office/drawing/2014/main" id="{9933D2DA-E303-4CF1-BD09-47150CD44952}"/>
              </a:ext>
            </a:extLst>
          </p:cNvPr>
          <p:cNvCxnSpPr>
            <a:cxnSpLocks/>
          </p:cNvCxnSpPr>
          <p:nvPr/>
        </p:nvCxnSpPr>
        <p:spPr>
          <a:xfrm>
            <a:off x="2685615" y="3978938"/>
            <a:ext cx="12216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矢印コネクタ 83">
            <a:extLst>
              <a:ext uri="{FF2B5EF4-FFF2-40B4-BE49-F238E27FC236}">
                <a16:creationId xmlns:a16="http://schemas.microsoft.com/office/drawing/2014/main" id="{4E519CBA-F81F-46E0-8C9D-2E1AEBBD7040}"/>
              </a:ext>
            </a:extLst>
          </p:cNvPr>
          <p:cNvCxnSpPr>
            <a:cxnSpLocks/>
          </p:cNvCxnSpPr>
          <p:nvPr/>
        </p:nvCxnSpPr>
        <p:spPr>
          <a:xfrm>
            <a:off x="4245765" y="3978938"/>
            <a:ext cx="125139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00318923-9C70-4A76-8579-EC269D5FB854}"/>
              </a:ext>
            </a:extLst>
          </p:cNvPr>
          <p:cNvCxnSpPr/>
          <p:nvPr/>
        </p:nvCxnSpPr>
        <p:spPr>
          <a:xfrm>
            <a:off x="5806247" y="3978938"/>
            <a:ext cx="432048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月 86">
            <a:extLst>
              <a:ext uri="{FF2B5EF4-FFF2-40B4-BE49-F238E27FC236}">
                <a16:creationId xmlns:a16="http://schemas.microsoft.com/office/drawing/2014/main" id="{11A6425B-1DCB-4C68-9D36-1AEF0AAF1C35}"/>
              </a:ext>
            </a:extLst>
          </p:cNvPr>
          <p:cNvSpPr/>
          <p:nvPr/>
        </p:nvSpPr>
        <p:spPr>
          <a:xfrm rot="5400000">
            <a:off x="2414520" y="3581750"/>
            <a:ext cx="144016" cy="432048"/>
          </a:xfrm>
          <a:prstGeom prst="mo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662AC222-86CA-4D0E-8BCC-F585795EB982}"/>
              </a:ext>
            </a:extLst>
          </p:cNvPr>
          <p:cNvSpPr/>
          <p:nvPr/>
        </p:nvSpPr>
        <p:spPr>
          <a:xfrm>
            <a:off x="2387854" y="3926676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円/楕円 13">
            <a:extLst>
              <a:ext uri="{FF2B5EF4-FFF2-40B4-BE49-F238E27FC236}">
                <a16:creationId xmlns:a16="http://schemas.microsoft.com/office/drawing/2014/main" id="{4F31FE47-F8F8-4D4C-9755-2B747B50386C}"/>
              </a:ext>
            </a:extLst>
          </p:cNvPr>
          <p:cNvSpPr/>
          <p:nvPr/>
        </p:nvSpPr>
        <p:spPr>
          <a:xfrm>
            <a:off x="2423858" y="3752216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月 89">
            <a:extLst>
              <a:ext uri="{FF2B5EF4-FFF2-40B4-BE49-F238E27FC236}">
                <a16:creationId xmlns:a16="http://schemas.microsoft.com/office/drawing/2014/main" id="{283350C0-1648-4B4C-923D-2FDAE43ACF2F}"/>
              </a:ext>
            </a:extLst>
          </p:cNvPr>
          <p:cNvSpPr/>
          <p:nvPr/>
        </p:nvSpPr>
        <p:spPr>
          <a:xfrm rot="5400000">
            <a:off x="5565106" y="3581750"/>
            <a:ext cx="144016" cy="432048"/>
          </a:xfrm>
          <a:prstGeom prst="mo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4AE6CDA8-6278-4A8B-8104-BE71968E72E1}"/>
              </a:ext>
            </a:extLst>
          </p:cNvPr>
          <p:cNvSpPr/>
          <p:nvPr/>
        </p:nvSpPr>
        <p:spPr>
          <a:xfrm>
            <a:off x="5538440" y="3926676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円/楕円 13">
            <a:extLst>
              <a:ext uri="{FF2B5EF4-FFF2-40B4-BE49-F238E27FC236}">
                <a16:creationId xmlns:a16="http://schemas.microsoft.com/office/drawing/2014/main" id="{C409A4D9-2333-4219-8E30-CDBA2BA9AC69}"/>
              </a:ext>
            </a:extLst>
          </p:cNvPr>
          <p:cNvSpPr/>
          <p:nvPr/>
        </p:nvSpPr>
        <p:spPr>
          <a:xfrm>
            <a:off x="5574444" y="3752216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810AA18D-8FEA-4C90-A98C-0FEC35328596}"/>
              </a:ext>
            </a:extLst>
          </p:cNvPr>
          <p:cNvSpPr txBox="1"/>
          <p:nvPr/>
        </p:nvSpPr>
        <p:spPr>
          <a:xfrm>
            <a:off x="539552" y="4750929"/>
            <a:ext cx="698781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l"/>
            </a:pPr>
            <a:r>
              <a:rPr lang="ja-JP" altLang="en-US" sz="2400"/>
              <a:t>リードタイム</a:t>
            </a:r>
            <a:r>
              <a:rPr lang="en-US" altLang="ja-JP" sz="2400"/>
              <a:t>(lead time:LT)</a:t>
            </a:r>
            <a:br>
              <a:rPr lang="en-US" altLang="ja-JP" dirty="0"/>
            </a:br>
            <a:r>
              <a:rPr lang="en-US" altLang="ja-JP"/>
              <a:t>	</a:t>
            </a:r>
            <a:r>
              <a:rPr lang="ja-JP" altLang="en-US"/>
              <a:t>モノが流れ始めて（入口）から完了する（出口）までの時間。</a:t>
            </a:r>
            <a:endParaRPr lang="en-US" altLang="ja-JP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BC83BC2A-578E-4B11-8A9F-FE9BA98CFBC6}"/>
              </a:ext>
            </a:extLst>
          </p:cNvPr>
          <p:cNvSpPr txBox="1"/>
          <p:nvPr/>
        </p:nvSpPr>
        <p:spPr>
          <a:xfrm>
            <a:off x="2413307" y="1924362"/>
            <a:ext cx="3456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〇個を〇時間で</a:t>
            </a:r>
            <a:r>
              <a:rPr lang="en-US" altLang="ja-JP">
                <a:sym typeface="Wingdings" panose="05000000000000000000" pitchFamily="2" charset="2"/>
              </a:rPr>
              <a:t></a:t>
            </a:r>
            <a:r>
              <a:rPr lang="ja-JP" altLang="en-US">
                <a:sym typeface="Wingdings" panose="05000000000000000000" pitchFamily="2" charset="2"/>
              </a:rPr>
              <a:t>１個当たり</a:t>
            </a:r>
            <a:r>
              <a:rPr lang="ja-JP" altLang="en-US"/>
              <a:t>〇秒</a:t>
            </a:r>
            <a:endParaRPr kumimoji="1" lang="ja-JP" altLang="en-US"/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52427D05-7FE8-4CC1-B607-B6DC372B0A49}"/>
              </a:ext>
            </a:extLst>
          </p:cNvPr>
          <p:cNvSpPr/>
          <p:nvPr/>
        </p:nvSpPr>
        <p:spPr>
          <a:xfrm>
            <a:off x="2234955" y="4137921"/>
            <a:ext cx="3744812" cy="8712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3284D627-4238-4408-96CC-322C4FE8E6CA}"/>
              </a:ext>
            </a:extLst>
          </p:cNvPr>
          <p:cNvCxnSpPr>
            <a:cxnSpLocks/>
          </p:cNvCxnSpPr>
          <p:nvPr/>
        </p:nvCxnSpPr>
        <p:spPr>
          <a:xfrm>
            <a:off x="4084492" y="4286592"/>
            <a:ext cx="0" cy="3768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CDEC0F38-C010-4405-A4F9-33C1736B35AD}"/>
              </a:ext>
            </a:extLst>
          </p:cNvPr>
          <p:cNvCxnSpPr>
            <a:cxnSpLocks/>
          </p:cNvCxnSpPr>
          <p:nvPr/>
        </p:nvCxnSpPr>
        <p:spPr>
          <a:xfrm>
            <a:off x="5646452" y="4286592"/>
            <a:ext cx="0" cy="3768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6647B68C-1CB3-42A9-AD11-D1031EFD06B8}"/>
              </a:ext>
            </a:extLst>
          </p:cNvPr>
          <p:cNvCxnSpPr/>
          <p:nvPr/>
        </p:nvCxnSpPr>
        <p:spPr>
          <a:xfrm>
            <a:off x="4084492" y="4468673"/>
            <a:ext cx="1552622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125FDEFE-BC36-490D-8632-0149DE4CD7C3}"/>
              </a:ext>
            </a:extLst>
          </p:cNvPr>
          <p:cNvSpPr txBox="1"/>
          <p:nvPr/>
        </p:nvSpPr>
        <p:spPr>
          <a:xfrm>
            <a:off x="4313094" y="447877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〇秒間隔</a:t>
            </a:r>
            <a:endParaRPr kumimoji="1" lang="ja-JP" altLang="en-US"/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4DC5B399-5E24-40BD-8C90-8D90440DB9D3}"/>
              </a:ext>
            </a:extLst>
          </p:cNvPr>
          <p:cNvSpPr/>
          <p:nvPr/>
        </p:nvSpPr>
        <p:spPr>
          <a:xfrm>
            <a:off x="1519739" y="5993188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CFB2FA4B-52AC-42A6-84CF-893509F051D2}"/>
              </a:ext>
            </a:extLst>
          </p:cNvPr>
          <p:cNvSpPr/>
          <p:nvPr/>
        </p:nvSpPr>
        <p:spPr>
          <a:xfrm>
            <a:off x="1735763" y="5993188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E59EE71A-8859-4787-BF29-9FD7DFD0A888}"/>
              </a:ext>
            </a:extLst>
          </p:cNvPr>
          <p:cNvSpPr/>
          <p:nvPr/>
        </p:nvSpPr>
        <p:spPr>
          <a:xfrm>
            <a:off x="1951787" y="5993188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E180E716-555F-436C-B376-AE7BBD24F14B}"/>
              </a:ext>
            </a:extLst>
          </p:cNvPr>
          <p:cNvSpPr/>
          <p:nvPr/>
        </p:nvSpPr>
        <p:spPr>
          <a:xfrm>
            <a:off x="1843775" y="5849172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03093CE4-1F8B-4767-B75E-CF829D22EB2E}"/>
              </a:ext>
            </a:extLst>
          </p:cNvPr>
          <p:cNvSpPr/>
          <p:nvPr/>
        </p:nvSpPr>
        <p:spPr>
          <a:xfrm>
            <a:off x="1627751" y="5849172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7" name="正方形/長方形 96">
            <a:extLst>
              <a:ext uri="{FF2B5EF4-FFF2-40B4-BE49-F238E27FC236}">
                <a16:creationId xmlns:a16="http://schemas.microsoft.com/office/drawing/2014/main" id="{6F99A845-48E0-41CF-B137-778CDBF3A747}"/>
              </a:ext>
            </a:extLst>
          </p:cNvPr>
          <p:cNvSpPr/>
          <p:nvPr/>
        </p:nvSpPr>
        <p:spPr>
          <a:xfrm>
            <a:off x="1735763" y="5690569"/>
            <a:ext cx="216024" cy="1440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8" name="月 97">
            <a:extLst>
              <a:ext uri="{FF2B5EF4-FFF2-40B4-BE49-F238E27FC236}">
                <a16:creationId xmlns:a16="http://schemas.microsoft.com/office/drawing/2014/main" id="{145C7580-6F95-48E7-9E89-E6DFC0B76922}"/>
              </a:ext>
            </a:extLst>
          </p:cNvPr>
          <p:cNvSpPr/>
          <p:nvPr/>
        </p:nvSpPr>
        <p:spPr>
          <a:xfrm rot="5400000">
            <a:off x="4003146" y="5351132"/>
            <a:ext cx="144016" cy="432048"/>
          </a:xfrm>
          <a:prstGeom prst="mo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E7D38AC2-D357-4A28-B033-FAE598C11E9D}"/>
              </a:ext>
            </a:extLst>
          </p:cNvPr>
          <p:cNvSpPr/>
          <p:nvPr/>
        </p:nvSpPr>
        <p:spPr>
          <a:xfrm>
            <a:off x="3976480" y="5696058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0" name="円/楕円 13">
            <a:extLst>
              <a:ext uri="{FF2B5EF4-FFF2-40B4-BE49-F238E27FC236}">
                <a16:creationId xmlns:a16="http://schemas.microsoft.com/office/drawing/2014/main" id="{5BA6E6A9-C99F-4923-A0E7-4C85D21624FE}"/>
              </a:ext>
            </a:extLst>
          </p:cNvPr>
          <p:cNvSpPr/>
          <p:nvPr/>
        </p:nvSpPr>
        <p:spPr>
          <a:xfrm>
            <a:off x="4012484" y="552159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13C0834F-BE86-4231-B000-FDC4C19B1EA9}"/>
              </a:ext>
            </a:extLst>
          </p:cNvPr>
          <p:cNvSpPr/>
          <p:nvPr/>
        </p:nvSpPr>
        <p:spPr>
          <a:xfrm>
            <a:off x="6087779" y="5993188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EC91CA4C-F6C5-4CE5-84D9-FD63C76B14F7}"/>
              </a:ext>
            </a:extLst>
          </p:cNvPr>
          <p:cNvSpPr/>
          <p:nvPr/>
        </p:nvSpPr>
        <p:spPr>
          <a:xfrm>
            <a:off x="6303803" y="5993188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" name="正方形/長方形 102">
            <a:extLst>
              <a:ext uri="{FF2B5EF4-FFF2-40B4-BE49-F238E27FC236}">
                <a16:creationId xmlns:a16="http://schemas.microsoft.com/office/drawing/2014/main" id="{2515E3C6-13CE-4CE7-87DB-7D7849AC1774}"/>
              </a:ext>
            </a:extLst>
          </p:cNvPr>
          <p:cNvSpPr/>
          <p:nvPr/>
        </p:nvSpPr>
        <p:spPr>
          <a:xfrm>
            <a:off x="6519827" y="5993188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00629BA5-0061-4219-8157-F3D4B9FE658B}"/>
              </a:ext>
            </a:extLst>
          </p:cNvPr>
          <p:cNvSpPr/>
          <p:nvPr/>
        </p:nvSpPr>
        <p:spPr>
          <a:xfrm>
            <a:off x="6411815" y="5849172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EB9DE99A-0D03-47CE-B608-5ABFD9D39F59}"/>
              </a:ext>
            </a:extLst>
          </p:cNvPr>
          <p:cNvSpPr/>
          <p:nvPr/>
        </p:nvSpPr>
        <p:spPr>
          <a:xfrm>
            <a:off x="6195791" y="5849172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A7887F3A-B5AF-48A4-B16C-5A7B4A5D1CF3}"/>
              </a:ext>
            </a:extLst>
          </p:cNvPr>
          <p:cNvSpPr/>
          <p:nvPr/>
        </p:nvSpPr>
        <p:spPr>
          <a:xfrm>
            <a:off x="6303803" y="5690569"/>
            <a:ext cx="216024" cy="144016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EE77E587-2582-4D0A-8026-ABEFD76C918A}"/>
              </a:ext>
            </a:extLst>
          </p:cNvPr>
          <p:cNvCxnSpPr>
            <a:cxnSpLocks/>
          </p:cNvCxnSpPr>
          <p:nvPr/>
        </p:nvCxnSpPr>
        <p:spPr>
          <a:xfrm>
            <a:off x="2685615" y="5748320"/>
            <a:ext cx="12216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矢印コネクタ 107">
            <a:extLst>
              <a:ext uri="{FF2B5EF4-FFF2-40B4-BE49-F238E27FC236}">
                <a16:creationId xmlns:a16="http://schemas.microsoft.com/office/drawing/2014/main" id="{10578D37-0567-43BF-960B-8FB4A6E19188}"/>
              </a:ext>
            </a:extLst>
          </p:cNvPr>
          <p:cNvCxnSpPr>
            <a:cxnSpLocks/>
          </p:cNvCxnSpPr>
          <p:nvPr/>
        </p:nvCxnSpPr>
        <p:spPr>
          <a:xfrm>
            <a:off x="4245765" y="5748320"/>
            <a:ext cx="125139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EDBBC512-02E6-4E1A-851F-B40CC9CB6427}"/>
              </a:ext>
            </a:extLst>
          </p:cNvPr>
          <p:cNvCxnSpPr/>
          <p:nvPr/>
        </p:nvCxnSpPr>
        <p:spPr>
          <a:xfrm>
            <a:off x="5806247" y="5748320"/>
            <a:ext cx="432048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月 109">
            <a:extLst>
              <a:ext uri="{FF2B5EF4-FFF2-40B4-BE49-F238E27FC236}">
                <a16:creationId xmlns:a16="http://schemas.microsoft.com/office/drawing/2014/main" id="{AE8AF58A-3B24-480F-ADF9-40DF78750925}"/>
              </a:ext>
            </a:extLst>
          </p:cNvPr>
          <p:cNvSpPr/>
          <p:nvPr/>
        </p:nvSpPr>
        <p:spPr>
          <a:xfrm rot="5400000">
            <a:off x="2414520" y="5351132"/>
            <a:ext cx="144016" cy="432048"/>
          </a:xfrm>
          <a:prstGeom prst="mo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3D1FDADC-CF37-4E4A-9FAF-3764FBFF4178}"/>
              </a:ext>
            </a:extLst>
          </p:cNvPr>
          <p:cNvSpPr/>
          <p:nvPr/>
        </p:nvSpPr>
        <p:spPr>
          <a:xfrm>
            <a:off x="2387854" y="5696058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" name="円/楕円 13">
            <a:extLst>
              <a:ext uri="{FF2B5EF4-FFF2-40B4-BE49-F238E27FC236}">
                <a16:creationId xmlns:a16="http://schemas.microsoft.com/office/drawing/2014/main" id="{C86D7B81-DA4C-461C-870B-AB6E63411AC1}"/>
              </a:ext>
            </a:extLst>
          </p:cNvPr>
          <p:cNvSpPr/>
          <p:nvPr/>
        </p:nvSpPr>
        <p:spPr>
          <a:xfrm>
            <a:off x="2423858" y="552159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" name="月 112">
            <a:extLst>
              <a:ext uri="{FF2B5EF4-FFF2-40B4-BE49-F238E27FC236}">
                <a16:creationId xmlns:a16="http://schemas.microsoft.com/office/drawing/2014/main" id="{871EA610-842A-4ADE-8635-C0F3E3871E24}"/>
              </a:ext>
            </a:extLst>
          </p:cNvPr>
          <p:cNvSpPr/>
          <p:nvPr/>
        </p:nvSpPr>
        <p:spPr>
          <a:xfrm rot="5400000">
            <a:off x="5565106" y="5351132"/>
            <a:ext cx="144016" cy="432048"/>
          </a:xfrm>
          <a:prstGeom prst="mo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D91DDB3F-8CFF-4EF1-8777-CEACC573122E}"/>
              </a:ext>
            </a:extLst>
          </p:cNvPr>
          <p:cNvSpPr/>
          <p:nvPr/>
        </p:nvSpPr>
        <p:spPr>
          <a:xfrm>
            <a:off x="5538440" y="5696058"/>
            <a:ext cx="216024" cy="1440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5" name="円/楕円 13">
            <a:extLst>
              <a:ext uri="{FF2B5EF4-FFF2-40B4-BE49-F238E27FC236}">
                <a16:creationId xmlns:a16="http://schemas.microsoft.com/office/drawing/2014/main" id="{B8E8A42C-1A27-4C7E-8E0F-09E9DB0DF8BF}"/>
              </a:ext>
            </a:extLst>
          </p:cNvPr>
          <p:cNvSpPr/>
          <p:nvPr/>
        </p:nvSpPr>
        <p:spPr>
          <a:xfrm>
            <a:off x="5574444" y="552159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6" name="正方形/長方形 115">
            <a:extLst>
              <a:ext uri="{FF2B5EF4-FFF2-40B4-BE49-F238E27FC236}">
                <a16:creationId xmlns:a16="http://schemas.microsoft.com/office/drawing/2014/main" id="{7AE448C5-55D0-4B4A-A01C-5F2018D48C5F}"/>
              </a:ext>
            </a:extLst>
          </p:cNvPr>
          <p:cNvSpPr/>
          <p:nvPr/>
        </p:nvSpPr>
        <p:spPr>
          <a:xfrm>
            <a:off x="2234955" y="5907303"/>
            <a:ext cx="3744812" cy="8712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7" name="直線コネクタ 116">
            <a:extLst>
              <a:ext uri="{FF2B5EF4-FFF2-40B4-BE49-F238E27FC236}">
                <a16:creationId xmlns:a16="http://schemas.microsoft.com/office/drawing/2014/main" id="{3FDAB3DA-B866-4BC2-803B-0C3867BC169B}"/>
              </a:ext>
            </a:extLst>
          </p:cNvPr>
          <p:cNvCxnSpPr>
            <a:cxnSpLocks/>
          </p:cNvCxnSpPr>
          <p:nvPr/>
        </p:nvCxnSpPr>
        <p:spPr>
          <a:xfrm>
            <a:off x="2234955" y="6049631"/>
            <a:ext cx="0" cy="3768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コネクタ 117">
            <a:extLst>
              <a:ext uri="{FF2B5EF4-FFF2-40B4-BE49-F238E27FC236}">
                <a16:creationId xmlns:a16="http://schemas.microsoft.com/office/drawing/2014/main" id="{C749899B-DA46-4659-BEA2-FC017939972F}"/>
              </a:ext>
            </a:extLst>
          </p:cNvPr>
          <p:cNvCxnSpPr>
            <a:cxnSpLocks/>
          </p:cNvCxnSpPr>
          <p:nvPr/>
        </p:nvCxnSpPr>
        <p:spPr>
          <a:xfrm>
            <a:off x="5979799" y="6049631"/>
            <a:ext cx="0" cy="3768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矢印コネクタ 118">
            <a:extLst>
              <a:ext uri="{FF2B5EF4-FFF2-40B4-BE49-F238E27FC236}">
                <a16:creationId xmlns:a16="http://schemas.microsoft.com/office/drawing/2014/main" id="{5E77A14A-62CE-4B3C-844E-211AA861D84F}"/>
              </a:ext>
            </a:extLst>
          </p:cNvPr>
          <p:cNvCxnSpPr>
            <a:cxnSpLocks/>
          </p:cNvCxnSpPr>
          <p:nvPr/>
        </p:nvCxnSpPr>
        <p:spPr>
          <a:xfrm>
            <a:off x="2234955" y="6238055"/>
            <a:ext cx="3744812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テキスト ボックス 119">
            <a:extLst>
              <a:ext uri="{FF2B5EF4-FFF2-40B4-BE49-F238E27FC236}">
                <a16:creationId xmlns:a16="http://schemas.microsoft.com/office/drawing/2014/main" id="{14B681A3-FB39-408D-B7E6-F59FAD5CD82A}"/>
              </a:ext>
            </a:extLst>
          </p:cNvPr>
          <p:cNvSpPr txBox="1"/>
          <p:nvPr/>
        </p:nvSpPr>
        <p:spPr>
          <a:xfrm>
            <a:off x="3751988" y="620460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〇秒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7921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289</Words>
  <Application>Microsoft Office PowerPoint</Application>
  <PresentationFormat>画面に合わせる (4:3)</PresentationFormat>
  <Paragraphs>20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Arial</vt:lpstr>
      <vt:lpstr>Calibri</vt:lpstr>
      <vt:lpstr>Wingdings</vt:lpstr>
      <vt:lpstr>Office テーマ</vt:lpstr>
      <vt:lpstr>PowerPoint プレゼンテーション</vt:lpstr>
      <vt:lpstr>PowerPoint プレゼンテーション</vt:lpstr>
      <vt:lpstr>ロット流しと１個流し</vt:lpstr>
      <vt:lpstr>タクトタイム/サイクルタイムとリードタイム</vt:lpstr>
    </vt:vector>
  </TitlesOfParts>
  <Company>日本光電工業株式会社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五十嵐 淳一</dc:creator>
  <cp:lastModifiedBy>IGARASHI Junichi (五十嵐 淳一)</cp:lastModifiedBy>
  <cp:revision>16</cp:revision>
  <dcterms:created xsi:type="dcterms:W3CDTF">2014-04-14T03:44:46Z</dcterms:created>
  <dcterms:modified xsi:type="dcterms:W3CDTF">2021-04-15T01:44:40Z</dcterms:modified>
</cp:coreProperties>
</file>