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6"/>
  </p:notesMasterIdLst>
  <p:sldIdLst>
    <p:sldId id="257" r:id="rId5"/>
    <p:sldId id="277" r:id="rId6"/>
    <p:sldId id="256" r:id="rId7"/>
    <p:sldId id="266" r:id="rId8"/>
    <p:sldId id="264" r:id="rId9"/>
    <p:sldId id="261" r:id="rId10"/>
    <p:sldId id="259" r:id="rId11"/>
    <p:sldId id="270" r:id="rId12"/>
    <p:sldId id="262" r:id="rId13"/>
    <p:sldId id="285" r:id="rId14"/>
    <p:sldId id="272" r:id="rId15"/>
    <p:sldId id="273" r:id="rId16"/>
    <p:sldId id="274" r:id="rId17"/>
    <p:sldId id="286" r:id="rId18"/>
    <p:sldId id="278" r:id="rId19"/>
    <p:sldId id="279" r:id="rId20"/>
    <p:sldId id="280" r:id="rId21"/>
    <p:sldId id="281" r:id="rId22"/>
    <p:sldId id="283" r:id="rId23"/>
    <p:sldId id="284" r:id="rId24"/>
    <p:sldId id="282" r:id="rId25"/>
  </p:sldIdLst>
  <p:sldSz cx="9144000" cy="6858000" type="screen4x3"/>
  <p:notesSz cx="6735763" cy="98663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158" userDrawn="1">
          <p15:clr>
            <a:srgbClr val="A4A3A4"/>
          </p15:clr>
        </p15:guide>
        <p15:guide id="4" pos="56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6600"/>
    <a:srgbClr val="FF3399"/>
    <a:srgbClr val="FF9999"/>
    <a:srgbClr val="FF99FF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5573" autoAdjust="0"/>
    <p:restoredTop sz="96096" autoAdjust="0"/>
  </p:normalViewPr>
  <p:slideViewPr>
    <p:cSldViewPr snapToGrid="0" showGuides="1">
      <p:cViewPr varScale="1">
        <p:scale>
          <a:sx n="99" d="100"/>
          <a:sy n="99" d="100"/>
        </p:scale>
        <p:origin x="2724" y="264"/>
      </p:cViewPr>
      <p:guideLst>
        <p:guide orient="horz" pos="2160"/>
        <p:guide pos="2880"/>
        <p:guide pos="158"/>
        <p:guide pos="560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8-08T06:32:48.143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24,'0'0,"0"-1,1 1,-1-1,0 0,1 0,-1 0,1 0,-1 1,0-1,1 1,-1-1,1 0,0 0,0 1,-1-1,1 1,-1 0,1 0,0-1,0 1,0-1,-1 1,1-1,0 1,-1 0,1 0,2-1,27-2,-26 2,308-3,-169 6,648-2,-770 1,0 2,-1 0,1 1,25 9,-19-6,44 7,52 5,-75-10,0-1,61 0,184-10,-274 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8-08T06:37:21.802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1,'31'2,"1"0,-1 3,30 8,-29-6,0-1,62 4,-1-12,83 3,-102 10,-47-6,42 1,646-4,-348-4,-288 3,88-3,-101-11,-47 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8-08T06:37:27.511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1,'30'2,"2"0,-2 2,34 10,26 4,-28-13,0-2,65-5,-20-1,363 4,-454-3,1 1,30-8,-29 5,0 1,22-1,417 2,-221 5,-219-3,-1 2,31 6,-29-4,0 0,22 0,-19-3,-1-1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8-08T06:48:47.785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1,'1297'0,"-1278"0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8-08T08:36:09.224"/>
    </inkml:context>
    <inkml:brush xml:id="br0">
      <inkml:brushProperty name="width" value="0.4" units="cm"/>
      <inkml:brushProperty name="height" value="0.8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1,'27'1,"1"0,0 2,45 11,-32-8,1-1,-1-2,79-4,-46 0,-31-2,62-10,-61 6,60-2,42 10,-121-1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8-08T08:37:10.768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0,'2866'0,"-2841"0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8-08T08:38:11.041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1,'5'0,"7"0,6 0,5 0,4 0,3 0,0 0,1 0,0 0,-1 0,0 0,0 0,0 0,0 0,5 0,1 0,0 0,-7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8-08T08:38:35.549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1,'503'0,"-477"0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8621" cy="494813"/>
          </a:xfrm>
          <a:prstGeom prst="rect">
            <a:avLst/>
          </a:prstGeom>
        </p:spPr>
        <p:txBody>
          <a:bodyPr vert="horz" lIns="90644" tIns="45322" rIns="90644" bIns="45322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5572" y="0"/>
            <a:ext cx="2918621" cy="494813"/>
          </a:xfrm>
          <a:prstGeom prst="rect">
            <a:avLst/>
          </a:prstGeom>
        </p:spPr>
        <p:txBody>
          <a:bodyPr vert="horz" lIns="90644" tIns="45322" rIns="90644" bIns="45322" rtlCol="0"/>
          <a:lstStyle>
            <a:lvl1pPr algn="r">
              <a:defRPr sz="1200"/>
            </a:lvl1pPr>
          </a:lstStyle>
          <a:p>
            <a:fld id="{BEA72B09-E478-4F38-864D-62116973294D}" type="datetimeFigureOut">
              <a:rPr kumimoji="1" lang="ja-JP" altLang="en-US" smtClean="0"/>
              <a:t>2025/4/21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47763" y="1233488"/>
            <a:ext cx="4440237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644" tIns="45322" rIns="90644" bIns="45322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891" y="4747996"/>
            <a:ext cx="5387982" cy="3884437"/>
          </a:xfrm>
          <a:prstGeom prst="rect">
            <a:avLst/>
          </a:prstGeom>
        </p:spPr>
        <p:txBody>
          <a:bodyPr vert="horz" lIns="90644" tIns="45322" rIns="90644" bIns="45322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371501"/>
            <a:ext cx="2918621" cy="494813"/>
          </a:xfrm>
          <a:prstGeom prst="rect">
            <a:avLst/>
          </a:prstGeom>
        </p:spPr>
        <p:txBody>
          <a:bodyPr vert="horz" lIns="90644" tIns="45322" rIns="90644" bIns="45322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5572" y="9371501"/>
            <a:ext cx="2918621" cy="494813"/>
          </a:xfrm>
          <a:prstGeom prst="rect">
            <a:avLst/>
          </a:prstGeom>
        </p:spPr>
        <p:txBody>
          <a:bodyPr vert="horz" lIns="90644" tIns="45322" rIns="90644" bIns="45322" rtlCol="0" anchor="b"/>
          <a:lstStyle>
            <a:lvl1pPr algn="r">
              <a:defRPr sz="1200"/>
            </a:lvl1pPr>
          </a:lstStyle>
          <a:p>
            <a:fld id="{A39393BD-677A-4DFA-B81A-F7C918CF52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1307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9393BD-677A-4DFA-B81A-F7C918CF5292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25206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9393BD-677A-4DFA-B81A-F7C918CF5292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75039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9393BD-677A-4DFA-B81A-F7C918CF5292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3917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14931-DFD6-4FA3-BCFE-4FA81395D3F7}" type="datetime1">
              <a:rPr kumimoji="1" lang="ja-JP" altLang="en-US" smtClean="0"/>
              <a:t>2025/4/21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6CD11-9029-4718-B542-A07CCE74E5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1577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51328-A855-40B3-BEA7-30CA5534A069}" type="datetime1">
              <a:rPr kumimoji="1" lang="ja-JP" altLang="en-US" smtClean="0"/>
              <a:t>2025/4/21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6CD11-9029-4718-B542-A07CCE74E5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2825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F484A-5305-4037-96AB-31E447A40538}" type="datetime1">
              <a:rPr kumimoji="1" lang="ja-JP" altLang="en-US" smtClean="0"/>
              <a:t>2025/4/21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6CD11-9029-4718-B542-A07CCE74E5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9011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57F-B40C-4DA6-A874-F8E9B287BA5C}" type="datetime1">
              <a:rPr kumimoji="1" lang="ja-JP" altLang="en-US" smtClean="0"/>
              <a:t>2025/4/21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6CD11-9029-4718-B542-A07CCE74E5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2028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BB735-745B-4D1F-AA39-7C4D793C8C40}" type="datetime1">
              <a:rPr kumimoji="1" lang="ja-JP" altLang="en-US" smtClean="0"/>
              <a:t>2025/4/21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6CD11-9029-4718-B542-A07CCE74E5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86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5ECEC-165D-427B-805D-4AA95D143E4E}" type="datetime1">
              <a:rPr kumimoji="1" lang="ja-JP" altLang="en-US" smtClean="0"/>
              <a:t>2025/4/21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6CD11-9029-4718-B542-A07CCE74E5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7326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2057C-7EBF-4104-B0EA-55D0F0A0B069}" type="datetime1">
              <a:rPr kumimoji="1" lang="ja-JP" altLang="en-US" smtClean="0"/>
              <a:t>2025/4/21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6CD11-9029-4718-B542-A07CCE74E5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2962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391CC-181D-4F32-A58C-C0856C3A47B3}" type="datetime1">
              <a:rPr kumimoji="1" lang="ja-JP" altLang="en-US" smtClean="0"/>
              <a:t>2025/4/21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6CD11-9029-4718-B542-A07CCE74E5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1236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32942-179B-49B7-B25B-669491967D83}" type="datetime1">
              <a:rPr kumimoji="1" lang="ja-JP" altLang="en-US" smtClean="0"/>
              <a:t>2025/4/21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6CD11-9029-4718-B542-A07CCE74E5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5538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4FE5-D5F7-42DC-BC11-53C4E67316A7}" type="datetime1">
              <a:rPr kumimoji="1" lang="ja-JP" altLang="en-US" smtClean="0"/>
              <a:t>2025/4/21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6CD11-9029-4718-B542-A07CCE74E5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8124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43974-9D39-4D50-87B6-E6E611C9D1A7}" type="datetime1">
              <a:rPr kumimoji="1" lang="ja-JP" altLang="en-US" smtClean="0"/>
              <a:t>2025/4/21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6CD11-9029-4718-B542-A07CCE74E5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2712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17C3B0-6AAA-4342-A63D-0ABCC68548DF}" type="datetime1">
              <a:rPr kumimoji="1" lang="ja-JP" altLang="en-US" smtClean="0"/>
              <a:t>2025/4/21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6CD11-9029-4718-B542-A07CCE74E5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9450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2.jpeg"/><Relationship Id="rId7" Type="http://schemas.openxmlformats.org/officeDocument/2006/relationships/image" Target="../media/image1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13" Type="http://schemas.openxmlformats.org/officeDocument/2006/relationships/image" Target="../media/image21.png"/><Relationship Id="rId18" Type="http://schemas.openxmlformats.org/officeDocument/2006/relationships/customXml" Target="../ink/ink7.xml"/><Relationship Id="rId3" Type="http://schemas.openxmlformats.org/officeDocument/2006/relationships/customXml" Target="../ink/ink1.xml"/><Relationship Id="rId21" Type="http://schemas.openxmlformats.org/officeDocument/2006/relationships/image" Target="../media/image26.png"/><Relationship Id="rId7" Type="http://schemas.openxmlformats.org/officeDocument/2006/relationships/customXml" Target="../ink/ink3.xml"/><Relationship Id="rId12" Type="http://schemas.openxmlformats.org/officeDocument/2006/relationships/image" Target="../media/image22.png"/><Relationship Id="rId17" Type="http://schemas.openxmlformats.org/officeDocument/2006/relationships/image" Target="../media/image24.png"/><Relationship Id="rId2" Type="http://schemas.openxmlformats.org/officeDocument/2006/relationships/image" Target="../media/image20.png"/><Relationship Id="rId16" Type="http://schemas.openxmlformats.org/officeDocument/2006/relationships/customXml" Target="../ink/ink6.xml"/><Relationship Id="rId20" Type="http://schemas.openxmlformats.org/officeDocument/2006/relationships/customXml" Target="../ink/ink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0.png"/><Relationship Id="rId5" Type="http://schemas.openxmlformats.org/officeDocument/2006/relationships/customXml" Target="../ink/ink2.xml"/><Relationship Id="rId15" Type="http://schemas.openxmlformats.org/officeDocument/2006/relationships/image" Target="../media/image23.png"/><Relationship Id="rId19" Type="http://schemas.openxmlformats.org/officeDocument/2006/relationships/image" Target="../media/image25.png"/><Relationship Id="rId4" Type="http://schemas.openxmlformats.org/officeDocument/2006/relationships/image" Target="../media/image180.png"/><Relationship Id="rId9" Type="http://schemas.openxmlformats.org/officeDocument/2006/relationships/customXml" Target="../ink/ink4.xml"/><Relationship Id="rId14" Type="http://schemas.openxmlformats.org/officeDocument/2006/relationships/customXml" Target="../ink/ink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2.jpeg"/><Relationship Id="rId7" Type="http://schemas.openxmlformats.org/officeDocument/2006/relationships/image" Target="../media/image1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/>
          <p:cNvSpPr/>
          <p:nvPr/>
        </p:nvSpPr>
        <p:spPr>
          <a:xfrm>
            <a:off x="7724718" y="277194"/>
            <a:ext cx="582912" cy="1942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確認</a:t>
            </a:r>
          </a:p>
        </p:txBody>
      </p:sp>
      <p:sp>
        <p:nvSpPr>
          <p:cNvPr id="32" name="正方形/長方形 31"/>
          <p:cNvSpPr/>
          <p:nvPr/>
        </p:nvSpPr>
        <p:spPr>
          <a:xfrm>
            <a:off x="8315501" y="277194"/>
            <a:ext cx="582912" cy="1942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作成</a:t>
            </a:r>
          </a:p>
        </p:txBody>
      </p:sp>
      <p:sp>
        <p:nvSpPr>
          <p:cNvPr id="33" name="正方形/長方形 32"/>
          <p:cNvSpPr/>
          <p:nvPr/>
        </p:nvSpPr>
        <p:spPr>
          <a:xfrm>
            <a:off x="7724718" y="281124"/>
            <a:ext cx="582912" cy="7580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正方形/長方形 36"/>
          <p:cNvSpPr/>
          <p:nvPr/>
        </p:nvSpPr>
        <p:spPr>
          <a:xfrm>
            <a:off x="8315501" y="281124"/>
            <a:ext cx="582912" cy="7580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タイトル 1"/>
          <p:cNvSpPr>
            <a:spLocks noGrp="1"/>
          </p:cNvSpPr>
          <p:nvPr>
            <p:ph type="ctrTitle"/>
          </p:nvPr>
        </p:nvSpPr>
        <p:spPr>
          <a:xfrm>
            <a:off x="688532" y="871978"/>
            <a:ext cx="7766936" cy="5114044"/>
          </a:xfrm>
        </p:spPr>
        <p:txBody>
          <a:bodyPr>
            <a:normAutofit/>
          </a:bodyPr>
          <a:lstStyle/>
          <a:p>
            <a:pPr algn="ctr"/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戸締りルール</a:t>
            </a:r>
            <a:b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</a:br>
            <a:br>
              <a:rPr kumimoji="1" lang="en-US" altLang="ja-JP" sz="3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</a:br>
            <a:r>
              <a:rPr kumimoji="1" lang="en-US" altLang="ja-JP" sz="3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Rev.20</a:t>
            </a:r>
            <a:br>
              <a:rPr kumimoji="1" lang="en-US" altLang="ja-JP" sz="3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</a:br>
            <a:r>
              <a:rPr kumimoji="1" lang="ja-JP" altLang="en-US" sz="3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（</a:t>
            </a:r>
            <a:r>
              <a:rPr lang="ja-JP" altLang="en-US" sz="3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改定日：</a:t>
            </a:r>
            <a:r>
              <a:rPr lang="en-US" altLang="ja-JP" sz="3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2025/1/15</a:t>
            </a:r>
            <a:r>
              <a:rPr lang="ja-JP" altLang="en-US" sz="3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）</a:t>
            </a:r>
            <a:br>
              <a:rPr lang="en-US" altLang="ja-JP" sz="3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</a:br>
            <a:br>
              <a:rPr lang="en-US" altLang="ja-JP" sz="3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</a:br>
            <a:br>
              <a:rPr lang="en-US" altLang="ja-JP" sz="3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</a:br>
            <a:br>
              <a:rPr lang="en-US" altLang="ja-JP" sz="2200" dirty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</a:br>
            <a:r>
              <a:rPr lang="ja-JP" altLang="en-US" sz="2200" dirty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西山</a:t>
            </a:r>
            <a:r>
              <a:rPr lang="en-US" altLang="ja-JP" sz="2200" dirty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B</a:t>
            </a:r>
            <a:r>
              <a:rPr lang="ja-JP" altLang="en-US" sz="2200" dirty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の席後ろに</a:t>
            </a:r>
            <a:r>
              <a:rPr lang="en-US" altLang="ja-JP" sz="2200" dirty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LED</a:t>
            </a:r>
            <a:r>
              <a:rPr lang="ja-JP" altLang="en-US" sz="2200" dirty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ライトがあるため活用してください</a:t>
            </a:r>
            <a:br>
              <a:rPr lang="en-US" altLang="ja-JP" sz="2200" dirty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</a:br>
            <a:r>
              <a:rPr lang="ja-JP" altLang="en-US" sz="2200" dirty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担当週は個人で持って頂いても</a:t>
            </a:r>
            <a:r>
              <a:rPr lang="en-US" altLang="ja-JP" sz="2200" dirty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OK</a:t>
            </a:r>
            <a:endParaRPr kumimoji="1" lang="ja-JP" altLang="en-US" sz="3200" dirty="0">
              <a:solidFill>
                <a:srgbClr val="0070C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DCA56052-4747-18A7-CD03-AE7B7D827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496CD11-9029-4718-B542-A07CCE74E59E}" type="slidenum">
              <a:rPr kumimoji="1" lang="ja-JP" altLang="en-US" sz="3200" b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fld>
            <a:endParaRPr kumimoji="1" lang="ja-JP" altLang="en-US" sz="32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9861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7A242-DE25-D3FE-BF38-5EABEE368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D4539CC2-7A5A-2403-F6D8-81E8C54DCAD0}"/>
              </a:ext>
            </a:extLst>
          </p:cNvPr>
          <p:cNvGrpSpPr/>
          <p:nvPr/>
        </p:nvGrpSpPr>
        <p:grpSpPr>
          <a:xfrm>
            <a:off x="572726" y="1179121"/>
            <a:ext cx="5558445" cy="2727823"/>
            <a:chOff x="4315866" y="1079763"/>
            <a:chExt cx="4796168" cy="2353733"/>
          </a:xfrm>
        </p:grpSpPr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68D8C2EF-49CE-BC05-C86E-3A941FDC69A9}"/>
                </a:ext>
              </a:extLst>
            </p:cNvPr>
            <p:cNvSpPr/>
            <p:nvPr/>
          </p:nvSpPr>
          <p:spPr>
            <a:xfrm>
              <a:off x="4315866" y="1079763"/>
              <a:ext cx="4569508" cy="235373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8A770CD9-6D34-D505-E5D0-575D884CC4E5}"/>
                </a:ext>
              </a:extLst>
            </p:cNvPr>
            <p:cNvSpPr/>
            <p:nvPr/>
          </p:nvSpPr>
          <p:spPr>
            <a:xfrm>
              <a:off x="5193907" y="1714763"/>
              <a:ext cx="2777067" cy="171873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90BDDEB5-9478-B816-8E7A-060072D69458}"/>
                </a:ext>
              </a:extLst>
            </p:cNvPr>
            <p:cNvSpPr txBox="1"/>
            <p:nvPr/>
          </p:nvSpPr>
          <p:spPr>
            <a:xfrm>
              <a:off x="4315866" y="1079763"/>
              <a:ext cx="4587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3F</a:t>
              </a:r>
              <a:endPara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2ED23B0B-C7C1-9AA4-E04D-FEF893573E2F}"/>
                </a:ext>
              </a:extLst>
            </p:cNvPr>
            <p:cNvSpPr/>
            <p:nvPr/>
          </p:nvSpPr>
          <p:spPr>
            <a:xfrm>
              <a:off x="8199574" y="1401498"/>
              <a:ext cx="685800" cy="635000"/>
            </a:xfrm>
            <a:prstGeom prst="rect">
              <a:avLst/>
            </a:prstGeom>
            <a:ln>
              <a:solidFill>
                <a:schemeClr val="accent5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50" dirty="0">
                  <a:solidFill>
                    <a:sysClr val="windowText" lastClr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南西</a:t>
              </a:r>
              <a:endParaRPr kumimoji="1" lang="en-US" altLang="ja-JP" sz="105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  <a:p>
              <a:pPr algn="ctr"/>
              <a:r>
                <a:rPr kumimoji="1" lang="ja-JP" altLang="en-US" sz="1050" dirty="0">
                  <a:solidFill>
                    <a:sysClr val="windowText" lastClr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空調室</a:t>
              </a:r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A79A8088-C5AF-00CA-3E8F-1035768CD67E}"/>
                </a:ext>
              </a:extLst>
            </p:cNvPr>
            <p:cNvSpPr/>
            <p:nvPr/>
          </p:nvSpPr>
          <p:spPr>
            <a:xfrm>
              <a:off x="8199574" y="2798496"/>
              <a:ext cx="685800" cy="635000"/>
            </a:xfrm>
            <a:prstGeom prst="rect">
              <a:avLst/>
            </a:prstGeom>
            <a:ln>
              <a:solidFill>
                <a:schemeClr val="accent5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50" dirty="0">
                  <a:solidFill>
                    <a:sysClr val="windowText" lastClr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北西</a:t>
              </a:r>
              <a:endParaRPr kumimoji="1" lang="en-US" altLang="ja-JP" sz="105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  <a:p>
              <a:pPr algn="ctr"/>
              <a:r>
                <a:rPr kumimoji="1" lang="ja-JP" altLang="en-US" sz="1050" dirty="0">
                  <a:solidFill>
                    <a:sysClr val="windowText" lastClr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空調室</a:t>
              </a:r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1CD1853A-3861-59A7-9352-80D9CF2C968E}"/>
                </a:ext>
              </a:extLst>
            </p:cNvPr>
            <p:cNvSpPr/>
            <p:nvPr/>
          </p:nvSpPr>
          <p:spPr>
            <a:xfrm>
              <a:off x="6709444" y="1714759"/>
              <a:ext cx="1261533" cy="1126066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SMT</a:t>
              </a:r>
              <a:endPara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C46D5CA9-F17A-A0B9-A6E6-D5B5784CD620}"/>
                </a:ext>
              </a:extLst>
            </p:cNvPr>
            <p:cNvSpPr/>
            <p:nvPr/>
          </p:nvSpPr>
          <p:spPr>
            <a:xfrm>
              <a:off x="7437577" y="1714759"/>
              <a:ext cx="533400" cy="389468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8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西</a:t>
              </a:r>
              <a:endParaRPr kumimoji="1" lang="en-US" altLang="ja-JP" sz="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  <a:p>
              <a:pPr algn="ctr"/>
              <a:r>
                <a:rPr kumimoji="1" lang="ja-JP" altLang="en-US" sz="8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カフェ</a:t>
              </a: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27A77F69-41AE-0955-5CB1-3D78203F9FBF}"/>
                </a:ext>
              </a:extLst>
            </p:cNvPr>
            <p:cNvSpPr/>
            <p:nvPr/>
          </p:nvSpPr>
          <p:spPr>
            <a:xfrm>
              <a:off x="4315866" y="1397264"/>
              <a:ext cx="685800" cy="635000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南東</a:t>
              </a:r>
              <a:endParaRPr kumimoji="1"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  <a:p>
              <a:pPr algn="ctr"/>
              <a:r>
                <a:rPr kumimoji="1" lang="ja-JP" altLang="en-US" sz="1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機械室</a:t>
              </a:r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F6A761C6-1EC9-E359-C876-6FB68B9A0444}"/>
                </a:ext>
              </a:extLst>
            </p:cNvPr>
            <p:cNvSpPr/>
            <p:nvPr/>
          </p:nvSpPr>
          <p:spPr>
            <a:xfrm>
              <a:off x="4315866" y="2798496"/>
              <a:ext cx="685800" cy="635000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北東</a:t>
              </a:r>
              <a:endParaRPr kumimoji="1"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  <a:p>
              <a:pPr algn="ctr"/>
              <a:r>
                <a:rPr kumimoji="1" lang="ja-JP" altLang="en-US" sz="1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機械室</a:t>
              </a:r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9CFB19D3-6DD9-BB1B-EC34-60B924573B3A}"/>
                </a:ext>
              </a:extLst>
            </p:cNvPr>
            <p:cNvSpPr/>
            <p:nvPr/>
          </p:nvSpPr>
          <p:spPr>
            <a:xfrm>
              <a:off x="7001542" y="1079763"/>
              <a:ext cx="965199" cy="325966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インスピレーションルーム</a:t>
              </a:r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DD755830-A578-8F2A-C28E-7C99C01FA9F2}"/>
                </a:ext>
              </a:extLst>
            </p:cNvPr>
            <p:cNvSpPr/>
            <p:nvPr/>
          </p:nvSpPr>
          <p:spPr>
            <a:xfrm>
              <a:off x="6827973" y="3024980"/>
              <a:ext cx="1066801" cy="408516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4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部品倉庫</a:t>
              </a:r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015178B2-C2ED-9B5E-54F1-7C15AA28B60E}"/>
                </a:ext>
              </a:extLst>
            </p:cNvPr>
            <p:cNvSpPr/>
            <p:nvPr/>
          </p:nvSpPr>
          <p:spPr>
            <a:xfrm>
              <a:off x="8209234" y="2158099"/>
              <a:ext cx="93133" cy="385232"/>
            </a:xfrm>
            <a:prstGeom prst="rect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5121501A-6517-EA2E-4D12-2DAE118BB3CA}"/>
                </a:ext>
              </a:extLst>
            </p:cNvPr>
            <p:cNvSpPr txBox="1"/>
            <p:nvPr/>
          </p:nvSpPr>
          <p:spPr>
            <a:xfrm>
              <a:off x="8269209" y="2133209"/>
              <a:ext cx="842825" cy="2107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200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加湿器操作盤</a:t>
              </a:r>
            </a:p>
          </p:txBody>
        </p:sp>
        <p:cxnSp>
          <p:nvCxnSpPr>
            <p:cNvPr id="5" name="直線コネクタ 4">
              <a:extLst>
                <a:ext uri="{FF2B5EF4-FFF2-40B4-BE49-F238E27FC236}">
                  <a16:creationId xmlns:a16="http://schemas.microsoft.com/office/drawing/2014/main" id="{6EEAE3CB-3C73-41B1-5F88-79A31DAF8821}"/>
                </a:ext>
              </a:extLst>
            </p:cNvPr>
            <p:cNvCxnSpPr/>
            <p:nvPr/>
          </p:nvCxnSpPr>
          <p:spPr>
            <a:xfrm>
              <a:off x="8199492" y="2032264"/>
              <a:ext cx="0" cy="766232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コネクタ 44">
              <a:extLst>
                <a:ext uri="{FF2B5EF4-FFF2-40B4-BE49-F238E27FC236}">
                  <a16:creationId xmlns:a16="http://schemas.microsoft.com/office/drawing/2014/main" id="{6702C183-BC5D-C728-3B33-CC85F4670B76}"/>
                </a:ext>
              </a:extLst>
            </p:cNvPr>
            <p:cNvCxnSpPr/>
            <p:nvPr/>
          </p:nvCxnSpPr>
          <p:spPr>
            <a:xfrm flipH="1">
              <a:off x="5193907" y="1405729"/>
              <a:ext cx="1807635" cy="0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コネクタ 46">
              <a:extLst>
                <a:ext uri="{FF2B5EF4-FFF2-40B4-BE49-F238E27FC236}">
                  <a16:creationId xmlns:a16="http://schemas.microsoft.com/office/drawing/2014/main" id="{D13F7BDA-3B8E-3F00-36F3-0CEA4B3803C8}"/>
                </a:ext>
              </a:extLst>
            </p:cNvPr>
            <p:cNvCxnSpPr/>
            <p:nvPr/>
          </p:nvCxnSpPr>
          <p:spPr>
            <a:xfrm flipV="1">
              <a:off x="5193907" y="1079763"/>
              <a:ext cx="0" cy="317501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F0791C92-334E-E9BF-0674-209227A5CDBB}"/>
              </a:ext>
            </a:extLst>
          </p:cNvPr>
          <p:cNvGrpSpPr/>
          <p:nvPr/>
        </p:nvGrpSpPr>
        <p:grpSpPr>
          <a:xfrm>
            <a:off x="2664011" y="4162100"/>
            <a:ext cx="3650794" cy="2738094"/>
            <a:chOff x="3251018" y="4276091"/>
            <a:chExt cx="2742857" cy="2057142"/>
          </a:xfrm>
        </p:grpSpPr>
        <p:pic>
          <p:nvPicPr>
            <p:cNvPr id="26" name="図 25">
              <a:extLst>
                <a:ext uri="{FF2B5EF4-FFF2-40B4-BE49-F238E27FC236}">
                  <a16:creationId xmlns:a16="http://schemas.microsoft.com/office/drawing/2014/main" id="{4AEE11A9-9366-6EF5-A1BE-9CC4AFD035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51018" y="4276091"/>
              <a:ext cx="2742857" cy="2057142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E8F9E101-461E-D55D-5DCF-F3519E37648D}"/>
                </a:ext>
              </a:extLst>
            </p:cNvPr>
            <p:cNvSpPr/>
            <p:nvPr/>
          </p:nvSpPr>
          <p:spPr>
            <a:xfrm>
              <a:off x="3648787" y="4878584"/>
              <a:ext cx="275051" cy="216542"/>
            </a:xfrm>
            <a:prstGeom prst="rect">
              <a:avLst/>
            </a:prstGeom>
            <a:solidFill>
              <a:srgbClr val="FF0000">
                <a:alpha val="10000"/>
              </a:srgbClr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800" dirty="0"/>
            </a:p>
          </p:txBody>
        </p:sp>
        <p:sp>
          <p:nvSpPr>
            <p:cNvPr id="52" name="正方形/長方形 51">
              <a:extLst>
                <a:ext uri="{FF2B5EF4-FFF2-40B4-BE49-F238E27FC236}">
                  <a16:creationId xmlns:a16="http://schemas.microsoft.com/office/drawing/2014/main" id="{D19A8EE7-CF16-E380-0A37-49A011ACBC0C}"/>
                </a:ext>
              </a:extLst>
            </p:cNvPr>
            <p:cNvSpPr/>
            <p:nvPr/>
          </p:nvSpPr>
          <p:spPr>
            <a:xfrm>
              <a:off x="3958733" y="4874161"/>
              <a:ext cx="275051" cy="216542"/>
            </a:xfrm>
            <a:prstGeom prst="rect">
              <a:avLst/>
            </a:prstGeom>
            <a:solidFill>
              <a:srgbClr val="FF0000">
                <a:alpha val="10000"/>
              </a:srgbClr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800" dirty="0"/>
            </a:p>
          </p:txBody>
        </p:sp>
        <p:sp>
          <p:nvSpPr>
            <p:cNvPr id="53" name="正方形/長方形 52">
              <a:extLst>
                <a:ext uri="{FF2B5EF4-FFF2-40B4-BE49-F238E27FC236}">
                  <a16:creationId xmlns:a16="http://schemas.microsoft.com/office/drawing/2014/main" id="{EC6E1A0F-DDE2-993D-B20F-0525DC56AF70}"/>
                </a:ext>
              </a:extLst>
            </p:cNvPr>
            <p:cNvSpPr/>
            <p:nvPr/>
          </p:nvSpPr>
          <p:spPr>
            <a:xfrm>
              <a:off x="3958732" y="5282402"/>
              <a:ext cx="275051" cy="216542"/>
            </a:xfrm>
            <a:prstGeom prst="rect">
              <a:avLst/>
            </a:prstGeom>
            <a:solidFill>
              <a:srgbClr val="FF0000">
                <a:alpha val="10000"/>
              </a:srgbClr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800" dirty="0"/>
            </a:p>
          </p:txBody>
        </p:sp>
        <p:sp>
          <p:nvSpPr>
            <p:cNvPr id="54" name="正方形/長方形 53">
              <a:extLst>
                <a:ext uri="{FF2B5EF4-FFF2-40B4-BE49-F238E27FC236}">
                  <a16:creationId xmlns:a16="http://schemas.microsoft.com/office/drawing/2014/main" id="{B08990F5-75E8-10EE-E47E-1B4E8891D101}"/>
                </a:ext>
              </a:extLst>
            </p:cNvPr>
            <p:cNvSpPr/>
            <p:nvPr/>
          </p:nvSpPr>
          <p:spPr>
            <a:xfrm>
              <a:off x="4865547" y="4834448"/>
              <a:ext cx="275051" cy="216542"/>
            </a:xfrm>
            <a:prstGeom prst="rect">
              <a:avLst/>
            </a:prstGeom>
            <a:solidFill>
              <a:srgbClr val="FF0000">
                <a:alpha val="10000"/>
              </a:srgbClr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800" dirty="0"/>
            </a:p>
          </p:txBody>
        </p:sp>
      </p:grpSp>
      <p:sp>
        <p:nvSpPr>
          <p:cNvPr id="27" name="下矢印 26">
            <a:extLst>
              <a:ext uri="{FF2B5EF4-FFF2-40B4-BE49-F238E27FC236}">
                <a16:creationId xmlns:a16="http://schemas.microsoft.com/office/drawing/2014/main" id="{8C3C1F1E-976A-EA83-8FCE-D74C91B53D3A}"/>
              </a:ext>
            </a:extLst>
          </p:cNvPr>
          <p:cNvSpPr/>
          <p:nvPr/>
        </p:nvSpPr>
        <p:spPr>
          <a:xfrm rot="1322103">
            <a:off x="4587718" y="2815760"/>
            <a:ext cx="428896" cy="1734334"/>
          </a:xfrm>
          <a:prstGeom prst="downArrow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スライド番号プレースホルダー 1">
            <a:extLst>
              <a:ext uri="{FF2B5EF4-FFF2-40B4-BE49-F238E27FC236}">
                <a16:creationId xmlns:a16="http://schemas.microsoft.com/office/drawing/2014/main" id="{318BA1FF-8DC0-08EE-9FDF-38AC1CCC1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496CD11-9029-4718-B542-A07CCE74E59E}" type="slidenum">
              <a:rPr kumimoji="1" lang="ja-JP" altLang="en-US" sz="3200" b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fld>
            <a:endParaRPr kumimoji="1" lang="ja-JP" altLang="en-US" sz="32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6" name="図 5" descr="屋内, 時計, 電子レンジ, モニター が含まれている画像&#10;&#10;自動的に生成された説明">
            <a:extLst>
              <a:ext uri="{FF2B5EF4-FFF2-40B4-BE49-F238E27FC236}">
                <a16:creationId xmlns:a16="http://schemas.microsoft.com/office/drawing/2014/main" id="{C6C8D4E9-48F6-C9BC-FD3E-17A42B2F3F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372231" y="4591298"/>
            <a:ext cx="2491189" cy="1868391"/>
          </a:xfrm>
          <a:prstGeom prst="rect">
            <a:avLst/>
          </a:prstGeom>
        </p:spPr>
      </p:pic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5CA9FB5C-A223-813E-624B-A45FC8F51C46}"/>
              </a:ext>
            </a:extLst>
          </p:cNvPr>
          <p:cNvSpPr/>
          <p:nvPr/>
        </p:nvSpPr>
        <p:spPr>
          <a:xfrm>
            <a:off x="6903551" y="4571141"/>
            <a:ext cx="664686" cy="743809"/>
          </a:xfrm>
          <a:prstGeom prst="rect">
            <a:avLst/>
          </a:prstGeom>
          <a:solidFill>
            <a:srgbClr val="FF0000">
              <a:alpha val="10000"/>
            </a:srgbClr>
          </a:solidFill>
          <a:ln w="1905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800" dirty="0"/>
          </a:p>
        </p:txBody>
      </p:sp>
      <p:sp>
        <p:nvSpPr>
          <p:cNvPr id="30" name="吹き出し: 四角形 29">
            <a:extLst>
              <a:ext uri="{FF2B5EF4-FFF2-40B4-BE49-F238E27FC236}">
                <a16:creationId xmlns:a16="http://schemas.microsoft.com/office/drawing/2014/main" id="{6F5E8D84-4F02-CE4E-6372-5445F70DE5A1}"/>
              </a:ext>
            </a:extLst>
          </p:cNvPr>
          <p:cNvSpPr/>
          <p:nvPr/>
        </p:nvSpPr>
        <p:spPr>
          <a:xfrm>
            <a:off x="6799805" y="3393216"/>
            <a:ext cx="2134645" cy="741062"/>
          </a:xfrm>
          <a:prstGeom prst="wedgeRectCallout">
            <a:avLst>
              <a:gd name="adj1" fmla="val -33364"/>
              <a:gd name="adj2" fmla="val 106477"/>
            </a:avLst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4</a:t>
            </a:r>
            <a:r>
              <a:rPr lang="ja-JP" altLang="en-US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個のスイッチすべて</a:t>
            </a:r>
            <a:r>
              <a:rPr lang="en-US" altLang="ja-JP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【</a:t>
            </a:r>
            <a:r>
              <a:rPr lang="ja-JP" altLang="en-US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停止」にする</a:t>
            </a:r>
            <a:endParaRPr kumimoji="1" lang="ja-JP" altLang="en-US" sz="18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1DB6A2D-AA45-28D0-ACE0-5735AFE6055F}"/>
              </a:ext>
            </a:extLst>
          </p:cNvPr>
          <p:cNvSpPr txBox="1"/>
          <p:nvPr/>
        </p:nvSpPr>
        <p:spPr>
          <a:xfrm>
            <a:off x="-47494" y="17295"/>
            <a:ext cx="86199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①加湿器の自動運転</a:t>
            </a:r>
            <a:r>
              <a:rPr lang="en-US" altLang="ja-JP" sz="3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OFF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2BD2206-F125-5D51-F236-CED30BB231F9}"/>
              </a:ext>
            </a:extLst>
          </p:cNvPr>
          <p:cNvSpPr txBox="1"/>
          <p:nvPr/>
        </p:nvSpPr>
        <p:spPr>
          <a:xfrm>
            <a:off x="235310" y="694330"/>
            <a:ext cx="8908690" cy="375167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>
              <a:lnSpc>
                <a:spcPts val="2200"/>
              </a:lnSpc>
            </a:pP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加湿器操作盤のスイッチ</a:t>
            </a:r>
            <a: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4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個を </a:t>
            </a:r>
            <a: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【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自動</a:t>
            </a:r>
            <a: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】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→</a:t>
            </a:r>
            <a: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【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停止</a:t>
            </a:r>
            <a: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】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に切り替える。</a:t>
            </a:r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4FB62D8-FAC4-D649-06EE-3F354100B1ED}"/>
              </a:ext>
            </a:extLst>
          </p:cNvPr>
          <p:cNvSpPr txBox="1"/>
          <p:nvPr/>
        </p:nvSpPr>
        <p:spPr>
          <a:xfrm>
            <a:off x="461370" y="881913"/>
            <a:ext cx="8109904" cy="5060098"/>
          </a:xfrm>
          <a:prstGeom prst="rect">
            <a:avLst/>
          </a:prstGeom>
          <a:solidFill>
            <a:srgbClr val="FFFF00">
              <a:alpha val="70000"/>
            </a:srgbClr>
          </a:solidFill>
          <a:ln w="76200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ja-JP" altLang="en-US" sz="4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加湿器</a:t>
            </a:r>
            <a:r>
              <a:rPr kumimoji="1" lang="ja-JP" altLang="en-US" sz="4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タイマー運転へ変更</a:t>
            </a:r>
            <a:endParaRPr kumimoji="1" lang="en-US" altLang="ja-JP" sz="44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sz="4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↓</a:t>
            </a:r>
            <a:endParaRPr kumimoji="1" lang="en-US" altLang="ja-JP" sz="44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sz="4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スイッチは</a:t>
            </a:r>
            <a:r>
              <a:rPr kumimoji="1" lang="en-US" altLang="ja-JP" sz="4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kumimoji="1" lang="ja-JP" altLang="en-US" sz="4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自動</a:t>
            </a:r>
            <a:r>
              <a:rPr kumimoji="1" lang="en-US" altLang="ja-JP" sz="4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  <a:r>
              <a:rPr kumimoji="1" lang="ja-JP" altLang="en-US" sz="4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のままで</a:t>
            </a:r>
            <a:r>
              <a:rPr kumimoji="1" lang="en-US" altLang="ja-JP" sz="4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OK</a:t>
            </a:r>
            <a:endParaRPr kumimoji="1" lang="ja-JP" altLang="en-US" sz="44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791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/>
          <p:cNvSpPr txBox="1"/>
          <p:nvPr/>
        </p:nvSpPr>
        <p:spPr>
          <a:xfrm>
            <a:off x="-1" y="0"/>
            <a:ext cx="8885371" cy="153888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ja-JP" altLang="en-US" sz="3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②照明の電源</a:t>
            </a:r>
            <a:r>
              <a:rPr lang="en-US" altLang="ja-JP" sz="3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OFF</a:t>
            </a:r>
            <a:r>
              <a:rPr lang="ja-JP" altLang="en-US" sz="3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（</a:t>
            </a:r>
            <a:r>
              <a:rPr lang="en-US" altLang="ja-JP" sz="3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1/2</a:t>
            </a:r>
            <a:r>
              <a:rPr lang="ja-JP" altLang="en-US" sz="3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）</a:t>
            </a:r>
            <a:b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</a:br>
            <a:endParaRPr lang="en-US" altLang="ja-JP" sz="6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（１）生産棟</a:t>
            </a:r>
            <a:r>
              <a:rPr lang="en-US" altLang="ja-JP" sz="28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3F</a:t>
            </a:r>
            <a:r>
              <a:rPr lang="ja-JP" altLang="en-US" sz="28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の照明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を全</a:t>
            </a:r>
            <a: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OFF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する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（２）</a:t>
            </a:r>
            <a:r>
              <a:rPr lang="ja-JP" altLang="en-US" sz="28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インスピレーションルームの照明・エアコン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を</a:t>
            </a:r>
            <a: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OFF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する。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580C7589-695E-FF93-5C96-F03E63225A34}"/>
              </a:ext>
            </a:extLst>
          </p:cNvPr>
          <p:cNvGrpSpPr/>
          <p:nvPr/>
        </p:nvGrpSpPr>
        <p:grpSpPr>
          <a:xfrm>
            <a:off x="616956" y="1777765"/>
            <a:ext cx="5654560" cy="2833635"/>
            <a:chOff x="4315866" y="1436021"/>
            <a:chExt cx="4696909" cy="2353733"/>
          </a:xfrm>
        </p:grpSpPr>
        <p:sp>
          <p:nvSpPr>
            <p:cNvPr id="12" name="正方形/長方形 11"/>
            <p:cNvSpPr/>
            <p:nvPr/>
          </p:nvSpPr>
          <p:spPr>
            <a:xfrm>
              <a:off x="4315866" y="1436021"/>
              <a:ext cx="4569508" cy="235373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14" name="正方形/長方形 13"/>
            <p:cNvSpPr/>
            <p:nvPr/>
          </p:nvSpPr>
          <p:spPr>
            <a:xfrm>
              <a:off x="5193907" y="2071021"/>
              <a:ext cx="2777067" cy="171873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15" name="テキスト ボックス 14"/>
            <p:cNvSpPr txBox="1"/>
            <p:nvPr/>
          </p:nvSpPr>
          <p:spPr>
            <a:xfrm>
              <a:off x="4315866" y="1436021"/>
              <a:ext cx="458309" cy="3834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3F</a:t>
              </a:r>
              <a:endParaRPr kumimoji="1"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16" name="正方形/長方形 15"/>
            <p:cNvSpPr/>
            <p:nvPr/>
          </p:nvSpPr>
          <p:spPr>
            <a:xfrm>
              <a:off x="8199574" y="1757756"/>
              <a:ext cx="685800" cy="635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南西</a:t>
              </a:r>
              <a:endParaRPr kumimoji="1" lang="en-US" altLang="ja-JP" sz="12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  <a:p>
              <a:pPr algn="ctr"/>
              <a:r>
                <a:rPr kumimoji="1" lang="ja-JP" altLang="en-US" sz="12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空調室</a:t>
              </a:r>
            </a:p>
          </p:txBody>
        </p:sp>
        <p:sp>
          <p:nvSpPr>
            <p:cNvPr id="17" name="正方形/長方形 16"/>
            <p:cNvSpPr/>
            <p:nvPr/>
          </p:nvSpPr>
          <p:spPr>
            <a:xfrm>
              <a:off x="8199574" y="3154754"/>
              <a:ext cx="685800" cy="635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北西</a:t>
              </a:r>
              <a:endParaRPr kumimoji="1" lang="en-US" altLang="ja-JP" sz="12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  <a:p>
              <a:pPr algn="ctr"/>
              <a:r>
                <a:rPr kumimoji="1" lang="ja-JP" altLang="en-US" sz="12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空調室</a:t>
              </a:r>
            </a:p>
          </p:txBody>
        </p:sp>
        <p:sp>
          <p:nvSpPr>
            <p:cNvPr id="18" name="正方形/長方形 17"/>
            <p:cNvSpPr/>
            <p:nvPr/>
          </p:nvSpPr>
          <p:spPr>
            <a:xfrm>
              <a:off x="6709444" y="2071017"/>
              <a:ext cx="1261533" cy="1126066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24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SMT</a:t>
              </a:r>
              <a:endParaRPr kumimoji="1"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19" name="正方形/長方形 18"/>
            <p:cNvSpPr/>
            <p:nvPr/>
          </p:nvSpPr>
          <p:spPr>
            <a:xfrm>
              <a:off x="7437577" y="2071017"/>
              <a:ext cx="533400" cy="389468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西</a:t>
              </a:r>
              <a:endParaRPr kumimoji="1"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  <a:p>
              <a:pPr algn="ctr"/>
              <a:r>
                <a:rPr kumimoji="1" lang="ja-JP" altLang="en-US" sz="10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カフェ</a:t>
              </a:r>
            </a:p>
          </p:txBody>
        </p:sp>
        <p:sp>
          <p:nvSpPr>
            <p:cNvPr id="20" name="正方形/長方形 19"/>
            <p:cNvSpPr/>
            <p:nvPr/>
          </p:nvSpPr>
          <p:spPr>
            <a:xfrm>
              <a:off x="4315866" y="1753522"/>
              <a:ext cx="685800" cy="635000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南東</a:t>
              </a:r>
              <a:endPara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  <a:p>
              <a:pPr algn="ctr"/>
              <a:r>
                <a:rPr kumimoji="1" lang="ja-JP" altLang="en-US" sz="12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機械室</a:t>
              </a:r>
            </a:p>
          </p:txBody>
        </p:sp>
        <p:sp>
          <p:nvSpPr>
            <p:cNvPr id="21" name="正方形/長方形 20"/>
            <p:cNvSpPr/>
            <p:nvPr/>
          </p:nvSpPr>
          <p:spPr>
            <a:xfrm>
              <a:off x="4315866" y="3154754"/>
              <a:ext cx="685800" cy="635000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北東</a:t>
              </a:r>
              <a:endPara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  <a:p>
              <a:pPr algn="ctr"/>
              <a:r>
                <a:rPr kumimoji="1" lang="ja-JP" altLang="en-US" sz="12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機械室</a:t>
              </a:r>
            </a:p>
          </p:txBody>
        </p:sp>
        <p:sp>
          <p:nvSpPr>
            <p:cNvPr id="22" name="正方形/長方形 21"/>
            <p:cNvSpPr/>
            <p:nvPr/>
          </p:nvSpPr>
          <p:spPr>
            <a:xfrm>
              <a:off x="7001542" y="1436021"/>
              <a:ext cx="965199" cy="325966"/>
            </a:xfrm>
            <a:prstGeom prst="rect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4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インスピレーションルーム</a:t>
              </a:r>
            </a:p>
          </p:txBody>
        </p:sp>
        <p:sp>
          <p:nvSpPr>
            <p:cNvPr id="23" name="正方形/長方形 22"/>
            <p:cNvSpPr/>
            <p:nvPr/>
          </p:nvSpPr>
          <p:spPr>
            <a:xfrm>
              <a:off x="6827973" y="3381238"/>
              <a:ext cx="1066801" cy="408516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部品倉庫</a:t>
              </a:r>
            </a:p>
          </p:txBody>
        </p:sp>
        <p:sp>
          <p:nvSpPr>
            <p:cNvPr id="24" name="正方形/長方形 23"/>
            <p:cNvSpPr/>
            <p:nvPr/>
          </p:nvSpPr>
          <p:spPr>
            <a:xfrm>
              <a:off x="8199574" y="2396435"/>
              <a:ext cx="93133" cy="385232"/>
            </a:xfrm>
            <a:prstGeom prst="rect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25" name="テキスト ボックス 24"/>
            <p:cNvSpPr txBox="1"/>
            <p:nvPr/>
          </p:nvSpPr>
          <p:spPr>
            <a:xfrm>
              <a:off x="8240227" y="2460485"/>
              <a:ext cx="772548" cy="2812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600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照明</a:t>
              </a:r>
              <a:r>
                <a:rPr kumimoji="1" lang="en-US" altLang="ja-JP" sz="1600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SW</a:t>
              </a:r>
              <a:endParaRPr kumimoji="1" lang="ja-JP" altLang="en-US" sz="1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cxnSp>
          <p:nvCxnSpPr>
            <p:cNvPr id="5" name="直線コネクタ 4"/>
            <p:cNvCxnSpPr/>
            <p:nvPr/>
          </p:nvCxnSpPr>
          <p:spPr>
            <a:xfrm>
              <a:off x="8199492" y="2773754"/>
              <a:ext cx="0" cy="381000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コネクタ 44"/>
            <p:cNvCxnSpPr/>
            <p:nvPr/>
          </p:nvCxnSpPr>
          <p:spPr>
            <a:xfrm flipH="1">
              <a:off x="5193907" y="1761987"/>
              <a:ext cx="1807635" cy="0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コネクタ 46"/>
            <p:cNvCxnSpPr/>
            <p:nvPr/>
          </p:nvCxnSpPr>
          <p:spPr>
            <a:xfrm flipV="1">
              <a:off x="5193907" y="1436021"/>
              <a:ext cx="0" cy="317501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54B1DDA5-0768-961E-6187-E49B407E0A7B}"/>
              </a:ext>
            </a:extLst>
          </p:cNvPr>
          <p:cNvGrpSpPr/>
          <p:nvPr/>
        </p:nvGrpSpPr>
        <p:grpSpPr>
          <a:xfrm>
            <a:off x="5780986" y="4356269"/>
            <a:ext cx="3322120" cy="2491590"/>
            <a:chOff x="3205760" y="4276091"/>
            <a:chExt cx="2742857" cy="2057143"/>
          </a:xfrm>
        </p:grpSpPr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E7B949A3-54E5-BB2E-FF54-943A4BE6E7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5760" y="4276091"/>
              <a:ext cx="2742857" cy="2057143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95DC12A9-3581-68B4-F220-66A3CA5E8D18}"/>
                </a:ext>
              </a:extLst>
            </p:cNvPr>
            <p:cNvSpPr/>
            <p:nvPr/>
          </p:nvSpPr>
          <p:spPr>
            <a:xfrm>
              <a:off x="3580536" y="5426719"/>
              <a:ext cx="2196000" cy="756000"/>
            </a:xfrm>
            <a:prstGeom prst="rect">
              <a:avLst/>
            </a:prstGeom>
            <a:solidFill>
              <a:srgbClr val="FF0000">
                <a:alpha val="10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800" dirty="0"/>
            </a:p>
          </p:txBody>
        </p:sp>
      </p:grpSp>
      <p:sp>
        <p:nvSpPr>
          <p:cNvPr id="3" name="下矢印 26">
            <a:extLst>
              <a:ext uri="{FF2B5EF4-FFF2-40B4-BE49-F238E27FC236}">
                <a16:creationId xmlns:a16="http://schemas.microsoft.com/office/drawing/2014/main" id="{0611E767-4BF3-0018-1874-A1E5A5DFF05A}"/>
              </a:ext>
            </a:extLst>
          </p:cNvPr>
          <p:cNvSpPr/>
          <p:nvPr/>
        </p:nvSpPr>
        <p:spPr>
          <a:xfrm rot="19134505">
            <a:off x="5799513" y="3314518"/>
            <a:ext cx="407487" cy="1593574"/>
          </a:xfrm>
          <a:prstGeom prst="downArrow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スライド番号プレースホルダー 1">
            <a:extLst>
              <a:ext uri="{FF2B5EF4-FFF2-40B4-BE49-F238E27FC236}">
                <a16:creationId xmlns:a16="http://schemas.microsoft.com/office/drawing/2014/main" id="{057876E4-C5A5-F4E7-5A36-D77FCCEAE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496CD11-9029-4718-B542-A07CCE74E59E}" type="slidenum">
              <a:rPr kumimoji="1" lang="ja-JP" altLang="en-US" sz="3200" b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fld>
            <a:endParaRPr kumimoji="1" lang="ja-JP" altLang="en-US" sz="32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" name="吹き出し: 四角形 1">
            <a:extLst>
              <a:ext uri="{FF2B5EF4-FFF2-40B4-BE49-F238E27FC236}">
                <a16:creationId xmlns:a16="http://schemas.microsoft.com/office/drawing/2014/main" id="{9213596E-4EDC-3EB7-F72E-351D1E8E878B}"/>
              </a:ext>
            </a:extLst>
          </p:cNvPr>
          <p:cNvSpPr/>
          <p:nvPr/>
        </p:nvSpPr>
        <p:spPr>
          <a:xfrm>
            <a:off x="4203701" y="5205436"/>
            <a:ext cx="1602784" cy="764469"/>
          </a:xfrm>
          <a:prstGeom prst="wedgeRectCallout">
            <a:avLst>
              <a:gd name="adj1" fmla="val 74637"/>
              <a:gd name="adj2" fmla="val 64574"/>
            </a:avLst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照明</a:t>
            </a:r>
            <a:r>
              <a:rPr kumimoji="1" lang="en-US" altLang="ja-JP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SW</a:t>
            </a:r>
          </a:p>
          <a:p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全箇所</a:t>
            </a:r>
            <a:r>
              <a:rPr kumimoji="1" lang="en-US" altLang="ja-JP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OFF</a:t>
            </a:r>
            <a:endParaRPr kumimoji="1" lang="ja-JP" altLang="en-US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48100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4E9116E-261A-9C3B-F8DC-C64A312A666D}"/>
              </a:ext>
            </a:extLst>
          </p:cNvPr>
          <p:cNvSpPr txBox="1"/>
          <p:nvPr/>
        </p:nvSpPr>
        <p:spPr>
          <a:xfrm>
            <a:off x="0" y="44211"/>
            <a:ext cx="8508298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ja-JP" altLang="en-US" sz="3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③照明の電源</a:t>
            </a:r>
            <a:r>
              <a:rPr lang="en-US" altLang="ja-JP" sz="3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OFF</a:t>
            </a:r>
            <a:r>
              <a:rPr lang="ja-JP" altLang="en-US" sz="3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（</a:t>
            </a:r>
            <a:r>
              <a:rPr lang="en-US" altLang="ja-JP" sz="3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2/2</a:t>
            </a:r>
            <a:r>
              <a:rPr lang="ja-JP" altLang="en-US" sz="3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）</a:t>
            </a:r>
            <a:endParaRPr lang="en-US" altLang="ja-JP" sz="32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br>
              <a:rPr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</a:b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（３）</a:t>
            </a:r>
            <a:r>
              <a:rPr lang="ja-JP" altLang="en-US" sz="28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西側社員通用口　</a:t>
            </a:r>
            <a:r>
              <a:rPr lang="en-US" altLang="ja-JP" sz="28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2</a:t>
            </a:r>
            <a:r>
              <a:rPr lang="ja-JP" altLang="en-US" sz="28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箇所の照明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を</a:t>
            </a:r>
            <a: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OFF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する。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4" name="図 3" descr="ドアのノブ&#10;&#10;中程度の精度で自動的に生成された説明">
            <a:extLst>
              <a:ext uri="{FF2B5EF4-FFF2-40B4-BE49-F238E27FC236}">
                <a16:creationId xmlns:a16="http://schemas.microsoft.com/office/drawing/2014/main" id="{2B62068B-1351-3833-8A4F-B7391273DC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7754" y="3988464"/>
            <a:ext cx="2736800" cy="2052600"/>
          </a:xfrm>
          <a:prstGeom prst="rect">
            <a:avLst/>
          </a:prstGeom>
        </p:spPr>
      </p:pic>
      <p:pic>
        <p:nvPicPr>
          <p:cNvPr id="7" name="図 6" descr="冷蔵庫に貼られたポスター&#10;&#10;中程度の精度で自動的に生成された説明">
            <a:extLst>
              <a:ext uri="{FF2B5EF4-FFF2-40B4-BE49-F238E27FC236}">
                <a16:creationId xmlns:a16="http://schemas.microsoft.com/office/drawing/2014/main" id="{6BA82D59-AFCB-D5F2-C08E-76C3D2DE4B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8824" y="1466457"/>
            <a:ext cx="2736800" cy="2052600"/>
          </a:xfrm>
          <a:prstGeom prst="rect">
            <a:avLst/>
          </a:prstGeom>
        </p:spPr>
      </p:pic>
      <p:pic>
        <p:nvPicPr>
          <p:cNvPr id="9" name="図 8" descr="ガラス張りのシャワールーム&#10;&#10;中程度の精度で自動的に生成された説明">
            <a:extLst>
              <a:ext uri="{FF2B5EF4-FFF2-40B4-BE49-F238E27FC236}">
                <a16:creationId xmlns:a16="http://schemas.microsoft.com/office/drawing/2014/main" id="{C605CD7B-3F64-FA12-DF0E-CE6BF4AA217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822" y="1750788"/>
            <a:ext cx="3837029" cy="2877772"/>
          </a:xfrm>
          <a:prstGeom prst="rect">
            <a:avLst/>
          </a:prstGeom>
        </p:spPr>
      </p:pic>
      <p:sp>
        <p:nvSpPr>
          <p:cNvPr id="10" name="楕円 9">
            <a:extLst>
              <a:ext uri="{FF2B5EF4-FFF2-40B4-BE49-F238E27FC236}">
                <a16:creationId xmlns:a16="http://schemas.microsoft.com/office/drawing/2014/main" id="{0043CA35-03C6-C86A-BF12-EA593883D727}"/>
              </a:ext>
            </a:extLst>
          </p:cNvPr>
          <p:cNvSpPr/>
          <p:nvPr/>
        </p:nvSpPr>
        <p:spPr>
          <a:xfrm>
            <a:off x="4345756" y="2960016"/>
            <a:ext cx="405353" cy="53732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9E28701C-4A3A-9D49-5457-7D18FD3466D2}"/>
              </a:ext>
            </a:extLst>
          </p:cNvPr>
          <p:cNvSpPr/>
          <p:nvPr/>
        </p:nvSpPr>
        <p:spPr>
          <a:xfrm>
            <a:off x="2754198" y="2725917"/>
            <a:ext cx="405353" cy="537328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E7715931-1547-DA48-0D6E-B48D9D62C535}"/>
              </a:ext>
            </a:extLst>
          </p:cNvPr>
          <p:cNvSpPr/>
          <p:nvPr/>
        </p:nvSpPr>
        <p:spPr>
          <a:xfrm>
            <a:off x="7109381" y="2188588"/>
            <a:ext cx="496616" cy="65830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E9974D80-5DE3-5C8B-D7E8-C45D5BC41CA4}"/>
              </a:ext>
            </a:extLst>
          </p:cNvPr>
          <p:cNvSpPr/>
          <p:nvPr/>
        </p:nvSpPr>
        <p:spPr>
          <a:xfrm>
            <a:off x="6309673" y="4744823"/>
            <a:ext cx="496616" cy="658305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下矢印 26">
            <a:extLst>
              <a:ext uri="{FF2B5EF4-FFF2-40B4-BE49-F238E27FC236}">
                <a16:creationId xmlns:a16="http://schemas.microsoft.com/office/drawing/2014/main" id="{441D8A01-7B82-0281-D542-F373E4A11D19}"/>
              </a:ext>
            </a:extLst>
          </p:cNvPr>
          <p:cNvSpPr/>
          <p:nvPr/>
        </p:nvSpPr>
        <p:spPr>
          <a:xfrm rot="15300000">
            <a:off x="5795308" y="1615583"/>
            <a:ext cx="251104" cy="2584011"/>
          </a:xfrm>
          <a:prstGeom prst="downArrow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下矢印 26">
            <a:extLst>
              <a:ext uri="{FF2B5EF4-FFF2-40B4-BE49-F238E27FC236}">
                <a16:creationId xmlns:a16="http://schemas.microsoft.com/office/drawing/2014/main" id="{F8A4942C-568E-D1D7-CE75-5BD5AF71DBC4}"/>
              </a:ext>
            </a:extLst>
          </p:cNvPr>
          <p:cNvSpPr/>
          <p:nvPr/>
        </p:nvSpPr>
        <p:spPr>
          <a:xfrm rot="17987780">
            <a:off x="4606452" y="2172952"/>
            <a:ext cx="251104" cy="3859730"/>
          </a:xfrm>
          <a:prstGeom prst="downArrow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吹き出し: 四角形 16">
            <a:extLst>
              <a:ext uri="{FF2B5EF4-FFF2-40B4-BE49-F238E27FC236}">
                <a16:creationId xmlns:a16="http://schemas.microsoft.com/office/drawing/2014/main" id="{C83FEAAB-1F79-F8F6-6FCC-37DC133B1719}"/>
              </a:ext>
            </a:extLst>
          </p:cNvPr>
          <p:cNvSpPr/>
          <p:nvPr/>
        </p:nvSpPr>
        <p:spPr>
          <a:xfrm>
            <a:off x="7366000" y="2960016"/>
            <a:ext cx="1778000" cy="746920"/>
          </a:xfrm>
          <a:prstGeom prst="wedgeRectCallout">
            <a:avLst>
              <a:gd name="adj1" fmla="val -39326"/>
              <a:gd name="adj2" fmla="val -86349"/>
            </a:avLst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両方</a:t>
            </a:r>
            <a:r>
              <a:rPr lang="en-US" altLang="ja-JP" b="1" dirty="0">
                <a:latin typeface="Meiryo UI" panose="020B0604030504040204" pitchFamily="50" charset="-128"/>
                <a:ea typeface="Meiryo UI" panose="020B0604030504040204" pitchFamily="50" charset="-128"/>
              </a:rPr>
              <a:t>OFF</a:t>
            </a:r>
            <a:endParaRPr lang="en-US" altLang="ja-JP" sz="1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廊下照明が消える</a:t>
            </a:r>
            <a:r>
              <a:rPr kumimoji="1" lang="en-US" altLang="ja-JP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スライド番号プレースホルダー 1">
            <a:extLst>
              <a:ext uri="{FF2B5EF4-FFF2-40B4-BE49-F238E27FC236}">
                <a16:creationId xmlns:a16="http://schemas.microsoft.com/office/drawing/2014/main" id="{9D8DEA97-4359-4842-10B1-365A87971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496CD11-9029-4718-B542-A07CCE74E59E}" type="slidenum">
              <a:rPr kumimoji="1" lang="ja-JP" altLang="en-US" sz="3200" b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4</a:t>
            </a:fld>
            <a:endParaRPr kumimoji="1" lang="ja-JP" altLang="en-US" sz="32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1" name="吹き出し: 四角形 20">
            <a:extLst>
              <a:ext uri="{FF2B5EF4-FFF2-40B4-BE49-F238E27FC236}">
                <a16:creationId xmlns:a16="http://schemas.microsoft.com/office/drawing/2014/main" id="{4F480F10-1BE0-7D65-53FC-CBDDFBB4CCB3}"/>
              </a:ext>
            </a:extLst>
          </p:cNvPr>
          <p:cNvSpPr/>
          <p:nvPr/>
        </p:nvSpPr>
        <p:spPr>
          <a:xfrm>
            <a:off x="6577296" y="5605477"/>
            <a:ext cx="2566704" cy="746920"/>
          </a:xfrm>
          <a:prstGeom prst="wedgeRectCallout">
            <a:avLst>
              <a:gd name="adj1" fmla="val -44882"/>
              <a:gd name="adj2" fmla="val -109931"/>
            </a:avLst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右側のスイッチを</a:t>
            </a:r>
            <a:r>
              <a:rPr lang="en-US" altLang="ja-JP" b="1" dirty="0">
                <a:latin typeface="Meiryo UI" panose="020B0604030504040204" pitchFamily="50" charset="-128"/>
                <a:ea typeface="Meiryo UI" panose="020B0604030504040204" pitchFamily="50" charset="-128"/>
              </a:rPr>
              <a:t>OFF</a:t>
            </a:r>
            <a:endParaRPr lang="en-US" altLang="ja-JP" sz="1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自動ドア外側の照明が消える</a:t>
            </a:r>
            <a:r>
              <a:rPr kumimoji="1" lang="en-US" altLang="ja-JP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17447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/>
          <p:cNvSpPr txBox="1"/>
          <p:nvPr/>
        </p:nvSpPr>
        <p:spPr>
          <a:xfrm>
            <a:off x="0" y="0"/>
            <a:ext cx="9123010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④建屋の施錠</a:t>
            </a:r>
            <a:endParaRPr lang="en-US" altLang="ja-JP" sz="32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en-US" altLang="ja-JP" sz="10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１）全員が退社していることを確認し、</a:t>
            </a:r>
            <a:r>
              <a:rPr lang="en-US" altLang="ja-JP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1F</a:t>
            </a:r>
            <a:r>
              <a:rPr lang="ja-JP" altLang="en-US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玄関の“生産棟</a:t>
            </a:r>
            <a:r>
              <a:rPr lang="en-US" altLang="ja-JP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2F</a:t>
            </a:r>
            <a:r>
              <a:rPr lang="ja-JP" altLang="en-US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”の札を白→赤へひっくり返す。</a:t>
            </a:r>
            <a:endParaRPr lang="en-US" altLang="ja-JP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２）社員通用口内側の南側の壁にある対象エリアのセコム端末の</a:t>
            </a:r>
            <a:r>
              <a:rPr lang="en-US" altLang="ja-JP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【</a:t>
            </a:r>
            <a:r>
              <a:rPr lang="ja-JP" altLang="en-US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確認キー</a:t>
            </a:r>
            <a:r>
              <a:rPr lang="en-US" altLang="ja-JP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】</a:t>
            </a:r>
            <a:r>
              <a:rPr lang="ja-JP" altLang="en-US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を押す。</a:t>
            </a:r>
            <a:endParaRPr lang="en-US" altLang="ja-JP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３）ピーピーと音がするので、自動ドアより外に出て</a:t>
            </a:r>
            <a:r>
              <a:rPr lang="ja-JP" altLang="en-US" b="1" u="sng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自動ドアが閉まり切った後 少し待ってから</a:t>
            </a:r>
            <a:endParaRPr lang="en-US" altLang="ja-JP" b="1" u="sng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　社員通用口外側の南側の壁にある対象エリアのセコム端末の</a:t>
            </a:r>
            <a:r>
              <a:rPr lang="en-US" altLang="ja-JP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【</a:t>
            </a:r>
            <a:r>
              <a:rPr lang="ja-JP" altLang="en-US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セコムキー</a:t>
            </a:r>
            <a:r>
              <a:rPr lang="en-US" altLang="ja-JP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】</a:t>
            </a:r>
            <a:r>
              <a:rPr lang="ja-JP" altLang="en-US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を押す。</a:t>
            </a:r>
            <a:endParaRPr lang="en-US" altLang="ja-JP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４）点滅していた</a:t>
            </a:r>
            <a:r>
              <a:rPr lang="en-US" altLang="ja-JP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【</a:t>
            </a:r>
            <a:r>
              <a:rPr lang="ja-JP" altLang="en-US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セコムキー</a:t>
            </a:r>
            <a:r>
              <a:rPr lang="en-US" altLang="ja-JP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】</a:t>
            </a:r>
            <a:r>
              <a:rPr lang="ja-JP" altLang="en-US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が点灯になったら、施錠完了です。　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</a:t>
            </a: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F5559D2B-2CA8-CF63-0CB5-F8173BC0CDE4}"/>
              </a:ext>
            </a:extLst>
          </p:cNvPr>
          <p:cNvGrpSpPr/>
          <p:nvPr/>
        </p:nvGrpSpPr>
        <p:grpSpPr>
          <a:xfrm>
            <a:off x="469646" y="2442011"/>
            <a:ext cx="4922068" cy="2535337"/>
            <a:chOff x="4440400" y="963683"/>
            <a:chExt cx="4569508" cy="2353735"/>
          </a:xfrm>
        </p:grpSpPr>
        <p:sp>
          <p:nvSpPr>
            <p:cNvPr id="29" name="正方形/長方形 28"/>
            <p:cNvSpPr/>
            <p:nvPr/>
          </p:nvSpPr>
          <p:spPr>
            <a:xfrm>
              <a:off x="4440400" y="963683"/>
              <a:ext cx="4569508" cy="235373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30" name="正方形/長方形 29"/>
            <p:cNvSpPr/>
            <p:nvPr/>
          </p:nvSpPr>
          <p:spPr>
            <a:xfrm>
              <a:off x="5318441" y="1598683"/>
              <a:ext cx="2777067" cy="171873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生産エリア</a:t>
              </a:r>
            </a:p>
          </p:txBody>
        </p:sp>
        <p:sp>
          <p:nvSpPr>
            <p:cNvPr id="36" name="テキスト ボックス 35"/>
            <p:cNvSpPr txBox="1"/>
            <p:nvPr/>
          </p:nvSpPr>
          <p:spPr>
            <a:xfrm>
              <a:off x="4440400" y="963683"/>
              <a:ext cx="4587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1F</a:t>
              </a:r>
              <a:endPara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39" name="正方形/長方形 38"/>
            <p:cNvSpPr/>
            <p:nvPr/>
          </p:nvSpPr>
          <p:spPr>
            <a:xfrm>
              <a:off x="8324108" y="2682416"/>
              <a:ext cx="685800" cy="635000"/>
            </a:xfrm>
            <a:prstGeom prst="rect">
              <a:avLst/>
            </a:pr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受入</a:t>
              </a:r>
            </a:p>
          </p:txBody>
        </p:sp>
        <p:sp>
          <p:nvSpPr>
            <p:cNvPr id="40" name="正方形/長方形 39"/>
            <p:cNvSpPr/>
            <p:nvPr/>
          </p:nvSpPr>
          <p:spPr>
            <a:xfrm>
              <a:off x="4440400" y="1837227"/>
              <a:ext cx="685800" cy="635000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シャッター</a:t>
              </a:r>
            </a:p>
          </p:txBody>
        </p:sp>
        <p:sp>
          <p:nvSpPr>
            <p:cNvPr id="41" name="正方形/長方形 40"/>
            <p:cNvSpPr/>
            <p:nvPr/>
          </p:nvSpPr>
          <p:spPr>
            <a:xfrm>
              <a:off x="4440401" y="2682418"/>
              <a:ext cx="685800" cy="635000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シャッター</a:t>
              </a:r>
            </a:p>
          </p:txBody>
        </p:sp>
        <p:sp>
          <p:nvSpPr>
            <p:cNvPr id="43" name="正方形/長方形 42"/>
            <p:cNvSpPr/>
            <p:nvPr/>
          </p:nvSpPr>
          <p:spPr>
            <a:xfrm>
              <a:off x="5687294" y="963683"/>
              <a:ext cx="1590260" cy="325966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ロビー</a:t>
              </a:r>
            </a:p>
          </p:txBody>
        </p:sp>
        <p:sp>
          <p:nvSpPr>
            <p:cNvPr id="44" name="正方形/長方形 43"/>
            <p:cNvSpPr/>
            <p:nvPr/>
          </p:nvSpPr>
          <p:spPr>
            <a:xfrm>
              <a:off x="7574995" y="963683"/>
              <a:ext cx="672137" cy="325966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ロッカー</a:t>
              </a:r>
            </a:p>
          </p:txBody>
        </p:sp>
        <p:sp>
          <p:nvSpPr>
            <p:cNvPr id="61" name="正方形/長方形 60"/>
            <p:cNvSpPr/>
            <p:nvPr/>
          </p:nvSpPr>
          <p:spPr>
            <a:xfrm>
              <a:off x="8544573" y="966905"/>
              <a:ext cx="465335" cy="325966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階段</a:t>
              </a:r>
            </a:p>
          </p:txBody>
        </p:sp>
        <p:sp>
          <p:nvSpPr>
            <p:cNvPr id="62" name="正方形/長方形 61"/>
            <p:cNvSpPr/>
            <p:nvPr/>
          </p:nvSpPr>
          <p:spPr>
            <a:xfrm>
              <a:off x="8324108" y="1837227"/>
              <a:ext cx="685800" cy="635000"/>
            </a:xfrm>
            <a:prstGeom prst="rect">
              <a:avLst/>
            </a:pr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シャッター</a:t>
              </a:r>
            </a:p>
          </p:txBody>
        </p:sp>
        <p:sp>
          <p:nvSpPr>
            <p:cNvPr id="63" name="正方形/長方形 62"/>
            <p:cNvSpPr/>
            <p:nvPr/>
          </p:nvSpPr>
          <p:spPr>
            <a:xfrm>
              <a:off x="8384317" y="1291123"/>
              <a:ext cx="618129" cy="546104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50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社員通用口</a:t>
              </a:r>
            </a:p>
          </p:txBody>
        </p:sp>
      </p:grp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AC44D222-E0E5-CF18-6A2C-D40B8D15F3BD}"/>
              </a:ext>
            </a:extLst>
          </p:cNvPr>
          <p:cNvGrpSpPr/>
          <p:nvPr/>
        </p:nvGrpSpPr>
        <p:grpSpPr>
          <a:xfrm>
            <a:off x="5635761" y="2916621"/>
            <a:ext cx="3222356" cy="3858835"/>
            <a:chOff x="3408316" y="2070294"/>
            <a:chExt cx="3646568" cy="4366838"/>
          </a:xfrm>
        </p:grpSpPr>
        <p:pic>
          <p:nvPicPr>
            <p:cNvPr id="64" name="図 6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8316" y="2070294"/>
              <a:ext cx="3646568" cy="2734922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66" name="正方形/長方形 65"/>
            <p:cNvSpPr/>
            <p:nvPr/>
          </p:nvSpPr>
          <p:spPr>
            <a:xfrm>
              <a:off x="4328312" y="3027033"/>
              <a:ext cx="468000" cy="1008000"/>
            </a:xfrm>
            <a:prstGeom prst="rect">
              <a:avLst/>
            </a:prstGeom>
            <a:solidFill>
              <a:srgbClr val="FF0000">
                <a:alpha val="10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800" dirty="0"/>
            </a:p>
          </p:txBody>
        </p:sp>
        <p:sp>
          <p:nvSpPr>
            <p:cNvPr id="68" name="角丸四角形 67"/>
            <p:cNvSpPr/>
            <p:nvPr/>
          </p:nvSpPr>
          <p:spPr>
            <a:xfrm>
              <a:off x="4207000" y="4457132"/>
              <a:ext cx="864000" cy="198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ja-JP" altLang="en-US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生産棟２Ｆ</a:t>
              </a:r>
              <a:endParaRPr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  <a:p>
              <a:pPr algn="ctr"/>
              <a:r>
                <a:rPr lang="ja-JP" altLang="en-US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　ＯＰＥＮ</a:t>
              </a:r>
              <a:endParaRPr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69" name="角丸四角形 68"/>
            <p:cNvSpPr/>
            <p:nvPr/>
          </p:nvSpPr>
          <p:spPr>
            <a:xfrm>
              <a:off x="5807828" y="4457132"/>
              <a:ext cx="864000" cy="1980000"/>
            </a:xfrm>
            <a:prstGeom prst="round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ja-JP" altLang="en-US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生産棟２Ｆ</a:t>
              </a:r>
              <a:endParaRPr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  <a:p>
              <a:pPr algn="ctr"/>
              <a:r>
                <a:rPr lang="ja-JP" altLang="en-US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　ＣＬＯＳＥ</a:t>
              </a:r>
              <a:endParaRPr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2" name="右矢印 1"/>
            <p:cNvSpPr/>
            <p:nvPr/>
          </p:nvSpPr>
          <p:spPr>
            <a:xfrm>
              <a:off x="5275150" y="5297209"/>
              <a:ext cx="404225" cy="43638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65" name="下矢印 64"/>
          <p:cNvSpPr/>
          <p:nvPr/>
        </p:nvSpPr>
        <p:spPr>
          <a:xfrm rot="18760946">
            <a:off x="5401929" y="3058454"/>
            <a:ext cx="393714" cy="936822"/>
          </a:xfrm>
          <a:prstGeom prst="downArrow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05B8E06-10E5-447E-3FA2-4223FB65F979}"/>
              </a:ext>
            </a:extLst>
          </p:cNvPr>
          <p:cNvSpPr txBox="1"/>
          <p:nvPr/>
        </p:nvSpPr>
        <p:spPr>
          <a:xfrm>
            <a:off x="3070729" y="5927220"/>
            <a:ext cx="32223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帰宅時に最終者が</a:t>
            </a:r>
            <a:endParaRPr kumimoji="1" lang="en-US" altLang="ja-JP" sz="16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kumimoji="1"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“生産棟</a:t>
            </a:r>
            <a:r>
              <a:rPr kumimoji="1"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2F</a:t>
            </a:r>
            <a:r>
              <a:rPr kumimoji="1"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r>
              <a:rPr kumimoji="1"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OPEN</a:t>
            </a:r>
            <a:r>
              <a:rPr kumimoji="1"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”をひっくり返して</a:t>
            </a:r>
            <a:endParaRPr kumimoji="1" lang="en-US" altLang="ja-JP" sz="16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kumimoji="1"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“生産棟</a:t>
            </a:r>
            <a:r>
              <a:rPr kumimoji="1"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2F</a:t>
            </a:r>
            <a:r>
              <a:rPr kumimoji="1"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r>
              <a:rPr kumimoji="1"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CLOSE</a:t>
            </a:r>
            <a:r>
              <a:rPr kumimoji="1"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”にする</a:t>
            </a:r>
          </a:p>
        </p:txBody>
      </p:sp>
      <p:sp>
        <p:nvSpPr>
          <p:cNvPr id="5" name="吹き出し: 四角形 4">
            <a:extLst>
              <a:ext uri="{FF2B5EF4-FFF2-40B4-BE49-F238E27FC236}">
                <a16:creationId xmlns:a16="http://schemas.microsoft.com/office/drawing/2014/main" id="{280C695C-43E1-A21A-047E-442B7E4489E8}"/>
              </a:ext>
            </a:extLst>
          </p:cNvPr>
          <p:cNvSpPr/>
          <p:nvPr/>
        </p:nvSpPr>
        <p:spPr>
          <a:xfrm>
            <a:off x="7064776" y="1855244"/>
            <a:ext cx="1712956" cy="626618"/>
          </a:xfrm>
          <a:prstGeom prst="wedgeRectCallout">
            <a:avLst>
              <a:gd name="adj1" fmla="val 36908"/>
              <a:gd name="adj2" fmla="val -112874"/>
            </a:avLst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急いで閉めると</a:t>
            </a:r>
            <a:endParaRPr lang="en-US" altLang="ja-JP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発報します！</a:t>
            </a:r>
            <a:endParaRPr kumimoji="1" lang="ja-JP" altLang="en-US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スライド番号プレースホルダー 1">
            <a:extLst>
              <a:ext uri="{FF2B5EF4-FFF2-40B4-BE49-F238E27FC236}">
                <a16:creationId xmlns:a16="http://schemas.microsoft.com/office/drawing/2014/main" id="{4951E353-EADF-21F5-F3B4-0A1011E2A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496CD11-9029-4718-B542-A07CCE74E59E}" type="slidenum">
              <a:rPr kumimoji="1" lang="ja-JP" altLang="en-US" sz="3200" b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fld>
            <a:endParaRPr kumimoji="1" lang="ja-JP" altLang="en-US" sz="32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4249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917DC6A-9863-2269-2ADA-D5B9818297CF}"/>
              </a:ext>
            </a:extLst>
          </p:cNvPr>
          <p:cNvSpPr txBox="1"/>
          <p:nvPr/>
        </p:nvSpPr>
        <p:spPr>
          <a:xfrm>
            <a:off x="101821" y="120150"/>
            <a:ext cx="934697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⑤正門扉の施錠</a:t>
            </a:r>
            <a:endParaRPr lang="en-US" altLang="ja-JP" sz="32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en-US" altLang="ja-JP" sz="32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構外から見て右側の門扉を閉め、ロック錠で施錠する。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（左側の門扉は守衛さんが事前に閉めてくれます。）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注意：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・門扉中央あたりにロック棒があるので、それを解除してから閉めること。</a:t>
            </a:r>
          </a:p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・ロック錠は回転式のカギ。パスワードは別途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</a:t>
            </a:r>
          </a:p>
          <a:p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3" name="スライド番号プレースホルダー 1">
            <a:extLst>
              <a:ext uri="{FF2B5EF4-FFF2-40B4-BE49-F238E27FC236}">
                <a16:creationId xmlns:a16="http://schemas.microsoft.com/office/drawing/2014/main" id="{F3FA8E06-F8D0-5C2C-B3B1-3B1913A0E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496CD11-9029-4718-B542-A07CCE74E59E}" type="slidenum">
              <a:rPr kumimoji="1" lang="ja-JP" altLang="en-US" sz="3200" b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6</a:t>
            </a:fld>
            <a:endParaRPr kumimoji="1" lang="ja-JP" altLang="en-US" sz="32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3274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/>
          <p:cNvSpPr txBox="1"/>
          <p:nvPr/>
        </p:nvSpPr>
        <p:spPr>
          <a:xfrm>
            <a:off x="-1" y="0"/>
            <a:ext cx="8739033" cy="29161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⑥窒素タンク 閉弁</a:t>
            </a:r>
            <a:endParaRPr lang="en-US" altLang="ja-JP" sz="32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en-US" altLang="ja-JP" sz="1050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en-US" altLang="ja-JP" sz="1050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ja-JP" altLang="en-US" sz="1050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１）窒素タンクの送液弁（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M4: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ブルー）を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”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閉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”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にする　　　　　　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※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一気に閉じて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OK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！</a:t>
            </a:r>
            <a:b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</a:b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２）窒素タンクの加圧調整弁（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M3: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オレンジ）を“閉”にする　　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※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一気に閉じて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OK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！</a:t>
            </a:r>
          </a:p>
          <a:p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※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使用する際には共に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”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開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”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にする事</a:t>
            </a:r>
            <a:endParaRPr lang="en-US" altLang="ja-JP" sz="14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1400" dirty="0">
                <a:solidFill>
                  <a:schemeClr val="accent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</a:t>
            </a:r>
            <a:r>
              <a:rPr lang="en-US" altLang="ja-JP" sz="1400" dirty="0">
                <a:solidFill>
                  <a:schemeClr val="accent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※M4</a:t>
            </a:r>
            <a:r>
              <a:rPr lang="ja-JP" altLang="en-US" sz="1400" dirty="0">
                <a:solidFill>
                  <a:schemeClr val="accent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弁を開ける際は、送ガス圧力を確認して圧力に応じて以下の対応をする</a:t>
            </a:r>
            <a:endParaRPr lang="en-US" altLang="ja-JP" sz="1400" dirty="0">
              <a:solidFill>
                <a:schemeClr val="accent2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1400" dirty="0">
                <a:solidFill>
                  <a:schemeClr val="accent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　圧力が</a:t>
            </a:r>
            <a:r>
              <a:rPr lang="en-US" altLang="ja-JP" sz="1400" dirty="0">
                <a:solidFill>
                  <a:schemeClr val="accent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4</a:t>
            </a:r>
            <a:r>
              <a:rPr lang="ja-JP" altLang="en-US" sz="1400" dirty="0">
                <a:solidFill>
                  <a:schemeClr val="accent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以上＝通常に開</a:t>
            </a:r>
            <a:endParaRPr lang="en-US" altLang="ja-JP" sz="1400" dirty="0">
              <a:solidFill>
                <a:schemeClr val="accent2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1400" dirty="0">
                <a:solidFill>
                  <a:schemeClr val="accent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　圧力が</a:t>
            </a:r>
            <a:r>
              <a:rPr lang="en-US" altLang="ja-JP" sz="1400" dirty="0">
                <a:solidFill>
                  <a:schemeClr val="accent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0</a:t>
            </a:r>
            <a:r>
              <a:rPr lang="ja-JP" altLang="en-US" sz="1400" dirty="0">
                <a:solidFill>
                  <a:schemeClr val="accent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～</a:t>
            </a:r>
            <a:r>
              <a:rPr lang="en-US" altLang="ja-JP" sz="1400" dirty="0">
                <a:solidFill>
                  <a:schemeClr val="accent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4</a:t>
            </a:r>
            <a:r>
              <a:rPr lang="ja-JP" altLang="en-US" sz="1400" dirty="0">
                <a:solidFill>
                  <a:schemeClr val="accent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＝</a:t>
            </a:r>
            <a:r>
              <a:rPr lang="en-US" altLang="ja-JP" sz="1400" dirty="0">
                <a:solidFill>
                  <a:schemeClr val="accent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M4</a:t>
            </a:r>
            <a:r>
              <a:rPr lang="ja-JP" altLang="en-US" sz="1400" dirty="0">
                <a:solidFill>
                  <a:schemeClr val="accent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を少し開ける（</a:t>
            </a:r>
            <a:r>
              <a:rPr lang="en-US" altLang="ja-JP" sz="1400" dirty="0">
                <a:solidFill>
                  <a:schemeClr val="accent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30</a:t>
            </a:r>
            <a:r>
              <a:rPr lang="ja-JP" altLang="en-US" sz="1400" dirty="0">
                <a:solidFill>
                  <a:schemeClr val="accent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分かけて圧力を上げる）</a:t>
            </a:r>
            <a:endParaRPr lang="en-US" altLang="ja-JP" sz="1400" dirty="0">
              <a:solidFill>
                <a:schemeClr val="accent2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1400" dirty="0">
                <a:solidFill>
                  <a:schemeClr val="accent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　液化窒素がガスに気化する際、容積が</a:t>
            </a:r>
            <a:r>
              <a:rPr lang="en-US" altLang="ja-JP" sz="1400" dirty="0">
                <a:solidFill>
                  <a:schemeClr val="accent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700</a:t>
            </a:r>
            <a:r>
              <a:rPr lang="ja-JP" altLang="en-US" sz="1400" dirty="0">
                <a:solidFill>
                  <a:schemeClr val="accent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～</a:t>
            </a:r>
            <a:r>
              <a:rPr lang="en-US" altLang="ja-JP" sz="1400" dirty="0">
                <a:solidFill>
                  <a:schemeClr val="accent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800</a:t>
            </a:r>
            <a:r>
              <a:rPr lang="ja-JP" altLang="en-US" sz="1400" dirty="0">
                <a:solidFill>
                  <a:schemeClr val="accent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倍とり圧力</a:t>
            </a:r>
            <a:endParaRPr lang="en-US" altLang="ja-JP" sz="1400" dirty="0">
              <a:solidFill>
                <a:schemeClr val="accent2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1400" dirty="0">
                <a:solidFill>
                  <a:schemeClr val="accent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　が急激に上昇し、安全弁の開放や配管の破損が懸念される。</a:t>
            </a:r>
          </a:p>
        </p:txBody>
      </p:sp>
      <p:pic>
        <p:nvPicPr>
          <p:cNvPr id="39" name="図 3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9600" y="4505259"/>
            <a:ext cx="2844800" cy="21336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0" name="図 3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586863"/>
            <a:ext cx="2844800" cy="21336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1" name="図 4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642" y="3586827"/>
            <a:ext cx="2844800" cy="21336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3" name="テキスト ボックス 42"/>
          <p:cNvSpPr txBox="1"/>
          <p:nvPr/>
        </p:nvSpPr>
        <p:spPr>
          <a:xfrm>
            <a:off x="4248834" y="653308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正面</a:t>
            </a:r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4" name="テキスト ボックス 43"/>
          <p:cNvSpPr txBox="1"/>
          <p:nvPr/>
        </p:nvSpPr>
        <p:spPr>
          <a:xfrm>
            <a:off x="1007129" y="5656963"/>
            <a:ext cx="1673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左側面（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M3</a:t>
            </a:r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）</a:t>
            </a:r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68" name="テキスト ボックス 67"/>
          <p:cNvSpPr txBox="1"/>
          <p:nvPr/>
        </p:nvSpPr>
        <p:spPr>
          <a:xfrm>
            <a:off x="6576436" y="5656963"/>
            <a:ext cx="1673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右側面（</a:t>
            </a:r>
            <a:r>
              <a:rPr kumimoji="1" lang="en-US" altLang="ja-JP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M4</a:t>
            </a:r>
            <a:r>
              <a:rPr kumimoji="1" lang="ja-JP" altLang="en-US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）</a:t>
            </a:r>
            <a:endParaRPr kumimoji="1" lang="en-US" altLang="ja-JP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72" name="正方形/長方形 71"/>
          <p:cNvSpPr/>
          <p:nvPr/>
        </p:nvSpPr>
        <p:spPr>
          <a:xfrm>
            <a:off x="3465474" y="4827025"/>
            <a:ext cx="576000" cy="288000"/>
          </a:xfrm>
          <a:prstGeom prst="rect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800" dirty="0"/>
          </a:p>
        </p:txBody>
      </p:sp>
      <p:sp>
        <p:nvSpPr>
          <p:cNvPr id="78" name="角丸四角形吹き出し 77"/>
          <p:cNvSpPr/>
          <p:nvPr/>
        </p:nvSpPr>
        <p:spPr>
          <a:xfrm>
            <a:off x="3361376" y="3158869"/>
            <a:ext cx="2421247" cy="607600"/>
          </a:xfrm>
          <a:prstGeom prst="wedgeRoundRectCallout">
            <a:avLst>
              <a:gd name="adj1" fmla="val -103268"/>
              <a:gd name="adj2" fmla="val 194616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9" name="角丸四角形吹き出し 78"/>
          <p:cNvSpPr/>
          <p:nvPr/>
        </p:nvSpPr>
        <p:spPr>
          <a:xfrm>
            <a:off x="3361375" y="3147188"/>
            <a:ext cx="2421248" cy="609600"/>
          </a:xfrm>
          <a:prstGeom prst="wedgeRoundRectCallout">
            <a:avLst>
              <a:gd name="adj1" fmla="val 104603"/>
              <a:gd name="adj2" fmla="val 169524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ココ　</a:t>
            </a:r>
            <a:r>
              <a:rPr kumimoji="1" lang="en-US" altLang="ja-JP" dirty="0"/>
              <a:t>※2</a:t>
            </a:r>
            <a:r>
              <a:rPr kumimoji="1" lang="ja-JP" altLang="en-US" dirty="0"/>
              <a:t>箇所です</a:t>
            </a:r>
          </a:p>
        </p:txBody>
      </p:sp>
      <p:grpSp>
        <p:nvGrpSpPr>
          <p:cNvPr id="80" name="グループ化 79"/>
          <p:cNvGrpSpPr/>
          <p:nvPr/>
        </p:nvGrpSpPr>
        <p:grpSpPr>
          <a:xfrm>
            <a:off x="5880099" y="1634896"/>
            <a:ext cx="3132379" cy="1958072"/>
            <a:chOff x="7072158" y="508000"/>
            <a:chExt cx="4569508" cy="2791791"/>
          </a:xfrm>
        </p:grpSpPr>
        <p:sp>
          <p:nvSpPr>
            <p:cNvPr id="82" name="正方形/長方形 81"/>
            <p:cNvSpPr/>
            <p:nvPr/>
          </p:nvSpPr>
          <p:spPr>
            <a:xfrm>
              <a:off x="7072158" y="508000"/>
              <a:ext cx="4569508" cy="2791791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83" name="正方形/長方形 82"/>
            <p:cNvSpPr/>
            <p:nvPr/>
          </p:nvSpPr>
          <p:spPr>
            <a:xfrm>
              <a:off x="7950200" y="1033669"/>
              <a:ext cx="2376557" cy="1063487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4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生産棟</a:t>
              </a:r>
            </a:p>
          </p:txBody>
        </p:sp>
        <p:sp>
          <p:nvSpPr>
            <p:cNvPr id="84" name="テキスト ボックス 83"/>
            <p:cNvSpPr txBox="1"/>
            <p:nvPr/>
          </p:nvSpPr>
          <p:spPr>
            <a:xfrm>
              <a:off x="7072159" y="508000"/>
              <a:ext cx="642879" cy="569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0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外</a:t>
              </a:r>
            </a:p>
          </p:txBody>
        </p:sp>
        <p:sp>
          <p:nvSpPr>
            <p:cNvPr id="85" name="正方形/長方形 84"/>
            <p:cNvSpPr/>
            <p:nvPr/>
          </p:nvSpPr>
          <p:spPr>
            <a:xfrm>
              <a:off x="10698546" y="1903066"/>
              <a:ext cx="771214" cy="388179"/>
            </a:xfrm>
            <a:prstGeom prst="rect">
              <a:avLst/>
            </a:prstGeom>
            <a:ln>
              <a:solidFill>
                <a:schemeClr val="accent5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9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動力棟</a:t>
              </a:r>
            </a:p>
          </p:txBody>
        </p:sp>
        <p:sp>
          <p:nvSpPr>
            <p:cNvPr id="86" name="正方形/長方形 85"/>
            <p:cNvSpPr/>
            <p:nvPr/>
          </p:nvSpPr>
          <p:spPr>
            <a:xfrm>
              <a:off x="10177670" y="508001"/>
              <a:ext cx="778197" cy="254006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正門</a:t>
              </a:r>
            </a:p>
          </p:txBody>
        </p:sp>
        <p:sp>
          <p:nvSpPr>
            <p:cNvPr id="87" name="正方形/長方形 86"/>
            <p:cNvSpPr/>
            <p:nvPr/>
          </p:nvSpPr>
          <p:spPr>
            <a:xfrm>
              <a:off x="10862591" y="877331"/>
              <a:ext cx="607164" cy="342330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守衛</a:t>
              </a:r>
            </a:p>
          </p:txBody>
        </p:sp>
        <p:sp>
          <p:nvSpPr>
            <p:cNvPr id="88" name="正方形/長方形 87"/>
            <p:cNvSpPr/>
            <p:nvPr/>
          </p:nvSpPr>
          <p:spPr>
            <a:xfrm>
              <a:off x="10955867" y="1343648"/>
              <a:ext cx="513890" cy="415578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食堂</a:t>
              </a:r>
            </a:p>
          </p:txBody>
        </p:sp>
        <p:sp>
          <p:nvSpPr>
            <p:cNvPr id="89" name="正方形/長方形 88"/>
            <p:cNvSpPr/>
            <p:nvPr/>
          </p:nvSpPr>
          <p:spPr>
            <a:xfrm>
              <a:off x="10698544" y="2351606"/>
              <a:ext cx="771214" cy="415578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900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窒素</a:t>
              </a:r>
              <a:endParaRPr kumimoji="1" lang="en-US" altLang="ja-JP" sz="9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  <a:p>
              <a:pPr algn="ctr"/>
              <a:r>
                <a:rPr kumimoji="1" lang="ja-JP" altLang="en-US" sz="900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タンク</a:t>
              </a:r>
            </a:p>
          </p:txBody>
        </p:sp>
      </p:grpSp>
      <p:sp>
        <p:nvSpPr>
          <p:cNvPr id="76" name="正方形/長方形 75"/>
          <p:cNvSpPr/>
          <p:nvPr/>
        </p:nvSpPr>
        <p:spPr>
          <a:xfrm>
            <a:off x="1628057" y="4538487"/>
            <a:ext cx="432000" cy="324000"/>
          </a:xfrm>
          <a:prstGeom prst="rect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800" dirty="0"/>
          </a:p>
        </p:txBody>
      </p:sp>
      <p:sp>
        <p:nvSpPr>
          <p:cNvPr id="91" name="正方形/長方形 90"/>
          <p:cNvSpPr/>
          <p:nvPr/>
        </p:nvSpPr>
        <p:spPr>
          <a:xfrm>
            <a:off x="5224188" y="4581148"/>
            <a:ext cx="360000" cy="288000"/>
          </a:xfrm>
          <a:prstGeom prst="rect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800" dirty="0"/>
          </a:p>
        </p:txBody>
      </p:sp>
      <p:sp>
        <p:nvSpPr>
          <p:cNvPr id="92" name="正方形/長方形 91"/>
          <p:cNvSpPr/>
          <p:nvPr/>
        </p:nvSpPr>
        <p:spPr>
          <a:xfrm>
            <a:off x="7116523" y="4256916"/>
            <a:ext cx="432000" cy="432000"/>
          </a:xfrm>
          <a:prstGeom prst="rect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800" dirty="0"/>
          </a:p>
        </p:txBody>
      </p:sp>
      <p:sp>
        <p:nvSpPr>
          <p:cNvPr id="2" name="角丸四角形 1"/>
          <p:cNvSpPr/>
          <p:nvPr/>
        </p:nvSpPr>
        <p:spPr>
          <a:xfrm>
            <a:off x="392268" y="3172109"/>
            <a:ext cx="1119653" cy="700222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週末のみ</a:t>
            </a:r>
            <a:endParaRPr lang="en-US" altLang="ja-JP" sz="16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algn="ctr"/>
            <a:r>
              <a:rPr kumimoji="1"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閉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502739" y="3338060"/>
            <a:ext cx="15402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←この札付いてます</a:t>
            </a:r>
          </a:p>
        </p:txBody>
      </p:sp>
      <p:sp>
        <p:nvSpPr>
          <p:cNvPr id="5" name="スライド番号プレースホルダー 1">
            <a:extLst>
              <a:ext uri="{FF2B5EF4-FFF2-40B4-BE49-F238E27FC236}">
                <a16:creationId xmlns:a16="http://schemas.microsoft.com/office/drawing/2014/main" id="{C55743A9-7DE6-BAF0-F522-309FD9E12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496CD11-9029-4718-B542-A07CCE74E59E}" type="slidenum">
              <a:rPr kumimoji="1" lang="ja-JP" altLang="en-US" sz="3200" b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7</a:t>
            </a:fld>
            <a:endParaRPr kumimoji="1" lang="ja-JP" altLang="en-US" sz="32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BF731F0-A70F-8202-E17A-CD63495A3453}"/>
              </a:ext>
            </a:extLst>
          </p:cNvPr>
          <p:cNvSpPr txBox="1"/>
          <p:nvPr/>
        </p:nvSpPr>
        <p:spPr>
          <a:xfrm>
            <a:off x="4572000" y="0"/>
            <a:ext cx="4571999" cy="936000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原則、</a:t>
            </a:r>
            <a:r>
              <a:rPr kumimoji="1" lang="ja-JP" altLang="en-US" sz="2000" b="1" u="sng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金曜</a:t>
            </a:r>
            <a:r>
              <a:rPr kumimoji="1"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帰宅時には必ず弁を閉じる。</a:t>
            </a:r>
            <a:endParaRPr kumimoji="1" lang="en-US" altLang="ja-JP" sz="20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個別に休日出勤＆窒素使用の事前連絡があった場合に限り</a:t>
            </a:r>
            <a:endParaRPr kumimoji="1" lang="en-US" altLang="ja-JP" sz="1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金曜帰宅時は弁開のままでも良い。</a:t>
            </a:r>
            <a:endParaRPr kumimoji="1" lang="en-US" altLang="ja-JP" sz="1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（この場合、休出者に弁閉作業を指示すること。）</a:t>
            </a:r>
          </a:p>
        </p:txBody>
      </p:sp>
    </p:spTree>
    <p:extLst>
      <p:ext uri="{BB962C8B-B14F-4D97-AF65-F5344CB8AC3E}">
        <p14:creationId xmlns:p14="http://schemas.microsoft.com/office/powerpoint/2010/main" val="143073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917DC6A-9863-2269-2ADA-D5B9818297CF}"/>
              </a:ext>
            </a:extLst>
          </p:cNvPr>
          <p:cNvSpPr txBox="1"/>
          <p:nvPr/>
        </p:nvSpPr>
        <p:spPr>
          <a:xfrm>
            <a:off x="190721" y="323350"/>
            <a:ext cx="859132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★残業時・土日出勤時の対応：</a:t>
            </a:r>
            <a:endParaRPr lang="en-US" altLang="ja-JP" sz="32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</a:t>
            </a:r>
          </a:p>
          <a:p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ja-JP" altLang="en-US" sz="20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3" name="スライド番号プレースホルダー 1">
            <a:extLst>
              <a:ext uri="{FF2B5EF4-FFF2-40B4-BE49-F238E27FC236}">
                <a16:creationId xmlns:a16="http://schemas.microsoft.com/office/drawing/2014/main" id="{F3FA8E06-F8D0-5C2C-B3B1-3B1913A0E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496CD11-9029-4718-B542-A07CCE74E59E}" type="slidenum">
              <a:rPr kumimoji="1" lang="ja-JP" altLang="en-US" sz="3200" b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8</a:t>
            </a:fld>
            <a:endParaRPr kumimoji="1" lang="ja-JP" altLang="en-US" sz="32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02645E1-F97D-BF4F-8687-81657CE99809}"/>
              </a:ext>
            </a:extLst>
          </p:cNvPr>
          <p:cNvSpPr txBox="1"/>
          <p:nvPr/>
        </p:nvSpPr>
        <p:spPr>
          <a:xfrm>
            <a:off x="450959" y="1163242"/>
            <a:ext cx="850232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●空調機・局所排気・加湿器は、タイマーで自動</a:t>
            </a:r>
            <a:r>
              <a:rPr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OFF</a:t>
            </a:r>
            <a:r>
              <a:rPr lang="ja-JP" altLang="en-US" sz="24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します。 　　</a:t>
            </a:r>
            <a:endParaRPr lang="en-US" altLang="ja-JP" sz="24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※ON</a:t>
            </a: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も自動。　土日は停止。</a:t>
            </a: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en-US" altLang="ja-JP" sz="24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24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●残業する場合又は土日出勤する場合は、次ページの手順で</a:t>
            </a:r>
            <a:endParaRPr lang="en-US" altLang="ja-JP" sz="24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24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 手動で稼働させてください。</a:t>
            </a:r>
            <a:endParaRPr lang="en-US" altLang="ja-JP" sz="24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en-US" altLang="ja-JP" sz="16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graphicFrame>
        <p:nvGraphicFramePr>
          <p:cNvPr id="6" name="表 6">
            <a:extLst>
              <a:ext uri="{FF2B5EF4-FFF2-40B4-BE49-F238E27FC236}">
                <a16:creationId xmlns:a16="http://schemas.microsoft.com/office/drawing/2014/main" id="{08B2F80F-1FC3-AF27-6F58-9E508B163D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1649608"/>
              </p:ext>
            </p:extLst>
          </p:nvPr>
        </p:nvGraphicFramePr>
        <p:xfrm>
          <a:off x="558799" y="3382175"/>
          <a:ext cx="8158058" cy="320803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03680">
                  <a:extLst>
                    <a:ext uri="{9D8B030D-6E8A-4147-A177-3AD203B41FA5}">
                      <a16:colId xmlns:a16="http://schemas.microsoft.com/office/drawing/2014/main" val="937400000"/>
                    </a:ext>
                  </a:extLst>
                </a:gridCol>
                <a:gridCol w="2546668">
                  <a:extLst>
                    <a:ext uri="{9D8B030D-6E8A-4147-A177-3AD203B41FA5}">
                      <a16:colId xmlns:a16="http://schemas.microsoft.com/office/drawing/2014/main" val="187206406"/>
                    </a:ext>
                  </a:extLst>
                </a:gridCol>
                <a:gridCol w="2053855">
                  <a:extLst>
                    <a:ext uri="{9D8B030D-6E8A-4147-A177-3AD203B41FA5}">
                      <a16:colId xmlns:a16="http://schemas.microsoft.com/office/drawing/2014/main" val="1046656753"/>
                    </a:ext>
                  </a:extLst>
                </a:gridCol>
                <a:gridCol w="2053855">
                  <a:extLst>
                    <a:ext uri="{9D8B030D-6E8A-4147-A177-3AD203B41FA5}">
                      <a16:colId xmlns:a16="http://schemas.microsoft.com/office/drawing/2014/main" val="2314612310"/>
                    </a:ext>
                  </a:extLst>
                </a:gridCol>
              </a:tblGrid>
              <a:tr h="534672">
                <a:tc gridSpan="2">
                  <a:txBody>
                    <a:bodyPr/>
                    <a:lstStyle/>
                    <a:p>
                      <a:endParaRPr kumimoji="1" lang="ja-JP" altLang="en-US" sz="2400" b="1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タイマー</a:t>
                      </a:r>
                      <a:r>
                        <a:rPr kumimoji="1" lang="en-US" altLang="ja-JP" sz="2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ON</a:t>
                      </a:r>
                      <a:endParaRPr kumimoji="1" lang="ja-JP" altLang="en-US" sz="2400" b="1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タイマー</a:t>
                      </a:r>
                      <a:r>
                        <a:rPr kumimoji="1" lang="en-US" altLang="ja-JP" sz="2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OFF</a:t>
                      </a:r>
                      <a:endParaRPr kumimoji="1" lang="ja-JP" altLang="en-US" sz="2400" b="1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8469094"/>
                  </a:ext>
                </a:extLst>
              </a:tr>
              <a:tr h="534672">
                <a:tc gridSpan="2">
                  <a:txBody>
                    <a:bodyPr/>
                    <a:lstStyle/>
                    <a:p>
                      <a:r>
                        <a:rPr kumimoji="1" lang="ja-JP" altLang="en-US" sz="2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加湿器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6</a:t>
                      </a:r>
                      <a:r>
                        <a:rPr kumimoji="1" lang="ja-JP" altLang="en-US" sz="2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：</a:t>
                      </a:r>
                      <a:r>
                        <a:rPr kumimoji="1" lang="en-US" altLang="ja-JP" sz="2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00</a:t>
                      </a:r>
                      <a:endParaRPr kumimoji="1" lang="ja-JP" altLang="en-US" sz="2400" b="1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25</a:t>
                      </a:r>
                      <a:r>
                        <a:rPr kumimoji="1" lang="ja-JP" altLang="en-US" sz="2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：</a:t>
                      </a:r>
                      <a:r>
                        <a:rPr kumimoji="1" lang="en-US" altLang="ja-JP" sz="2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00</a:t>
                      </a:r>
                      <a:endParaRPr kumimoji="1" lang="ja-JP" altLang="en-US" sz="2400" b="1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46438"/>
                  </a:ext>
                </a:extLst>
              </a:tr>
              <a:tr h="534672">
                <a:tc gridSpan="2">
                  <a:txBody>
                    <a:bodyPr/>
                    <a:lstStyle/>
                    <a:p>
                      <a:r>
                        <a:rPr kumimoji="1" lang="ja-JP" altLang="en-US" sz="2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空調機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6</a:t>
                      </a:r>
                      <a:r>
                        <a:rPr kumimoji="1" lang="ja-JP" altLang="en-US" sz="2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：</a:t>
                      </a:r>
                      <a:r>
                        <a:rPr kumimoji="1" lang="en-US" altLang="ja-JP" sz="2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00</a:t>
                      </a:r>
                      <a:endParaRPr kumimoji="1" lang="ja-JP" altLang="en-US" sz="2400" b="1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25</a:t>
                      </a:r>
                      <a:r>
                        <a:rPr kumimoji="1" lang="ja-JP" altLang="en-US" sz="2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：</a:t>
                      </a:r>
                      <a:r>
                        <a:rPr kumimoji="1" lang="en-US" altLang="ja-JP" sz="2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00</a:t>
                      </a:r>
                      <a:endParaRPr kumimoji="1" lang="ja-JP" altLang="en-US" sz="2400" b="1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4286808"/>
                  </a:ext>
                </a:extLst>
              </a:tr>
              <a:tr h="534672">
                <a:tc>
                  <a:txBody>
                    <a:bodyPr/>
                    <a:lstStyle/>
                    <a:p>
                      <a:r>
                        <a:rPr kumimoji="1" lang="ja-JP" altLang="en-US" sz="2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局所排気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2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北東</a:t>
                      </a:r>
                      <a:r>
                        <a:rPr kumimoji="1" lang="en-US" altLang="ja-JP" sz="2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/</a:t>
                      </a:r>
                      <a:r>
                        <a:rPr kumimoji="1" lang="ja-JP" altLang="en-US" sz="2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南東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6</a:t>
                      </a:r>
                      <a:r>
                        <a:rPr kumimoji="1" lang="ja-JP" altLang="en-US" sz="2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：</a:t>
                      </a:r>
                      <a:r>
                        <a:rPr kumimoji="1" lang="en-US" altLang="ja-JP" sz="2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00</a:t>
                      </a:r>
                      <a:endParaRPr kumimoji="1" lang="ja-JP" altLang="en-US" sz="2400" b="1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25</a:t>
                      </a:r>
                      <a:r>
                        <a:rPr kumimoji="1" lang="ja-JP" altLang="en-US" sz="2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：</a:t>
                      </a:r>
                      <a:r>
                        <a:rPr kumimoji="1" lang="en-US" altLang="ja-JP" sz="2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</a:t>
                      </a:r>
                      <a:endParaRPr kumimoji="1" lang="ja-JP" altLang="en-US" sz="2400" b="1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0972924"/>
                  </a:ext>
                </a:extLst>
              </a:tr>
              <a:tr h="534672">
                <a:tc>
                  <a:txBody>
                    <a:bodyPr/>
                    <a:lstStyle/>
                    <a:p>
                      <a:endParaRPr kumimoji="1" lang="ja-JP" altLang="en-US" sz="2400" b="1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2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南西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7</a:t>
                      </a:r>
                      <a:r>
                        <a:rPr kumimoji="1" lang="ja-JP" altLang="en-US" sz="2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：</a:t>
                      </a:r>
                      <a:r>
                        <a:rPr kumimoji="1" lang="en-US" altLang="ja-JP" sz="2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00</a:t>
                      </a:r>
                      <a:endParaRPr kumimoji="1" lang="ja-JP" altLang="en-US" sz="2400" b="1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25</a:t>
                      </a:r>
                      <a:r>
                        <a:rPr kumimoji="1" lang="ja-JP" altLang="en-US" sz="2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：</a:t>
                      </a:r>
                      <a:r>
                        <a:rPr kumimoji="1" lang="en-US" altLang="ja-JP" sz="2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</a:t>
                      </a:r>
                      <a:endParaRPr kumimoji="1" lang="ja-JP" altLang="en-US" sz="2400" b="1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1366078"/>
                  </a:ext>
                </a:extLst>
              </a:tr>
              <a:tr h="534672">
                <a:tc>
                  <a:txBody>
                    <a:bodyPr/>
                    <a:lstStyle/>
                    <a:p>
                      <a:endParaRPr kumimoji="1" lang="ja-JP" altLang="en-US" sz="2400" b="1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2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北西</a:t>
                      </a:r>
                      <a:r>
                        <a:rPr kumimoji="1" lang="en-US" altLang="ja-JP" sz="2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2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マスク洗浄</a:t>
                      </a:r>
                      <a:r>
                        <a:rPr kumimoji="1" lang="en-US" altLang="ja-JP" sz="2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2400" b="1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8</a:t>
                      </a:r>
                      <a:r>
                        <a:rPr kumimoji="1" lang="ja-JP" altLang="en-US" sz="2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：</a:t>
                      </a:r>
                      <a:r>
                        <a:rPr kumimoji="1" lang="en-US" altLang="ja-JP" sz="2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40</a:t>
                      </a:r>
                      <a:endParaRPr kumimoji="1" lang="ja-JP" altLang="en-US" sz="2400" b="1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25</a:t>
                      </a:r>
                      <a:r>
                        <a:rPr kumimoji="1" lang="ja-JP" altLang="en-US" sz="2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：</a:t>
                      </a:r>
                      <a:r>
                        <a:rPr kumimoji="1" lang="en-US" altLang="ja-JP" sz="2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</a:t>
                      </a:r>
                      <a:endParaRPr kumimoji="1" lang="ja-JP" altLang="en-US" sz="2400" b="1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03919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5766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>
            <a:extLst>
              <a:ext uri="{FF2B5EF4-FFF2-40B4-BE49-F238E27FC236}">
                <a16:creationId xmlns:a16="http://schemas.microsoft.com/office/drawing/2014/main" id="{A0FDC24B-77E8-AEBE-ACF6-E5EDFA7E97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693" y="1983599"/>
            <a:ext cx="4461610" cy="2182310"/>
          </a:xfrm>
          <a:prstGeom prst="rect">
            <a:avLst/>
          </a:prstGeom>
        </p:spPr>
      </p:pic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A101F7BB-104A-C7F9-FE4A-A29FD882A2FC}"/>
              </a:ext>
            </a:extLst>
          </p:cNvPr>
          <p:cNvGrpSpPr/>
          <p:nvPr/>
        </p:nvGrpSpPr>
        <p:grpSpPr>
          <a:xfrm>
            <a:off x="2664011" y="4162100"/>
            <a:ext cx="3650794" cy="2738094"/>
            <a:chOff x="3251018" y="4276091"/>
            <a:chExt cx="2742857" cy="2057142"/>
          </a:xfrm>
        </p:grpSpPr>
        <p:pic>
          <p:nvPicPr>
            <p:cNvPr id="26" name="図 2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51018" y="4276091"/>
              <a:ext cx="2742857" cy="2057142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41" name="正方形/長方形 40"/>
            <p:cNvSpPr/>
            <p:nvPr/>
          </p:nvSpPr>
          <p:spPr>
            <a:xfrm>
              <a:off x="3648787" y="4878584"/>
              <a:ext cx="275051" cy="216542"/>
            </a:xfrm>
            <a:prstGeom prst="rect">
              <a:avLst/>
            </a:prstGeom>
            <a:solidFill>
              <a:srgbClr val="FF0000">
                <a:alpha val="10000"/>
              </a:srgbClr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800" dirty="0"/>
            </a:p>
          </p:txBody>
        </p:sp>
        <p:sp>
          <p:nvSpPr>
            <p:cNvPr id="52" name="正方形/長方形 51"/>
            <p:cNvSpPr/>
            <p:nvPr/>
          </p:nvSpPr>
          <p:spPr>
            <a:xfrm>
              <a:off x="3958733" y="4874161"/>
              <a:ext cx="275051" cy="216542"/>
            </a:xfrm>
            <a:prstGeom prst="rect">
              <a:avLst/>
            </a:prstGeom>
            <a:solidFill>
              <a:srgbClr val="FF0000">
                <a:alpha val="10000"/>
              </a:srgbClr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800" dirty="0"/>
            </a:p>
          </p:txBody>
        </p:sp>
        <p:sp>
          <p:nvSpPr>
            <p:cNvPr id="53" name="正方形/長方形 52"/>
            <p:cNvSpPr/>
            <p:nvPr/>
          </p:nvSpPr>
          <p:spPr>
            <a:xfrm>
              <a:off x="3958732" y="5282402"/>
              <a:ext cx="275051" cy="216542"/>
            </a:xfrm>
            <a:prstGeom prst="rect">
              <a:avLst/>
            </a:prstGeom>
            <a:solidFill>
              <a:srgbClr val="FF0000">
                <a:alpha val="10000"/>
              </a:srgbClr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800" dirty="0"/>
            </a:p>
          </p:txBody>
        </p:sp>
        <p:sp>
          <p:nvSpPr>
            <p:cNvPr id="54" name="正方形/長方形 53"/>
            <p:cNvSpPr/>
            <p:nvPr/>
          </p:nvSpPr>
          <p:spPr>
            <a:xfrm>
              <a:off x="4865547" y="4834448"/>
              <a:ext cx="275051" cy="216542"/>
            </a:xfrm>
            <a:prstGeom prst="rect">
              <a:avLst/>
            </a:prstGeom>
            <a:solidFill>
              <a:srgbClr val="FF0000">
                <a:alpha val="10000"/>
              </a:srgbClr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800" dirty="0"/>
            </a:p>
          </p:txBody>
        </p:sp>
      </p:grpSp>
      <p:sp>
        <p:nvSpPr>
          <p:cNvPr id="27" name="下矢印 26"/>
          <p:cNvSpPr/>
          <p:nvPr/>
        </p:nvSpPr>
        <p:spPr>
          <a:xfrm rot="870120">
            <a:off x="4425071" y="3266336"/>
            <a:ext cx="428896" cy="1189191"/>
          </a:xfrm>
          <a:prstGeom prst="downArrow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スライド番号プレースホルダー 1">
            <a:extLst>
              <a:ext uri="{FF2B5EF4-FFF2-40B4-BE49-F238E27FC236}">
                <a16:creationId xmlns:a16="http://schemas.microsoft.com/office/drawing/2014/main" id="{EC5DE316-C7E5-D795-46D1-99C2D0274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496CD11-9029-4718-B542-A07CCE74E59E}" type="slidenum">
              <a:rPr kumimoji="1" lang="ja-JP" altLang="en-US" sz="3200" b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9</a:t>
            </a:fld>
            <a:endParaRPr kumimoji="1" lang="ja-JP" altLang="en-US" sz="32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6" name="図 5" descr="屋内, 時計, 電子レンジ, モニター が含まれている画像&#10;&#10;自動的に生成された説明">
            <a:extLst>
              <a:ext uri="{FF2B5EF4-FFF2-40B4-BE49-F238E27FC236}">
                <a16:creationId xmlns:a16="http://schemas.microsoft.com/office/drawing/2014/main" id="{9A1FDD00-304F-AA8E-9E0F-CD6D97F3790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372231" y="4591298"/>
            <a:ext cx="2491189" cy="1868391"/>
          </a:xfrm>
          <a:prstGeom prst="rect">
            <a:avLst/>
          </a:prstGeom>
        </p:spPr>
      </p:pic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D8FC674E-B71C-6D77-01C2-075B653677C4}"/>
              </a:ext>
            </a:extLst>
          </p:cNvPr>
          <p:cNvSpPr/>
          <p:nvPr/>
        </p:nvSpPr>
        <p:spPr>
          <a:xfrm>
            <a:off x="6903551" y="4571141"/>
            <a:ext cx="664686" cy="743809"/>
          </a:xfrm>
          <a:prstGeom prst="rect">
            <a:avLst/>
          </a:prstGeom>
          <a:solidFill>
            <a:srgbClr val="FF0000">
              <a:alpha val="10000"/>
            </a:srgbClr>
          </a:solidFill>
          <a:ln w="1905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800" dirty="0"/>
          </a:p>
        </p:txBody>
      </p:sp>
      <p:sp>
        <p:nvSpPr>
          <p:cNvPr id="30" name="吹き出し: 四角形 29">
            <a:extLst>
              <a:ext uri="{FF2B5EF4-FFF2-40B4-BE49-F238E27FC236}">
                <a16:creationId xmlns:a16="http://schemas.microsoft.com/office/drawing/2014/main" id="{38510845-28B9-8236-50E0-D9593E3E179D}"/>
              </a:ext>
            </a:extLst>
          </p:cNvPr>
          <p:cNvSpPr/>
          <p:nvPr/>
        </p:nvSpPr>
        <p:spPr>
          <a:xfrm>
            <a:off x="6903551" y="3231579"/>
            <a:ext cx="2030899" cy="902699"/>
          </a:xfrm>
          <a:prstGeom prst="wedgeRectCallout">
            <a:avLst>
              <a:gd name="adj1" fmla="val -33364"/>
              <a:gd name="adj2" fmla="val 106477"/>
            </a:avLst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4</a:t>
            </a:r>
            <a:r>
              <a:rPr lang="ja-JP" altLang="en-US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ヵ所あるスイッチの必要箇所を「自動」に</a:t>
            </a:r>
            <a:r>
              <a:rPr kumimoji="1" lang="ja-JP" altLang="en-US" sz="18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切り替える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0288859-1285-0CD8-4299-4AABD986A42C}"/>
              </a:ext>
            </a:extLst>
          </p:cNvPr>
          <p:cNvSpPr txBox="1"/>
          <p:nvPr/>
        </p:nvSpPr>
        <p:spPr>
          <a:xfrm>
            <a:off x="67704" y="58789"/>
            <a:ext cx="72220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★土日出勤時の対応（加湿器）：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A6EA995-ACB9-C24E-9D8C-640ECF4973F4}"/>
              </a:ext>
            </a:extLst>
          </p:cNvPr>
          <p:cNvSpPr txBox="1"/>
          <p:nvPr/>
        </p:nvSpPr>
        <p:spPr>
          <a:xfrm>
            <a:off x="515354" y="642992"/>
            <a:ext cx="705288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①タイマーの休日設定を解除する。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※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解除方法は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P.13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参照</a:t>
            </a:r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②スイッチを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【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停止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】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➡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【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自動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】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に切り替える。</a:t>
            </a:r>
            <a:endParaRPr lang="en-US" altLang="ja-JP" sz="20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③残業終了時は、スイッチを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【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自動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】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➡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【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停止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】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に戻す。</a:t>
            </a:r>
            <a:endParaRPr lang="en-US" altLang="ja-JP" sz="20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④タイマーの休日設定を有効に戻す。　　</a:t>
            </a:r>
            <a:endParaRPr lang="en-US" altLang="ja-JP" sz="20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93494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爆発: 8 pt 1">
            <a:extLst>
              <a:ext uri="{FF2B5EF4-FFF2-40B4-BE49-F238E27FC236}">
                <a16:creationId xmlns:a16="http://schemas.microsoft.com/office/drawing/2014/main" id="{BCCF26D8-90CD-FC36-8F95-C9BB786CB499}"/>
              </a:ext>
            </a:extLst>
          </p:cNvPr>
          <p:cNvSpPr/>
          <p:nvPr/>
        </p:nvSpPr>
        <p:spPr>
          <a:xfrm>
            <a:off x="2470425" y="910185"/>
            <a:ext cx="4160013" cy="1980355"/>
          </a:xfrm>
          <a:prstGeom prst="irregularSeal1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 descr="屋内, 建物, 行, 並ぶ が含まれている画像&#10;&#10;自動的に生成された説明">
            <a:extLst>
              <a:ext uri="{FF2B5EF4-FFF2-40B4-BE49-F238E27FC236}">
                <a16:creationId xmlns:a16="http://schemas.microsoft.com/office/drawing/2014/main" id="{0DB861E4-C1CF-8564-A743-9CAAEB9605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7271" y="1170865"/>
            <a:ext cx="2400000" cy="1800000"/>
          </a:xfrm>
          <a:prstGeom prst="rect">
            <a:avLst/>
          </a:prstGeom>
        </p:spPr>
      </p:pic>
      <p:pic>
        <p:nvPicPr>
          <p:cNvPr id="8" name="図 7" descr="建物, 屋内, 駐車場, 機械 が含まれている画像&#10;&#10;自動的に生成された説明">
            <a:extLst>
              <a:ext uri="{FF2B5EF4-FFF2-40B4-BE49-F238E27FC236}">
                <a16:creationId xmlns:a16="http://schemas.microsoft.com/office/drawing/2014/main" id="{8D57F665-C755-BD40-F401-2CC59DB0B54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6681" y="3086591"/>
            <a:ext cx="2400000" cy="1800000"/>
          </a:xfrm>
          <a:prstGeom prst="rect">
            <a:avLst/>
          </a:prstGeom>
        </p:spPr>
      </p:pic>
      <p:pic>
        <p:nvPicPr>
          <p:cNvPr id="10" name="図 9" descr="屋内, 冷蔵庫, 建物, 戸棚 が含まれている画像&#10;&#10;自動的に生成された説明">
            <a:extLst>
              <a:ext uri="{FF2B5EF4-FFF2-40B4-BE49-F238E27FC236}">
                <a16:creationId xmlns:a16="http://schemas.microsoft.com/office/drawing/2014/main" id="{A55632C3-F550-1A23-8F0E-348FF705630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4577" y="4992057"/>
            <a:ext cx="2400000" cy="1800000"/>
          </a:xfrm>
          <a:prstGeom prst="rect">
            <a:avLst/>
          </a:prstGeom>
        </p:spPr>
      </p:pic>
      <p:pic>
        <p:nvPicPr>
          <p:cNvPr id="13" name="図 12" descr="屋内, 建物, 行, 並ぶ が含まれている画像&#10;&#10;自動的に生成された説明">
            <a:extLst>
              <a:ext uri="{FF2B5EF4-FFF2-40B4-BE49-F238E27FC236}">
                <a16:creationId xmlns:a16="http://schemas.microsoft.com/office/drawing/2014/main" id="{C7206892-8EFE-D9A1-EADC-D6BD2BC610C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26" y="1242522"/>
            <a:ext cx="2352000" cy="1764000"/>
          </a:xfrm>
          <a:prstGeom prst="rect">
            <a:avLst/>
          </a:prstGeom>
        </p:spPr>
      </p:pic>
      <p:pic>
        <p:nvPicPr>
          <p:cNvPr id="29" name="図 28" descr="建物, 駐車場, 行, メーター が含まれている画像&#10;&#10;自動的に生成された説明">
            <a:extLst>
              <a:ext uri="{FF2B5EF4-FFF2-40B4-BE49-F238E27FC236}">
                <a16:creationId xmlns:a16="http://schemas.microsoft.com/office/drawing/2014/main" id="{7405A9EC-D304-8273-46F3-9E467123E2B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85" y="3142092"/>
            <a:ext cx="2352000" cy="1764000"/>
          </a:xfrm>
          <a:prstGeom prst="rect">
            <a:avLst/>
          </a:prstGeom>
        </p:spPr>
      </p:pic>
      <p:pic>
        <p:nvPicPr>
          <p:cNvPr id="33" name="図 32" descr="建物, 駐車場, メーター, 行 が含まれている画像&#10;&#10;自動的に生成された説明">
            <a:extLst>
              <a:ext uri="{FF2B5EF4-FFF2-40B4-BE49-F238E27FC236}">
                <a16:creationId xmlns:a16="http://schemas.microsoft.com/office/drawing/2014/main" id="{29CC66EF-99C8-9501-C60A-AC7FCB3D0E4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" y="5059860"/>
            <a:ext cx="2352000" cy="1764000"/>
          </a:xfrm>
          <a:prstGeom prst="rect">
            <a:avLst/>
          </a:prstGeom>
        </p:spPr>
      </p:pic>
      <p:sp>
        <p:nvSpPr>
          <p:cNvPr id="4" name="スライド番号プレースホルダー 1">
            <a:extLst>
              <a:ext uri="{FF2B5EF4-FFF2-40B4-BE49-F238E27FC236}">
                <a16:creationId xmlns:a16="http://schemas.microsoft.com/office/drawing/2014/main" id="{48E616C1-0B55-B629-4ADC-1D8537814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35800" y="6391275"/>
            <a:ext cx="2057400" cy="365125"/>
          </a:xfrm>
        </p:spPr>
        <p:txBody>
          <a:bodyPr/>
          <a:lstStyle/>
          <a:p>
            <a:fld id="{4496CD11-9029-4718-B542-A07CCE74E59E}" type="slidenum">
              <a:rPr kumimoji="1" lang="ja-JP" altLang="en-US" sz="3200" b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10</a:t>
            </a:fld>
            <a:endParaRPr kumimoji="1" lang="ja-JP" altLang="en-US" sz="32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246F30B4-8E5E-4789-AD46-B5BF91AA1353}"/>
              </a:ext>
            </a:extLst>
          </p:cNvPr>
          <p:cNvSpPr/>
          <p:nvPr/>
        </p:nvSpPr>
        <p:spPr>
          <a:xfrm>
            <a:off x="8076803" y="1520431"/>
            <a:ext cx="401524" cy="1351162"/>
          </a:xfrm>
          <a:prstGeom prst="rect">
            <a:avLst/>
          </a:prstGeom>
          <a:noFill/>
          <a:ln w="28575">
            <a:solidFill>
              <a:srgbClr val="0000FF"/>
            </a:solidFill>
            <a:prstDash val="sys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8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87529" y="503430"/>
            <a:ext cx="89564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①各操作盤でスイッチを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【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自動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】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➡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【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手動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】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に切り替え、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【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運転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】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ボタンを押す。</a:t>
            </a:r>
            <a:endParaRPr lang="en-US" altLang="ja-JP" sz="20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②作業終了時は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【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停止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】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ボタンを押した後、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【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自動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】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に戻す。　</a:t>
            </a:r>
            <a:endParaRPr lang="en-US" altLang="ja-JP" sz="16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35" name="フリーフォーム: 図形 34">
            <a:extLst>
              <a:ext uri="{FF2B5EF4-FFF2-40B4-BE49-F238E27FC236}">
                <a16:creationId xmlns:a16="http://schemas.microsoft.com/office/drawing/2014/main" id="{DC4F1A66-FBC0-04B3-67E1-1C8527436FD0}"/>
              </a:ext>
            </a:extLst>
          </p:cNvPr>
          <p:cNvSpPr/>
          <p:nvPr/>
        </p:nvSpPr>
        <p:spPr>
          <a:xfrm>
            <a:off x="6889750" y="1529549"/>
            <a:ext cx="675488" cy="1351162"/>
          </a:xfrm>
          <a:custGeom>
            <a:avLst/>
            <a:gdLst>
              <a:gd name="connsiteX0" fmla="*/ 819150 w 819150"/>
              <a:gd name="connsiteY0" fmla="*/ 0 h 1800225"/>
              <a:gd name="connsiteX1" fmla="*/ 352425 w 819150"/>
              <a:gd name="connsiteY1" fmla="*/ 0 h 1800225"/>
              <a:gd name="connsiteX2" fmla="*/ 352425 w 819150"/>
              <a:gd name="connsiteY2" fmla="*/ 1085850 h 1800225"/>
              <a:gd name="connsiteX3" fmla="*/ 0 w 819150"/>
              <a:gd name="connsiteY3" fmla="*/ 1085850 h 1800225"/>
              <a:gd name="connsiteX4" fmla="*/ 0 w 819150"/>
              <a:gd name="connsiteY4" fmla="*/ 1800225 h 1800225"/>
              <a:gd name="connsiteX5" fmla="*/ 542925 w 819150"/>
              <a:gd name="connsiteY5" fmla="*/ 1800225 h 1800225"/>
              <a:gd name="connsiteX6" fmla="*/ 542925 w 819150"/>
              <a:gd name="connsiteY6" fmla="*/ 1028700 h 1800225"/>
              <a:gd name="connsiteX7" fmla="*/ 800100 w 819150"/>
              <a:gd name="connsiteY7" fmla="*/ 1028700 h 1800225"/>
              <a:gd name="connsiteX8" fmla="*/ 819150 w 819150"/>
              <a:gd name="connsiteY8" fmla="*/ 0 h 180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9150" h="1800225">
                <a:moveTo>
                  <a:pt x="819150" y="0"/>
                </a:moveTo>
                <a:lnTo>
                  <a:pt x="352425" y="0"/>
                </a:lnTo>
                <a:lnTo>
                  <a:pt x="352425" y="1085850"/>
                </a:lnTo>
                <a:lnTo>
                  <a:pt x="0" y="1085850"/>
                </a:lnTo>
                <a:lnTo>
                  <a:pt x="0" y="1800225"/>
                </a:lnTo>
                <a:lnTo>
                  <a:pt x="542925" y="1800225"/>
                </a:lnTo>
                <a:lnTo>
                  <a:pt x="542925" y="1028700"/>
                </a:lnTo>
                <a:lnTo>
                  <a:pt x="800100" y="1028700"/>
                </a:lnTo>
                <a:lnTo>
                  <a:pt x="819150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吹き出し: 四角形 48">
            <a:extLst>
              <a:ext uri="{FF2B5EF4-FFF2-40B4-BE49-F238E27FC236}">
                <a16:creationId xmlns:a16="http://schemas.microsoft.com/office/drawing/2014/main" id="{01E6EF6C-6597-7B1A-435A-D6132616A8A1}"/>
              </a:ext>
            </a:extLst>
          </p:cNvPr>
          <p:cNvSpPr/>
          <p:nvPr/>
        </p:nvSpPr>
        <p:spPr>
          <a:xfrm>
            <a:off x="6412461" y="1924416"/>
            <a:ext cx="694687" cy="330479"/>
          </a:xfrm>
          <a:prstGeom prst="wedgeRectCallout">
            <a:avLst>
              <a:gd name="adj1" fmla="val 70630"/>
              <a:gd name="adj2" fmla="val 53626"/>
            </a:avLst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空調</a:t>
            </a:r>
            <a:r>
              <a:rPr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endParaRPr kumimoji="1" lang="ja-JP" altLang="en-US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2" name="吹き出し: 四角形 41">
            <a:extLst>
              <a:ext uri="{FF2B5EF4-FFF2-40B4-BE49-F238E27FC236}">
                <a16:creationId xmlns:a16="http://schemas.microsoft.com/office/drawing/2014/main" id="{3E4A22CF-8FC3-C9DE-CAB7-6A633B01693A}"/>
              </a:ext>
            </a:extLst>
          </p:cNvPr>
          <p:cNvSpPr/>
          <p:nvPr/>
        </p:nvSpPr>
        <p:spPr>
          <a:xfrm>
            <a:off x="8525216" y="2415007"/>
            <a:ext cx="612000" cy="330479"/>
          </a:xfrm>
          <a:prstGeom prst="wedgeRectCallout">
            <a:avLst>
              <a:gd name="adj1" fmla="val -75242"/>
              <a:gd name="adj2" fmla="val -30919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局排</a:t>
            </a:r>
            <a:r>
              <a:rPr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endParaRPr kumimoji="1" lang="ja-JP" altLang="en-US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フリーフォーム: 図形 61">
            <a:extLst>
              <a:ext uri="{FF2B5EF4-FFF2-40B4-BE49-F238E27FC236}">
                <a16:creationId xmlns:a16="http://schemas.microsoft.com/office/drawing/2014/main" id="{443468AD-37EF-B9F9-205A-6657E6FB5C98}"/>
              </a:ext>
            </a:extLst>
          </p:cNvPr>
          <p:cNvSpPr/>
          <p:nvPr/>
        </p:nvSpPr>
        <p:spPr>
          <a:xfrm>
            <a:off x="7021171" y="3423171"/>
            <a:ext cx="778208" cy="1385829"/>
          </a:xfrm>
          <a:custGeom>
            <a:avLst/>
            <a:gdLst>
              <a:gd name="connsiteX0" fmla="*/ 819150 w 819150"/>
              <a:gd name="connsiteY0" fmla="*/ 0 h 1800225"/>
              <a:gd name="connsiteX1" fmla="*/ 352425 w 819150"/>
              <a:gd name="connsiteY1" fmla="*/ 0 h 1800225"/>
              <a:gd name="connsiteX2" fmla="*/ 352425 w 819150"/>
              <a:gd name="connsiteY2" fmla="*/ 1085850 h 1800225"/>
              <a:gd name="connsiteX3" fmla="*/ 0 w 819150"/>
              <a:gd name="connsiteY3" fmla="*/ 1085850 h 1800225"/>
              <a:gd name="connsiteX4" fmla="*/ 0 w 819150"/>
              <a:gd name="connsiteY4" fmla="*/ 1800225 h 1800225"/>
              <a:gd name="connsiteX5" fmla="*/ 542925 w 819150"/>
              <a:gd name="connsiteY5" fmla="*/ 1800225 h 1800225"/>
              <a:gd name="connsiteX6" fmla="*/ 542925 w 819150"/>
              <a:gd name="connsiteY6" fmla="*/ 1028700 h 1800225"/>
              <a:gd name="connsiteX7" fmla="*/ 800100 w 819150"/>
              <a:gd name="connsiteY7" fmla="*/ 1028700 h 1800225"/>
              <a:gd name="connsiteX8" fmla="*/ 819150 w 819150"/>
              <a:gd name="connsiteY8" fmla="*/ 0 h 180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9150" h="1800225">
                <a:moveTo>
                  <a:pt x="819150" y="0"/>
                </a:moveTo>
                <a:lnTo>
                  <a:pt x="352425" y="0"/>
                </a:lnTo>
                <a:lnTo>
                  <a:pt x="352425" y="1085850"/>
                </a:lnTo>
                <a:lnTo>
                  <a:pt x="0" y="1085850"/>
                </a:lnTo>
                <a:lnTo>
                  <a:pt x="0" y="1800225"/>
                </a:lnTo>
                <a:lnTo>
                  <a:pt x="542925" y="1800225"/>
                </a:lnTo>
                <a:lnTo>
                  <a:pt x="542925" y="1028700"/>
                </a:lnTo>
                <a:lnTo>
                  <a:pt x="800100" y="1028700"/>
                </a:lnTo>
                <a:lnTo>
                  <a:pt x="819150" y="0"/>
                </a:lnTo>
                <a:close/>
              </a:path>
            </a:pathLst>
          </a:custGeom>
          <a:noFill/>
          <a:ln w="28575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フリーフォーム: 図形 64">
            <a:extLst>
              <a:ext uri="{FF2B5EF4-FFF2-40B4-BE49-F238E27FC236}">
                <a16:creationId xmlns:a16="http://schemas.microsoft.com/office/drawing/2014/main" id="{0B7D974C-0926-3248-EBE3-1C9C6D4F8A84}"/>
              </a:ext>
            </a:extLst>
          </p:cNvPr>
          <p:cNvSpPr/>
          <p:nvPr/>
        </p:nvSpPr>
        <p:spPr>
          <a:xfrm flipH="1">
            <a:off x="7846671" y="3439255"/>
            <a:ext cx="778208" cy="1369745"/>
          </a:xfrm>
          <a:custGeom>
            <a:avLst/>
            <a:gdLst>
              <a:gd name="connsiteX0" fmla="*/ 819150 w 819150"/>
              <a:gd name="connsiteY0" fmla="*/ 0 h 1800225"/>
              <a:gd name="connsiteX1" fmla="*/ 352425 w 819150"/>
              <a:gd name="connsiteY1" fmla="*/ 0 h 1800225"/>
              <a:gd name="connsiteX2" fmla="*/ 352425 w 819150"/>
              <a:gd name="connsiteY2" fmla="*/ 1085850 h 1800225"/>
              <a:gd name="connsiteX3" fmla="*/ 0 w 819150"/>
              <a:gd name="connsiteY3" fmla="*/ 1085850 h 1800225"/>
              <a:gd name="connsiteX4" fmla="*/ 0 w 819150"/>
              <a:gd name="connsiteY4" fmla="*/ 1800225 h 1800225"/>
              <a:gd name="connsiteX5" fmla="*/ 542925 w 819150"/>
              <a:gd name="connsiteY5" fmla="*/ 1800225 h 1800225"/>
              <a:gd name="connsiteX6" fmla="*/ 542925 w 819150"/>
              <a:gd name="connsiteY6" fmla="*/ 1028700 h 1800225"/>
              <a:gd name="connsiteX7" fmla="*/ 800100 w 819150"/>
              <a:gd name="connsiteY7" fmla="*/ 1028700 h 1800225"/>
              <a:gd name="connsiteX8" fmla="*/ 819150 w 819150"/>
              <a:gd name="connsiteY8" fmla="*/ 0 h 180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9150" h="1800225">
                <a:moveTo>
                  <a:pt x="819150" y="0"/>
                </a:moveTo>
                <a:lnTo>
                  <a:pt x="352425" y="0"/>
                </a:lnTo>
                <a:lnTo>
                  <a:pt x="352425" y="1085850"/>
                </a:lnTo>
                <a:lnTo>
                  <a:pt x="0" y="1085850"/>
                </a:lnTo>
                <a:lnTo>
                  <a:pt x="0" y="1800225"/>
                </a:lnTo>
                <a:lnTo>
                  <a:pt x="542925" y="1800225"/>
                </a:lnTo>
                <a:lnTo>
                  <a:pt x="542925" y="1028700"/>
                </a:lnTo>
                <a:lnTo>
                  <a:pt x="800100" y="1028700"/>
                </a:lnTo>
                <a:lnTo>
                  <a:pt x="819150" y="0"/>
                </a:lnTo>
                <a:close/>
              </a:path>
            </a:pathLst>
          </a:custGeom>
          <a:noFill/>
          <a:ln w="28575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吹き出し: 四角形 58">
            <a:extLst>
              <a:ext uri="{FF2B5EF4-FFF2-40B4-BE49-F238E27FC236}">
                <a16:creationId xmlns:a16="http://schemas.microsoft.com/office/drawing/2014/main" id="{14F7890D-7157-FF27-EF7B-97DE88AE4509}"/>
              </a:ext>
            </a:extLst>
          </p:cNvPr>
          <p:cNvSpPr/>
          <p:nvPr/>
        </p:nvSpPr>
        <p:spPr>
          <a:xfrm>
            <a:off x="8342699" y="3661601"/>
            <a:ext cx="612000" cy="330479"/>
          </a:xfrm>
          <a:prstGeom prst="wedgeRectCallout">
            <a:avLst>
              <a:gd name="adj1" fmla="val -76077"/>
              <a:gd name="adj2" fmla="val 43351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局排</a:t>
            </a:r>
            <a:r>
              <a:rPr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endParaRPr kumimoji="1" lang="ja-JP" altLang="en-US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9" name="フリーフォーム: 図形 68">
            <a:extLst>
              <a:ext uri="{FF2B5EF4-FFF2-40B4-BE49-F238E27FC236}">
                <a16:creationId xmlns:a16="http://schemas.microsoft.com/office/drawing/2014/main" id="{7F862ED9-CDBD-BA29-2211-2D6CB350DDEC}"/>
              </a:ext>
            </a:extLst>
          </p:cNvPr>
          <p:cNvSpPr/>
          <p:nvPr/>
        </p:nvSpPr>
        <p:spPr>
          <a:xfrm>
            <a:off x="7340600" y="5366551"/>
            <a:ext cx="904875" cy="1420012"/>
          </a:xfrm>
          <a:custGeom>
            <a:avLst/>
            <a:gdLst>
              <a:gd name="connsiteX0" fmla="*/ 0 w 904875"/>
              <a:gd name="connsiteY0" fmla="*/ 0 h 1776413"/>
              <a:gd name="connsiteX1" fmla="*/ 452438 w 904875"/>
              <a:gd name="connsiteY1" fmla="*/ 0 h 1776413"/>
              <a:gd name="connsiteX2" fmla="*/ 452438 w 904875"/>
              <a:gd name="connsiteY2" fmla="*/ 1038225 h 1776413"/>
              <a:gd name="connsiteX3" fmla="*/ 452438 w 904875"/>
              <a:gd name="connsiteY3" fmla="*/ 1276350 h 1776413"/>
              <a:gd name="connsiteX4" fmla="*/ 904875 w 904875"/>
              <a:gd name="connsiteY4" fmla="*/ 1276350 h 1776413"/>
              <a:gd name="connsiteX5" fmla="*/ 904875 w 904875"/>
              <a:gd name="connsiteY5" fmla="*/ 1776413 h 1776413"/>
              <a:gd name="connsiteX6" fmla="*/ 581025 w 904875"/>
              <a:gd name="connsiteY6" fmla="*/ 1776413 h 1776413"/>
              <a:gd name="connsiteX7" fmla="*/ 581025 w 904875"/>
              <a:gd name="connsiteY7" fmla="*/ 1400175 h 1776413"/>
              <a:gd name="connsiteX8" fmla="*/ 14288 w 904875"/>
              <a:gd name="connsiteY8" fmla="*/ 1400175 h 1776413"/>
              <a:gd name="connsiteX9" fmla="*/ 0 w 904875"/>
              <a:gd name="connsiteY9" fmla="*/ 0 h 1776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875" h="1776413">
                <a:moveTo>
                  <a:pt x="0" y="0"/>
                </a:moveTo>
                <a:lnTo>
                  <a:pt x="452438" y="0"/>
                </a:lnTo>
                <a:lnTo>
                  <a:pt x="452438" y="1038225"/>
                </a:lnTo>
                <a:lnTo>
                  <a:pt x="452438" y="1276350"/>
                </a:lnTo>
                <a:lnTo>
                  <a:pt x="904875" y="1276350"/>
                </a:lnTo>
                <a:lnTo>
                  <a:pt x="904875" y="1776413"/>
                </a:lnTo>
                <a:lnTo>
                  <a:pt x="581025" y="1776413"/>
                </a:lnTo>
                <a:lnTo>
                  <a:pt x="581025" y="1400175"/>
                </a:lnTo>
                <a:lnTo>
                  <a:pt x="14288" y="1400175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吹き出し: 四角形 67">
            <a:extLst>
              <a:ext uri="{FF2B5EF4-FFF2-40B4-BE49-F238E27FC236}">
                <a16:creationId xmlns:a16="http://schemas.microsoft.com/office/drawing/2014/main" id="{D2227C68-F8F7-0F5A-A6EA-DA1AF26FC8CD}"/>
              </a:ext>
            </a:extLst>
          </p:cNvPr>
          <p:cNvSpPr/>
          <p:nvPr/>
        </p:nvSpPr>
        <p:spPr>
          <a:xfrm>
            <a:off x="8399363" y="6225946"/>
            <a:ext cx="694687" cy="330479"/>
          </a:xfrm>
          <a:prstGeom prst="wedgeRectCallout">
            <a:avLst>
              <a:gd name="adj1" fmla="val -76646"/>
              <a:gd name="adj2" fmla="val 33251"/>
            </a:avLst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空調</a:t>
            </a:r>
            <a:r>
              <a:rPr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endParaRPr kumimoji="1" lang="ja-JP" altLang="en-US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4A4B5F78-C1E9-5F7A-A6CE-78939717EABE}"/>
              </a:ext>
            </a:extLst>
          </p:cNvPr>
          <p:cNvGrpSpPr/>
          <p:nvPr/>
        </p:nvGrpSpPr>
        <p:grpSpPr>
          <a:xfrm>
            <a:off x="2327446" y="2749290"/>
            <a:ext cx="4346959" cy="2726570"/>
            <a:chOff x="2327446" y="2253989"/>
            <a:chExt cx="4346959" cy="2726570"/>
          </a:xfrm>
        </p:grpSpPr>
        <p:grpSp>
          <p:nvGrpSpPr>
            <p:cNvPr id="32" name="グループ化 31">
              <a:extLst>
                <a:ext uri="{FF2B5EF4-FFF2-40B4-BE49-F238E27FC236}">
                  <a16:creationId xmlns:a16="http://schemas.microsoft.com/office/drawing/2014/main" id="{A0C0B57C-4859-3D1C-933E-3BC028FC6761}"/>
                </a:ext>
              </a:extLst>
            </p:cNvPr>
            <p:cNvGrpSpPr/>
            <p:nvPr/>
          </p:nvGrpSpPr>
          <p:grpSpPr>
            <a:xfrm>
              <a:off x="2327446" y="2253989"/>
              <a:ext cx="4236974" cy="2726570"/>
              <a:chOff x="1805122" y="1463747"/>
              <a:chExt cx="5473313" cy="3522178"/>
            </a:xfrm>
          </p:grpSpPr>
          <p:sp>
            <p:nvSpPr>
              <p:cNvPr id="12" name="正方形/長方形 11"/>
              <p:cNvSpPr/>
              <p:nvPr/>
            </p:nvSpPr>
            <p:spPr>
              <a:xfrm>
                <a:off x="1992617" y="1473272"/>
                <a:ext cx="5227031" cy="3502646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tIns="0" bIns="0" rtlCol="0" anchor="ctr"/>
              <a:lstStyle/>
              <a:p>
                <a:pPr algn="ctr"/>
                <a:endParaRPr kumimoji="1" lang="ja-JP" altLang="en-US" sz="20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14" name="正方形/長方形 13"/>
              <p:cNvSpPr/>
              <p:nvPr/>
            </p:nvSpPr>
            <p:spPr>
              <a:xfrm>
                <a:off x="2997003" y="2195049"/>
                <a:ext cx="3176669" cy="2790876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tIns="0" bIns="0" rtlCol="0" anchor="ctr"/>
              <a:lstStyle/>
              <a:p>
                <a:pPr algn="ctr"/>
                <a:endParaRPr kumimoji="1" lang="ja-JP" altLang="en-US" sz="20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15" name="テキスト ボックス 14"/>
              <p:cNvSpPr txBox="1"/>
              <p:nvPr/>
            </p:nvSpPr>
            <p:spPr>
              <a:xfrm>
                <a:off x="1992617" y="1463747"/>
                <a:ext cx="591578" cy="372160"/>
              </a:xfrm>
              <a:prstGeom prst="rect">
                <a:avLst/>
              </a:prstGeom>
              <a:noFill/>
            </p:spPr>
            <p:txBody>
              <a:bodyPr wrap="none" tIns="0" bIns="0" rtlCol="0">
                <a:spAutoFit/>
              </a:bodyPr>
              <a:lstStyle/>
              <a:p>
                <a:r>
                  <a:rPr kumimoji="1" lang="en-US" altLang="ja-JP" sz="2000" dirty="0"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3F</a:t>
                </a:r>
                <a:endParaRPr kumimoji="1" lang="ja-JP" altLang="en-US" sz="20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16" name="正方形/長方形 15"/>
              <p:cNvSpPr/>
              <p:nvPr/>
            </p:nvSpPr>
            <p:spPr>
              <a:xfrm>
                <a:off x="6435165" y="2186719"/>
                <a:ext cx="784483" cy="502295"/>
              </a:xfrm>
              <a:prstGeom prst="rect">
                <a:avLst/>
              </a:prstGeom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tx1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南西</a:t>
                </a:r>
                <a:endParaRPr kumimoji="1" lang="en-US" altLang="ja-JP" sz="12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  <a:p>
                <a:pPr algn="ctr"/>
                <a:r>
                  <a:rPr kumimoji="1" lang="ja-JP" altLang="en-US" sz="1200" b="1" dirty="0">
                    <a:solidFill>
                      <a:schemeClr val="tx1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空調室</a:t>
                </a:r>
              </a:p>
            </p:txBody>
          </p:sp>
          <p:sp>
            <p:nvSpPr>
              <p:cNvPr id="17" name="正方形/長方形 16"/>
              <p:cNvSpPr/>
              <p:nvPr/>
            </p:nvSpPr>
            <p:spPr>
              <a:xfrm>
                <a:off x="6435165" y="4557282"/>
                <a:ext cx="784483" cy="42711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北西</a:t>
                </a:r>
                <a:endParaRPr kumimoji="1" lang="en-US" altLang="ja-JP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  <a:p>
                <a:pPr algn="ctr"/>
                <a:r>
                  <a:rPr kumimoji="1" lang="ja-JP" altLang="en-US" sz="12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空調室</a:t>
                </a:r>
              </a:p>
            </p:txBody>
          </p:sp>
          <p:sp>
            <p:nvSpPr>
              <p:cNvPr id="18" name="正方形/長方形 17"/>
              <p:cNvSpPr/>
              <p:nvPr/>
            </p:nvSpPr>
            <p:spPr>
              <a:xfrm>
                <a:off x="4785176" y="2771574"/>
                <a:ext cx="1388498" cy="1429609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tIns="0" bIns="0" rtlCol="0" anchor="ctr"/>
              <a:lstStyle/>
              <a:p>
                <a:pPr algn="ctr"/>
                <a:r>
                  <a:rPr kumimoji="1" lang="en-US" altLang="ja-JP" sz="2000" dirty="0"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SMT</a:t>
                </a:r>
                <a:endParaRPr kumimoji="1" lang="ja-JP" altLang="en-US" sz="20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19" name="正方形/長方形 18"/>
              <p:cNvSpPr/>
              <p:nvPr/>
            </p:nvSpPr>
            <p:spPr>
              <a:xfrm>
                <a:off x="5563522" y="2198057"/>
                <a:ext cx="610153" cy="463657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tIns="0" bIns="0" rtlCol="0" anchor="ctr"/>
              <a:lstStyle/>
              <a:p>
                <a:pPr algn="ctr"/>
                <a:r>
                  <a:rPr kumimoji="1" lang="ja-JP" altLang="en-US" sz="900" dirty="0"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西</a:t>
                </a:r>
                <a:endParaRPr kumimoji="1" lang="en-US" altLang="ja-JP" sz="9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  <a:p>
                <a:pPr algn="ctr"/>
                <a:r>
                  <a:rPr kumimoji="1" lang="ja-JP" altLang="en-US" sz="900" dirty="0"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カフェ</a:t>
                </a:r>
              </a:p>
            </p:txBody>
          </p:sp>
          <p:sp>
            <p:nvSpPr>
              <p:cNvPr id="20" name="正方形/長方形 19"/>
              <p:cNvSpPr/>
              <p:nvPr/>
            </p:nvSpPr>
            <p:spPr>
              <a:xfrm>
                <a:off x="1992618" y="2191359"/>
                <a:ext cx="742892" cy="50229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tx1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南東</a:t>
                </a:r>
                <a:endParaRPr kumimoji="1" lang="en-US" altLang="ja-JP" sz="12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  <a:p>
                <a:pPr algn="ctr"/>
                <a:r>
                  <a:rPr kumimoji="1" lang="ja-JP" altLang="en-US" sz="1200" b="1" dirty="0">
                    <a:solidFill>
                      <a:schemeClr val="tx1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機械室</a:t>
                </a:r>
              </a:p>
            </p:txBody>
          </p:sp>
          <p:sp>
            <p:nvSpPr>
              <p:cNvPr id="21" name="正方形/長方形 20"/>
              <p:cNvSpPr/>
              <p:nvPr/>
            </p:nvSpPr>
            <p:spPr>
              <a:xfrm>
                <a:off x="1992618" y="4474426"/>
                <a:ext cx="725948" cy="502295"/>
              </a:xfrm>
              <a:prstGeom prst="rect">
                <a:avLst/>
              </a:prstGeom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tx1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北東</a:t>
                </a:r>
                <a:endParaRPr kumimoji="1" lang="en-US" altLang="ja-JP" sz="12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  <a:p>
                <a:pPr algn="ctr"/>
                <a:r>
                  <a:rPr kumimoji="1" lang="ja-JP" altLang="en-US" sz="1200" b="1" dirty="0">
                    <a:solidFill>
                      <a:schemeClr val="tx1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機械室</a:t>
                </a:r>
              </a:p>
            </p:txBody>
          </p:sp>
          <p:sp>
            <p:nvSpPr>
              <p:cNvPr id="22" name="正方形/長方形 21"/>
              <p:cNvSpPr/>
              <p:nvPr/>
            </p:nvSpPr>
            <p:spPr>
              <a:xfrm>
                <a:off x="5064744" y="1473272"/>
                <a:ext cx="1104084" cy="493832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ja-JP" altLang="en-US" sz="1000" dirty="0"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インスピレーション</a:t>
                </a:r>
                <a:endParaRPr kumimoji="1" lang="en-US" altLang="ja-JP" sz="10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  <a:p>
                <a:pPr algn="ctr"/>
                <a:r>
                  <a:rPr kumimoji="1" lang="ja-JP" altLang="en-US" sz="1000" dirty="0"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ルーム</a:t>
                </a:r>
              </a:p>
            </p:txBody>
          </p:sp>
          <p:sp>
            <p:nvSpPr>
              <p:cNvPr id="23" name="正方形/長方形 22"/>
              <p:cNvSpPr/>
              <p:nvPr/>
            </p:nvSpPr>
            <p:spPr>
              <a:xfrm>
                <a:off x="4683624" y="4367031"/>
                <a:ext cx="1220307" cy="618894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ja-JP" altLang="en-US" sz="1600" dirty="0"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部品倉庫</a:t>
                </a:r>
              </a:p>
            </p:txBody>
          </p:sp>
          <p:sp>
            <p:nvSpPr>
              <p:cNvPr id="24" name="正方形/長方形 23"/>
              <p:cNvSpPr/>
              <p:nvPr/>
            </p:nvSpPr>
            <p:spPr>
              <a:xfrm>
                <a:off x="6435165" y="2754975"/>
                <a:ext cx="99460" cy="235690"/>
              </a:xfrm>
              <a:prstGeom prst="rect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tIns="0" bIns="0" rtlCol="0" anchor="ctr"/>
              <a:lstStyle/>
              <a:p>
                <a:pPr algn="ctr"/>
                <a:endParaRPr kumimoji="1" lang="ja-JP" altLang="en-US" sz="20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25" name="テキスト ボックス 24"/>
              <p:cNvSpPr txBox="1"/>
              <p:nvPr/>
            </p:nvSpPr>
            <p:spPr>
              <a:xfrm>
                <a:off x="6491086" y="2786401"/>
                <a:ext cx="787349" cy="186080"/>
              </a:xfrm>
              <a:prstGeom prst="rect">
                <a:avLst/>
              </a:prstGeom>
              <a:noFill/>
            </p:spPr>
            <p:txBody>
              <a:bodyPr wrap="none" tIns="0" bIns="0" rtlCol="0">
                <a:spAutoFit/>
              </a:bodyPr>
              <a:lstStyle/>
              <a:p>
                <a:r>
                  <a:rPr kumimoji="1" lang="ja-JP" altLang="en-US" sz="1000" dirty="0"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照明</a:t>
                </a:r>
                <a:r>
                  <a:rPr kumimoji="1" lang="en-US" altLang="ja-JP" sz="1000" dirty="0"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SW</a:t>
                </a:r>
                <a:endParaRPr kumimoji="1" lang="ja-JP" altLang="en-US" sz="10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cxnSp>
            <p:nvCxnSpPr>
              <p:cNvPr id="5" name="直線コネクタ 4"/>
              <p:cNvCxnSpPr>
                <a:cxnSpLocks/>
              </p:cNvCxnSpPr>
              <p:nvPr/>
            </p:nvCxnSpPr>
            <p:spPr>
              <a:xfrm>
                <a:off x="6435165" y="2659123"/>
                <a:ext cx="0" cy="2047494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線コネクタ 44"/>
              <p:cNvCxnSpPr/>
              <p:nvPr/>
            </p:nvCxnSpPr>
            <p:spPr>
              <a:xfrm flipH="1">
                <a:off x="2997003" y="1967104"/>
                <a:ext cx="2067742" cy="0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線コネクタ 46"/>
              <p:cNvCxnSpPr/>
              <p:nvPr/>
            </p:nvCxnSpPr>
            <p:spPr>
              <a:xfrm flipV="1">
                <a:off x="2997003" y="1473272"/>
                <a:ext cx="0" cy="481008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正方形/長方形 35">
                <a:extLst>
                  <a:ext uri="{FF2B5EF4-FFF2-40B4-BE49-F238E27FC236}">
                    <a16:creationId xmlns:a16="http://schemas.microsoft.com/office/drawing/2014/main" id="{A0D68811-A057-6927-A2A6-C5F547B2303B}"/>
                  </a:ext>
                </a:extLst>
              </p:cNvPr>
              <p:cNvSpPr/>
              <p:nvPr/>
            </p:nvSpPr>
            <p:spPr>
              <a:xfrm>
                <a:off x="3002010" y="2198378"/>
                <a:ext cx="610153" cy="483640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tIns="0" bIns="0" rtlCol="0" anchor="ctr"/>
              <a:lstStyle/>
              <a:p>
                <a:pPr algn="ctr"/>
                <a:r>
                  <a:rPr kumimoji="1" lang="ja-JP" altLang="en-US" sz="900" dirty="0"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東</a:t>
                </a:r>
                <a:endParaRPr kumimoji="1" lang="en-US" altLang="ja-JP" sz="9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  <a:p>
                <a:pPr algn="ctr"/>
                <a:r>
                  <a:rPr kumimoji="1" lang="ja-JP" altLang="en-US" sz="900" dirty="0"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カフェ</a:t>
                </a:r>
              </a:p>
            </p:txBody>
          </p:sp>
          <p:sp>
            <p:nvSpPr>
              <p:cNvPr id="37" name="正方形/長方形 36">
                <a:extLst>
                  <a:ext uri="{FF2B5EF4-FFF2-40B4-BE49-F238E27FC236}">
                    <a16:creationId xmlns:a16="http://schemas.microsoft.com/office/drawing/2014/main" id="{C976E5C6-0D99-22D2-9522-593F2D46984E}"/>
                  </a:ext>
                </a:extLst>
              </p:cNvPr>
              <p:cNvSpPr/>
              <p:nvPr/>
            </p:nvSpPr>
            <p:spPr>
              <a:xfrm>
                <a:off x="2992679" y="4491670"/>
                <a:ext cx="610153" cy="483640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tIns="0" bIns="0" rtlCol="0" anchor="ctr"/>
              <a:lstStyle/>
              <a:p>
                <a:pPr algn="ctr"/>
                <a:r>
                  <a:rPr kumimoji="1" lang="ja-JP" altLang="en-US" sz="900" dirty="0"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東</a:t>
                </a:r>
                <a:endParaRPr kumimoji="1" lang="en-US" altLang="ja-JP" sz="9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  <a:p>
                <a:pPr algn="ctr"/>
                <a:r>
                  <a:rPr kumimoji="1" lang="ja-JP" altLang="en-US" sz="900" dirty="0"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カフェ</a:t>
                </a:r>
              </a:p>
            </p:txBody>
          </p:sp>
          <p:sp>
            <p:nvSpPr>
              <p:cNvPr id="39" name="正方形/長方形 38">
                <a:extLst>
                  <a:ext uri="{FF2B5EF4-FFF2-40B4-BE49-F238E27FC236}">
                    <a16:creationId xmlns:a16="http://schemas.microsoft.com/office/drawing/2014/main" id="{EE6407CB-A7AF-BC1C-1C09-059C8AA25358}"/>
                  </a:ext>
                </a:extLst>
              </p:cNvPr>
              <p:cNvSpPr/>
              <p:nvPr/>
            </p:nvSpPr>
            <p:spPr>
              <a:xfrm>
                <a:off x="6439307" y="3037375"/>
                <a:ext cx="104739" cy="180000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tIns="0" bIns="0" rtlCol="0" anchor="ctr"/>
              <a:lstStyle/>
              <a:p>
                <a:pPr algn="ctr"/>
                <a:endParaRPr kumimoji="1"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40" name="正方形/長方形 39">
                <a:extLst>
                  <a:ext uri="{FF2B5EF4-FFF2-40B4-BE49-F238E27FC236}">
                    <a16:creationId xmlns:a16="http://schemas.microsoft.com/office/drawing/2014/main" id="{2769B371-A3D2-8C49-5397-4338BE157356}"/>
                  </a:ext>
                </a:extLst>
              </p:cNvPr>
              <p:cNvSpPr/>
              <p:nvPr/>
            </p:nvSpPr>
            <p:spPr>
              <a:xfrm>
                <a:off x="3963781" y="2771575"/>
                <a:ext cx="900001" cy="1429609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ja-JP" sz="2000" dirty="0"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THT</a:t>
                </a:r>
                <a:endParaRPr kumimoji="1" lang="ja-JP" altLang="en-US" sz="20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41" name="正方形/長方形 40">
                <a:extLst>
                  <a:ext uri="{FF2B5EF4-FFF2-40B4-BE49-F238E27FC236}">
                    <a16:creationId xmlns:a16="http://schemas.microsoft.com/office/drawing/2014/main" id="{470E17B1-D829-7F1C-CB01-9918EB67E3FB}"/>
                  </a:ext>
                </a:extLst>
              </p:cNvPr>
              <p:cNvSpPr/>
              <p:nvPr/>
            </p:nvSpPr>
            <p:spPr>
              <a:xfrm>
                <a:off x="2993830" y="2771575"/>
                <a:ext cx="998204" cy="1429609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ja-JP" altLang="en-US" sz="2000" dirty="0"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半製検</a:t>
                </a:r>
                <a:endParaRPr kumimoji="1" lang="ja-JP" altLang="en-US" sz="20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56" name="正方形/長方形 55">
                <a:extLst>
                  <a:ext uri="{FF2B5EF4-FFF2-40B4-BE49-F238E27FC236}">
                    <a16:creationId xmlns:a16="http://schemas.microsoft.com/office/drawing/2014/main" id="{62268433-59AC-61C9-7C5E-B26EB0B223AD}"/>
                  </a:ext>
                </a:extLst>
              </p:cNvPr>
              <p:cNvSpPr/>
              <p:nvPr/>
            </p:nvSpPr>
            <p:spPr>
              <a:xfrm>
                <a:off x="6442488" y="3698773"/>
                <a:ext cx="104739" cy="180000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tIns="0" bIns="0" rtlCol="0" anchor="ctr"/>
              <a:lstStyle/>
              <a:p>
                <a:pPr algn="ctr"/>
                <a:endParaRPr kumimoji="1"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58" name="正方形/長方形 57">
                <a:extLst>
                  <a:ext uri="{FF2B5EF4-FFF2-40B4-BE49-F238E27FC236}">
                    <a16:creationId xmlns:a16="http://schemas.microsoft.com/office/drawing/2014/main" id="{8862082E-90B8-6598-696C-47E608AD4ABD}"/>
                  </a:ext>
                </a:extLst>
              </p:cNvPr>
              <p:cNvSpPr/>
              <p:nvPr/>
            </p:nvSpPr>
            <p:spPr>
              <a:xfrm>
                <a:off x="6442487" y="3888908"/>
                <a:ext cx="104739" cy="3240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tIns="0" bIns="0" rtlCol="0" anchor="ctr"/>
              <a:lstStyle/>
              <a:p>
                <a:pPr algn="ctr"/>
                <a:endParaRPr kumimoji="1"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60" name="テキスト ボックス 59">
                <a:extLst>
                  <a:ext uri="{FF2B5EF4-FFF2-40B4-BE49-F238E27FC236}">
                    <a16:creationId xmlns:a16="http://schemas.microsoft.com/office/drawing/2014/main" id="{6483C7A3-8B0D-7C5C-235B-3AB61F9D7B00}"/>
                  </a:ext>
                </a:extLst>
              </p:cNvPr>
              <p:cNvSpPr txBox="1"/>
              <p:nvPr/>
            </p:nvSpPr>
            <p:spPr>
              <a:xfrm>
                <a:off x="6485232" y="3966448"/>
                <a:ext cx="773782" cy="186080"/>
              </a:xfrm>
              <a:prstGeom prst="rect">
                <a:avLst/>
              </a:prstGeom>
              <a:noFill/>
            </p:spPr>
            <p:txBody>
              <a:bodyPr wrap="none" tIns="0" bIns="0" rtlCol="0">
                <a:spAutoFit/>
              </a:bodyPr>
              <a:lstStyle/>
              <a:p>
                <a:r>
                  <a:rPr lang="ja-JP" altLang="en-US" sz="1000" dirty="0"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シャッター</a:t>
                </a:r>
                <a:endParaRPr kumimoji="1" lang="ja-JP" altLang="en-US" sz="10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77" name="正方形/長方形 76">
                <a:extLst>
                  <a:ext uri="{FF2B5EF4-FFF2-40B4-BE49-F238E27FC236}">
                    <a16:creationId xmlns:a16="http://schemas.microsoft.com/office/drawing/2014/main" id="{CDE50FD0-BB83-ED89-4B2E-00FFB6966A16}"/>
                  </a:ext>
                </a:extLst>
              </p:cNvPr>
              <p:cNvSpPr/>
              <p:nvPr/>
            </p:nvSpPr>
            <p:spPr>
              <a:xfrm>
                <a:off x="2627021" y="2693306"/>
                <a:ext cx="104739" cy="180000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tIns="0" bIns="0" rtlCol="0" anchor="ctr"/>
              <a:lstStyle/>
              <a:p>
                <a:pPr algn="ctr"/>
                <a:endParaRPr kumimoji="1" lang="ja-JP" altLang="en-US" sz="10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cxnSp>
            <p:nvCxnSpPr>
              <p:cNvPr id="79" name="直線コネクタ 78">
                <a:extLst>
                  <a:ext uri="{FF2B5EF4-FFF2-40B4-BE49-F238E27FC236}">
                    <a16:creationId xmlns:a16="http://schemas.microsoft.com/office/drawing/2014/main" id="{AC1C914D-5DB0-5D25-68E5-E1496E2A1D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31266" y="2494317"/>
                <a:ext cx="0" cy="2047494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正方形/長方形 84">
                <a:extLst>
                  <a:ext uri="{FF2B5EF4-FFF2-40B4-BE49-F238E27FC236}">
                    <a16:creationId xmlns:a16="http://schemas.microsoft.com/office/drawing/2014/main" id="{B93AE0CA-6C01-86E2-F9B2-EE15D93B675E}"/>
                  </a:ext>
                </a:extLst>
              </p:cNvPr>
              <p:cNvSpPr/>
              <p:nvPr/>
            </p:nvSpPr>
            <p:spPr>
              <a:xfrm>
                <a:off x="2626906" y="4183738"/>
                <a:ext cx="104739" cy="180000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tIns="0" bIns="0" rtlCol="0" anchor="ctr"/>
              <a:lstStyle/>
              <a:p>
                <a:pPr algn="ctr"/>
                <a:endParaRPr kumimoji="1" lang="ja-JP" altLang="en-US" sz="10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87" name="正方形/長方形 86">
                <a:extLst>
                  <a:ext uri="{FF2B5EF4-FFF2-40B4-BE49-F238E27FC236}">
                    <a16:creationId xmlns:a16="http://schemas.microsoft.com/office/drawing/2014/main" id="{44202DF6-1B2B-A75C-6128-BE25E1440C6C}"/>
                  </a:ext>
                </a:extLst>
              </p:cNvPr>
              <p:cNvSpPr/>
              <p:nvPr/>
            </p:nvSpPr>
            <p:spPr>
              <a:xfrm>
                <a:off x="2624861" y="3397579"/>
                <a:ext cx="104739" cy="3240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tIns="0" bIns="0" rtlCol="0" anchor="ctr"/>
              <a:lstStyle/>
              <a:p>
                <a:pPr algn="ctr"/>
                <a:endParaRPr kumimoji="1"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88" name="テキスト ボックス 87">
                <a:extLst>
                  <a:ext uri="{FF2B5EF4-FFF2-40B4-BE49-F238E27FC236}">
                    <a16:creationId xmlns:a16="http://schemas.microsoft.com/office/drawing/2014/main" id="{5C397E4D-7EAA-E7A2-E97F-69C4E52625BC}"/>
                  </a:ext>
                </a:extLst>
              </p:cNvPr>
              <p:cNvSpPr txBox="1"/>
              <p:nvPr/>
            </p:nvSpPr>
            <p:spPr>
              <a:xfrm>
                <a:off x="1805122" y="3433064"/>
                <a:ext cx="1077521" cy="198792"/>
              </a:xfrm>
              <a:prstGeom prst="rect">
                <a:avLst/>
              </a:prstGeom>
              <a:noFill/>
            </p:spPr>
            <p:txBody>
              <a:bodyPr wrap="square" tIns="0" bIns="0" rtlCol="0">
                <a:spAutoFit/>
              </a:bodyPr>
              <a:lstStyle/>
              <a:p>
                <a:r>
                  <a:rPr lang="ja-JP" altLang="en-US" sz="1000" dirty="0"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ゴミ捨て場</a:t>
                </a:r>
                <a:endParaRPr kumimoji="1" lang="ja-JP" altLang="en-US" sz="10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82" name="正方形/長方形 81">
                <a:extLst>
                  <a:ext uri="{FF2B5EF4-FFF2-40B4-BE49-F238E27FC236}">
                    <a16:creationId xmlns:a16="http://schemas.microsoft.com/office/drawing/2014/main" id="{426CF9CB-D3C2-8FDF-1915-C8D2F855E741}"/>
                  </a:ext>
                </a:extLst>
              </p:cNvPr>
              <p:cNvSpPr/>
              <p:nvPr/>
            </p:nvSpPr>
            <p:spPr>
              <a:xfrm>
                <a:off x="2633319" y="3724397"/>
                <a:ext cx="104739" cy="180000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tIns="0" bIns="0" rtlCol="0" anchor="ctr"/>
              <a:lstStyle/>
              <a:p>
                <a:pPr algn="ctr"/>
                <a:endParaRPr kumimoji="1" lang="ja-JP" altLang="en-US" sz="10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28" name="正方形/長方形 27">
                <a:extLst>
                  <a:ext uri="{FF2B5EF4-FFF2-40B4-BE49-F238E27FC236}">
                    <a16:creationId xmlns:a16="http://schemas.microsoft.com/office/drawing/2014/main" id="{2C2F72F7-28AE-A2BD-476C-6AB6D095946B}"/>
                  </a:ext>
                </a:extLst>
              </p:cNvPr>
              <p:cNvSpPr/>
              <p:nvPr/>
            </p:nvSpPr>
            <p:spPr>
              <a:xfrm>
                <a:off x="6442123" y="4365347"/>
                <a:ext cx="104739" cy="180000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tIns="0" bIns="0" rtlCol="0" anchor="ctr"/>
              <a:lstStyle/>
              <a:p>
                <a:pPr algn="ctr"/>
                <a:endParaRPr kumimoji="1"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</p:grpSp>
        <p:sp>
          <p:nvSpPr>
            <p:cNvPr id="46" name="テキスト ボックス 45">
              <a:extLst>
                <a:ext uri="{FF2B5EF4-FFF2-40B4-BE49-F238E27FC236}">
                  <a16:creationId xmlns:a16="http://schemas.microsoft.com/office/drawing/2014/main" id="{DFE3E2DD-714E-90EB-965D-BC24A6166D26}"/>
                </a:ext>
              </a:extLst>
            </p:cNvPr>
            <p:cNvSpPr txBox="1"/>
            <p:nvPr/>
          </p:nvSpPr>
          <p:spPr>
            <a:xfrm>
              <a:off x="5931741" y="3401155"/>
              <a:ext cx="61908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2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盤</a:t>
              </a:r>
              <a:r>
                <a:rPr kumimoji="1" lang="en-US" altLang="ja-JP" sz="12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2-1</a:t>
              </a:r>
              <a:endParaRPr kumimoji="1" lang="ja-JP" altLang="en-US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57" name="テキスト ボックス 56">
              <a:extLst>
                <a:ext uri="{FF2B5EF4-FFF2-40B4-BE49-F238E27FC236}">
                  <a16:creationId xmlns:a16="http://schemas.microsoft.com/office/drawing/2014/main" id="{94BEAE2D-042A-9303-4D1C-AA4D45A4FD1C}"/>
                </a:ext>
              </a:extLst>
            </p:cNvPr>
            <p:cNvSpPr txBox="1"/>
            <p:nvPr/>
          </p:nvSpPr>
          <p:spPr>
            <a:xfrm>
              <a:off x="5598469" y="3761636"/>
              <a:ext cx="107593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2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盤</a:t>
              </a:r>
              <a:r>
                <a:rPr kumimoji="1" lang="en-US" altLang="ja-JP" sz="12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OS-2-3,4</a:t>
              </a:r>
              <a:endParaRPr kumimoji="1" lang="ja-JP" altLang="en-US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78" name="テキスト ボックス 77">
              <a:extLst>
                <a:ext uri="{FF2B5EF4-FFF2-40B4-BE49-F238E27FC236}">
                  <a16:creationId xmlns:a16="http://schemas.microsoft.com/office/drawing/2014/main" id="{BE10AA3F-14B0-3391-555F-BB128C1E2D64}"/>
                </a:ext>
              </a:extLst>
            </p:cNvPr>
            <p:cNvSpPr txBox="1"/>
            <p:nvPr/>
          </p:nvSpPr>
          <p:spPr>
            <a:xfrm>
              <a:off x="2495735" y="3153810"/>
              <a:ext cx="526747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kumimoji="1" lang="ja-JP" altLang="en-US" sz="12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盤</a:t>
              </a:r>
              <a:r>
                <a:rPr kumimoji="1" lang="en-US" altLang="ja-JP" sz="12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2-3</a:t>
              </a:r>
              <a:endParaRPr kumimoji="1" lang="ja-JP" altLang="en-US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86" name="テキスト ボックス 85">
              <a:extLst>
                <a:ext uri="{FF2B5EF4-FFF2-40B4-BE49-F238E27FC236}">
                  <a16:creationId xmlns:a16="http://schemas.microsoft.com/office/drawing/2014/main" id="{B62A11B9-CFCF-F6EC-0027-5CDEE1023216}"/>
                </a:ext>
              </a:extLst>
            </p:cNvPr>
            <p:cNvSpPr txBox="1"/>
            <p:nvPr/>
          </p:nvSpPr>
          <p:spPr>
            <a:xfrm>
              <a:off x="2501672" y="4323849"/>
              <a:ext cx="526747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kumimoji="1" lang="ja-JP" altLang="en-US" sz="12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盤</a:t>
              </a:r>
              <a:r>
                <a:rPr kumimoji="1" lang="en-US" altLang="ja-JP" sz="12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2-4</a:t>
              </a:r>
              <a:endParaRPr kumimoji="1" lang="ja-JP" altLang="en-US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83" name="テキスト ボックス 82">
              <a:extLst>
                <a:ext uri="{FF2B5EF4-FFF2-40B4-BE49-F238E27FC236}">
                  <a16:creationId xmlns:a16="http://schemas.microsoft.com/office/drawing/2014/main" id="{7790FC12-BC5E-418D-7817-375DA8A99D75}"/>
                </a:ext>
              </a:extLst>
            </p:cNvPr>
            <p:cNvSpPr txBox="1"/>
            <p:nvPr/>
          </p:nvSpPr>
          <p:spPr>
            <a:xfrm>
              <a:off x="2491591" y="4081152"/>
              <a:ext cx="983603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kumimoji="1" lang="ja-JP" altLang="en-US" sz="12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盤</a:t>
              </a:r>
              <a:r>
                <a:rPr kumimoji="1" lang="en-US" altLang="ja-JP" sz="12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OS-2-8,9</a:t>
              </a:r>
              <a:endParaRPr kumimoji="1" lang="ja-JP" altLang="en-US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71" name="テキスト ボックス 70">
              <a:extLst>
                <a:ext uri="{FF2B5EF4-FFF2-40B4-BE49-F238E27FC236}">
                  <a16:creationId xmlns:a16="http://schemas.microsoft.com/office/drawing/2014/main" id="{26ECE5A3-6ED7-0E31-6D59-A4817C9F3EDE}"/>
                </a:ext>
              </a:extLst>
            </p:cNvPr>
            <p:cNvSpPr txBox="1"/>
            <p:nvPr/>
          </p:nvSpPr>
          <p:spPr>
            <a:xfrm>
              <a:off x="5931741" y="4415983"/>
              <a:ext cx="61908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2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盤</a:t>
              </a:r>
              <a:r>
                <a:rPr kumimoji="1" lang="en-US" altLang="ja-JP" sz="12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2-2</a:t>
              </a:r>
              <a:endParaRPr kumimoji="1" lang="ja-JP" altLang="en-US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</p:grpSp>
      <p:sp>
        <p:nvSpPr>
          <p:cNvPr id="72" name="吹き出し: 四角形 71">
            <a:extLst>
              <a:ext uri="{FF2B5EF4-FFF2-40B4-BE49-F238E27FC236}">
                <a16:creationId xmlns:a16="http://schemas.microsoft.com/office/drawing/2014/main" id="{2E9BFCDC-C63F-FD1F-0774-7B98ACF950C4}"/>
              </a:ext>
            </a:extLst>
          </p:cNvPr>
          <p:cNvSpPr/>
          <p:nvPr/>
        </p:nvSpPr>
        <p:spPr>
          <a:xfrm>
            <a:off x="6626577" y="1186785"/>
            <a:ext cx="2376000" cy="288000"/>
          </a:xfrm>
          <a:prstGeom prst="wedgeRectCallout">
            <a:avLst>
              <a:gd name="adj1" fmla="val 16905"/>
              <a:gd name="adj2" fmla="val 28216"/>
            </a:avLst>
          </a:prstGeom>
          <a:solidFill>
            <a:schemeClr val="tx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操作</a:t>
            </a:r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盤</a:t>
            </a:r>
            <a:r>
              <a:rPr kumimoji="1" lang="en-US" altLang="ja-JP" b="1" dirty="0">
                <a:latin typeface="Meiryo UI" panose="020B0604030504040204" pitchFamily="50" charset="-128"/>
                <a:ea typeface="Meiryo UI" panose="020B0604030504040204" pitchFamily="50" charset="-128"/>
              </a:rPr>
              <a:t>2-1</a:t>
            </a:r>
            <a:endParaRPr kumimoji="1" lang="ja-JP" altLang="en-US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3" name="吹き出し: 四角形 72">
            <a:extLst>
              <a:ext uri="{FF2B5EF4-FFF2-40B4-BE49-F238E27FC236}">
                <a16:creationId xmlns:a16="http://schemas.microsoft.com/office/drawing/2014/main" id="{55D68173-14D7-6A41-AC73-E880C867A9FA}"/>
              </a:ext>
            </a:extLst>
          </p:cNvPr>
          <p:cNvSpPr/>
          <p:nvPr/>
        </p:nvSpPr>
        <p:spPr>
          <a:xfrm>
            <a:off x="6598415" y="3105609"/>
            <a:ext cx="2376000" cy="288000"/>
          </a:xfrm>
          <a:prstGeom prst="wedgeRectCallout">
            <a:avLst>
              <a:gd name="adj1" fmla="val 16905"/>
              <a:gd name="adj2" fmla="val 28216"/>
            </a:avLst>
          </a:prstGeom>
          <a:solidFill>
            <a:schemeClr val="tx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操作盤</a:t>
            </a:r>
            <a:r>
              <a:rPr lang="en-US" altLang="ja-JP" b="1" dirty="0">
                <a:latin typeface="Meiryo UI" panose="020B0604030504040204" pitchFamily="50" charset="-128"/>
                <a:ea typeface="Meiryo UI" panose="020B0604030504040204" pitchFamily="50" charset="-128"/>
              </a:rPr>
              <a:t>OS2-3,4</a:t>
            </a:r>
            <a:endParaRPr kumimoji="1" lang="ja-JP" altLang="en-US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4" name="吹き出し: 四角形 73">
            <a:extLst>
              <a:ext uri="{FF2B5EF4-FFF2-40B4-BE49-F238E27FC236}">
                <a16:creationId xmlns:a16="http://schemas.microsoft.com/office/drawing/2014/main" id="{A3382F31-0435-4E65-0489-4BE65833C53E}"/>
              </a:ext>
            </a:extLst>
          </p:cNvPr>
          <p:cNvSpPr/>
          <p:nvPr/>
        </p:nvSpPr>
        <p:spPr>
          <a:xfrm>
            <a:off x="6599315" y="5019720"/>
            <a:ext cx="2376000" cy="288000"/>
          </a:xfrm>
          <a:prstGeom prst="wedgeRectCallout">
            <a:avLst>
              <a:gd name="adj1" fmla="val 16905"/>
              <a:gd name="adj2" fmla="val 28216"/>
            </a:avLst>
          </a:prstGeom>
          <a:solidFill>
            <a:schemeClr val="tx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操作盤</a:t>
            </a:r>
            <a:r>
              <a:rPr lang="en-US" altLang="ja-JP" b="1" dirty="0">
                <a:latin typeface="Meiryo UI" panose="020B0604030504040204" pitchFamily="50" charset="-128"/>
                <a:ea typeface="Meiryo UI" panose="020B0604030504040204" pitchFamily="50" charset="-128"/>
              </a:rPr>
              <a:t>2-2</a:t>
            </a:r>
            <a:endParaRPr kumimoji="1" lang="ja-JP" altLang="en-US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6" name="吹き出し: 四角形 95">
            <a:extLst>
              <a:ext uri="{FF2B5EF4-FFF2-40B4-BE49-F238E27FC236}">
                <a16:creationId xmlns:a16="http://schemas.microsoft.com/office/drawing/2014/main" id="{D1C0CBBA-5F7A-AC7E-EB7C-0DBDC5AE6A37}"/>
              </a:ext>
            </a:extLst>
          </p:cNvPr>
          <p:cNvSpPr/>
          <p:nvPr/>
        </p:nvSpPr>
        <p:spPr>
          <a:xfrm>
            <a:off x="46660" y="1250285"/>
            <a:ext cx="2340000" cy="288000"/>
          </a:xfrm>
          <a:prstGeom prst="wedgeRectCallout">
            <a:avLst>
              <a:gd name="adj1" fmla="val 16905"/>
              <a:gd name="adj2" fmla="val 28216"/>
            </a:avLst>
          </a:prstGeom>
          <a:solidFill>
            <a:schemeClr val="tx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操作盤</a:t>
            </a:r>
            <a:r>
              <a:rPr kumimoji="1" lang="en-US" altLang="ja-JP" b="1" dirty="0">
                <a:latin typeface="Meiryo UI" panose="020B0604030504040204" pitchFamily="50" charset="-128"/>
                <a:ea typeface="Meiryo UI" panose="020B0604030504040204" pitchFamily="50" charset="-128"/>
              </a:rPr>
              <a:t>2-3</a:t>
            </a:r>
            <a:endParaRPr kumimoji="1" lang="ja-JP" altLang="en-US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7" name="吹き出し: 四角形 96">
            <a:extLst>
              <a:ext uri="{FF2B5EF4-FFF2-40B4-BE49-F238E27FC236}">
                <a16:creationId xmlns:a16="http://schemas.microsoft.com/office/drawing/2014/main" id="{85112F8C-D469-68F7-E2C9-335215F2EBC1}"/>
              </a:ext>
            </a:extLst>
          </p:cNvPr>
          <p:cNvSpPr/>
          <p:nvPr/>
        </p:nvSpPr>
        <p:spPr>
          <a:xfrm>
            <a:off x="51518" y="3156409"/>
            <a:ext cx="2340000" cy="288000"/>
          </a:xfrm>
          <a:prstGeom prst="wedgeRectCallout">
            <a:avLst>
              <a:gd name="adj1" fmla="val 16905"/>
              <a:gd name="adj2" fmla="val 28216"/>
            </a:avLst>
          </a:prstGeom>
          <a:solidFill>
            <a:schemeClr val="tx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操作盤</a:t>
            </a:r>
            <a:r>
              <a:rPr lang="en-US" altLang="ja-JP" b="1" dirty="0">
                <a:latin typeface="Meiryo UI" panose="020B0604030504040204" pitchFamily="50" charset="-128"/>
                <a:ea typeface="Meiryo UI" panose="020B0604030504040204" pitchFamily="50" charset="-128"/>
              </a:rPr>
              <a:t>OS2-8,9</a:t>
            </a:r>
            <a:endParaRPr kumimoji="1" lang="ja-JP" altLang="en-US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6" name="吹き出し: 四角形 105">
            <a:extLst>
              <a:ext uri="{FF2B5EF4-FFF2-40B4-BE49-F238E27FC236}">
                <a16:creationId xmlns:a16="http://schemas.microsoft.com/office/drawing/2014/main" id="{381FB5AC-C04A-6569-249B-8564EA8F2391}"/>
              </a:ext>
            </a:extLst>
          </p:cNvPr>
          <p:cNvSpPr/>
          <p:nvPr/>
        </p:nvSpPr>
        <p:spPr>
          <a:xfrm>
            <a:off x="44798" y="5045120"/>
            <a:ext cx="2340000" cy="288000"/>
          </a:xfrm>
          <a:prstGeom prst="wedgeRectCallout">
            <a:avLst>
              <a:gd name="adj1" fmla="val 16905"/>
              <a:gd name="adj2" fmla="val 28216"/>
            </a:avLst>
          </a:prstGeom>
          <a:solidFill>
            <a:schemeClr val="tx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操作</a:t>
            </a:r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盤</a:t>
            </a:r>
            <a:r>
              <a:rPr lang="en-US" altLang="ja-JP" b="1" dirty="0">
                <a:latin typeface="Meiryo UI" panose="020B0604030504040204" pitchFamily="50" charset="-128"/>
                <a:ea typeface="Meiryo UI" panose="020B0604030504040204" pitchFamily="50" charset="-128"/>
              </a:rPr>
              <a:t>2-4</a:t>
            </a:r>
            <a:endParaRPr kumimoji="1" lang="ja-JP" altLang="en-US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7" name="フリーフォーム: 図形 106">
            <a:extLst>
              <a:ext uri="{FF2B5EF4-FFF2-40B4-BE49-F238E27FC236}">
                <a16:creationId xmlns:a16="http://schemas.microsoft.com/office/drawing/2014/main" id="{9D32FD3C-CB79-443A-FCA2-2C32F47BFFE9}"/>
              </a:ext>
            </a:extLst>
          </p:cNvPr>
          <p:cNvSpPr/>
          <p:nvPr/>
        </p:nvSpPr>
        <p:spPr>
          <a:xfrm>
            <a:off x="273780" y="1613780"/>
            <a:ext cx="675488" cy="1176123"/>
          </a:xfrm>
          <a:custGeom>
            <a:avLst/>
            <a:gdLst>
              <a:gd name="connsiteX0" fmla="*/ 819150 w 819150"/>
              <a:gd name="connsiteY0" fmla="*/ 0 h 1800225"/>
              <a:gd name="connsiteX1" fmla="*/ 352425 w 819150"/>
              <a:gd name="connsiteY1" fmla="*/ 0 h 1800225"/>
              <a:gd name="connsiteX2" fmla="*/ 352425 w 819150"/>
              <a:gd name="connsiteY2" fmla="*/ 1085850 h 1800225"/>
              <a:gd name="connsiteX3" fmla="*/ 0 w 819150"/>
              <a:gd name="connsiteY3" fmla="*/ 1085850 h 1800225"/>
              <a:gd name="connsiteX4" fmla="*/ 0 w 819150"/>
              <a:gd name="connsiteY4" fmla="*/ 1800225 h 1800225"/>
              <a:gd name="connsiteX5" fmla="*/ 542925 w 819150"/>
              <a:gd name="connsiteY5" fmla="*/ 1800225 h 1800225"/>
              <a:gd name="connsiteX6" fmla="*/ 542925 w 819150"/>
              <a:gd name="connsiteY6" fmla="*/ 1028700 h 1800225"/>
              <a:gd name="connsiteX7" fmla="*/ 800100 w 819150"/>
              <a:gd name="connsiteY7" fmla="*/ 1028700 h 1800225"/>
              <a:gd name="connsiteX8" fmla="*/ 819150 w 819150"/>
              <a:gd name="connsiteY8" fmla="*/ 0 h 180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9150" h="1800225">
                <a:moveTo>
                  <a:pt x="819150" y="0"/>
                </a:moveTo>
                <a:lnTo>
                  <a:pt x="352425" y="0"/>
                </a:lnTo>
                <a:lnTo>
                  <a:pt x="352425" y="1085850"/>
                </a:lnTo>
                <a:lnTo>
                  <a:pt x="0" y="1085850"/>
                </a:lnTo>
                <a:lnTo>
                  <a:pt x="0" y="1800225"/>
                </a:lnTo>
                <a:lnTo>
                  <a:pt x="542925" y="1800225"/>
                </a:lnTo>
                <a:lnTo>
                  <a:pt x="542925" y="1028700"/>
                </a:lnTo>
                <a:lnTo>
                  <a:pt x="800100" y="1028700"/>
                </a:lnTo>
                <a:lnTo>
                  <a:pt x="819150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" name="吹き出し: 四角形 107">
            <a:extLst>
              <a:ext uri="{FF2B5EF4-FFF2-40B4-BE49-F238E27FC236}">
                <a16:creationId xmlns:a16="http://schemas.microsoft.com/office/drawing/2014/main" id="{CF135A44-E887-D35C-A44B-6DD474075779}"/>
              </a:ext>
            </a:extLst>
          </p:cNvPr>
          <p:cNvSpPr/>
          <p:nvPr/>
        </p:nvSpPr>
        <p:spPr>
          <a:xfrm>
            <a:off x="-17194" y="1771410"/>
            <a:ext cx="694687" cy="330479"/>
          </a:xfrm>
          <a:prstGeom prst="wedgeRectCallout">
            <a:avLst>
              <a:gd name="adj1" fmla="val 46864"/>
              <a:gd name="adj2" fmla="val 84369"/>
            </a:avLst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空調</a:t>
            </a:r>
            <a:r>
              <a:rPr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endParaRPr kumimoji="1" lang="ja-JP" altLang="en-US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9" name="フリーフォーム: 図形 108">
            <a:extLst>
              <a:ext uri="{FF2B5EF4-FFF2-40B4-BE49-F238E27FC236}">
                <a16:creationId xmlns:a16="http://schemas.microsoft.com/office/drawing/2014/main" id="{782E6E9C-59D0-3BB8-AFB4-9C064D6F7EAA}"/>
              </a:ext>
            </a:extLst>
          </p:cNvPr>
          <p:cNvSpPr/>
          <p:nvPr/>
        </p:nvSpPr>
        <p:spPr>
          <a:xfrm flipH="1">
            <a:off x="1067873" y="1586439"/>
            <a:ext cx="565860" cy="1209847"/>
          </a:xfrm>
          <a:custGeom>
            <a:avLst/>
            <a:gdLst>
              <a:gd name="connsiteX0" fmla="*/ 819150 w 819150"/>
              <a:gd name="connsiteY0" fmla="*/ 0 h 1800225"/>
              <a:gd name="connsiteX1" fmla="*/ 352425 w 819150"/>
              <a:gd name="connsiteY1" fmla="*/ 0 h 1800225"/>
              <a:gd name="connsiteX2" fmla="*/ 352425 w 819150"/>
              <a:gd name="connsiteY2" fmla="*/ 1085850 h 1800225"/>
              <a:gd name="connsiteX3" fmla="*/ 0 w 819150"/>
              <a:gd name="connsiteY3" fmla="*/ 1085850 h 1800225"/>
              <a:gd name="connsiteX4" fmla="*/ 0 w 819150"/>
              <a:gd name="connsiteY4" fmla="*/ 1800225 h 1800225"/>
              <a:gd name="connsiteX5" fmla="*/ 542925 w 819150"/>
              <a:gd name="connsiteY5" fmla="*/ 1800225 h 1800225"/>
              <a:gd name="connsiteX6" fmla="*/ 542925 w 819150"/>
              <a:gd name="connsiteY6" fmla="*/ 1028700 h 1800225"/>
              <a:gd name="connsiteX7" fmla="*/ 800100 w 819150"/>
              <a:gd name="connsiteY7" fmla="*/ 1028700 h 1800225"/>
              <a:gd name="connsiteX8" fmla="*/ 819150 w 819150"/>
              <a:gd name="connsiteY8" fmla="*/ 0 h 180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9150" h="1800225">
                <a:moveTo>
                  <a:pt x="819150" y="0"/>
                </a:moveTo>
                <a:lnTo>
                  <a:pt x="352425" y="0"/>
                </a:lnTo>
                <a:lnTo>
                  <a:pt x="352425" y="1085850"/>
                </a:lnTo>
                <a:lnTo>
                  <a:pt x="0" y="1085850"/>
                </a:lnTo>
                <a:lnTo>
                  <a:pt x="0" y="1800225"/>
                </a:lnTo>
                <a:lnTo>
                  <a:pt x="542925" y="1800225"/>
                </a:lnTo>
                <a:lnTo>
                  <a:pt x="542925" y="1028700"/>
                </a:lnTo>
                <a:lnTo>
                  <a:pt x="800100" y="1028700"/>
                </a:lnTo>
                <a:lnTo>
                  <a:pt x="819150" y="0"/>
                </a:lnTo>
                <a:close/>
              </a:path>
            </a:pathLst>
          </a:custGeom>
          <a:noFill/>
          <a:ln w="28575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0" name="フリーフォーム: 図形 109">
            <a:extLst>
              <a:ext uri="{FF2B5EF4-FFF2-40B4-BE49-F238E27FC236}">
                <a16:creationId xmlns:a16="http://schemas.microsoft.com/office/drawing/2014/main" id="{8B579D4B-D0EA-DD1B-FA91-BED2F4F887AF}"/>
              </a:ext>
            </a:extLst>
          </p:cNvPr>
          <p:cNvSpPr/>
          <p:nvPr/>
        </p:nvSpPr>
        <p:spPr>
          <a:xfrm flipH="1">
            <a:off x="1514722" y="1573498"/>
            <a:ext cx="565860" cy="1209847"/>
          </a:xfrm>
          <a:custGeom>
            <a:avLst/>
            <a:gdLst>
              <a:gd name="connsiteX0" fmla="*/ 819150 w 819150"/>
              <a:gd name="connsiteY0" fmla="*/ 0 h 1800225"/>
              <a:gd name="connsiteX1" fmla="*/ 352425 w 819150"/>
              <a:gd name="connsiteY1" fmla="*/ 0 h 1800225"/>
              <a:gd name="connsiteX2" fmla="*/ 352425 w 819150"/>
              <a:gd name="connsiteY2" fmla="*/ 1085850 h 1800225"/>
              <a:gd name="connsiteX3" fmla="*/ 0 w 819150"/>
              <a:gd name="connsiteY3" fmla="*/ 1085850 h 1800225"/>
              <a:gd name="connsiteX4" fmla="*/ 0 w 819150"/>
              <a:gd name="connsiteY4" fmla="*/ 1800225 h 1800225"/>
              <a:gd name="connsiteX5" fmla="*/ 542925 w 819150"/>
              <a:gd name="connsiteY5" fmla="*/ 1800225 h 1800225"/>
              <a:gd name="connsiteX6" fmla="*/ 542925 w 819150"/>
              <a:gd name="connsiteY6" fmla="*/ 1028700 h 1800225"/>
              <a:gd name="connsiteX7" fmla="*/ 800100 w 819150"/>
              <a:gd name="connsiteY7" fmla="*/ 1028700 h 1800225"/>
              <a:gd name="connsiteX8" fmla="*/ 819150 w 819150"/>
              <a:gd name="connsiteY8" fmla="*/ 0 h 180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9150" h="1800225">
                <a:moveTo>
                  <a:pt x="819150" y="0"/>
                </a:moveTo>
                <a:lnTo>
                  <a:pt x="352425" y="0"/>
                </a:lnTo>
                <a:lnTo>
                  <a:pt x="352425" y="1085850"/>
                </a:lnTo>
                <a:lnTo>
                  <a:pt x="0" y="1085850"/>
                </a:lnTo>
                <a:lnTo>
                  <a:pt x="0" y="1800225"/>
                </a:lnTo>
                <a:lnTo>
                  <a:pt x="542925" y="1800225"/>
                </a:lnTo>
                <a:lnTo>
                  <a:pt x="542925" y="1028700"/>
                </a:lnTo>
                <a:lnTo>
                  <a:pt x="800100" y="1028700"/>
                </a:lnTo>
                <a:lnTo>
                  <a:pt x="819150" y="0"/>
                </a:lnTo>
                <a:close/>
              </a:path>
            </a:pathLst>
          </a:custGeom>
          <a:noFill/>
          <a:ln w="28575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1" name="吹き出し: 四角形 110">
            <a:extLst>
              <a:ext uri="{FF2B5EF4-FFF2-40B4-BE49-F238E27FC236}">
                <a16:creationId xmlns:a16="http://schemas.microsoft.com/office/drawing/2014/main" id="{ED912775-72D8-9C5E-8F4F-894A3EAA97AB}"/>
              </a:ext>
            </a:extLst>
          </p:cNvPr>
          <p:cNvSpPr/>
          <p:nvPr/>
        </p:nvSpPr>
        <p:spPr>
          <a:xfrm>
            <a:off x="1948391" y="1842757"/>
            <a:ext cx="612000" cy="330479"/>
          </a:xfrm>
          <a:prstGeom prst="wedgeRectCallout">
            <a:avLst>
              <a:gd name="adj1" fmla="val -75242"/>
              <a:gd name="adj2" fmla="val -30919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局排</a:t>
            </a:r>
            <a:r>
              <a:rPr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5</a:t>
            </a:r>
            <a:endParaRPr kumimoji="1" lang="ja-JP" altLang="en-US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2" name="吹き出し: 四角形 111">
            <a:extLst>
              <a:ext uri="{FF2B5EF4-FFF2-40B4-BE49-F238E27FC236}">
                <a16:creationId xmlns:a16="http://schemas.microsoft.com/office/drawing/2014/main" id="{7A423545-BE68-7071-20FC-88E23185A355}"/>
              </a:ext>
            </a:extLst>
          </p:cNvPr>
          <p:cNvSpPr/>
          <p:nvPr/>
        </p:nvSpPr>
        <p:spPr>
          <a:xfrm>
            <a:off x="6729799" y="3697448"/>
            <a:ext cx="612000" cy="330479"/>
          </a:xfrm>
          <a:prstGeom prst="wedgeRectCallout">
            <a:avLst>
              <a:gd name="adj1" fmla="val 79560"/>
              <a:gd name="adj2" fmla="val 47194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局排</a:t>
            </a:r>
            <a:r>
              <a:rPr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endParaRPr kumimoji="1" lang="ja-JP" altLang="en-US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3" name="吹き出し: 四角形 112">
            <a:extLst>
              <a:ext uri="{FF2B5EF4-FFF2-40B4-BE49-F238E27FC236}">
                <a16:creationId xmlns:a16="http://schemas.microsoft.com/office/drawing/2014/main" id="{F2DD8BA5-5A5E-8D44-573A-0BA5CB6C8EA5}"/>
              </a:ext>
            </a:extLst>
          </p:cNvPr>
          <p:cNvSpPr/>
          <p:nvPr/>
        </p:nvSpPr>
        <p:spPr>
          <a:xfrm>
            <a:off x="894111" y="2667761"/>
            <a:ext cx="612000" cy="330479"/>
          </a:xfrm>
          <a:prstGeom prst="wedgeRectCallout">
            <a:avLst>
              <a:gd name="adj1" fmla="val 45117"/>
              <a:gd name="adj2" fmla="val -65505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局排</a:t>
            </a:r>
            <a:r>
              <a:rPr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4</a:t>
            </a:r>
            <a:endParaRPr kumimoji="1" lang="ja-JP" altLang="en-US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5" name="フリーフォーム: 図形 114">
            <a:extLst>
              <a:ext uri="{FF2B5EF4-FFF2-40B4-BE49-F238E27FC236}">
                <a16:creationId xmlns:a16="http://schemas.microsoft.com/office/drawing/2014/main" id="{CE5F2611-A9C6-597F-34A2-4575CB1FCB2C}"/>
              </a:ext>
            </a:extLst>
          </p:cNvPr>
          <p:cNvSpPr/>
          <p:nvPr/>
        </p:nvSpPr>
        <p:spPr>
          <a:xfrm flipH="1">
            <a:off x="1229450" y="3477092"/>
            <a:ext cx="778208" cy="1083759"/>
          </a:xfrm>
          <a:custGeom>
            <a:avLst/>
            <a:gdLst>
              <a:gd name="connsiteX0" fmla="*/ 819150 w 819150"/>
              <a:gd name="connsiteY0" fmla="*/ 0 h 1800225"/>
              <a:gd name="connsiteX1" fmla="*/ 352425 w 819150"/>
              <a:gd name="connsiteY1" fmla="*/ 0 h 1800225"/>
              <a:gd name="connsiteX2" fmla="*/ 352425 w 819150"/>
              <a:gd name="connsiteY2" fmla="*/ 1085850 h 1800225"/>
              <a:gd name="connsiteX3" fmla="*/ 0 w 819150"/>
              <a:gd name="connsiteY3" fmla="*/ 1085850 h 1800225"/>
              <a:gd name="connsiteX4" fmla="*/ 0 w 819150"/>
              <a:gd name="connsiteY4" fmla="*/ 1800225 h 1800225"/>
              <a:gd name="connsiteX5" fmla="*/ 542925 w 819150"/>
              <a:gd name="connsiteY5" fmla="*/ 1800225 h 1800225"/>
              <a:gd name="connsiteX6" fmla="*/ 542925 w 819150"/>
              <a:gd name="connsiteY6" fmla="*/ 1028700 h 1800225"/>
              <a:gd name="connsiteX7" fmla="*/ 800100 w 819150"/>
              <a:gd name="connsiteY7" fmla="*/ 1028700 h 1800225"/>
              <a:gd name="connsiteX8" fmla="*/ 819150 w 819150"/>
              <a:gd name="connsiteY8" fmla="*/ 0 h 180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9150" h="1800225">
                <a:moveTo>
                  <a:pt x="819150" y="0"/>
                </a:moveTo>
                <a:lnTo>
                  <a:pt x="352425" y="0"/>
                </a:lnTo>
                <a:lnTo>
                  <a:pt x="352425" y="1085850"/>
                </a:lnTo>
                <a:lnTo>
                  <a:pt x="0" y="1085850"/>
                </a:lnTo>
                <a:lnTo>
                  <a:pt x="0" y="1800225"/>
                </a:lnTo>
                <a:lnTo>
                  <a:pt x="542925" y="1800225"/>
                </a:lnTo>
                <a:lnTo>
                  <a:pt x="542925" y="1028700"/>
                </a:lnTo>
                <a:lnTo>
                  <a:pt x="800100" y="1028700"/>
                </a:lnTo>
                <a:lnTo>
                  <a:pt x="819150" y="0"/>
                </a:lnTo>
                <a:close/>
              </a:path>
            </a:pathLst>
          </a:custGeom>
          <a:noFill/>
          <a:ln w="28575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6" name="吹き出し: 四角形 115">
            <a:extLst>
              <a:ext uri="{FF2B5EF4-FFF2-40B4-BE49-F238E27FC236}">
                <a16:creationId xmlns:a16="http://schemas.microsoft.com/office/drawing/2014/main" id="{A04EE0A9-DE8C-0629-9047-7914E20AC743}"/>
              </a:ext>
            </a:extLst>
          </p:cNvPr>
          <p:cNvSpPr/>
          <p:nvPr/>
        </p:nvSpPr>
        <p:spPr>
          <a:xfrm>
            <a:off x="1777097" y="3634496"/>
            <a:ext cx="612000" cy="330479"/>
          </a:xfrm>
          <a:prstGeom prst="wedgeRectCallout">
            <a:avLst>
              <a:gd name="adj1" fmla="val -76077"/>
              <a:gd name="adj2" fmla="val 43351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局排</a:t>
            </a:r>
            <a:r>
              <a:rPr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6</a:t>
            </a:r>
            <a:endParaRPr kumimoji="1" lang="ja-JP" altLang="en-US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8" name="フリーフォーム: 図形 117">
            <a:extLst>
              <a:ext uri="{FF2B5EF4-FFF2-40B4-BE49-F238E27FC236}">
                <a16:creationId xmlns:a16="http://schemas.microsoft.com/office/drawing/2014/main" id="{2F5F8A85-1899-4933-921D-3CB0EEB182A3}"/>
              </a:ext>
            </a:extLst>
          </p:cNvPr>
          <p:cNvSpPr/>
          <p:nvPr/>
        </p:nvSpPr>
        <p:spPr>
          <a:xfrm>
            <a:off x="645615" y="5385861"/>
            <a:ext cx="572705" cy="1370539"/>
          </a:xfrm>
          <a:custGeom>
            <a:avLst/>
            <a:gdLst>
              <a:gd name="connsiteX0" fmla="*/ 819150 w 819150"/>
              <a:gd name="connsiteY0" fmla="*/ 0 h 1800225"/>
              <a:gd name="connsiteX1" fmla="*/ 352425 w 819150"/>
              <a:gd name="connsiteY1" fmla="*/ 0 h 1800225"/>
              <a:gd name="connsiteX2" fmla="*/ 352425 w 819150"/>
              <a:gd name="connsiteY2" fmla="*/ 1085850 h 1800225"/>
              <a:gd name="connsiteX3" fmla="*/ 0 w 819150"/>
              <a:gd name="connsiteY3" fmla="*/ 1085850 h 1800225"/>
              <a:gd name="connsiteX4" fmla="*/ 0 w 819150"/>
              <a:gd name="connsiteY4" fmla="*/ 1800225 h 1800225"/>
              <a:gd name="connsiteX5" fmla="*/ 542925 w 819150"/>
              <a:gd name="connsiteY5" fmla="*/ 1800225 h 1800225"/>
              <a:gd name="connsiteX6" fmla="*/ 542925 w 819150"/>
              <a:gd name="connsiteY6" fmla="*/ 1028700 h 1800225"/>
              <a:gd name="connsiteX7" fmla="*/ 800100 w 819150"/>
              <a:gd name="connsiteY7" fmla="*/ 1028700 h 1800225"/>
              <a:gd name="connsiteX8" fmla="*/ 819150 w 819150"/>
              <a:gd name="connsiteY8" fmla="*/ 0 h 180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9150" h="1800225">
                <a:moveTo>
                  <a:pt x="819150" y="0"/>
                </a:moveTo>
                <a:lnTo>
                  <a:pt x="352425" y="0"/>
                </a:lnTo>
                <a:lnTo>
                  <a:pt x="352425" y="1085850"/>
                </a:lnTo>
                <a:lnTo>
                  <a:pt x="0" y="1085850"/>
                </a:lnTo>
                <a:lnTo>
                  <a:pt x="0" y="1800225"/>
                </a:lnTo>
                <a:lnTo>
                  <a:pt x="542925" y="1800225"/>
                </a:lnTo>
                <a:lnTo>
                  <a:pt x="542925" y="1028700"/>
                </a:lnTo>
                <a:lnTo>
                  <a:pt x="800100" y="1028700"/>
                </a:lnTo>
                <a:lnTo>
                  <a:pt x="819150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9" name="吹き出し: 四角形 118">
            <a:extLst>
              <a:ext uri="{FF2B5EF4-FFF2-40B4-BE49-F238E27FC236}">
                <a16:creationId xmlns:a16="http://schemas.microsoft.com/office/drawing/2014/main" id="{447DE9F4-0F6A-F73B-FF48-3556C84D025D}"/>
              </a:ext>
            </a:extLst>
          </p:cNvPr>
          <p:cNvSpPr/>
          <p:nvPr/>
        </p:nvSpPr>
        <p:spPr>
          <a:xfrm>
            <a:off x="70802" y="5532261"/>
            <a:ext cx="694687" cy="330479"/>
          </a:xfrm>
          <a:prstGeom prst="wedgeRectCallout">
            <a:avLst>
              <a:gd name="adj1" fmla="val 70630"/>
              <a:gd name="adj2" fmla="val 53626"/>
            </a:avLst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空調</a:t>
            </a:r>
            <a:r>
              <a:rPr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4</a:t>
            </a:r>
            <a:endParaRPr kumimoji="1" lang="ja-JP" altLang="en-US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0" name="フリーフォーム: 図形 119">
            <a:extLst>
              <a:ext uri="{FF2B5EF4-FFF2-40B4-BE49-F238E27FC236}">
                <a16:creationId xmlns:a16="http://schemas.microsoft.com/office/drawing/2014/main" id="{880FA574-C0FF-0897-5F35-138BFDEEEA2B}"/>
              </a:ext>
            </a:extLst>
          </p:cNvPr>
          <p:cNvSpPr/>
          <p:nvPr/>
        </p:nvSpPr>
        <p:spPr>
          <a:xfrm flipH="1">
            <a:off x="1308708" y="5384438"/>
            <a:ext cx="565860" cy="1427525"/>
          </a:xfrm>
          <a:custGeom>
            <a:avLst/>
            <a:gdLst>
              <a:gd name="connsiteX0" fmla="*/ 819150 w 819150"/>
              <a:gd name="connsiteY0" fmla="*/ 0 h 1800225"/>
              <a:gd name="connsiteX1" fmla="*/ 352425 w 819150"/>
              <a:gd name="connsiteY1" fmla="*/ 0 h 1800225"/>
              <a:gd name="connsiteX2" fmla="*/ 352425 w 819150"/>
              <a:gd name="connsiteY2" fmla="*/ 1085850 h 1800225"/>
              <a:gd name="connsiteX3" fmla="*/ 0 w 819150"/>
              <a:gd name="connsiteY3" fmla="*/ 1085850 h 1800225"/>
              <a:gd name="connsiteX4" fmla="*/ 0 w 819150"/>
              <a:gd name="connsiteY4" fmla="*/ 1800225 h 1800225"/>
              <a:gd name="connsiteX5" fmla="*/ 542925 w 819150"/>
              <a:gd name="connsiteY5" fmla="*/ 1800225 h 1800225"/>
              <a:gd name="connsiteX6" fmla="*/ 542925 w 819150"/>
              <a:gd name="connsiteY6" fmla="*/ 1028700 h 1800225"/>
              <a:gd name="connsiteX7" fmla="*/ 800100 w 819150"/>
              <a:gd name="connsiteY7" fmla="*/ 1028700 h 1800225"/>
              <a:gd name="connsiteX8" fmla="*/ 819150 w 819150"/>
              <a:gd name="connsiteY8" fmla="*/ 0 h 180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9150" h="1800225">
                <a:moveTo>
                  <a:pt x="819150" y="0"/>
                </a:moveTo>
                <a:lnTo>
                  <a:pt x="352425" y="0"/>
                </a:lnTo>
                <a:lnTo>
                  <a:pt x="352425" y="1085850"/>
                </a:lnTo>
                <a:lnTo>
                  <a:pt x="0" y="1085850"/>
                </a:lnTo>
                <a:lnTo>
                  <a:pt x="0" y="1800225"/>
                </a:lnTo>
                <a:lnTo>
                  <a:pt x="542925" y="1800225"/>
                </a:lnTo>
                <a:lnTo>
                  <a:pt x="542925" y="1028700"/>
                </a:lnTo>
                <a:lnTo>
                  <a:pt x="800100" y="1028700"/>
                </a:lnTo>
                <a:lnTo>
                  <a:pt x="819150" y="0"/>
                </a:lnTo>
                <a:close/>
              </a:path>
            </a:pathLst>
          </a:custGeom>
          <a:noFill/>
          <a:ln w="28575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1" name="吹き出し: 四角形 120">
            <a:extLst>
              <a:ext uri="{FF2B5EF4-FFF2-40B4-BE49-F238E27FC236}">
                <a16:creationId xmlns:a16="http://schemas.microsoft.com/office/drawing/2014/main" id="{2358603B-67A5-95BA-0F5C-77BBA741DD3F}"/>
              </a:ext>
            </a:extLst>
          </p:cNvPr>
          <p:cNvSpPr/>
          <p:nvPr/>
        </p:nvSpPr>
        <p:spPr>
          <a:xfrm>
            <a:off x="1742377" y="5653697"/>
            <a:ext cx="612000" cy="330479"/>
          </a:xfrm>
          <a:prstGeom prst="wedgeRectCallout">
            <a:avLst>
              <a:gd name="adj1" fmla="val -75242"/>
              <a:gd name="adj2" fmla="val -30919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局排</a:t>
            </a:r>
            <a:r>
              <a:rPr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7</a:t>
            </a:r>
            <a:endParaRPr kumimoji="1" lang="ja-JP" altLang="en-US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4213C2DB-F686-C983-ED52-5A91D2ECE798}"/>
              </a:ext>
            </a:extLst>
          </p:cNvPr>
          <p:cNvSpPr txBox="1"/>
          <p:nvPr/>
        </p:nvSpPr>
        <p:spPr>
          <a:xfrm>
            <a:off x="2658911" y="1575963"/>
            <a:ext cx="3841332" cy="7386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ja-JP" altLang="en-US" sz="1400">
                <a:latin typeface="Meiryo UI"/>
                <a:ea typeface="Meiryo UI"/>
              </a:rPr>
              <a:t>空調機は自動</a:t>
            </a:r>
            <a:r>
              <a:rPr lang="en-US" altLang="ja-JP" sz="1400" dirty="0">
                <a:latin typeface="Meiryo UI"/>
                <a:ea typeface="Meiryo UI"/>
              </a:rPr>
              <a:t>OFF</a:t>
            </a:r>
            <a:r>
              <a:rPr lang="ja-JP" altLang="en-US" sz="1400">
                <a:latin typeface="Meiryo UI"/>
                <a:ea typeface="Meiryo UI"/>
              </a:rPr>
              <a:t>又は一旦手動停止させた場合</a:t>
            </a:r>
            <a:endParaRPr lang="en-US" altLang="ja-JP" sz="1400">
              <a:latin typeface="Meiryo UI"/>
              <a:ea typeface="Meiryo UI"/>
            </a:endParaRPr>
          </a:p>
          <a:p>
            <a:pPr algn="ctr"/>
            <a:r>
              <a:rPr lang="en-US" altLang="ja-JP" sz="14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</a:t>
            </a:r>
            <a:r>
              <a:rPr lang="ja-JP" altLang="en-US" sz="14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分以上経過してから再稼働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させること！</a:t>
            </a:r>
            <a:endParaRPr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（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インバータエラー防止のため）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69D1BF4-7E7A-59B8-D3FA-E0F4F19C66EE}"/>
              </a:ext>
            </a:extLst>
          </p:cNvPr>
          <p:cNvSpPr txBox="1"/>
          <p:nvPr/>
        </p:nvSpPr>
        <p:spPr>
          <a:xfrm>
            <a:off x="67704" y="58789"/>
            <a:ext cx="6822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★土日出勤時の対応（空調・局排）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02701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73712925-C102-01F6-8A8B-121F476A5816}"/>
              </a:ext>
            </a:extLst>
          </p:cNvPr>
          <p:cNvSpPr/>
          <p:nvPr/>
        </p:nvSpPr>
        <p:spPr>
          <a:xfrm>
            <a:off x="4571999" y="3023118"/>
            <a:ext cx="4512057" cy="36579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kumimoji="1" lang="ja-JP" altLang="en-US" sz="1200" b="1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操作盤にタイマー設定ユニットが</a:t>
            </a:r>
            <a:r>
              <a:rPr kumimoji="1" lang="en-US" altLang="ja-JP" sz="1200" b="1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 sz="1200" b="1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個しか設置されていない箇所では、タイマー</a:t>
            </a:r>
            <a:r>
              <a:rPr kumimoji="1" lang="en-US" altLang="ja-JP" sz="1200" b="1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 sz="1200" b="1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個で</a:t>
            </a:r>
            <a:r>
              <a:rPr kumimoji="1" lang="en-US" altLang="ja-JP" sz="1200" b="1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kumimoji="1" lang="ja-JP" altLang="en-US" sz="1200" b="1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系統を制御しています。例えば、操作盤</a:t>
            </a:r>
            <a:r>
              <a:rPr kumimoji="1" lang="en-US" altLang="ja-JP" sz="1200" b="1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OS2-3</a:t>
            </a:r>
            <a:r>
              <a:rPr kumimoji="1" lang="ja-JP" altLang="en-US" sz="1200" b="1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，</a:t>
            </a:r>
            <a:r>
              <a:rPr kumimoji="1" lang="en-US" altLang="ja-JP" sz="1200" b="1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2-4</a:t>
            </a:r>
            <a:r>
              <a:rPr kumimoji="1" lang="ja-JP" altLang="en-US" sz="1200" b="1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では、“局排２”は“出力１”で、“局排３”は“出力</a:t>
            </a:r>
            <a:r>
              <a:rPr kumimoji="1" lang="en-US" altLang="ja-JP" sz="1200" b="1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kumimoji="1" lang="ja-JP" altLang="en-US" sz="1200" b="1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”でタイマー設定を切り替えてください。</a:t>
            </a:r>
          </a:p>
        </p:txBody>
      </p:sp>
      <p:sp>
        <p:nvSpPr>
          <p:cNvPr id="31" name="爆発: 8 pt 30">
            <a:extLst>
              <a:ext uri="{FF2B5EF4-FFF2-40B4-BE49-F238E27FC236}">
                <a16:creationId xmlns:a16="http://schemas.microsoft.com/office/drawing/2014/main" id="{97A7ED80-5DD1-09D7-14E6-1015D9E01120}"/>
              </a:ext>
            </a:extLst>
          </p:cNvPr>
          <p:cNvSpPr/>
          <p:nvPr/>
        </p:nvSpPr>
        <p:spPr>
          <a:xfrm>
            <a:off x="411986" y="348392"/>
            <a:ext cx="4160013" cy="1041870"/>
          </a:xfrm>
          <a:prstGeom prst="irregularSeal1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B2F8155-1024-C4D9-293F-085871B3A0FE}"/>
              </a:ext>
            </a:extLst>
          </p:cNvPr>
          <p:cNvSpPr txBox="1"/>
          <p:nvPr/>
        </p:nvSpPr>
        <p:spPr>
          <a:xfrm>
            <a:off x="411986" y="1271147"/>
            <a:ext cx="834850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①各操作盤のタイマー設定ユニットの出力切替スイッチ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赤枠部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)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を</a:t>
            </a:r>
            <a:endParaRPr lang="en-US" altLang="ja-JP" sz="20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【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自動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】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→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【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入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】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にする。</a:t>
            </a:r>
            <a:endParaRPr lang="en-US" altLang="ja-JP" sz="20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en-US" altLang="ja-JP" sz="20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②残業終了時は、出力切替スイッチ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赤枠部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)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を、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【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入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】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→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【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自動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】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に戻す。</a:t>
            </a:r>
            <a:endParaRPr lang="en-US" altLang="ja-JP" sz="20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　</a:t>
            </a:r>
            <a:r>
              <a:rPr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※</a:t>
            </a:r>
            <a:r>
              <a:rPr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自動に戻した瞬間に、空調又は局排が停止します（タイマー</a:t>
            </a:r>
            <a:r>
              <a:rPr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OFF</a:t>
            </a:r>
            <a:r>
              <a:rPr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が作動します）。</a:t>
            </a:r>
            <a:endParaRPr lang="en-US" altLang="ja-JP" sz="12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509BA0A-4F4C-7F8B-2196-6DB49703DC75}"/>
              </a:ext>
            </a:extLst>
          </p:cNvPr>
          <p:cNvSpPr txBox="1"/>
          <p:nvPr/>
        </p:nvSpPr>
        <p:spPr>
          <a:xfrm>
            <a:off x="67704" y="58789"/>
            <a:ext cx="6822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★残業時の対応（空調・局排）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62D31A6B-4339-8193-461B-04647563060B}"/>
              </a:ext>
            </a:extLst>
          </p:cNvPr>
          <p:cNvSpPr txBox="1"/>
          <p:nvPr/>
        </p:nvSpPr>
        <p:spPr>
          <a:xfrm>
            <a:off x="-38148" y="619076"/>
            <a:ext cx="5552540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この操作はタイマー</a:t>
            </a:r>
            <a:r>
              <a:rPr lang="en-US" altLang="ja-JP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OFF</a:t>
            </a:r>
            <a:r>
              <a:rPr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する前に実施してください。</a:t>
            </a:r>
            <a:endParaRPr lang="en-US" altLang="ja-JP" sz="1400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（局排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OFF</a:t>
            </a:r>
            <a:r>
              <a:rPr lang="ja-JP" altLang="en-US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で異常を自動検出する設備があるため（新局所はんだ等））</a:t>
            </a:r>
            <a:endParaRPr lang="ja-JP" altLang="en-US" sz="1400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61" name="グループ化 60">
            <a:extLst>
              <a:ext uri="{FF2B5EF4-FFF2-40B4-BE49-F238E27FC236}">
                <a16:creationId xmlns:a16="http://schemas.microsoft.com/office/drawing/2014/main" id="{060D937C-7E0B-FA6A-1D02-094C458EF705}"/>
              </a:ext>
            </a:extLst>
          </p:cNvPr>
          <p:cNvGrpSpPr/>
          <p:nvPr/>
        </p:nvGrpSpPr>
        <p:grpSpPr>
          <a:xfrm>
            <a:off x="4782480" y="3881022"/>
            <a:ext cx="3501651" cy="2626238"/>
            <a:chOff x="6744000" y="3776712"/>
            <a:chExt cx="2400000" cy="1800000"/>
          </a:xfrm>
        </p:grpSpPr>
        <p:pic>
          <p:nvPicPr>
            <p:cNvPr id="48" name="図 47" descr="建物, 屋内, 駐車場, 機械 が含まれている画像&#10;&#10;自動的に生成された説明">
              <a:extLst>
                <a:ext uri="{FF2B5EF4-FFF2-40B4-BE49-F238E27FC236}">
                  <a16:creationId xmlns:a16="http://schemas.microsoft.com/office/drawing/2014/main" id="{6F9F6905-D9D2-E0A8-97BF-10DD752C4E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44000" y="3776712"/>
              <a:ext cx="2400000" cy="1800000"/>
            </a:xfrm>
            <a:prstGeom prst="rect">
              <a:avLst/>
            </a:prstGeom>
          </p:spPr>
        </p:pic>
        <p:sp>
          <p:nvSpPr>
            <p:cNvPr id="50" name="フリーフォーム: 図形 49">
              <a:extLst>
                <a:ext uri="{FF2B5EF4-FFF2-40B4-BE49-F238E27FC236}">
                  <a16:creationId xmlns:a16="http://schemas.microsoft.com/office/drawing/2014/main" id="{DF92D5D2-5F24-D1CD-59DD-4C09D2A22CA9}"/>
                </a:ext>
              </a:extLst>
            </p:cNvPr>
            <p:cNvSpPr/>
            <p:nvPr/>
          </p:nvSpPr>
          <p:spPr>
            <a:xfrm>
              <a:off x="7188490" y="4113292"/>
              <a:ext cx="778208" cy="1385829"/>
            </a:xfrm>
            <a:custGeom>
              <a:avLst/>
              <a:gdLst>
                <a:gd name="connsiteX0" fmla="*/ 819150 w 819150"/>
                <a:gd name="connsiteY0" fmla="*/ 0 h 1800225"/>
                <a:gd name="connsiteX1" fmla="*/ 352425 w 819150"/>
                <a:gd name="connsiteY1" fmla="*/ 0 h 1800225"/>
                <a:gd name="connsiteX2" fmla="*/ 352425 w 819150"/>
                <a:gd name="connsiteY2" fmla="*/ 1085850 h 1800225"/>
                <a:gd name="connsiteX3" fmla="*/ 0 w 819150"/>
                <a:gd name="connsiteY3" fmla="*/ 1085850 h 1800225"/>
                <a:gd name="connsiteX4" fmla="*/ 0 w 819150"/>
                <a:gd name="connsiteY4" fmla="*/ 1800225 h 1800225"/>
                <a:gd name="connsiteX5" fmla="*/ 542925 w 819150"/>
                <a:gd name="connsiteY5" fmla="*/ 1800225 h 1800225"/>
                <a:gd name="connsiteX6" fmla="*/ 542925 w 819150"/>
                <a:gd name="connsiteY6" fmla="*/ 1028700 h 1800225"/>
                <a:gd name="connsiteX7" fmla="*/ 800100 w 819150"/>
                <a:gd name="connsiteY7" fmla="*/ 1028700 h 1800225"/>
                <a:gd name="connsiteX8" fmla="*/ 819150 w 819150"/>
                <a:gd name="connsiteY8" fmla="*/ 0 h 1800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9150" h="1800225">
                  <a:moveTo>
                    <a:pt x="819150" y="0"/>
                  </a:moveTo>
                  <a:lnTo>
                    <a:pt x="352425" y="0"/>
                  </a:lnTo>
                  <a:lnTo>
                    <a:pt x="352425" y="1085850"/>
                  </a:lnTo>
                  <a:lnTo>
                    <a:pt x="0" y="1085850"/>
                  </a:lnTo>
                  <a:lnTo>
                    <a:pt x="0" y="1800225"/>
                  </a:lnTo>
                  <a:lnTo>
                    <a:pt x="542925" y="1800225"/>
                  </a:lnTo>
                  <a:lnTo>
                    <a:pt x="542925" y="1028700"/>
                  </a:lnTo>
                  <a:lnTo>
                    <a:pt x="800100" y="1028700"/>
                  </a:lnTo>
                  <a:lnTo>
                    <a:pt x="819150" y="0"/>
                  </a:lnTo>
                  <a:close/>
                </a:path>
              </a:pathLst>
            </a:custGeom>
            <a:noFill/>
            <a:ln w="28575">
              <a:solidFill>
                <a:srgbClr val="0000FF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" name="フリーフォーム: 図形 50">
              <a:extLst>
                <a:ext uri="{FF2B5EF4-FFF2-40B4-BE49-F238E27FC236}">
                  <a16:creationId xmlns:a16="http://schemas.microsoft.com/office/drawing/2014/main" id="{DAA55384-FA06-550E-7CD8-F5CFC699D38B}"/>
                </a:ext>
              </a:extLst>
            </p:cNvPr>
            <p:cNvSpPr/>
            <p:nvPr/>
          </p:nvSpPr>
          <p:spPr>
            <a:xfrm flipH="1">
              <a:off x="8013990" y="4116584"/>
              <a:ext cx="778208" cy="1369745"/>
            </a:xfrm>
            <a:custGeom>
              <a:avLst/>
              <a:gdLst>
                <a:gd name="connsiteX0" fmla="*/ 819150 w 819150"/>
                <a:gd name="connsiteY0" fmla="*/ 0 h 1800225"/>
                <a:gd name="connsiteX1" fmla="*/ 352425 w 819150"/>
                <a:gd name="connsiteY1" fmla="*/ 0 h 1800225"/>
                <a:gd name="connsiteX2" fmla="*/ 352425 w 819150"/>
                <a:gd name="connsiteY2" fmla="*/ 1085850 h 1800225"/>
                <a:gd name="connsiteX3" fmla="*/ 0 w 819150"/>
                <a:gd name="connsiteY3" fmla="*/ 1085850 h 1800225"/>
                <a:gd name="connsiteX4" fmla="*/ 0 w 819150"/>
                <a:gd name="connsiteY4" fmla="*/ 1800225 h 1800225"/>
                <a:gd name="connsiteX5" fmla="*/ 542925 w 819150"/>
                <a:gd name="connsiteY5" fmla="*/ 1800225 h 1800225"/>
                <a:gd name="connsiteX6" fmla="*/ 542925 w 819150"/>
                <a:gd name="connsiteY6" fmla="*/ 1028700 h 1800225"/>
                <a:gd name="connsiteX7" fmla="*/ 800100 w 819150"/>
                <a:gd name="connsiteY7" fmla="*/ 1028700 h 1800225"/>
                <a:gd name="connsiteX8" fmla="*/ 819150 w 819150"/>
                <a:gd name="connsiteY8" fmla="*/ 0 h 1800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9150" h="1800225">
                  <a:moveTo>
                    <a:pt x="819150" y="0"/>
                  </a:moveTo>
                  <a:lnTo>
                    <a:pt x="352425" y="0"/>
                  </a:lnTo>
                  <a:lnTo>
                    <a:pt x="352425" y="1085850"/>
                  </a:lnTo>
                  <a:lnTo>
                    <a:pt x="0" y="1085850"/>
                  </a:lnTo>
                  <a:lnTo>
                    <a:pt x="0" y="1800225"/>
                  </a:lnTo>
                  <a:lnTo>
                    <a:pt x="542925" y="1800225"/>
                  </a:lnTo>
                  <a:lnTo>
                    <a:pt x="542925" y="1028700"/>
                  </a:lnTo>
                  <a:lnTo>
                    <a:pt x="800100" y="1028700"/>
                  </a:lnTo>
                  <a:lnTo>
                    <a:pt x="819150" y="0"/>
                  </a:lnTo>
                  <a:close/>
                </a:path>
              </a:pathLst>
            </a:custGeom>
            <a:noFill/>
            <a:ln w="28575">
              <a:solidFill>
                <a:srgbClr val="0000FF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" name="吹き出し: 四角形 51">
              <a:extLst>
                <a:ext uri="{FF2B5EF4-FFF2-40B4-BE49-F238E27FC236}">
                  <a16:creationId xmlns:a16="http://schemas.microsoft.com/office/drawing/2014/main" id="{7D93067E-A1BB-B658-FE68-B6D72D7687CB}"/>
                </a:ext>
              </a:extLst>
            </p:cNvPr>
            <p:cNvSpPr/>
            <p:nvPr/>
          </p:nvSpPr>
          <p:spPr>
            <a:xfrm>
              <a:off x="8510018" y="4351722"/>
              <a:ext cx="612000" cy="239970"/>
            </a:xfrm>
            <a:prstGeom prst="wedgeRectCallout">
              <a:avLst>
                <a:gd name="adj1" fmla="val -76077"/>
                <a:gd name="adj2" fmla="val 43351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ja-JP" altLang="en-US" sz="1600" b="1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局排</a:t>
              </a:r>
              <a:r>
                <a:rPr lang="en-US" altLang="ja-JP" sz="1600" b="1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3</a:t>
              </a:r>
              <a:endParaRPr kumimoji="1"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3" name="吹き出し: 四角形 52">
              <a:extLst>
                <a:ext uri="{FF2B5EF4-FFF2-40B4-BE49-F238E27FC236}">
                  <a16:creationId xmlns:a16="http://schemas.microsoft.com/office/drawing/2014/main" id="{183DF62C-1387-22E0-5BAB-0DFBC75A8E9D}"/>
                </a:ext>
              </a:extLst>
            </p:cNvPr>
            <p:cNvSpPr/>
            <p:nvPr/>
          </p:nvSpPr>
          <p:spPr>
            <a:xfrm>
              <a:off x="6765734" y="3795731"/>
              <a:ext cx="2376000" cy="239970"/>
            </a:xfrm>
            <a:prstGeom prst="wedgeRectCallout">
              <a:avLst>
                <a:gd name="adj1" fmla="val 16905"/>
                <a:gd name="adj2" fmla="val 28216"/>
              </a:avLst>
            </a:prstGeom>
            <a:solidFill>
              <a:schemeClr val="tx1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ja-JP" altLang="en-US" b="1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操作盤</a:t>
              </a:r>
              <a:r>
                <a:rPr lang="en-US" altLang="ja-JP" b="1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OS2-3,4</a:t>
              </a:r>
              <a:endPara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4" name="吹き出し: 四角形 53">
              <a:extLst>
                <a:ext uri="{FF2B5EF4-FFF2-40B4-BE49-F238E27FC236}">
                  <a16:creationId xmlns:a16="http://schemas.microsoft.com/office/drawing/2014/main" id="{CC3ED643-0CF0-4DFC-924A-2BDDBCF275DE}"/>
                </a:ext>
              </a:extLst>
            </p:cNvPr>
            <p:cNvSpPr/>
            <p:nvPr/>
          </p:nvSpPr>
          <p:spPr>
            <a:xfrm>
              <a:off x="6897118" y="4387569"/>
              <a:ext cx="612000" cy="239970"/>
            </a:xfrm>
            <a:prstGeom prst="wedgeRectCallout">
              <a:avLst>
                <a:gd name="adj1" fmla="val 79560"/>
                <a:gd name="adj2" fmla="val 47194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ja-JP" altLang="en-US" sz="1600" b="1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局排</a:t>
              </a:r>
              <a:r>
                <a:rPr lang="en-US" altLang="ja-JP" sz="1600" b="1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2</a:t>
              </a:r>
              <a:endParaRPr kumimoji="1"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grpSp>
        <p:nvGrpSpPr>
          <p:cNvPr id="66" name="グループ化 65">
            <a:extLst>
              <a:ext uri="{FF2B5EF4-FFF2-40B4-BE49-F238E27FC236}">
                <a16:creationId xmlns:a16="http://schemas.microsoft.com/office/drawing/2014/main" id="{E256AAED-841D-B06C-FB4C-A446AF342281}"/>
              </a:ext>
            </a:extLst>
          </p:cNvPr>
          <p:cNvGrpSpPr/>
          <p:nvPr/>
        </p:nvGrpSpPr>
        <p:grpSpPr>
          <a:xfrm>
            <a:off x="658214" y="3220591"/>
            <a:ext cx="3365311" cy="3206824"/>
            <a:chOff x="844830" y="3220591"/>
            <a:chExt cx="3365311" cy="3206824"/>
          </a:xfrm>
        </p:grpSpPr>
        <p:grpSp>
          <p:nvGrpSpPr>
            <p:cNvPr id="44" name="グループ化 43">
              <a:extLst>
                <a:ext uri="{FF2B5EF4-FFF2-40B4-BE49-F238E27FC236}">
                  <a16:creationId xmlns:a16="http://schemas.microsoft.com/office/drawing/2014/main" id="{B0CAB059-246F-078B-2277-E7B8F1FAA67F}"/>
                </a:ext>
              </a:extLst>
            </p:cNvPr>
            <p:cNvGrpSpPr/>
            <p:nvPr/>
          </p:nvGrpSpPr>
          <p:grpSpPr>
            <a:xfrm>
              <a:off x="844830" y="3508108"/>
              <a:ext cx="3365311" cy="2919307"/>
              <a:chOff x="1194317" y="2685490"/>
              <a:chExt cx="4236100" cy="3734662"/>
            </a:xfrm>
          </p:grpSpPr>
          <p:pic>
            <p:nvPicPr>
              <p:cNvPr id="30" name="図 29">
                <a:extLst>
                  <a:ext uri="{FF2B5EF4-FFF2-40B4-BE49-F238E27FC236}">
                    <a16:creationId xmlns:a16="http://schemas.microsoft.com/office/drawing/2014/main" id="{1C6D934D-1717-E157-F23F-B9160C31BA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94317" y="2685490"/>
                <a:ext cx="4236100" cy="3734662"/>
              </a:xfrm>
              <a:prstGeom prst="rect">
                <a:avLst/>
              </a:prstGeom>
            </p:spPr>
          </p:pic>
          <p:sp>
            <p:nvSpPr>
              <p:cNvPr id="43" name="四角形: 角を丸くする 42">
                <a:extLst>
                  <a:ext uri="{FF2B5EF4-FFF2-40B4-BE49-F238E27FC236}">
                    <a16:creationId xmlns:a16="http://schemas.microsoft.com/office/drawing/2014/main" id="{7F5B3C71-C083-1238-1D05-562350C6A82C}"/>
                  </a:ext>
                </a:extLst>
              </p:cNvPr>
              <p:cNvSpPr/>
              <p:nvPr/>
            </p:nvSpPr>
            <p:spPr>
              <a:xfrm>
                <a:off x="1959429" y="5019869"/>
                <a:ext cx="1026368" cy="671804"/>
              </a:xfrm>
              <a:prstGeom prst="round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63" name="テキスト ボックス 62">
              <a:extLst>
                <a:ext uri="{FF2B5EF4-FFF2-40B4-BE49-F238E27FC236}">
                  <a16:creationId xmlns:a16="http://schemas.microsoft.com/office/drawing/2014/main" id="{172282D5-7A4E-A07A-3C2D-0823444E602F}"/>
                </a:ext>
              </a:extLst>
            </p:cNvPr>
            <p:cNvSpPr txBox="1"/>
            <p:nvPr/>
          </p:nvSpPr>
          <p:spPr>
            <a:xfrm>
              <a:off x="908182" y="3220591"/>
              <a:ext cx="3057328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600" b="1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＜タイマー設定ユニット＞</a:t>
              </a:r>
              <a:endParaRPr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67" name="スライド番号プレースホルダー 1">
            <a:extLst>
              <a:ext uri="{FF2B5EF4-FFF2-40B4-BE49-F238E27FC236}">
                <a16:creationId xmlns:a16="http://schemas.microsoft.com/office/drawing/2014/main" id="{620E7D58-6EC2-7F34-6C21-45C2FB4AE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35800" y="6391275"/>
            <a:ext cx="2057400" cy="365125"/>
          </a:xfrm>
        </p:spPr>
        <p:txBody>
          <a:bodyPr/>
          <a:lstStyle/>
          <a:p>
            <a:fld id="{4496CD11-9029-4718-B542-A07CCE74E59E}" type="slidenum">
              <a:rPr kumimoji="1" lang="ja-JP" altLang="en-US" sz="3200" b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11</a:t>
            </a:fld>
            <a:endParaRPr kumimoji="1" lang="ja-JP" alt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5385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917DC6A-9863-2269-2ADA-D5B9818297CF}"/>
              </a:ext>
            </a:extLst>
          </p:cNvPr>
          <p:cNvSpPr txBox="1"/>
          <p:nvPr/>
        </p:nvSpPr>
        <p:spPr>
          <a:xfrm>
            <a:off x="190721" y="323350"/>
            <a:ext cx="85913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★長期休暇時の対応：</a:t>
            </a:r>
            <a:r>
              <a:rPr lang="en-US" altLang="ja-JP" sz="3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6</a:t>
            </a:r>
            <a:r>
              <a:rPr lang="ja-JP" altLang="en-US" sz="3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日連続以内</a:t>
            </a:r>
            <a:endParaRPr lang="ja-JP" altLang="en-US" sz="20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3" name="スライド番号プレースホルダー 1">
            <a:extLst>
              <a:ext uri="{FF2B5EF4-FFF2-40B4-BE49-F238E27FC236}">
                <a16:creationId xmlns:a16="http://schemas.microsoft.com/office/drawing/2014/main" id="{F3FA8E06-F8D0-5C2C-B3B1-3B1913A0E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496CD11-9029-4718-B542-A07CCE74E59E}" type="slidenum">
              <a:rPr kumimoji="1" lang="ja-JP" altLang="en-US" sz="3200" b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12</a:t>
            </a:fld>
            <a:endParaRPr kumimoji="1" lang="ja-JP" altLang="en-US" sz="32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02645E1-F97D-BF4F-8687-81657CE99809}"/>
              </a:ext>
            </a:extLst>
          </p:cNvPr>
          <p:cNvSpPr txBox="1"/>
          <p:nvPr/>
        </p:nvSpPr>
        <p:spPr>
          <a:xfrm>
            <a:off x="450959" y="1163242"/>
            <a:ext cx="8502320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●加湿器は、２ページを参照し</a:t>
            </a:r>
            <a:r>
              <a:rPr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6</a:t>
            </a:r>
            <a:r>
              <a:rPr lang="ja-JP" altLang="en-US" sz="24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か所のスイッチを</a:t>
            </a:r>
            <a:endParaRPr lang="en-US" altLang="ja-JP" sz="24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24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</a:t>
            </a:r>
            <a:r>
              <a:rPr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『</a:t>
            </a:r>
            <a:r>
              <a:rPr lang="ja-JP" altLang="en-US" sz="24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自動</a:t>
            </a:r>
            <a:r>
              <a:rPr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』 </a:t>
            </a:r>
            <a:r>
              <a:rPr lang="ja-JP" altLang="en-US" sz="24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→</a:t>
            </a:r>
            <a:r>
              <a:rPr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『</a:t>
            </a:r>
            <a:r>
              <a:rPr lang="ja-JP" altLang="en-US" sz="24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停止</a:t>
            </a:r>
            <a:r>
              <a:rPr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』</a:t>
            </a:r>
            <a:r>
              <a:rPr lang="ja-JP" altLang="en-US" sz="24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の位置に設定する。</a:t>
            </a:r>
            <a:endParaRPr lang="en-US" altLang="ja-JP" sz="24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24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稼働日には、朝一で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『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停止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』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→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『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自動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』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に設定。</a:t>
            </a:r>
            <a:endParaRPr lang="en-US" altLang="ja-JP" sz="20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en-US" altLang="ja-JP" sz="24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en-US" altLang="ja-JP" sz="24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en-US" altLang="ja-JP" sz="24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en-US" altLang="ja-JP" sz="24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en-US" altLang="ja-JP" sz="24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24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●空調機・局所排気のタイマー運転は、休日指定を行い、</a:t>
            </a:r>
            <a:endParaRPr lang="en-US" altLang="ja-JP" sz="24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24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自動</a:t>
            </a:r>
            <a:r>
              <a:rPr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ON</a:t>
            </a:r>
            <a:r>
              <a:rPr lang="ja-JP" altLang="en-US" sz="24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を回避します。操作方法は</a:t>
            </a:r>
            <a:r>
              <a:rPr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P.12</a:t>
            </a:r>
            <a:r>
              <a:rPr lang="ja-JP" altLang="en-US" sz="24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参照</a:t>
            </a:r>
            <a:endParaRPr lang="en-US" altLang="ja-JP" sz="24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※</a:t>
            </a: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指定曜日以降は自動でタイマー動作に入ります。</a:t>
            </a: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※</a:t>
            </a:r>
            <a:r>
              <a:rPr lang="ja-JP" altLang="en-US" sz="2000" u="sng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操作盤</a:t>
            </a:r>
            <a:r>
              <a:rPr lang="en-US" altLang="ja-JP" sz="2000" u="sng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2-2</a:t>
            </a:r>
            <a:r>
              <a:rPr lang="ja-JP" altLang="en-US" sz="2000" u="sng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のみ休日設定ができないため、</a:t>
            </a:r>
            <a:r>
              <a:rPr lang="en-US" altLang="ja-JP" sz="2000" u="sng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P.13</a:t>
            </a:r>
            <a:r>
              <a:rPr lang="ja-JP" altLang="en-US" sz="2000" u="sng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の対応</a:t>
            </a: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をしてください。</a:t>
            </a: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en-US" altLang="ja-JP" sz="16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945E6BB-C67B-1020-E309-BF6E9CC829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954" y="2447008"/>
            <a:ext cx="1099853" cy="1036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803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1">
            <a:extLst>
              <a:ext uri="{FF2B5EF4-FFF2-40B4-BE49-F238E27FC236}">
                <a16:creationId xmlns:a16="http://schemas.microsoft.com/office/drawing/2014/main" id="{F3FA8E06-F8D0-5C2C-B3B1-3B1913A0E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496CD11-9029-4718-B542-A07CCE74E59E}" type="slidenum">
              <a:rPr kumimoji="1" lang="ja-JP" altLang="en-US" sz="3200" b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13</a:t>
            </a:fld>
            <a:endParaRPr kumimoji="1" lang="ja-JP" altLang="en-US" sz="32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02645E1-F97D-BF4F-8687-81657CE99809}"/>
              </a:ext>
            </a:extLst>
          </p:cNvPr>
          <p:cNvSpPr txBox="1"/>
          <p:nvPr/>
        </p:nvSpPr>
        <p:spPr>
          <a:xfrm>
            <a:off x="320840" y="248841"/>
            <a:ext cx="8502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●タイマーの休日設定</a:t>
            </a:r>
            <a:endParaRPr lang="en-US" altLang="ja-JP" sz="16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2D9E455C-45A8-C8CE-D941-D9E1D2A26FB3}"/>
              </a:ext>
            </a:extLst>
          </p:cNvPr>
          <p:cNvGrpSpPr/>
          <p:nvPr/>
        </p:nvGrpSpPr>
        <p:grpSpPr>
          <a:xfrm>
            <a:off x="3768029" y="363501"/>
            <a:ext cx="3568436" cy="2247129"/>
            <a:chOff x="0" y="0"/>
            <a:chExt cx="4223552" cy="2714625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5D2882E4-7A58-AC29-9821-DCBD251A0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4223552" cy="2714625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8" name="インク 7">
                  <a:extLst>
                    <a:ext uri="{FF2B5EF4-FFF2-40B4-BE49-F238E27FC236}">
                      <a16:creationId xmlns:a16="http://schemas.microsoft.com/office/drawing/2014/main" id="{239B968A-8CF1-06A2-0D88-9CCD44593E93}"/>
                    </a:ext>
                  </a:extLst>
                </p14:cNvPr>
                <p14:cNvContentPartPr/>
                <p14:nvPr/>
              </p14:nvContentPartPr>
              <p14:xfrm>
                <a:off x="3219134" y="522510"/>
                <a:ext cx="923040" cy="39960"/>
              </p14:xfrm>
            </p:contentPart>
          </mc:Choice>
          <mc:Fallback xmlns="">
            <p:pic>
              <p:nvPicPr>
                <p:cNvPr id="8" name="インク 7">
                  <a:extLst>
                    <a:ext uri="{FF2B5EF4-FFF2-40B4-BE49-F238E27FC236}">
                      <a16:creationId xmlns:a16="http://schemas.microsoft.com/office/drawing/2014/main" id="{239B968A-8CF1-06A2-0D88-9CCD44593E9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165134" y="414510"/>
                  <a:ext cx="10306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9" name="インク 8">
                  <a:extLst>
                    <a:ext uri="{FF2B5EF4-FFF2-40B4-BE49-F238E27FC236}">
                      <a16:creationId xmlns:a16="http://schemas.microsoft.com/office/drawing/2014/main" id="{F7482231-BCCE-40BD-7C0A-D111063FB3B1}"/>
                    </a:ext>
                  </a:extLst>
                </p14:cNvPr>
                <p14:cNvContentPartPr/>
                <p14:nvPr/>
              </p14:nvContentPartPr>
              <p14:xfrm>
                <a:off x="3219134" y="1094910"/>
                <a:ext cx="923040" cy="30240"/>
              </p14:xfrm>
            </p:contentPart>
          </mc:Choice>
          <mc:Fallback xmlns="">
            <p:pic>
              <p:nvPicPr>
                <p:cNvPr id="9" name="インク 8">
                  <a:extLst>
                    <a:ext uri="{FF2B5EF4-FFF2-40B4-BE49-F238E27FC236}">
                      <a16:creationId xmlns:a16="http://schemas.microsoft.com/office/drawing/2014/main" id="{F7482231-BCCE-40BD-7C0A-D111063FB3B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165134" y="985609"/>
                  <a:ext cx="1030680" cy="2484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インク 9">
                  <a:extLst>
                    <a:ext uri="{FF2B5EF4-FFF2-40B4-BE49-F238E27FC236}">
                      <a16:creationId xmlns:a16="http://schemas.microsoft.com/office/drawing/2014/main" id="{2BC21DDF-4201-FD81-2054-0CA8CB47DFA9}"/>
                    </a:ext>
                  </a:extLst>
                </p14:cNvPr>
                <p14:cNvContentPartPr/>
                <p14:nvPr/>
              </p14:nvContentPartPr>
              <p14:xfrm>
                <a:off x="3219134" y="1209390"/>
                <a:ext cx="903600" cy="21240"/>
              </p14:xfrm>
            </p:contentPart>
          </mc:Choice>
          <mc:Fallback xmlns="">
            <p:pic>
              <p:nvPicPr>
                <p:cNvPr id="10" name="インク 9">
                  <a:extLst>
                    <a:ext uri="{FF2B5EF4-FFF2-40B4-BE49-F238E27FC236}">
                      <a16:creationId xmlns:a16="http://schemas.microsoft.com/office/drawing/2014/main" id="{2BC21DDF-4201-FD81-2054-0CA8CB47DFA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165134" y="1101390"/>
                  <a:ext cx="10112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2" name="インク 11">
                  <a:extLst>
                    <a:ext uri="{FF2B5EF4-FFF2-40B4-BE49-F238E27FC236}">
                      <a16:creationId xmlns:a16="http://schemas.microsoft.com/office/drawing/2014/main" id="{5323CBD0-D7FE-708E-FE54-F047DA55F9C8}"/>
                    </a:ext>
                  </a:extLst>
                </p14:cNvPr>
                <p14:cNvContentPartPr/>
                <p14:nvPr/>
              </p14:nvContentPartPr>
              <p14:xfrm>
                <a:off x="3200054" y="1656870"/>
                <a:ext cx="561240" cy="360"/>
              </p14:xfrm>
            </p:contentPart>
          </mc:Choice>
          <mc:Fallback xmlns="">
            <p:pic>
              <p:nvPicPr>
                <p:cNvPr id="12" name="インク 11">
                  <a:extLst>
                    <a:ext uri="{FF2B5EF4-FFF2-40B4-BE49-F238E27FC236}">
                      <a16:creationId xmlns:a16="http://schemas.microsoft.com/office/drawing/2014/main" id="{5323CBD0-D7FE-708E-FE54-F047DA55F9C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164054" y="1584870"/>
                  <a:ext cx="632880" cy="1440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5" name="図 4">
            <a:extLst>
              <a:ext uri="{FF2B5EF4-FFF2-40B4-BE49-F238E27FC236}">
                <a16:creationId xmlns:a16="http://schemas.microsoft.com/office/drawing/2014/main" id="{2CF7DB27-03A7-61FD-DE42-FC3B6F532CD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075" y="2696151"/>
            <a:ext cx="6345246" cy="403980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5" name="インク 14">
                <a:extLst>
                  <a:ext uri="{FF2B5EF4-FFF2-40B4-BE49-F238E27FC236}">
                    <a16:creationId xmlns:a16="http://schemas.microsoft.com/office/drawing/2014/main" id="{0714E86B-B431-19E8-F1F5-B39ED2DE07A0}"/>
                  </a:ext>
                </a:extLst>
              </p14:cNvPr>
              <p14:cNvContentPartPr/>
              <p14:nvPr/>
            </p14:nvContentPartPr>
            <p14:xfrm>
              <a:off x="3221364" y="3019002"/>
              <a:ext cx="339480" cy="12600"/>
            </p14:xfrm>
          </p:contentPart>
        </mc:Choice>
        <mc:Fallback xmlns="">
          <p:pic>
            <p:nvPicPr>
              <p:cNvPr id="15" name="インク 14">
                <a:extLst>
                  <a:ext uri="{FF2B5EF4-FFF2-40B4-BE49-F238E27FC236}">
                    <a16:creationId xmlns:a16="http://schemas.microsoft.com/office/drawing/2014/main" id="{0714E86B-B431-19E8-F1F5-B39ED2DE07A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149724" y="2875002"/>
                <a:ext cx="483120" cy="30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6" name="インク 15">
                <a:extLst>
                  <a:ext uri="{FF2B5EF4-FFF2-40B4-BE49-F238E27FC236}">
                    <a16:creationId xmlns:a16="http://schemas.microsoft.com/office/drawing/2014/main" id="{4BFA7C90-14BD-A92A-3771-FC676D819698}"/>
                  </a:ext>
                </a:extLst>
              </p14:cNvPr>
              <p14:cNvContentPartPr/>
              <p14:nvPr/>
            </p14:nvContentPartPr>
            <p14:xfrm>
              <a:off x="4826964" y="1467042"/>
              <a:ext cx="1041120" cy="360"/>
            </p14:xfrm>
          </p:contentPart>
        </mc:Choice>
        <mc:Fallback xmlns="">
          <p:pic>
            <p:nvPicPr>
              <p:cNvPr id="16" name="インク 15">
                <a:extLst>
                  <a:ext uri="{FF2B5EF4-FFF2-40B4-BE49-F238E27FC236}">
                    <a16:creationId xmlns:a16="http://schemas.microsoft.com/office/drawing/2014/main" id="{4BFA7C90-14BD-A92A-3771-FC676D81969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772964" y="1359042"/>
                <a:ext cx="11487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8" name="インク 17">
                <a:extLst>
                  <a:ext uri="{FF2B5EF4-FFF2-40B4-BE49-F238E27FC236}">
                    <a16:creationId xmlns:a16="http://schemas.microsoft.com/office/drawing/2014/main" id="{618735F6-EF07-D2C5-AEAE-BC70396586E7}"/>
                  </a:ext>
                </a:extLst>
              </p14:cNvPr>
              <p14:cNvContentPartPr/>
              <p14:nvPr/>
            </p14:nvContentPartPr>
            <p14:xfrm>
              <a:off x="3582804" y="6113562"/>
              <a:ext cx="177840" cy="360"/>
            </p14:xfrm>
          </p:contentPart>
        </mc:Choice>
        <mc:Fallback xmlns="">
          <p:pic>
            <p:nvPicPr>
              <p:cNvPr id="18" name="インク 17">
                <a:extLst>
                  <a:ext uri="{FF2B5EF4-FFF2-40B4-BE49-F238E27FC236}">
                    <a16:creationId xmlns:a16="http://schemas.microsoft.com/office/drawing/2014/main" id="{618735F6-EF07-D2C5-AEAE-BC70396586E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528804" y="6005922"/>
                <a:ext cx="2854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9" name="インク 18">
                <a:extLst>
                  <a:ext uri="{FF2B5EF4-FFF2-40B4-BE49-F238E27FC236}">
                    <a16:creationId xmlns:a16="http://schemas.microsoft.com/office/drawing/2014/main" id="{D32613A8-3FE6-0190-8623-CCE5EAE29F44}"/>
                  </a:ext>
                </a:extLst>
              </p14:cNvPr>
              <p14:cNvContentPartPr/>
              <p14:nvPr/>
            </p14:nvContentPartPr>
            <p14:xfrm>
              <a:off x="4114164" y="4699482"/>
              <a:ext cx="190800" cy="360"/>
            </p14:xfrm>
          </p:contentPart>
        </mc:Choice>
        <mc:Fallback xmlns="">
          <p:pic>
            <p:nvPicPr>
              <p:cNvPr id="19" name="インク 18">
                <a:extLst>
                  <a:ext uri="{FF2B5EF4-FFF2-40B4-BE49-F238E27FC236}">
                    <a16:creationId xmlns:a16="http://schemas.microsoft.com/office/drawing/2014/main" id="{D32613A8-3FE6-0190-8623-CCE5EAE29F4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060524" y="4591842"/>
                <a:ext cx="29844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4847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屋内, 建物, 行, 並ぶ が含まれている画像&#10;&#10;自動的に生成された説明">
            <a:extLst>
              <a:ext uri="{FF2B5EF4-FFF2-40B4-BE49-F238E27FC236}">
                <a16:creationId xmlns:a16="http://schemas.microsoft.com/office/drawing/2014/main" id="{0DB861E4-C1CF-8564-A743-9CAAEB9605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7271" y="1170865"/>
            <a:ext cx="2400000" cy="1800000"/>
          </a:xfrm>
          <a:prstGeom prst="rect">
            <a:avLst/>
          </a:prstGeom>
        </p:spPr>
      </p:pic>
      <p:pic>
        <p:nvPicPr>
          <p:cNvPr id="8" name="図 7" descr="建物, 屋内, 駐車場, 機械 が含まれている画像&#10;&#10;自動的に生成された説明">
            <a:extLst>
              <a:ext uri="{FF2B5EF4-FFF2-40B4-BE49-F238E27FC236}">
                <a16:creationId xmlns:a16="http://schemas.microsoft.com/office/drawing/2014/main" id="{8D57F665-C755-BD40-F401-2CC59DB0B54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6681" y="3086591"/>
            <a:ext cx="2400000" cy="1800000"/>
          </a:xfrm>
          <a:prstGeom prst="rect">
            <a:avLst/>
          </a:prstGeom>
        </p:spPr>
      </p:pic>
      <p:pic>
        <p:nvPicPr>
          <p:cNvPr id="10" name="図 9" descr="屋内, 冷蔵庫, 建物, 戸棚 が含まれている画像&#10;&#10;自動的に生成された説明">
            <a:extLst>
              <a:ext uri="{FF2B5EF4-FFF2-40B4-BE49-F238E27FC236}">
                <a16:creationId xmlns:a16="http://schemas.microsoft.com/office/drawing/2014/main" id="{A55632C3-F550-1A23-8F0E-348FF705630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4577" y="4992057"/>
            <a:ext cx="2400000" cy="1800000"/>
          </a:xfrm>
          <a:prstGeom prst="rect">
            <a:avLst/>
          </a:prstGeom>
        </p:spPr>
      </p:pic>
      <p:pic>
        <p:nvPicPr>
          <p:cNvPr id="13" name="図 12" descr="屋内, 建物, 行, 並ぶ が含まれている画像&#10;&#10;自動的に生成された説明">
            <a:extLst>
              <a:ext uri="{FF2B5EF4-FFF2-40B4-BE49-F238E27FC236}">
                <a16:creationId xmlns:a16="http://schemas.microsoft.com/office/drawing/2014/main" id="{C7206892-8EFE-D9A1-EADC-D6BD2BC610C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26" y="1242522"/>
            <a:ext cx="2352000" cy="1764000"/>
          </a:xfrm>
          <a:prstGeom prst="rect">
            <a:avLst/>
          </a:prstGeom>
        </p:spPr>
      </p:pic>
      <p:pic>
        <p:nvPicPr>
          <p:cNvPr id="29" name="図 28" descr="建物, 駐車場, 行, メーター が含まれている画像&#10;&#10;自動的に生成された説明">
            <a:extLst>
              <a:ext uri="{FF2B5EF4-FFF2-40B4-BE49-F238E27FC236}">
                <a16:creationId xmlns:a16="http://schemas.microsoft.com/office/drawing/2014/main" id="{7405A9EC-D304-8273-46F3-9E467123E2B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85" y="3142092"/>
            <a:ext cx="2352000" cy="1764000"/>
          </a:xfrm>
          <a:prstGeom prst="rect">
            <a:avLst/>
          </a:prstGeom>
        </p:spPr>
      </p:pic>
      <p:pic>
        <p:nvPicPr>
          <p:cNvPr id="33" name="図 32" descr="建物, 駐車場, メーター, 行 が含まれている画像&#10;&#10;自動的に生成された説明">
            <a:extLst>
              <a:ext uri="{FF2B5EF4-FFF2-40B4-BE49-F238E27FC236}">
                <a16:creationId xmlns:a16="http://schemas.microsoft.com/office/drawing/2014/main" id="{29CC66EF-99C8-9501-C60A-AC7FCB3D0E4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" y="5059860"/>
            <a:ext cx="2352000" cy="1764000"/>
          </a:xfrm>
          <a:prstGeom prst="rect">
            <a:avLst/>
          </a:prstGeom>
        </p:spPr>
      </p:pic>
      <p:sp>
        <p:nvSpPr>
          <p:cNvPr id="4" name="スライド番号プレースホルダー 1">
            <a:extLst>
              <a:ext uri="{FF2B5EF4-FFF2-40B4-BE49-F238E27FC236}">
                <a16:creationId xmlns:a16="http://schemas.microsoft.com/office/drawing/2014/main" id="{48E616C1-0B55-B629-4ADC-1D8537814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35800" y="6391275"/>
            <a:ext cx="2057400" cy="365125"/>
          </a:xfrm>
        </p:spPr>
        <p:txBody>
          <a:bodyPr/>
          <a:lstStyle/>
          <a:p>
            <a:fld id="{4496CD11-9029-4718-B542-A07CCE74E59E}" type="slidenum">
              <a:rPr kumimoji="1" lang="ja-JP" altLang="en-US" sz="3200" b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14</a:t>
            </a:fld>
            <a:endParaRPr kumimoji="1" lang="ja-JP" altLang="en-US" sz="32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246F30B4-8E5E-4789-AD46-B5BF91AA1353}"/>
              </a:ext>
            </a:extLst>
          </p:cNvPr>
          <p:cNvSpPr/>
          <p:nvPr/>
        </p:nvSpPr>
        <p:spPr>
          <a:xfrm>
            <a:off x="8076803" y="1520431"/>
            <a:ext cx="401524" cy="1028791"/>
          </a:xfrm>
          <a:prstGeom prst="rect">
            <a:avLst/>
          </a:prstGeom>
          <a:noFill/>
          <a:ln w="28575">
            <a:solidFill>
              <a:srgbClr val="0000FF"/>
            </a:solidFill>
            <a:prstDash val="sys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8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3287" y="46677"/>
            <a:ext cx="911039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3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※</a:t>
            </a:r>
            <a:r>
              <a:rPr lang="ja-JP" altLang="en-US" sz="23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タイマースイッチの設置位置（白丸</a:t>
            </a:r>
            <a:r>
              <a:rPr lang="en-US" altLang="ja-JP" sz="23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8</a:t>
            </a:r>
            <a:r>
              <a:rPr lang="ja-JP" altLang="en-US" sz="23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か所）</a:t>
            </a:r>
            <a:endParaRPr lang="en-US" altLang="ja-JP" sz="23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en-US" altLang="ja-JP" sz="23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※7</a:t>
            </a:r>
            <a:r>
              <a:rPr lang="ja-JP" altLang="en-US" sz="23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日以上連続休暇時は、遠隔操作盤のスイッチを</a:t>
            </a:r>
            <a:r>
              <a:rPr lang="en-US" altLang="ja-JP" sz="23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【</a:t>
            </a:r>
            <a:r>
              <a:rPr lang="ja-JP" altLang="en-US" sz="23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自動</a:t>
            </a:r>
            <a:r>
              <a:rPr lang="en-US" altLang="ja-JP" sz="23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】</a:t>
            </a:r>
            <a:r>
              <a:rPr lang="ja-JP" altLang="en-US" sz="23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➡</a:t>
            </a:r>
            <a:r>
              <a:rPr lang="en-US" altLang="ja-JP" sz="23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【</a:t>
            </a:r>
            <a:r>
              <a:rPr lang="ja-JP" altLang="en-US" sz="23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手動</a:t>
            </a:r>
            <a:r>
              <a:rPr lang="en-US" altLang="ja-JP" sz="23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】</a:t>
            </a:r>
            <a:r>
              <a:rPr lang="ja-JP" altLang="en-US" sz="23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に</a:t>
            </a:r>
            <a:endParaRPr lang="en-US" altLang="ja-JP" sz="23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23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 切り替え、</a:t>
            </a:r>
            <a:r>
              <a:rPr lang="en-US" altLang="ja-JP" sz="23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【</a:t>
            </a:r>
            <a:r>
              <a:rPr lang="ja-JP" altLang="en-US" sz="23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停止</a:t>
            </a:r>
            <a:r>
              <a:rPr lang="en-US" altLang="ja-JP" sz="23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】</a:t>
            </a:r>
            <a:r>
              <a:rPr lang="ja-JP" altLang="en-US" sz="23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ボタンを押す。出勤時は、</a:t>
            </a:r>
            <a:r>
              <a:rPr lang="en-US" altLang="ja-JP" sz="23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【</a:t>
            </a:r>
            <a:r>
              <a:rPr lang="ja-JP" altLang="en-US" sz="23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自動</a:t>
            </a:r>
            <a:r>
              <a:rPr lang="en-US" altLang="ja-JP" sz="23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】</a:t>
            </a:r>
            <a:r>
              <a:rPr lang="ja-JP" altLang="en-US" sz="23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に戻す。　</a:t>
            </a:r>
            <a:endParaRPr lang="en-US" altLang="ja-JP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35" name="フリーフォーム: 図形 34">
            <a:extLst>
              <a:ext uri="{FF2B5EF4-FFF2-40B4-BE49-F238E27FC236}">
                <a16:creationId xmlns:a16="http://schemas.microsoft.com/office/drawing/2014/main" id="{DC4F1A66-FBC0-04B3-67E1-1C8527436FD0}"/>
              </a:ext>
            </a:extLst>
          </p:cNvPr>
          <p:cNvSpPr/>
          <p:nvPr/>
        </p:nvSpPr>
        <p:spPr>
          <a:xfrm>
            <a:off x="6889750" y="1529549"/>
            <a:ext cx="675488" cy="1028791"/>
          </a:xfrm>
          <a:custGeom>
            <a:avLst/>
            <a:gdLst>
              <a:gd name="connsiteX0" fmla="*/ 819150 w 819150"/>
              <a:gd name="connsiteY0" fmla="*/ 0 h 1800225"/>
              <a:gd name="connsiteX1" fmla="*/ 352425 w 819150"/>
              <a:gd name="connsiteY1" fmla="*/ 0 h 1800225"/>
              <a:gd name="connsiteX2" fmla="*/ 352425 w 819150"/>
              <a:gd name="connsiteY2" fmla="*/ 1085850 h 1800225"/>
              <a:gd name="connsiteX3" fmla="*/ 0 w 819150"/>
              <a:gd name="connsiteY3" fmla="*/ 1085850 h 1800225"/>
              <a:gd name="connsiteX4" fmla="*/ 0 w 819150"/>
              <a:gd name="connsiteY4" fmla="*/ 1800225 h 1800225"/>
              <a:gd name="connsiteX5" fmla="*/ 542925 w 819150"/>
              <a:gd name="connsiteY5" fmla="*/ 1800225 h 1800225"/>
              <a:gd name="connsiteX6" fmla="*/ 542925 w 819150"/>
              <a:gd name="connsiteY6" fmla="*/ 1028700 h 1800225"/>
              <a:gd name="connsiteX7" fmla="*/ 800100 w 819150"/>
              <a:gd name="connsiteY7" fmla="*/ 1028700 h 1800225"/>
              <a:gd name="connsiteX8" fmla="*/ 819150 w 819150"/>
              <a:gd name="connsiteY8" fmla="*/ 0 h 180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9150" h="1800225">
                <a:moveTo>
                  <a:pt x="819150" y="0"/>
                </a:moveTo>
                <a:lnTo>
                  <a:pt x="352425" y="0"/>
                </a:lnTo>
                <a:lnTo>
                  <a:pt x="352425" y="1085850"/>
                </a:lnTo>
                <a:lnTo>
                  <a:pt x="0" y="1085850"/>
                </a:lnTo>
                <a:lnTo>
                  <a:pt x="0" y="1800225"/>
                </a:lnTo>
                <a:lnTo>
                  <a:pt x="542925" y="1800225"/>
                </a:lnTo>
                <a:lnTo>
                  <a:pt x="542925" y="1028700"/>
                </a:lnTo>
                <a:lnTo>
                  <a:pt x="800100" y="1028700"/>
                </a:lnTo>
                <a:lnTo>
                  <a:pt x="819150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吹き出し: 四角形 48">
            <a:extLst>
              <a:ext uri="{FF2B5EF4-FFF2-40B4-BE49-F238E27FC236}">
                <a16:creationId xmlns:a16="http://schemas.microsoft.com/office/drawing/2014/main" id="{01E6EF6C-6597-7B1A-435A-D6132616A8A1}"/>
              </a:ext>
            </a:extLst>
          </p:cNvPr>
          <p:cNvSpPr/>
          <p:nvPr/>
        </p:nvSpPr>
        <p:spPr>
          <a:xfrm>
            <a:off x="6412461" y="1924416"/>
            <a:ext cx="694687" cy="330479"/>
          </a:xfrm>
          <a:prstGeom prst="wedgeRectCallout">
            <a:avLst>
              <a:gd name="adj1" fmla="val 70630"/>
              <a:gd name="adj2" fmla="val 53626"/>
            </a:avLst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空調</a:t>
            </a:r>
            <a:r>
              <a:rPr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endParaRPr kumimoji="1" lang="ja-JP" altLang="en-US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2" name="吹き出し: 四角形 41">
            <a:extLst>
              <a:ext uri="{FF2B5EF4-FFF2-40B4-BE49-F238E27FC236}">
                <a16:creationId xmlns:a16="http://schemas.microsoft.com/office/drawing/2014/main" id="{3E4A22CF-8FC3-C9DE-CAB7-6A633B01693A}"/>
              </a:ext>
            </a:extLst>
          </p:cNvPr>
          <p:cNvSpPr/>
          <p:nvPr/>
        </p:nvSpPr>
        <p:spPr>
          <a:xfrm>
            <a:off x="8525216" y="2415007"/>
            <a:ext cx="612000" cy="330479"/>
          </a:xfrm>
          <a:prstGeom prst="wedgeRectCallout">
            <a:avLst>
              <a:gd name="adj1" fmla="val -75242"/>
              <a:gd name="adj2" fmla="val -30919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局排</a:t>
            </a:r>
            <a:r>
              <a:rPr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endParaRPr kumimoji="1" lang="ja-JP" altLang="en-US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フリーフォーム: 図形 61">
            <a:extLst>
              <a:ext uri="{FF2B5EF4-FFF2-40B4-BE49-F238E27FC236}">
                <a16:creationId xmlns:a16="http://schemas.microsoft.com/office/drawing/2014/main" id="{443468AD-37EF-B9F9-205A-6657E6FB5C98}"/>
              </a:ext>
            </a:extLst>
          </p:cNvPr>
          <p:cNvSpPr/>
          <p:nvPr/>
        </p:nvSpPr>
        <p:spPr>
          <a:xfrm>
            <a:off x="7021171" y="3423172"/>
            <a:ext cx="778208" cy="1110764"/>
          </a:xfrm>
          <a:custGeom>
            <a:avLst/>
            <a:gdLst>
              <a:gd name="connsiteX0" fmla="*/ 819150 w 819150"/>
              <a:gd name="connsiteY0" fmla="*/ 0 h 1800225"/>
              <a:gd name="connsiteX1" fmla="*/ 352425 w 819150"/>
              <a:gd name="connsiteY1" fmla="*/ 0 h 1800225"/>
              <a:gd name="connsiteX2" fmla="*/ 352425 w 819150"/>
              <a:gd name="connsiteY2" fmla="*/ 1085850 h 1800225"/>
              <a:gd name="connsiteX3" fmla="*/ 0 w 819150"/>
              <a:gd name="connsiteY3" fmla="*/ 1085850 h 1800225"/>
              <a:gd name="connsiteX4" fmla="*/ 0 w 819150"/>
              <a:gd name="connsiteY4" fmla="*/ 1800225 h 1800225"/>
              <a:gd name="connsiteX5" fmla="*/ 542925 w 819150"/>
              <a:gd name="connsiteY5" fmla="*/ 1800225 h 1800225"/>
              <a:gd name="connsiteX6" fmla="*/ 542925 w 819150"/>
              <a:gd name="connsiteY6" fmla="*/ 1028700 h 1800225"/>
              <a:gd name="connsiteX7" fmla="*/ 800100 w 819150"/>
              <a:gd name="connsiteY7" fmla="*/ 1028700 h 1800225"/>
              <a:gd name="connsiteX8" fmla="*/ 819150 w 819150"/>
              <a:gd name="connsiteY8" fmla="*/ 0 h 180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9150" h="1800225">
                <a:moveTo>
                  <a:pt x="819150" y="0"/>
                </a:moveTo>
                <a:lnTo>
                  <a:pt x="352425" y="0"/>
                </a:lnTo>
                <a:lnTo>
                  <a:pt x="352425" y="1085850"/>
                </a:lnTo>
                <a:lnTo>
                  <a:pt x="0" y="1085850"/>
                </a:lnTo>
                <a:lnTo>
                  <a:pt x="0" y="1800225"/>
                </a:lnTo>
                <a:lnTo>
                  <a:pt x="542925" y="1800225"/>
                </a:lnTo>
                <a:lnTo>
                  <a:pt x="542925" y="1028700"/>
                </a:lnTo>
                <a:lnTo>
                  <a:pt x="800100" y="1028700"/>
                </a:lnTo>
                <a:lnTo>
                  <a:pt x="819150" y="0"/>
                </a:lnTo>
                <a:close/>
              </a:path>
            </a:pathLst>
          </a:custGeom>
          <a:noFill/>
          <a:ln w="28575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フリーフォーム: 図形 64">
            <a:extLst>
              <a:ext uri="{FF2B5EF4-FFF2-40B4-BE49-F238E27FC236}">
                <a16:creationId xmlns:a16="http://schemas.microsoft.com/office/drawing/2014/main" id="{0B7D974C-0926-3248-EBE3-1C9C6D4F8A84}"/>
              </a:ext>
            </a:extLst>
          </p:cNvPr>
          <p:cNvSpPr/>
          <p:nvPr/>
        </p:nvSpPr>
        <p:spPr>
          <a:xfrm flipH="1">
            <a:off x="7846671" y="3439256"/>
            <a:ext cx="778208" cy="1097873"/>
          </a:xfrm>
          <a:custGeom>
            <a:avLst/>
            <a:gdLst>
              <a:gd name="connsiteX0" fmla="*/ 819150 w 819150"/>
              <a:gd name="connsiteY0" fmla="*/ 0 h 1800225"/>
              <a:gd name="connsiteX1" fmla="*/ 352425 w 819150"/>
              <a:gd name="connsiteY1" fmla="*/ 0 h 1800225"/>
              <a:gd name="connsiteX2" fmla="*/ 352425 w 819150"/>
              <a:gd name="connsiteY2" fmla="*/ 1085850 h 1800225"/>
              <a:gd name="connsiteX3" fmla="*/ 0 w 819150"/>
              <a:gd name="connsiteY3" fmla="*/ 1085850 h 1800225"/>
              <a:gd name="connsiteX4" fmla="*/ 0 w 819150"/>
              <a:gd name="connsiteY4" fmla="*/ 1800225 h 1800225"/>
              <a:gd name="connsiteX5" fmla="*/ 542925 w 819150"/>
              <a:gd name="connsiteY5" fmla="*/ 1800225 h 1800225"/>
              <a:gd name="connsiteX6" fmla="*/ 542925 w 819150"/>
              <a:gd name="connsiteY6" fmla="*/ 1028700 h 1800225"/>
              <a:gd name="connsiteX7" fmla="*/ 800100 w 819150"/>
              <a:gd name="connsiteY7" fmla="*/ 1028700 h 1800225"/>
              <a:gd name="connsiteX8" fmla="*/ 819150 w 819150"/>
              <a:gd name="connsiteY8" fmla="*/ 0 h 180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9150" h="1800225">
                <a:moveTo>
                  <a:pt x="819150" y="0"/>
                </a:moveTo>
                <a:lnTo>
                  <a:pt x="352425" y="0"/>
                </a:lnTo>
                <a:lnTo>
                  <a:pt x="352425" y="1085850"/>
                </a:lnTo>
                <a:lnTo>
                  <a:pt x="0" y="1085850"/>
                </a:lnTo>
                <a:lnTo>
                  <a:pt x="0" y="1800225"/>
                </a:lnTo>
                <a:lnTo>
                  <a:pt x="542925" y="1800225"/>
                </a:lnTo>
                <a:lnTo>
                  <a:pt x="542925" y="1028700"/>
                </a:lnTo>
                <a:lnTo>
                  <a:pt x="800100" y="1028700"/>
                </a:lnTo>
                <a:lnTo>
                  <a:pt x="819150" y="0"/>
                </a:lnTo>
                <a:close/>
              </a:path>
            </a:pathLst>
          </a:custGeom>
          <a:noFill/>
          <a:ln w="28575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吹き出し: 四角形 58">
            <a:extLst>
              <a:ext uri="{FF2B5EF4-FFF2-40B4-BE49-F238E27FC236}">
                <a16:creationId xmlns:a16="http://schemas.microsoft.com/office/drawing/2014/main" id="{14F7890D-7157-FF27-EF7B-97DE88AE4509}"/>
              </a:ext>
            </a:extLst>
          </p:cNvPr>
          <p:cNvSpPr/>
          <p:nvPr/>
        </p:nvSpPr>
        <p:spPr>
          <a:xfrm>
            <a:off x="8342699" y="3661601"/>
            <a:ext cx="612000" cy="330479"/>
          </a:xfrm>
          <a:prstGeom prst="wedgeRectCallout">
            <a:avLst>
              <a:gd name="adj1" fmla="val -76077"/>
              <a:gd name="adj2" fmla="val 43351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局排</a:t>
            </a:r>
            <a:r>
              <a:rPr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endParaRPr kumimoji="1" lang="ja-JP" altLang="en-US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9" name="フリーフォーム: 図形 68">
            <a:extLst>
              <a:ext uri="{FF2B5EF4-FFF2-40B4-BE49-F238E27FC236}">
                <a16:creationId xmlns:a16="http://schemas.microsoft.com/office/drawing/2014/main" id="{7F862ED9-CDBD-BA29-2211-2D6CB350DDEC}"/>
              </a:ext>
            </a:extLst>
          </p:cNvPr>
          <p:cNvSpPr/>
          <p:nvPr/>
        </p:nvSpPr>
        <p:spPr>
          <a:xfrm>
            <a:off x="7424283" y="5366551"/>
            <a:ext cx="821192" cy="1420012"/>
          </a:xfrm>
          <a:custGeom>
            <a:avLst/>
            <a:gdLst>
              <a:gd name="connsiteX0" fmla="*/ 0 w 904875"/>
              <a:gd name="connsiteY0" fmla="*/ 0 h 1776413"/>
              <a:gd name="connsiteX1" fmla="*/ 452438 w 904875"/>
              <a:gd name="connsiteY1" fmla="*/ 0 h 1776413"/>
              <a:gd name="connsiteX2" fmla="*/ 452438 w 904875"/>
              <a:gd name="connsiteY2" fmla="*/ 1038225 h 1776413"/>
              <a:gd name="connsiteX3" fmla="*/ 452438 w 904875"/>
              <a:gd name="connsiteY3" fmla="*/ 1276350 h 1776413"/>
              <a:gd name="connsiteX4" fmla="*/ 904875 w 904875"/>
              <a:gd name="connsiteY4" fmla="*/ 1276350 h 1776413"/>
              <a:gd name="connsiteX5" fmla="*/ 904875 w 904875"/>
              <a:gd name="connsiteY5" fmla="*/ 1776413 h 1776413"/>
              <a:gd name="connsiteX6" fmla="*/ 581025 w 904875"/>
              <a:gd name="connsiteY6" fmla="*/ 1776413 h 1776413"/>
              <a:gd name="connsiteX7" fmla="*/ 581025 w 904875"/>
              <a:gd name="connsiteY7" fmla="*/ 1400175 h 1776413"/>
              <a:gd name="connsiteX8" fmla="*/ 14288 w 904875"/>
              <a:gd name="connsiteY8" fmla="*/ 1400175 h 1776413"/>
              <a:gd name="connsiteX9" fmla="*/ 0 w 904875"/>
              <a:gd name="connsiteY9" fmla="*/ 0 h 1776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875" h="1776413">
                <a:moveTo>
                  <a:pt x="0" y="0"/>
                </a:moveTo>
                <a:lnTo>
                  <a:pt x="452438" y="0"/>
                </a:lnTo>
                <a:lnTo>
                  <a:pt x="452438" y="1038225"/>
                </a:lnTo>
                <a:lnTo>
                  <a:pt x="452438" y="1276350"/>
                </a:lnTo>
                <a:lnTo>
                  <a:pt x="904875" y="1276350"/>
                </a:lnTo>
                <a:lnTo>
                  <a:pt x="904875" y="1776413"/>
                </a:lnTo>
                <a:lnTo>
                  <a:pt x="581025" y="1776413"/>
                </a:lnTo>
                <a:lnTo>
                  <a:pt x="581025" y="1400175"/>
                </a:lnTo>
                <a:lnTo>
                  <a:pt x="14288" y="1400175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吹き出し: 四角形 67">
            <a:extLst>
              <a:ext uri="{FF2B5EF4-FFF2-40B4-BE49-F238E27FC236}">
                <a16:creationId xmlns:a16="http://schemas.microsoft.com/office/drawing/2014/main" id="{D2227C68-F8F7-0F5A-A6EA-DA1AF26FC8CD}"/>
              </a:ext>
            </a:extLst>
          </p:cNvPr>
          <p:cNvSpPr/>
          <p:nvPr/>
        </p:nvSpPr>
        <p:spPr>
          <a:xfrm>
            <a:off x="8399363" y="6111646"/>
            <a:ext cx="694687" cy="330479"/>
          </a:xfrm>
          <a:prstGeom prst="wedgeRectCallout">
            <a:avLst>
              <a:gd name="adj1" fmla="val -76646"/>
              <a:gd name="adj2" fmla="val 33251"/>
            </a:avLst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空調</a:t>
            </a:r>
            <a:r>
              <a:rPr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endParaRPr kumimoji="1" lang="ja-JP" altLang="en-US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4A4B5F78-C1E9-5F7A-A6CE-78939717EABE}"/>
              </a:ext>
            </a:extLst>
          </p:cNvPr>
          <p:cNvGrpSpPr/>
          <p:nvPr/>
        </p:nvGrpSpPr>
        <p:grpSpPr>
          <a:xfrm>
            <a:off x="2327446" y="2749290"/>
            <a:ext cx="4346959" cy="2726570"/>
            <a:chOff x="2327446" y="2253989"/>
            <a:chExt cx="4346959" cy="2726570"/>
          </a:xfrm>
        </p:grpSpPr>
        <p:grpSp>
          <p:nvGrpSpPr>
            <p:cNvPr id="32" name="グループ化 31">
              <a:extLst>
                <a:ext uri="{FF2B5EF4-FFF2-40B4-BE49-F238E27FC236}">
                  <a16:creationId xmlns:a16="http://schemas.microsoft.com/office/drawing/2014/main" id="{A0C0B57C-4859-3D1C-933E-3BC028FC6761}"/>
                </a:ext>
              </a:extLst>
            </p:cNvPr>
            <p:cNvGrpSpPr/>
            <p:nvPr/>
          </p:nvGrpSpPr>
          <p:grpSpPr>
            <a:xfrm>
              <a:off x="2327446" y="2253989"/>
              <a:ext cx="4236974" cy="2726570"/>
              <a:chOff x="1805122" y="1463747"/>
              <a:chExt cx="5473313" cy="3522178"/>
            </a:xfrm>
          </p:grpSpPr>
          <p:sp>
            <p:nvSpPr>
              <p:cNvPr id="12" name="正方形/長方形 11"/>
              <p:cNvSpPr/>
              <p:nvPr/>
            </p:nvSpPr>
            <p:spPr>
              <a:xfrm>
                <a:off x="1992617" y="1473272"/>
                <a:ext cx="5227031" cy="3502646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tIns="0" bIns="0" rtlCol="0" anchor="ctr"/>
              <a:lstStyle/>
              <a:p>
                <a:pPr algn="ctr"/>
                <a:endParaRPr kumimoji="1" lang="ja-JP" altLang="en-US" sz="20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14" name="正方形/長方形 13"/>
              <p:cNvSpPr/>
              <p:nvPr/>
            </p:nvSpPr>
            <p:spPr>
              <a:xfrm>
                <a:off x="2997003" y="2195049"/>
                <a:ext cx="3176669" cy="2790876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tIns="0" bIns="0" rtlCol="0" anchor="ctr"/>
              <a:lstStyle/>
              <a:p>
                <a:pPr algn="ctr"/>
                <a:endParaRPr kumimoji="1" lang="ja-JP" altLang="en-US" sz="20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15" name="テキスト ボックス 14"/>
              <p:cNvSpPr txBox="1"/>
              <p:nvPr/>
            </p:nvSpPr>
            <p:spPr>
              <a:xfrm>
                <a:off x="1992617" y="1463747"/>
                <a:ext cx="591578" cy="372160"/>
              </a:xfrm>
              <a:prstGeom prst="rect">
                <a:avLst/>
              </a:prstGeom>
              <a:noFill/>
            </p:spPr>
            <p:txBody>
              <a:bodyPr wrap="none" tIns="0" bIns="0" rtlCol="0">
                <a:spAutoFit/>
              </a:bodyPr>
              <a:lstStyle/>
              <a:p>
                <a:r>
                  <a:rPr kumimoji="1" lang="en-US" altLang="ja-JP" sz="2000" dirty="0"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3F</a:t>
                </a:r>
                <a:endParaRPr kumimoji="1" lang="ja-JP" altLang="en-US" sz="20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16" name="正方形/長方形 15"/>
              <p:cNvSpPr/>
              <p:nvPr/>
            </p:nvSpPr>
            <p:spPr>
              <a:xfrm>
                <a:off x="6435165" y="2186719"/>
                <a:ext cx="784483" cy="502295"/>
              </a:xfrm>
              <a:prstGeom prst="rect">
                <a:avLst/>
              </a:prstGeom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tx1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南西</a:t>
                </a:r>
                <a:endParaRPr kumimoji="1" lang="en-US" altLang="ja-JP" sz="12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  <a:p>
                <a:pPr algn="ctr"/>
                <a:r>
                  <a:rPr kumimoji="1" lang="ja-JP" altLang="en-US" sz="1200" b="1" dirty="0">
                    <a:solidFill>
                      <a:schemeClr val="tx1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空調室</a:t>
                </a:r>
              </a:p>
            </p:txBody>
          </p:sp>
          <p:sp>
            <p:nvSpPr>
              <p:cNvPr id="17" name="正方形/長方形 16"/>
              <p:cNvSpPr/>
              <p:nvPr/>
            </p:nvSpPr>
            <p:spPr>
              <a:xfrm>
                <a:off x="6435165" y="4557282"/>
                <a:ext cx="784483" cy="42711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北西</a:t>
                </a:r>
                <a:endParaRPr kumimoji="1" lang="en-US" altLang="ja-JP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  <a:p>
                <a:pPr algn="ctr"/>
                <a:r>
                  <a:rPr kumimoji="1" lang="ja-JP" altLang="en-US" sz="12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空調室</a:t>
                </a:r>
              </a:p>
            </p:txBody>
          </p:sp>
          <p:sp>
            <p:nvSpPr>
              <p:cNvPr id="18" name="正方形/長方形 17"/>
              <p:cNvSpPr/>
              <p:nvPr/>
            </p:nvSpPr>
            <p:spPr>
              <a:xfrm>
                <a:off x="4785176" y="2771574"/>
                <a:ext cx="1388498" cy="1429609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tIns="0" bIns="0" rtlCol="0" anchor="ctr"/>
              <a:lstStyle/>
              <a:p>
                <a:pPr algn="ctr"/>
                <a:r>
                  <a:rPr kumimoji="1" lang="en-US" altLang="ja-JP" sz="2000" dirty="0"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SMT</a:t>
                </a:r>
                <a:endParaRPr kumimoji="1" lang="ja-JP" altLang="en-US" sz="20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19" name="正方形/長方形 18"/>
              <p:cNvSpPr/>
              <p:nvPr/>
            </p:nvSpPr>
            <p:spPr>
              <a:xfrm>
                <a:off x="5563522" y="2198057"/>
                <a:ext cx="610153" cy="463657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tIns="0" bIns="0" rtlCol="0" anchor="ctr"/>
              <a:lstStyle/>
              <a:p>
                <a:pPr algn="ctr"/>
                <a:r>
                  <a:rPr kumimoji="1" lang="ja-JP" altLang="en-US" sz="900" dirty="0"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西</a:t>
                </a:r>
                <a:endParaRPr kumimoji="1" lang="en-US" altLang="ja-JP" sz="9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  <a:p>
                <a:pPr algn="ctr"/>
                <a:r>
                  <a:rPr kumimoji="1" lang="ja-JP" altLang="en-US" sz="900" dirty="0"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カフェ</a:t>
                </a:r>
              </a:p>
            </p:txBody>
          </p:sp>
          <p:sp>
            <p:nvSpPr>
              <p:cNvPr id="20" name="正方形/長方形 19"/>
              <p:cNvSpPr/>
              <p:nvPr/>
            </p:nvSpPr>
            <p:spPr>
              <a:xfrm>
                <a:off x="1992618" y="2191359"/>
                <a:ext cx="742892" cy="50229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tx1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南東</a:t>
                </a:r>
                <a:endParaRPr kumimoji="1" lang="en-US" altLang="ja-JP" sz="12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  <a:p>
                <a:pPr algn="ctr"/>
                <a:r>
                  <a:rPr kumimoji="1" lang="ja-JP" altLang="en-US" sz="1200" b="1" dirty="0">
                    <a:solidFill>
                      <a:schemeClr val="tx1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機械室</a:t>
                </a:r>
              </a:p>
            </p:txBody>
          </p:sp>
          <p:sp>
            <p:nvSpPr>
              <p:cNvPr id="21" name="正方形/長方形 20"/>
              <p:cNvSpPr/>
              <p:nvPr/>
            </p:nvSpPr>
            <p:spPr>
              <a:xfrm>
                <a:off x="1992618" y="4474426"/>
                <a:ext cx="725948" cy="502295"/>
              </a:xfrm>
              <a:prstGeom prst="rect">
                <a:avLst/>
              </a:prstGeom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tx1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北東</a:t>
                </a:r>
                <a:endParaRPr kumimoji="1" lang="en-US" altLang="ja-JP" sz="12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  <a:p>
                <a:pPr algn="ctr"/>
                <a:r>
                  <a:rPr kumimoji="1" lang="ja-JP" altLang="en-US" sz="1200" b="1" dirty="0">
                    <a:solidFill>
                      <a:schemeClr val="tx1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機械室</a:t>
                </a:r>
              </a:p>
            </p:txBody>
          </p:sp>
          <p:sp>
            <p:nvSpPr>
              <p:cNvPr id="22" name="正方形/長方形 21"/>
              <p:cNvSpPr/>
              <p:nvPr/>
            </p:nvSpPr>
            <p:spPr>
              <a:xfrm>
                <a:off x="5064744" y="1473272"/>
                <a:ext cx="1104084" cy="493832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ja-JP" altLang="en-US" sz="1000" dirty="0"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インスピレーション</a:t>
                </a:r>
                <a:endParaRPr kumimoji="1" lang="en-US" altLang="ja-JP" sz="10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  <a:p>
                <a:pPr algn="ctr"/>
                <a:r>
                  <a:rPr kumimoji="1" lang="ja-JP" altLang="en-US" sz="1000" dirty="0"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ルーム</a:t>
                </a:r>
              </a:p>
            </p:txBody>
          </p:sp>
          <p:sp>
            <p:nvSpPr>
              <p:cNvPr id="23" name="正方形/長方形 22"/>
              <p:cNvSpPr/>
              <p:nvPr/>
            </p:nvSpPr>
            <p:spPr>
              <a:xfrm>
                <a:off x="4683624" y="4367031"/>
                <a:ext cx="1220307" cy="618894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ja-JP" altLang="en-US" sz="1600" dirty="0"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部品倉庫</a:t>
                </a:r>
              </a:p>
            </p:txBody>
          </p:sp>
          <p:sp>
            <p:nvSpPr>
              <p:cNvPr id="24" name="正方形/長方形 23"/>
              <p:cNvSpPr/>
              <p:nvPr/>
            </p:nvSpPr>
            <p:spPr>
              <a:xfrm>
                <a:off x="6435165" y="2754975"/>
                <a:ext cx="99460" cy="235690"/>
              </a:xfrm>
              <a:prstGeom prst="rect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tIns="0" bIns="0" rtlCol="0" anchor="ctr"/>
              <a:lstStyle/>
              <a:p>
                <a:pPr algn="ctr"/>
                <a:endParaRPr kumimoji="1" lang="ja-JP" altLang="en-US" sz="20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25" name="テキスト ボックス 24"/>
              <p:cNvSpPr txBox="1"/>
              <p:nvPr/>
            </p:nvSpPr>
            <p:spPr>
              <a:xfrm>
                <a:off x="6491086" y="2786401"/>
                <a:ext cx="787349" cy="186080"/>
              </a:xfrm>
              <a:prstGeom prst="rect">
                <a:avLst/>
              </a:prstGeom>
              <a:noFill/>
            </p:spPr>
            <p:txBody>
              <a:bodyPr wrap="none" tIns="0" bIns="0" rtlCol="0">
                <a:spAutoFit/>
              </a:bodyPr>
              <a:lstStyle/>
              <a:p>
                <a:r>
                  <a:rPr kumimoji="1" lang="ja-JP" altLang="en-US" sz="1000" dirty="0"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照明</a:t>
                </a:r>
                <a:r>
                  <a:rPr kumimoji="1" lang="en-US" altLang="ja-JP" sz="1000" dirty="0"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SW</a:t>
                </a:r>
                <a:endParaRPr kumimoji="1" lang="ja-JP" altLang="en-US" sz="10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cxnSp>
            <p:nvCxnSpPr>
              <p:cNvPr id="5" name="直線コネクタ 4"/>
              <p:cNvCxnSpPr>
                <a:cxnSpLocks/>
              </p:cNvCxnSpPr>
              <p:nvPr/>
            </p:nvCxnSpPr>
            <p:spPr>
              <a:xfrm>
                <a:off x="6435165" y="2659123"/>
                <a:ext cx="0" cy="2047494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線コネクタ 44"/>
              <p:cNvCxnSpPr/>
              <p:nvPr/>
            </p:nvCxnSpPr>
            <p:spPr>
              <a:xfrm flipH="1">
                <a:off x="2997003" y="1967104"/>
                <a:ext cx="2067742" cy="0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線コネクタ 46"/>
              <p:cNvCxnSpPr/>
              <p:nvPr/>
            </p:nvCxnSpPr>
            <p:spPr>
              <a:xfrm flipV="1">
                <a:off x="2997003" y="1473272"/>
                <a:ext cx="0" cy="481008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正方形/長方形 35">
                <a:extLst>
                  <a:ext uri="{FF2B5EF4-FFF2-40B4-BE49-F238E27FC236}">
                    <a16:creationId xmlns:a16="http://schemas.microsoft.com/office/drawing/2014/main" id="{A0D68811-A057-6927-A2A6-C5F547B2303B}"/>
                  </a:ext>
                </a:extLst>
              </p:cNvPr>
              <p:cNvSpPr/>
              <p:nvPr/>
            </p:nvSpPr>
            <p:spPr>
              <a:xfrm>
                <a:off x="3002010" y="2198378"/>
                <a:ext cx="610153" cy="483640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tIns="0" bIns="0" rtlCol="0" anchor="ctr"/>
              <a:lstStyle/>
              <a:p>
                <a:pPr algn="ctr"/>
                <a:r>
                  <a:rPr kumimoji="1" lang="ja-JP" altLang="en-US" sz="900" dirty="0"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東</a:t>
                </a:r>
                <a:endParaRPr kumimoji="1" lang="en-US" altLang="ja-JP" sz="9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  <a:p>
                <a:pPr algn="ctr"/>
                <a:r>
                  <a:rPr kumimoji="1" lang="ja-JP" altLang="en-US" sz="900" dirty="0"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カフェ</a:t>
                </a:r>
              </a:p>
            </p:txBody>
          </p:sp>
          <p:sp>
            <p:nvSpPr>
              <p:cNvPr id="37" name="正方形/長方形 36">
                <a:extLst>
                  <a:ext uri="{FF2B5EF4-FFF2-40B4-BE49-F238E27FC236}">
                    <a16:creationId xmlns:a16="http://schemas.microsoft.com/office/drawing/2014/main" id="{C976E5C6-0D99-22D2-9522-593F2D46984E}"/>
                  </a:ext>
                </a:extLst>
              </p:cNvPr>
              <p:cNvSpPr/>
              <p:nvPr/>
            </p:nvSpPr>
            <p:spPr>
              <a:xfrm>
                <a:off x="2992679" y="4491670"/>
                <a:ext cx="610153" cy="483640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tIns="0" bIns="0" rtlCol="0" anchor="ctr"/>
              <a:lstStyle/>
              <a:p>
                <a:pPr algn="ctr"/>
                <a:r>
                  <a:rPr kumimoji="1" lang="ja-JP" altLang="en-US" sz="900" dirty="0"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東</a:t>
                </a:r>
                <a:endParaRPr kumimoji="1" lang="en-US" altLang="ja-JP" sz="9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  <a:p>
                <a:pPr algn="ctr"/>
                <a:r>
                  <a:rPr kumimoji="1" lang="ja-JP" altLang="en-US" sz="900" dirty="0"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カフェ</a:t>
                </a:r>
              </a:p>
            </p:txBody>
          </p:sp>
          <p:sp>
            <p:nvSpPr>
              <p:cNvPr id="39" name="正方形/長方形 38">
                <a:extLst>
                  <a:ext uri="{FF2B5EF4-FFF2-40B4-BE49-F238E27FC236}">
                    <a16:creationId xmlns:a16="http://schemas.microsoft.com/office/drawing/2014/main" id="{EE6407CB-A7AF-BC1C-1C09-059C8AA25358}"/>
                  </a:ext>
                </a:extLst>
              </p:cNvPr>
              <p:cNvSpPr/>
              <p:nvPr/>
            </p:nvSpPr>
            <p:spPr>
              <a:xfrm>
                <a:off x="6439307" y="3037375"/>
                <a:ext cx="104739" cy="180000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tIns="0" bIns="0" rtlCol="0" anchor="ctr"/>
              <a:lstStyle/>
              <a:p>
                <a:pPr algn="ctr"/>
                <a:endParaRPr kumimoji="1"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40" name="正方形/長方形 39">
                <a:extLst>
                  <a:ext uri="{FF2B5EF4-FFF2-40B4-BE49-F238E27FC236}">
                    <a16:creationId xmlns:a16="http://schemas.microsoft.com/office/drawing/2014/main" id="{2769B371-A3D2-8C49-5397-4338BE157356}"/>
                  </a:ext>
                </a:extLst>
              </p:cNvPr>
              <p:cNvSpPr/>
              <p:nvPr/>
            </p:nvSpPr>
            <p:spPr>
              <a:xfrm>
                <a:off x="3963781" y="2771575"/>
                <a:ext cx="900001" cy="1429609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ja-JP" sz="2000" dirty="0"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THT</a:t>
                </a:r>
                <a:endParaRPr kumimoji="1" lang="ja-JP" altLang="en-US" sz="20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41" name="正方形/長方形 40">
                <a:extLst>
                  <a:ext uri="{FF2B5EF4-FFF2-40B4-BE49-F238E27FC236}">
                    <a16:creationId xmlns:a16="http://schemas.microsoft.com/office/drawing/2014/main" id="{470E17B1-D829-7F1C-CB01-9918EB67E3FB}"/>
                  </a:ext>
                </a:extLst>
              </p:cNvPr>
              <p:cNvSpPr/>
              <p:nvPr/>
            </p:nvSpPr>
            <p:spPr>
              <a:xfrm>
                <a:off x="2993830" y="2771575"/>
                <a:ext cx="998204" cy="1429609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ja-JP" altLang="en-US" sz="2000" dirty="0"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半製検</a:t>
                </a:r>
                <a:endParaRPr kumimoji="1" lang="ja-JP" altLang="en-US" sz="20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56" name="正方形/長方形 55">
                <a:extLst>
                  <a:ext uri="{FF2B5EF4-FFF2-40B4-BE49-F238E27FC236}">
                    <a16:creationId xmlns:a16="http://schemas.microsoft.com/office/drawing/2014/main" id="{62268433-59AC-61C9-7C5E-B26EB0B223AD}"/>
                  </a:ext>
                </a:extLst>
              </p:cNvPr>
              <p:cNvSpPr/>
              <p:nvPr/>
            </p:nvSpPr>
            <p:spPr>
              <a:xfrm>
                <a:off x="6442488" y="3698773"/>
                <a:ext cx="104739" cy="180000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tIns="0" bIns="0" rtlCol="0" anchor="ctr"/>
              <a:lstStyle/>
              <a:p>
                <a:pPr algn="ctr"/>
                <a:endParaRPr kumimoji="1"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58" name="正方形/長方形 57">
                <a:extLst>
                  <a:ext uri="{FF2B5EF4-FFF2-40B4-BE49-F238E27FC236}">
                    <a16:creationId xmlns:a16="http://schemas.microsoft.com/office/drawing/2014/main" id="{8862082E-90B8-6598-696C-47E608AD4ABD}"/>
                  </a:ext>
                </a:extLst>
              </p:cNvPr>
              <p:cNvSpPr/>
              <p:nvPr/>
            </p:nvSpPr>
            <p:spPr>
              <a:xfrm>
                <a:off x="6442487" y="3888908"/>
                <a:ext cx="104739" cy="3240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tIns="0" bIns="0" rtlCol="0" anchor="ctr"/>
              <a:lstStyle/>
              <a:p>
                <a:pPr algn="ctr"/>
                <a:endParaRPr kumimoji="1"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60" name="テキスト ボックス 59">
                <a:extLst>
                  <a:ext uri="{FF2B5EF4-FFF2-40B4-BE49-F238E27FC236}">
                    <a16:creationId xmlns:a16="http://schemas.microsoft.com/office/drawing/2014/main" id="{6483C7A3-8B0D-7C5C-235B-3AB61F9D7B00}"/>
                  </a:ext>
                </a:extLst>
              </p:cNvPr>
              <p:cNvSpPr txBox="1"/>
              <p:nvPr/>
            </p:nvSpPr>
            <p:spPr>
              <a:xfrm>
                <a:off x="6485232" y="3966448"/>
                <a:ext cx="773782" cy="186080"/>
              </a:xfrm>
              <a:prstGeom prst="rect">
                <a:avLst/>
              </a:prstGeom>
              <a:noFill/>
            </p:spPr>
            <p:txBody>
              <a:bodyPr wrap="none" tIns="0" bIns="0" rtlCol="0">
                <a:spAutoFit/>
              </a:bodyPr>
              <a:lstStyle/>
              <a:p>
                <a:r>
                  <a:rPr lang="ja-JP" altLang="en-US" sz="1000" dirty="0"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シャッター</a:t>
                </a:r>
                <a:endParaRPr kumimoji="1" lang="ja-JP" altLang="en-US" sz="10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77" name="正方形/長方形 76">
                <a:extLst>
                  <a:ext uri="{FF2B5EF4-FFF2-40B4-BE49-F238E27FC236}">
                    <a16:creationId xmlns:a16="http://schemas.microsoft.com/office/drawing/2014/main" id="{CDE50FD0-BB83-ED89-4B2E-00FFB6966A16}"/>
                  </a:ext>
                </a:extLst>
              </p:cNvPr>
              <p:cNvSpPr/>
              <p:nvPr/>
            </p:nvSpPr>
            <p:spPr>
              <a:xfrm>
                <a:off x="2627021" y="2693306"/>
                <a:ext cx="104739" cy="180000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tIns="0" bIns="0" rtlCol="0" anchor="ctr"/>
              <a:lstStyle/>
              <a:p>
                <a:pPr algn="ctr"/>
                <a:endParaRPr kumimoji="1" lang="ja-JP" altLang="en-US" sz="10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cxnSp>
            <p:nvCxnSpPr>
              <p:cNvPr id="79" name="直線コネクタ 78">
                <a:extLst>
                  <a:ext uri="{FF2B5EF4-FFF2-40B4-BE49-F238E27FC236}">
                    <a16:creationId xmlns:a16="http://schemas.microsoft.com/office/drawing/2014/main" id="{AC1C914D-5DB0-5D25-68E5-E1496E2A1D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31266" y="2494317"/>
                <a:ext cx="0" cy="2047494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正方形/長方形 84">
                <a:extLst>
                  <a:ext uri="{FF2B5EF4-FFF2-40B4-BE49-F238E27FC236}">
                    <a16:creationId xmlns:a16="http://schemas.microsoft.com/office/drawing/2014/main" id="{B93AE0CA-6C01-86E2-F9B2-EE15D93B675E}"/>
                  </a:ext>
                </a:extLst>
              </p:cNvPr>
              <p:cNvSpPr/>
              <p:nvPr/>
            </p:nvSpPr>
            <p:spPr>
              <a:xfrm>
                <a:off x="2626906" y="4183738"/>
                <a:ext cx="104739" cy="180000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tIns="0" bIns="0" rtlCol="0" anchor="ctr"/>
              <a:lstStyle/>
              <a:p>
                <a:pPr algn="ctr"/>
                <a:endParaRPr kumimoji="1" lang="ja-JP" altLang="en-US" sz="10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87" name="正方形/長方形 86">
                <a:extLst>
                  <a:ext uri="{FF2B5EF4-FFF2-40B4-BE49-F238E27FC236}">
                    <a16:creationId xmlns:a16="http://schemas.microsoft.com/office/drawing/2014/main" id="{44202DF6-1B2B-A75C-6128-BE25E1440C6C}"/>
                  </a:ext>
                </a:extLst>
              </p:cNvPr>
              <p:cNvSpPr/>
              <p:nvPr/>
            </p:nvSpPr>
            <p:spPr>
              <a:xfrm>
                <a:off x="2624861" y="3397579"/>
                <a:ext cx="104739" cy="3240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tIns="0" bIns="0" rtlCol="0" anchor="ctr"/>
              <a:lstStyle/>
              <a:p>
                <a:pPr algn="ctr"/>
                <a:endParaRPr kumimoji="1"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88" name="テキスト ボックス 87">
                <a:extLst>
                  <a:ext uri="{FF2B5EF4-FFF2-40B4-BE49-F238E27FC236}">
                    <a16:creationId xmlns:a16="http://schemas.microsoft.com/office/drawing/2014/main" id="{5C397E4D-7EAA-E7A2-E97F-69C4E52625BC}"/>
                  </a:ext>
                </a:extLst>
              </p:cNvPr>
              <p:cNvSpPr txBox="1"/>
              <p:nvPr/>
            </p:nvSpPr>
            <p:spPr>
              <a:xfrm>
                <a:off x="1805122" y="3433064"/>
                <a:ext cx="1077521" cy="198792"/>
              </a:xfrm>
              <a:prstGeom prst="rect">
                <a:avLst/>
              </a:prstGeom>
              <a:noFill/>
            </p:spPr>
            <p:txBody>
              <a:bodyPr wrap="square" tIns="0" bIns="0" rtlCol="0">
                <a:spAutoFit/>
              </a:bodyPr>
              <a:lstStyle/>
              <a:p>
                <a:r>
                  <a:rPr lang="ja-JP" altLang="en-US" sz="1000" dirty="0"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ゴミ捨て場</a:t>
                </a:r>
                <a:endParaRPr kumimoji="1" lang="ja-JP" altLang="en-US" sz="10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82" name="正方形/長方形 81">
                <a:extLst>
                  <a:ext uri="{FF2B5EF4-FFF2-40B4-BE49-F238E27FC236}">
                    <a16:creationId xmlns:a16="http://schemas.microsoft.com/office/drawing/2014/main" id="{426CF9CB-D3C2-8FDF-1915-C8D2F855E741}"/>
                  </a:ext>
                </a:extLst>
              </p:cNvPr>
              <p:cNvSpPr/>
              <p:nvPr/>
            </p:nvSpPr>
            <p:spPr>
              <a:xfrm>
                <a:off x="2633319" y="3724397"/>
                <a:ext cx="104739" cy="180000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tIns="0" bIns="0" rtlCol="0" anchor="ctr"/>
              <a:lstStyle/>
              <a:p>
                <a:pPr algn="ctr"/>
                <a:endParaRPr kumimoji="1" lang="ja-JP" altLang="en-US" sz="10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28" name="正方形/長方形 27">
                <a:extLst>
                  <a:ext uri="{FF2B5EF4-FFF2-40B4-BE49-F238E27FC236}">
                    <a16:creationId xmlns:a16="http://schemas.microsoft.com/office/drawing/2014/main" id="{2C2F72F7-28AE-A2BD-476C-6AB6D095946B}"/>
                  </a:ext>
                </a:extLst>
              </p:cNvPr>
              <p:cNvSpPr/>
              <p:nvPr/>
            </p:nvSpPr>
            <p:spPr>
              <a:xfrm>
                <a:off x="6442123" y="4365347"/>
                <a:ext cx="104739" cy="180000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tIns="0" bIns="0" rtlCol="0" anchor="ctr"/>
              <a:lstStyle/>
              <a:p>
                <a:pPr algn="ctr"/>
                <a:endParaRPr kumimoji="1"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</p:grpSp>
        <p:sp>
          <p:nvSpPr>
            <p:cNvPr id="46" name="テキスト ボックス 45">
              <a:extLst>
                <a:ext uri="{FF2B5EF4-FFF2-40B4-BE49-F238E27FC236}">
                  <a16:creationId xmlns:a16="http://schemas.microsoft.com/office/drawing/2014/main" id="{DFE3E2DD-714E-90EB-965D-BC24A6166D26}"/>
                </a:ext>
              </a:extLst>
            </p:cNvPr>
            <p:cNvSpPr txBox="1"/>
            <p:nvPr/>
          </p:nvSpPr>
          <p:spPr>
            <a:xfrm>
              <a:off x="5931741" y="3401155"/>
              <a:ext cx="61908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2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盤</a:t>
              </a:r>
              <a:r>
                <a:rPr kumimoji="1" lang="en-US" altLang="ja-JP" sz="12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2-1</a:t>
              </a:r>
              <a:endParaRPr kumimoji="1" lang="ja-JP" altLang="en-US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57" name="テキスト ボックス 56">
              <a:extLst>
                <a:ext uri="{FF2B5EF4-FFF2-40B4-BE49-F238E27FC236}">
                  <a16:creationId xmlns:a16="http://schemas.microsoft.com/office/drawing/2014/main" id="{94BEAE2D-042A-9303-4D1C-AA4D45A4FD1C}"/>
                </a:ext>
              </a:extLst>
            </p:cNvPr>
            <p:cNvSpPr txBox="1"/>
            <p:nvPr/>
          </p:nvSpPr>
          <p:spPr>
            <a:xfrm>
              <a:off x="5598469" y="3761636"/>
              <a:ext cx="107593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2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盤</a:t>
              </a:r>
              <a:r>
                <a:rPr kumimoji="1" lang="en-US" altLang="ja-JP" sz="12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OS-2-3,4</a:t>
              </a:r>
              <a:endParaRPr kumimoji="1" lang="ja-JP" altLang="en-US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78" name="テキスト ボックス 77">
              <a:extLst>
                <a:ext uri="{FF2B5EF4-FFF2-40B4-BE49-F238E27FC236}">
                  <a16:creationId xmlns:a16="http://schemas.microsoft.com/office/drawing/2014/main" id="{BE10AA3F-14B0-3391-555F-BB128C1E2D64}"/>
                </a:ext>
              </a:extLst>
            </p:cNvPr>
            <p:cNvSpPr txBox="1"/>
            <p:nvPr/>
          </p:nvSpPr>
          <p:spPr>
            <a:xfrm>
              <a:off x="2495735" y="3153810"/>
              <a:ext cx="526747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kumimoji="1" lang="ja-JP" altLang="en-US" sz="12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盤</a:t>
              </a:r>
              <a:r>
                <a:rPr kumimoji="1" lang="en-US" altLang="ja-JP" sz="12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2-3</a:t>
              </a:r>
              <a:endParaRPr kumimoji="1" lang="ja-JP" altLang="en-US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86" name="テキスト ボックス 85">
              <a:extLst>
                <a:ext uri="{FF2B5EF4-FFF2-40B4-BE49-F238E27FC236}">
                  <a16:creationId xmlns:a16="http://schemas.microsoft.com/office/drawing/2014/main" id="{B62A11B9-CFCF-F6EC-0027-5CDEE1023216}"/>
                </a:ext>
              </a:extLst>
            </p:cNvPr>
            <p:cNvSpPr txBox="1"/>
            <p:nvPr/>
          </p:nvSpPr>
          <p:spPr>
            <a:xfrm>
              <a:off x="2501672" y="4323849"/>
              <a:ext cx="526747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kumimoji="1" lang="ja-JP" altLang="en-US" sz="12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盤</a:t>
              </a:r>
              <a:r>
                <a:rPr kumimoji="1" lang="en-US" altLang="ja-JP" sz="12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2-4</a:t>
              </a:r>
              <a:endParaRPr kumimoji="1" lang="ja-JP" altLang="en-US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83" name="テキスト ボックス 82">
              <a:extLst>
                <a:ext uri="{FF2B5EF4-FFF2-40B4-BE49-F238E27FC236}">
                  <a16:creationId xmlns:a16="http://schemas.microsoft.com/office/drawing/2014/main" id="{7790FC12-BC5E-418D-7817-375DA8A99D75}"/>
                </a:ext>
              </a:extLst>
            </p:cNvPr>
            <p:cNvSpPr txBox="1"/>
            <p:nvPr/>
          </p:nvSpPr>
          <p:spPr>
            <a:xfrm>
              <a:off x="2491591" y="4081152"/>
              <a:ext cx="983603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kumimoji="1" lang="ja-JP" altLang="en-US" sz="12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盤</a:t>
              </a:r>
              <a:r>
                <a:rPr kumimoji="1" lang="en-US" altLang="ja-JP" sz="12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OS-2-8,9</a:t>
              </a:r>
              <a:endParaRPr kumimoji="1" lang="ja-JP" altLang="en-US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71" name="テキスト ボックス 70">
              <a:extLst>
                <a:ext uri="{FF2B5EF4-FFF2-40B4-BE49-F238E27FC236}">
                  <a16:creationId xmlns:a16="http://schemas.microsoft.com/office/drawing/2014/main" id="{26ECE5A3-6ED7-0E31-6D59-A4817C9F3EDE}"/>
                </a:ext>
              </a:extLst>
            </p:cNvPr>
            <p:cNvSpPr txBox="1"/>
            <p:nvPr/>
          </p:nvSpPr>
          <p:spPr>
            <a:xfrm>
              <a:off x="5931741" y="4415983"/>
              <a:ext cx="61908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2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盤</a:t>
              </a:r>
              <a:r>
                <a:rPr kumimoji="1" lang="en-US" altLang="ja-JP" sz="12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2-2</a:t>
              </a:r>
              <a:endParaRPr kumimoji="1" lang="ja-JP" altLang="en-US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</p:grpSp>
      <p:sp>
        <p:nvSpPr>
          <p:cNvPr id="72" name="吹き出し: 四角形 71">
            <a:extLst>
              <a:ext uri="{FF2B5EF4-FFF2-40B4-BE49-F238E27FC236}">
                <a16:creationId xmlns:a16="http://schemas.microsoft.com/office/drawing/2014/main" id="{2E9BFCDC-C63F-FD1F-0774-7B98ACF950C4}"/>
              </a:ext>
            </a:extLst>
          </p:cNvPr>
          <p:cNvSpPr/>
          <p:nvPr/>
        </p:nvSpPr>
        <p:spPr>
          <a:xfrm>
            <a:off x="6626577" y="1186785"/>
            <a:ext cx="2376000" cy="288000"/>
          </a:xfrm>
          <a:prstGeom prst="wedgeRectCallout">
            <a:avLst>
              <a:gd name="adj1" fmla="val 16905"/>
              <a:gd name="adj2" fmla="val 28216"/>
            </a:avLst>
          </a:prstGeom>
          <a:solidFill>
            <a:schemeClr val="tx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操作</a:t>
            </a:r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盤</a:t>
            </a:r>
            <a:r>
              <a:rPr kumimoji="1" lang="en-US" altLang="ja-JP" b="1" dirty="0">
                <a:latin typeface="Meiryo UI" panose="020B0604030504040204" pitchFamily="50" charset="-128"/>
                <a:ea typeface="Meiryo UI" panose="020B0604030504040204" pitchFamily="50" charset="-128"/>
              </a:rPr>
              <a:t>2-1</a:t>
            </a:r>
            <a:endParaRPr kumimoji="1" lang="ja-JP" altLang="en-US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3" name="吹き出し: 四角形 72">
            <a:extLst>
              <a:ext uri="{FF2B5EF4-FFF2-40B4-BE49-F238E27FC236}">
                <a16:creationId xmlns:a16="http://schemas.microsoft.com/office/drawing/2014/main" id="{55D68173-14D7-6A41-AC73-E880C867A9FA}"/>
              </a:ext>
            </a:extLst>
          </p:cNvPr>
          <p:cNvSpPr/>
          <p:nvPr/>
        </p:nvSpPr>
        <p:spPr>
          <a:xfrm>
            <a:off x="6598415" y="3105609"/>
            <a:ext cx="2376000" cy="288000"/>
          </a:xfrm>
          <a:prstGeom prst="wedgeRectCallout">
            <a:avLst>
              <a:gd name="adj1" fmla="val 16905"/>
              <a:gd name="adj2" fmla="val 28216"/>
            </a:avLst>
          </a:prstGeom>
          <a:solidFill>
            <a:schemeClr val="tx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操作盤</a:t>
            </a:r>
            <a:r>
              <a:rPr lang="en-US" altLang="ja-JP" b="1" dirty="0">
                <a:latin typeface="Meiryo UI" panose="020B0604030504040204" pitchFamily="50" charset="-128"/>
                <a:ea typeface="Meiryo UI" panose="020B0604030504040204" pitchFamily="50" charset="-128"/>
              </a:rPr>
              <a:t>OS2-3,4</a:t>
            </a:r>
            <a:endParaRPr kumimoji="1" lang="ja-JP" altLang="en-US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4" name="吹き出し: 四角形 73">
            <a:extLst>
              <a:ext uri="{FF2B5EF4-FFF2-40B4-BE49-F238E27FC236}">
                <a16:creationId xmlns:a16="http://schemas.microsoft.com/office/drawing/2014/main" id="{A3382F31-0435-4E65-0489-4BE65833C53E}"/>
              </a:ext>
            </a:extLst>
          </p:cNvPr>
          <p:cNvSpPr/>
          <p:nvPr/>
        </p:nvSpPr>
        <p:spPr>
          <a:xfrm>
            <a:off x="6599315" y="5019720"/>
            <a:ext cx="2376000" cy="288000"/>
          </a:xfrm>
          <a:prstGeom prst="wedgeRectCallout">
            <a:avLst>
              <a:gd name="adj1" fmla="val 16905"/>
              <a:gd name="adj2" fmla="val 28216"/>
            </a:avLst>
          </a:prstGeom>
          <a:solidFill>
            <a:schemeClr val="tx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操作盤</a:t>
            </a:r>
            <a:r>
              <a:rPr lang="en-US" altLang="ja-JP" b="1" dirty="0">
                <a:latin typeface="Meiryo UI" panose="020B0604030504040204" pitchFamily="50" charset="-128"/>
                <a:ea typeface="Meiryo UI" panose="020B0604030504040204" pitchFamily="50" charset="-128"/>
              </a:rPr>
              <a:t>2-2</a:t>
            </a:r>
            <a:endParaRPr kumimoji="1" lang="ja-JP" altLang="en-US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6" name="吹き出し: 四角形 95">
            <a:extLst>
              <a:ext uri="{FF2B5EF4-FFF2-40B4-BE49-F238E27FC236}">
                <a16:creationId xmlns:a16="http://schemas.microsoft.com/office/drawing/2014/main" id="{D1C0CBBA-5F7A-AC7E-EB7C-0DBDC5AE6A37}"/>
              </a:ext>
            </a:extLst>
          </p:cNvPr>
          <p:cNvSpPr/>
          <p:nvPr/>
        </p:nvSpPr>
        <p:spPr>
          <a:xfrm>
            <a:off x="46660" y="1250285"/>
            <a:ext cx="2340000" cy="288000"/>
          </a:xfrm>
          <a:prstGeom prst="wedgeRectCallout">
            <a:avLst>
              <a:gd name="adj1" fmla="val 16905"/>
              <a:gd name="adj2" fmla="val 28216"/>
            </a:avLst>
          </a:prstGeom>
          <a:solidFill>
            <a:schemeClr val="tx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操作盤</a:t>
            </a:r>
            <a:r>
              <a:rPr kumimoji="1" lang="en-US" altLang="ja-JP" b="1" dirty="0">
                <a:latin typeface="Meiryo UI" panose="020B0604030504040204" pitchFamily="50" charset="-128"/>
                <a:ea typeface="Meiryo UI" panose="020B0604030504040204" pitchFamily="50" charset="-128"/>
              </a:rPr>
              <a:t>2-3</a:t>
            </a:r>
            <a:endParaRPr kumimoji="1" lang="ja-JP" altLang="en-US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7" name="吹き出し: 四角形 96">
            <a:extLst>
              <a:ext uri="{FF2B5EF4-FFF2-40B4-BE49-F238E27FC236}">
                <a16:creationId xmlns:a16="http://schemas.microsoft.com/office/drawing/2014/main" id="{85112F8C-D469-68F7-E2C9-335215F2EBC1}"/>
              </a:ext>
            </a:extLst>
          </p:cNvPr>
          <p:cNvSpPr/>
          <p:nvPr/>
        </p:nvSpPr>
        <p:spPr>
          <a:xfrm>
            <a:off x="51518" y="3156409"/>
            <a:ext cx="2340000" cy="288000"/>
          </a:xfrm>
          <a:prstGeom prst="wedgeRectCallout">
            <a:avLst>
              <a:gd name="adj1" fmla="val 16905"/>
              <a:gd name="adj2" fmla="val 28216"/>
            </a:avLst>
          </a:prstGeom>
          <a:solidFill>
            <a:schemeClr val="tx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操作盤</a:t>
            </a:r>
            <a:r>
              <a:rPr lang="en-US" altLang="ja-JP" b="1" dirty="0">
                <a:latin typeface="Meiryo UI" panose="020B0604030504040204" pitchFamily="50" charset="-128"/>
                <a:ea typeface="Meiryo UI" panose="020B0604030504040204" pitchFamily="50" charset="-128"/>
              </a:rPr>
              <a:t>OS2-8,9</a:t>
            </a:r>
            <a:endParaRPr kumimoji="1" lang="ja-JP" altLang="en-US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6" name="吹き出し: 四角形 105">
            <a:extLst>
              <a:ext uri="{FF2B5EF4-FFF2-40B4-BE49-F238E27FC236}">
                <a16:creationId xmlns:a16="http://schemas.microsoft.com/office/drawing/2014/main" id="{381FB5AC-C04A-6569-249B-8564EA8F2391}"/>
              </a:ext>
            </a:extLst>
          </p:cNvPr>
          <p:cNvSpPr/>
          <p:nvPr/>
        </p:nvSpPr>
        <p:spPr>
          <a:xfrm>
            <a:off x="44798" y="5045120"/>
            <a:ext cx="2340000" cy="288000"/>
          </a:xfrm>
          <a:prstGeom prst="wedgeRectCallout">
            <a:avLst>
              <a:gd name="adj1" fmla="val 16905"/>
              <a:gd name="adj2" fmla="val 28216"/>
            </a:avLst>
          </a:prstGeom>
          <a:solidFill>
            <a:schemeClr val="tx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操作</a:t>
            </a:r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盤</a:t>
            </a:r>
            <a:r>
              <a:rPr lang="en-US" altLang="ja-JP" b="1" dirty="0">
                <a:latin typeface="Meiryo UI" panose="020B0604030504040204" pitchFamily="50" charset="-128"/>
                <a:ea typeface="Meiryo UI" panose="020B0604030504040204" pitchFamily="50" charset="-128"/>
              </a:rPr>
              <a:t>2-4</a:t>
            </a:r>
            <a:endParaRPr kumimoji="1" lang="ja-JP" altLang="en-US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7" name="フリーフォーム: 図形 106">
            <a:extLst>
              <a:ext uri="{FF2B5EF4-FFF2-40B4-BE49-F238E27FC236}">
                <a16:creationId xmlns:a16="http://schemas.microsoft.com/office/drawing/2014/main" id="{9D32FD3C-CB79-443A-FCA2-2C32F47BFFE9}"/>
              </a:ext>
            </a:extLst>
          </p:cNvPr>
          <p:cNvSpPr/>
          <p:nvPr/>
        </p:nvSpPr>
        <p:spPr>
          <a:xfrm>
            <a:off x="273780" y="1613781"/>
            <a:ext cx="675488" cy="984218"/>
          </a:xfrm>
          <a:custGeom>
            <a:avLst/>
            <a:gdLst>
              <a:gd name="connsiteX0" fmla="*/ 819150 w 819150"/>
              <a:gd name="connsiteY0" fmla="*/ 0 h 1800225"/>
              <a:gd name="connsiteX1" fmla="*/ 352425 w 819150"/>
              <a:gd name="connsiteY1" fmla="*/ 0 h 1800225"/>
              <a:gd name="connsiteX2" fmla="*/ 352425 w 819150"/>
              <a:gd name="connsiteY2" fmla="*/ 1085850 h 1800225"/>
              <a:gd name="connsiteX3" fmla="*/ 0 w 819150"/>
              <a:gd name="connsiteY3" fmla="*/ 1085850 h 1800225"/>
              <a:gd name="connsiteX4" fmla="*/ 0 w 819150"/>
              <a:gd name="connsiteY4" fmla="*/ 1800225 h 1800225"/>
              <a:gd name="connsiteX5" fmla="*/ 542925 w 819150"/>
              <a:gd name="connsiteY5" fmla="*/ 1800225 h 1800225"/>
              <a:gd name="connsiteX6" fmla="*/ 542925 w 819150"/>
              <a:gd name="connsiteY6" fmla="*/ 1028700 h 1800225"/>
              <a:gd name="connsiteX7" fmla="*/ 800100 w 819150"/>
              <a:gd name="connsiteY7" fmla="*/ 1028700 h 1800225"/>
              <a:gd name="connsiteX8" fmla="*/ 819150 w 819150"/>
              <a:gd name="connsiteY8" fmla="*/ 0 h 180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9150" h="1800225">
                <a:moveTo>
                  <a:pt x="819150" y="0"/>
                </a:moveTo>
                <a:lnTo>
                  <a:pt x="352425" y="0"/>
                </a:lnTo>
                <a:lnTo>
                  <a:pt x="352425" y="1085850"/>
                </a:lnTo>
                <a:lnTo>
                  <a:pt x="0" y="1085850"/>
                </a:lnTo>
                <a:lnTo>
                  <a:pt x="0" y="1800225"/>
                </a:lnTo>
                <a:lnTo>
                  <a:pt x="542925" y="1800225"/>
                </a:lnTo>
                <a:lnTo>
                  <a:pt x="542925" y="1028700"/>
                </a:lnTo>
                <a:lnTo>
                  <a:pt x="800100" y="1028700"/>
                </a:lnTo>
                <a:lnTo>
                  <a:pt x="819150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" name="吹き出し: 四角形 107">
            <a:extLst>
              <a:ext uri="{FF2B5EF4-FFF2-40B4-BE49-F238E27FC236}">
                <a16:creationId xmlns:a16="http://schemas.microsoft.com/office/drawing/2014/main" id="{CF135A44-E887-D35C-A44B-6DD474075779}"/>
              </a:ext>
            </a:extLst>
          </p:cNvPr>
          <p:cNvSpPr/>
          <p:nvPr/>
        </p:nvSpPr>
        <p:spPr>
          <a:xfrm>
            <a:off x="-17194" y="1771410"/>
            <a:ext cx="694687" cy="330479"/>
          </a:xfrm>
          <a:prstGeom prst="wedgeRectCallout">
            <a:avLst>
              <a:gd name="adj1" fmla="val 46864"/>
              <a:gd name="adj2" fmla="val 84369"/>
            </a:avLst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空調</a:t>
            </a:r>
            <a:r>
              <a:rPr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endParaRPr kumimoji="1" lang="ja-JP" altLang="en-US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1" name="吹き出し: 四角形 110">
            <a:extLst>
              <a:ext uri="{FF2B5EF4-FFF2-40B4-BE49-F238E27FC236}">
                <a16:creationId xmlns:a16="http://schemas.microsoft.com/office/drawing/2014/main" id="{ED912775-72D8-9C5E-8F4F-894A3EAA97AB}"/>
              </a:ext>
            </a:extLst>
          </p:cNvPr>
          <p:cNvSpPr/>
          <p:nvPr/>
        </p:nvSpPr>
        <p:spPr>
          <a:xfrm>
            <a:off x="1948391" y="1842757"/>
            <a:ext cx="612000" cy="330479"/>
          </a:xfrm>
          <a:prstGeom prst="wedgeRectCallout">
            <a:avLst>
              <a:gd name="adj1" fmla="val -75242"/>
              <a:gd name="adj2" fmla="val -30919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局排</a:t>
            </a:r>
            <a:r>
              <a:rPr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5</a:t>
            </a:r>
            <a:endParaRPr kumimoji="1" lang="ja-JP" altLang="en-US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2" name="吹き出し: 四角形 111">
            <a:extLst>
              <a:ext uri="{FF2B5EF4-FFF2-40B4-BE49-F238E27FC236}">
                <a16:creationId xmlns:a16="http://schemas.microsoft.com/office/drawing/2014/main" id="{7A423545-BE68-7071-20FC-88E23185A355}"/>
              </a:ext>
            </a:extLst>
          </p:cNvPr>
          <p:cNvSpPr/>
          <p:nvPr/>
        </p:nvSpPr>
        <p:spPr>
          <a:xfrm>
            <a:off x="6729799" y="3697448"/>
            <a:ext cx="612000" cy="330479"/>
          </a:xfrm>
          <a:prstGeom prst="wedgeRectCallout">
            <a:avLst>
              <a:gd name="adj1" fmla="val 79560"/>
              <a:gd name="adj2" fmla="val 47194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局排</a:t>
            </a:r>
            <a:r>
              <a:rPr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endParaRPr kumimoji="1" lang="ja-JP" altLang="en-US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3" name="吹き出し: 四角形 112">
            <a:extLst>
              <a:ext uri="{FF2B5EF4-FFF2-40B4-BE49-F238E27FC236}">
                <a16:creationId xmlns:a16="http://schemas.microsoft.com/office/drawing/2014/main" id="{F2DD8BA5-5A5E-8D44-573A-0BA5CB6C8EA5}"/>
              </a:ext>
            </a:extLst>
          </p:cNvPr>
          <p:cNvSpPr/>
          <p:nvPr/>
        </p:nvSpPr>
        <p:spPr>
          <a:xfrm>
            <a:off x="894111" y="2667761"/>
            <a:ext cx="612000" cy="330479"/>
          </a:xfrm>
          <a:prstGeom prst="wedgeRectCallout">
            <a:avLst>
              <a:gd name="adj1" fmla="val 45117"/>
              <a:gd name="adj2" fmla="val -65505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局排</a:t>
            </a:r>
            <a:r>
              <a:rPr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4</a:t>
            </a:r>
            <a:endParaRPr kumimoji="1" lang="ja-JP" altLang="en-US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5" name="フリーフォーム: 図形 114">
            <a:extLst>
              <a:ext uri="{FF2B5EF4-FFF2-40B4-BE49-F238E27FC236}">
                <a16:creationId xmlns:a16="http://schemas.microsoft.com/office/drawing/2014/main" id="{CE5F2611-A9C6-597F-34A2-4575CB1FCB2C}"/>
              </a:ext>
            </a:extLst>
          </p:cNvPr>
          <p:cNvSpPr/>
          <p:nvPr/>
        </p:nvSpPr>
        <p:spPr>
          <a:xfrm flipH="1">
            <a:off x="1229450" y="3477092"/>
            <a:ext cx="555266" cy="1020019"/>
          </a:xfrm>
          <a:custGeom>
            <a:avLst/>
            <a:gdLst>
              <a:gd name="connsiteX0" fmla="*/ 819150 w 819150"/>
              <a:gd name="connsiteY0" fmla="*/ 0 h 1800225"/>
              <a:gd name="connsiteX1" fmla="*/ 352425 w 819150"/>
              <a:gd name="connsiteY1" fmla="*/ 0 h 1800225"/>
              <a:gd name="connsiteX2" fmla="*/ 352425 w 819150"/>
              <a:gd name="connsiteY2" fmla="*/ 1085850 h 1800225"/>
              <a:gd name="connsiteX3" fmla="*/ 0 w 819150"/>
              <a:gd name="connsiteY3" fmla="*/ 1085850 h 1800225"/>
              <a:gd name="connsiteX4" fmla="*/ 0 w 819150"/>
              <a:gd name="connsiteY4" fmla="*/ 1800225 h 1800225"/>
              <a:gd name="connsiteX5" fmla="*/ 542925 w 819150"/>
              <a:gd name="connsiteY5" fmla="*/ 1800225 h 1800225"/>
              <a:gd name="connsiteX6" fmla="*/ 542925 w 819150"/>
              <a:gd name="connsiteY6" fmla="*/ 1028700 h 1800225"/>
              <a:gd name="connsiteX7" fmla="*/ 800100 w 819150"/>
              <a:gd name="connsiteY7" fmla="*/ 1028700 h 1800225"/>
              <a:gd name="connsiteX8" fmla="*/ 819150 w 819150"/>
              <a:gd name="connsiteY8" fmla="*/ 0 h 180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9150" h="1800225">
                <a:moveTo>
                  <a:pt x="819150" y="0"/>
                </a:moveTo>
                <a:lnTo>
                  <a:pt x="352425" y="0"/>
                </a:lnTo>
                <a:lnTo>
                  <a:pt x="352425" y="1085850"/>
                </a:lnTo>
                <a:lnTo>
                  <a:pt x="0" y="1085850"/>
                </a:lnTo>
                <a:lnTo>
                  <a:pt x="0" y="1800225"/>
                </a:lnTo>
                <a:lnTo>
                  <a:pt x="542925" y="1800225"/>
                </a:lnTo>
                <a:lnTo>
                  <a:pt x="542925" y="1028700"/>
                </a:lnTo>
                <a:lnTo>
                  <a:pt x="800100" y="1028700"/>
                </a:lnTo>
                <a:lnTo>
                  <a:pt x="819150" y="0"/>
                </a:lnTo>
                <a:close/>
              </a:path>
            </a:pathLst>
          </a:custGeom>
          <a:noFill/>
          <a:ln w="28575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6" name="吹き出し: 四角形 115">
            <a:extLst>
              <a:ext uri="{FF2B5EF4-FFF2-40B4-BE49-F238E27FC236}">
                <a16:creationId xmlns:a16="http://schemas.microsoft.com/office/drawing/2014/main" id="{A04EE0A9-DE8C-0629-9047-7914E20AC743}"/>
              </a:ext>
            </a:extLst>
          </p:cNvPr>
          <p:cNvSpPr/>
          <p:nvPr/>
        </p:nvSpPr>
        <p:spPr>
          <a:xfrm>
            <a:off x="1777097" y="3634496"/>
            <a:ext cx="612000" cy="330479"/>
          </a:xfrm>
          <a:prstGeom prst="wedgeRectCallout">
            <a:avLst>
              <a:gd name="adj1" fmla="val -76077"/>
              <a:gd name="adj2" fmla="val 43351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局排</a:t>
            </a:r>
            <a:r>
              <a:rPr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6</a:t>
            </a:r>
            <a:endParaRPr kumimoji="1" lang="ja-JP" altLang="en-US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8" name="フリーフォーム: 図形 117">
            <a:extLst>
              <a:ext uri="{FF2B5EF4-FFF2-40B4-BE49-F238E27FC236}">
                <a16:creationId xmlns:a16="http://schemas.microsoft.com/office/drawing/2014/main" id="{2F5F8A85-1899-4933-921D-3CB0EEB182A3}"/>
              </a:ext>
            </a:extLst>
          </p:cNvPr>
          <p:cNvSpPr/>
          <p:nvPr/>
        </p:nvSpPr>
        <p:spPr>
          <a:xfrm>
            <a:off x="645615" y="5385861"/>
            <a:ext cx="572705" cy="1370539"/>
          </a:xfrm>
          <a:custGeom>
            <a:avLst/>
            <a:gdLst>
              <a:gd name="connsiteX0" fmla="*/ 819150 w 819150"/>
              <a:gd name="connsiteY0" fmla="*/ 0 h 1800225"/>
              <a:gd name="connsiteX1" fmla="*/ 352425 w 819150"/>
              <a:gd name="connsiteY1" fmla="*/ 0 h 1800225"/>
              <a:gd name="connsiteX2" fmla="*/ 352425 w 819150"/>
              <a:gd name="connsiteY2" fmla="*/ 1085850 h 1800225"/>
              <a:gd name="connsiteX3" fmla="*/ 0 w 819150"/>
              <a:gd name="connsiteY3" fmla="*/ 1085850 h 1800225"/>
              <a:gd name="connsiteX4" fmla="*/ 0 w 819150"/>
              <a:gd name="connsiteY4" fmla="*/ 1800225 h 1800225"/>
              <a:gd name="connsiteX5" fmla="*/ 542925 w 819150"/>
              <a:gd name="connsiteY5" fmla="*/ 1800225 h 1800225"/>
              <a:gd name="connsiteX6" fmla="*/ 542925 w 819150"/>
              <a:gd name="connsiteY6" fmla="*/ 1028700 h 1800225"/>
              <a:gd name="connsiteX7" fmla="*/ 800100 w 819150"/>
              <a:gd name="connsiteY7" fmla="*/ 1028700 h 1800225"/>
              <a:gd name="connsiteX8" fmla="*/ 819150 w 819150"/>
              <a:gd name="connsiteY8" fmla="*/ 0 h 180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9150" h="1800225">
                <a:moveTo>
                  <a:pt x="819150" y="0"/>
                </a:moveTo>
                <a:lnTo>
                  <a:pt x="352425" y="0"/>
                </a:lnTo>
                <a:lnTo>
                  <a:pt x="352425" y="1085850"/>
                </a:lnTo>
                <a:lnTo>
                  <a:pt x="0" y="1085850"/>
                </a:lnTo>
                <a:lnTo>
                  <a:pt x="0" y="1800225"/>
                </a:lnTo>
                <a:lnTo>
                  <a:pt x="542925" y="1800225"/>
                </a:lnTo>
                <a:lnTo>
                  <a:pt x="542925" y="1028700"/>
                </a:lnTo>
                <a:lnTo>
                  <a:pt x="800100" y="1028700"/>
                </a:lnTo>
                <a:lnTo>
                  <a:pt x="819150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9" name="吹き出し: 四角形 118">
            <a:extLst>
              <a:ext uri="{FF2B5EF4-FFF2-40B4-BE49-F238E27FC236}">
                <a16:creationId xmlns:a16="http://schemas.microsoft.com/office/drawing/2014/main" id="{447DE9F4-0F6A-F73B-FF48-3556C84D025D}"/>
              </a:ext>
            </a:extLst>
          </p:cNvPr>
          <p:cNvSpPr/>
          <p:nvPr/>
        </p:nvSpPr>
        <p:spPr>
          <a:xfrm>
            <a:off x="70802" y="5532261"/>
            <a:ext cx="694687" cy="330479"/>
          </a:xfrm>
          <a:prstGeom prst="wedgeRectCallout">
            <a:avLst>
              <a:gd name="adj1" fmla="val 70630"/>
              <a:gd name="adj2" fmla="val 53626"/>
            </a:avLst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空調</a:t>
            </a:r>
            <a:r>
              <a:rPr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4</a:t>
            </a:r>
            <a:endParaRPr kumimoji="1" lang="ja-JP" altLang="en-US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0" name="フリーフォーム: 図形 119">
            <a:extLst>
              <a:ext uri="{FF2B5EF4-FFF2-40B4-BE49-F238E27FC236}">
                <a16:creationId xmlns:a16="http://schemas.microsoft.com/office/drawing/2014/main" id="{880FA574-C0FF-0897-5F35-138BFDEEEA2B}"/>
              </a:ext>
            </a:extLst>
          </p:cNvPr>
          <p:cNvSpPr/>
          <p:nvPr/>
        </p:nvSpPr>
        <p:spPr>
          <a:xfrm flipH="1">
            <a:off x="1308708" y="5384438"/>
            <a:ext cx="484425" cy="1370539"/>
          </a:xfrm>
          <a:custGeom>
            <a:avLst/>
            <a:gdLst>
              <a:gd name="connsiteX0" fmla="*/ 819150 w 819150"/>
              <a:gd name="connsiteY0" fmla="*/ 0 h 1800225"/>
              <a:gd name="connsiteX1" fmla="*/ 352425 w 819150"/>
              <a:gd name="connsiteY1" fmla="*/ 0 h 1800225"/>
              <a:gd name="connsiteX2" fmla="*/ 352425 w 819150"/>
              <a:gd name="connsiteY2" fmla="*/ 1085850 h 1800225"/>
              <a:gd name="connsiteX3" fmla="*/ 0 w 819150"/>
              <a:gd name="connsiteY3" fmla="*/ 1085850 h 1800225"/>
              <a:gd name="connsiteX4" fmla="*/ 0 w 819150"/>
              <a:gd name="connsiteY4" fmla="*/ 1800225 h 1800225"/>
              <a:gd name="connsiteX5" fmla="*/ 542925 w 819150"/>
              <a:gd name="connsiteY5" fmla="*/ 1800225 h 1800225"/>
              <a:gd name="connsiteX6" fmla="*/ 542925 w 819150"/>
              <a:gd name="connsiteY6" fmla="*/ 1028700 h 1800225"/>
              <a:gd name="connsiteX7" fmla="*/ 800100 w 819150"/>
              <a:gd name="connsiteY7" fmla="*/ 1028700 h 1800225"/>
              <a:gd name="connsiteX8" fmla="*/ 819150 w 819150"/>
              <a:gd name="connsiteY8" fmla="*/ 0 h 180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9150" h="1800225">
                <a:moveTo>
                  <a:pt x="819150" y="0"/>
                </a:moveTo>
                <a:lnTo>
                  <a:pt x="352425" y="0"/>
                </a:lnTo>
                <a:lnTo>
                  <a:pt x="352425" y="1085850"/>
                </a:lnTo>
                <a:lnTo>
                  <a:pt x="0" y="1085850"/>
                </a:lnTo>
                <a:lnTo>
                  <a:pt x="0" y="1800225"/>
                </a:lnTo>
                <a:lnTo>
                  <a:pt x="542925" y="1800225"/>
                </a:lnTo>
                <a:lnTo>
                  <a:pt x="542925" y="1028700"/>
                </a:lnTo>
                <a:lnTo>
                  <a:pt x="800100" y="1028700"/>
                </a:lnTo>
                <a:lnTo>
                  <a:pt x="819150" y="0"/>
                </a:lnTo>
                <a:close/>
              </a:path>
            </a:pathLst>
          </a:custGeom>
          <a:noFill/>
          <a:ln w="28575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1" name="吹き出し: 四角形 120">
            <a:extLst>
              <a:ext uri="{FF2B5EF4-FFF2-40B4-BE49-F238E27FC236}">
                <a16:creationId xmlns:a16="http://schemas.microsoft.com/office/drawing/2014/main" id="{2358603B-67A5-95BA-0F5C-77BBA741DD3F}"/>
              </a:ext>
            </a:extLst>
          </p:cNvPr>
          <p:cNvSpPr/>
          <p:nvPr/>
        </p:nvSpPr>
        <p:spPr>
          <a:xfrm>
            <a:off x="1742377" y="5653697"/>
            <a:ext cx="612000" cy="330479"/>
          </a:xfrm>
          <a:prstGeom prst="wedgeRectCallout">
            <a:avLst>
              <a:gd name="adj1" fmla="val -75242"/>
              <a:gd name="adj2" fmla="val -30919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局排</a:t>
            </a:r>
            <a:r>
              <a:rPr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7</a:t>
            </a:r>
            <a:endParaRPr kumimoji="1" lang="ja-JP" altLang="en-US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フリーフォーム: 図形 6">
            <a:extLst>
              <a:ext uri="{FF2B5EF4-FFF2-40B4-BE49-F238E27FC236}">
                <a16:creationId xmlns:a16="http://schemas.microsoft.com/office/drawing/2014/main" id="{FC3DA010-1502-A396-D928-D3165E4A72B4}"/>
              </a:ext>
            </a:extLst>
          </p:cNvPr>
          <p:cNvSpPr/>
          <p:nvPr/>
        </p:nvSpPr>
        <p:spPr>
          <a:xfrm flipH="1">
            <a:off x="1067873" y="1586439"/>
            <a:ext cx="565860" cy="1012439"/>
          </a:xfrm>
          <a:custGeom>
            <a:avLst/>
            <a:gdLst>
              <a:gd name="connsiteX0" fmla="*/ 819150 w 819150"/>
              <a:gd name="connsiteY0" fmla="*/ 0 h 1800225"/>
              <a:gd name="connsiteX1" fmla="*/ 352425 w 819150"/>
              <a:gd name="connsiteY1" fmla="*/ 0 h 1800225"/>
              <a:gd name="connsiteX2" fmla="*/ 352425 w 819150"/>
              <a:gd name="connsiteY2" fmla="*/ 1085850 h 1800225"/>
              <a:gd name="connsiteX3" fmla="*/ 0 w 819150"/>
              <a:gd name="connsiteY3" fmla="*/ 1085850 h 1800225"/>
              <a:gd name="connsiteX4" fmla="*/ 0 w 819150"/>
              <a:gd name="connsiteY4" fmla="*/ 1800225 h 1800225"/>
              <a:gd name="connsiteX5" fmla="*/ 542925 w 819150"/>
              <a:gd name="connsiteY5" fmla="*/ 1800225 h 1800225"/>
              <a:gd name="connsiteX6" fmla="*/ 542925 w 819150"/>
              <a:gd name="connsiteY6" fmla="*/ 1028700 h 1800225"/>
              <a:gd name="connsiteX7" fmla="*/ 800100 w 819150"/>
              <a:gd name="connsiteY7" fmla="*/ 1028700 h 1800225"/>
              <a:gd name="connsiteX8" fmla="*/ 819150 w 819150"/>
              <a:gd name="connsiteY8" fmla="*/ 0 h 180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9150" h="1800225">
                <a:moveTo>
                  <a:pt x="819150" y="0"/>
                </a:moveTo>
                <a:lnTo>
                  <a:pt x="352425" y="0"/>
                </a:lnTo>
                <a:lnTo>
                  <a:pt x="352425" y="1085850"/>
                </a:lnTo>
                <a:lnTo>
                  <a:pt x="0" y="1085850"/>
                </a:lnTo>
                <a:lnTo>
                  <a:pt x="0" y="1800225"/>
                </a:lnTo>
                <a:lnTo>
                  <a:pt x="542925" y="1800225"/>
                </a:lnTo>
                <a:lnTo>
                  <a:pt x="542925" y="1028700"/>
                </a:lnTo>
                <a:lnTo>
                  <a:pt x="800100" y="1028700"/>
                </a:lnTo>
                <a:lnTo>
                  <a:pt x="819150" y="0"/>
                </a:lnTo>
                <a:close/>
              </a:path>
            </a:pathLst>
          </a:custGeom>
          <a:noFill/>
          <a:ln w="28575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フリーフォーム: 図形 8">
            <a:extLst>
              <a:ext uri="{FF2B5EF4-FFF2-40B4-BE49-F238E27FC236}">
                <a16:creationId xmlns:a16="http://schemas.microsoft.com/office/drawing/2014/main" id="{F6B72846-FA35-8D37-55B4-F4B331312877}"/>
              </a:ext>
            </a:extLst>
          </p:cNvPr>
          <p:cNvSpPr/>
          <p:nvPr/>
        </p:nvSpPr>
        <p:spPr>
          <a:xfrm flipH="1">
            <a:off x="1514722" y="1573498"/>
            <a:ext cx="565860" cy="1012439"/>
          </a:xfrm>
          <a:custGeom>
            <a:avLst/>
            <a:gdLst>
              <a:gd name="connsiteX0" fmla="*/ 819150 w 819150"/>
              <a:gd name="connsiteY0" fmla="*/ 0 h 1800225"/>
              <a:gd name="connsiteX1" fmla="*/ 352425 w 819150"/>
              <a:gd name="connsiteY1" fmla="*/ 0 h 1800225"/>
              <a:gd name="connsiteX2" fmla="*/ 352425 w 819150"/>
              <a:gd name="connsiteY2" fmla="*/ 1085850 h 1800225"/>
              <a:gd name="connsiteX3" fmla="*/ 0 w 819150"/>
              <a:gd name="connsiteY3" fmla="*/ 1085850 h 1800225"/>
              <a:gd name="connsiteX4" fmla="*/ 0 w 819150"/>
              <a:gd name="connsiteY4" fmla="*/ 1800225 h 1800225"/>
              <a:gd name="connsiteX5" fmla="*/ 542925 w 819150"/>
              <a:gd name="connsiteY5" fmla="*/ 1800225 h 1800225"/>
              <a:gd name="connsiteX6" fmla="*/ 542925 w 819150"/>
              <a:gd name="connsiteY6" fmla="*/ 1028700 h 1800225"/>
              <a:gd name="connsiteX7" fmla="*/ 800100 w 819150"/>
              <a:gd name="connsiteY7" fmla="*/ 1028700 h 1800225"/>
              <a:gd name="connsiteX8" fmla="*/ 819150 w 819150"/>
              <a:gd name="connsiteY8" fmla="*/ 0 h 180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9150" h="1800225">
                <a:moveTo>
                  <a:pt x="819150" y="0"/>
                </a:moveTo>
                <a:lnTo>
                  <a:pt x="352425" y="0"/>
                </a:lnTo>
                <a:lnTo>
                  <a:pt x="352425" y="1085850"/>
                </a:lnTo>
                <a:lnTo>
                  <a:pt x="0" y="1085850"/>
                </a:lnTo>
                <a:lnTo>
                  <a:pt x="0" y="1800225"/>
                </a:lnTo>
                <a:lnTo>
                  <a:pt x="542925" y="1800225"/>
                </a:lnTo>
                <a:lnTo>
                  <a:pt x="542925" y="1028700"/>
                </a:lnTo>
                <a:lnTo>
                  <a:pt x="800100" y="1028700"/>
                </a:lnTo>
                <a:lnTo>
                  <a:pt x="819150" y="0"/>
                </a:lnTo>
                <a:close/>
              </a:path>
            </a:pathLst>
          </a:custGeom>
          <a:noFill/>
          <a:ln w="28575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BE73EA88-3679-CF8F-2FB3-67481F6657E3}"/>
              </a:ext>
            </a:extLst>
          </p:cNvPr>
          <p:cNvSpPr/>
          <p:nvPr/>
        </p:nvSpPr>
        <p:spPr>
          <a:xfrm>
            <a:off x="167956" y="2501254"/>
            <a:ext cx="612000" cy="488163"/>
          </a:xfrm>
          <a:prstGeom prst="ellipse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11B50DF3-2AE1-5B51-3D6F-67536EEFBE4E}"/>
              </a:ext>
            </a:extLst>
          </p:cNvPr>
          <p:cNvSpPr/>
          <p:nvPr/>
        </p:nvSpPr>
        <p:spPr>
          <a:xfrm>
            <a:off x="1549816" y="2501254"/>
            <a:ext cx="612000" cy="488163"/>
          </a:xfrm>
          <a:prstGeom prst="ellipse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67BF2D3F-0653-3768-A25C-BD8B3A4A48C9}"/>
              </a:ext>
            </a:extLst>
          </p:cNvPr>
          <p:cNvSpPr/>
          <p:nvPr/>
        </p:nvSpPr>
        <p:spPr>
          <a:xfrm>
            <a:off x="6797366" y="2452842"/>
            <a:ext cx="612000" cy="488163"/>
          </a:xfrm>
          <a:prstGeom prst="ellipse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75D20666-5AC0-D371-7D66-0AE8E291B979}"/>
              </a:ext>
            </a:extLst>
          </p:cNvPr>
          <p:cNvSpPr/>
          <p:nvPr/>
        </p:nvSpPr>
        <p:spPr>
          <a:xfrm>
            <a:off x="8007099" y="2444905"/>
            <a:ext cx="612000" cy="488163"/>
          </a:xfrm>
          <a:prstGeom prst="ellipse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65200D7D-032F-FCA3-ED1B-F89386864B85}"/>
              </a:ext>
            </a:extLst>
          </p:cNvPr>
          <p:cNvSpPr/>
          <p:nvPr/>
        </p:nvSpPr>
        <p:spPr>
          <a:xfrm>
            <a:off x="7035799" y="4389293"/>
            <a:ext cx="612000" cy="488163"/>
          </a:xfrm>
          <a:prstGeom prst="ellipse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826C6F40-8528-C45F-6744-38FE46047F2A}"/>
              </a:ext>
            </a:extLst>
          </p:cNvPr>
          <p:cNvSpPr/>
          <p:nvPr/>
        </p:nvSpPr>
        <p:spPr>
          <a:xfrm>
            <a:off x="436753" y="4416850"/>
            <a:ext cx="612000" cy="488163"/>
          </a:xfrm>
          <a:prstGeom prst="ellipse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7C5F01D6-A015-118E-0643-1F3A619A1DA7}"/>
              </a:ext>
            </a:extLst>
          </p:cNvPr>
          <p:cNvSpPr/>
          <p:nvPr/>
        </p:nvSpPr>
        <p:spPr>
          <a:xfrm>
            <a:off x="542597" y="6006782"/>
            <a:ext cx="612000" cy="488163"/>
          </a:xfrm>
          <a:prstGeom prst="ellipse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A1A0DEB9-ED68-27E2-A1CF-5D6034567A6D}"/>
              </a:ext>
            </a:extLst>
          </p:cNvPr>
          <p:cNvSpPr/>
          <p:nvPr/>
        </p:nvSpPr>
        <p:spPr>
          <a:xfrm>
            <a:off x="6907672" y="6274498"/>
            <a:ext cx="612000" cy="488163"/>
          </a:xfrm>
          <a:prstGeom prst="ellipse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9750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E30F5D92-5746-15DC-7EB1-B2D6D73DE4DD}"/>
              </a:ext>
            </a:extLst>
          </p:cNvPr>
          <p:cNvGrpSpPr/>
          <p:nvPr/>
        </p:nvGrpSpPr>
        <p:grpSpPr>
          <a:xfrm>
            <a:off x="81325" y="932636"/>
            <a:ext cx="7003184" cy="5826939"/>
            <a:chOff x="81325" y="789761"/>
            <a:chExt cx="7003184" cy="5826939"/>
          </a:xfrm>
        </p:grpSpPr>
        <p:grpSp>
          <p:nvGrpSpPr>
            <p:cNvPr id="25" name="グループ化 24">
              <a:extLst>
                <a:ext uri="{FF2B5EF4-FFF2-40B4-BE49-F238E27FC236}">
                  <a16:creationId xmlns:a16="http://schemas.microsoft.com/office/drawing/2014/main" id="{6ECE3D63-B281-9D79-2E4F-B21FA74A1815}"/>
                </a:ext>
              </a:extLst>
            </p:cNvPr>
            <p:cNvGrpSpPr/>
            <p:nvPr/>
          </p:nvGrpSpPr>
          <p:grpSpPr>
            <a:xfrm>
              <a:off x="81325" y="789761"/>
              <a:ext cx="7003184" cy="5826939"/>
              <a:chOff x="5125" y="497661"/>
              <a:chExt cx="7003184" cy="5826939"/>
            </a:xfrm>
          </p:grpSpPr>
          <p:pic>
            <p:nvPicPr>
              <p:cNvPr id="5" name="図 4">
                <a:extLst>
                  <a:ext uri="{FF2B5EF4-FFF2-40B4-BE49-F238E27FC236}">
                    <a16:creationId xmlns:a16="http://schemas.microsoft.com/office/drawing/2014/main" id="{DBC8DAAC-8DCD-7EFE-DE0D-5EC9AFB693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5125" y="497661"/>
                <a:ext cx="7003184" cy="5826939"/>
              </a:xfrm>
              <a:prstGeom prst="rect">
                <a:avLst/>
              </a:prstGeom>
            </p:spPr>
          </p:pic>
          <p:cxnSp>
            <p:nvCxnSpPr>
              <p:cNvPr id="18" name="直線コネクタ 17">
                <a:extLst>
                  <a:ext uri="{FF2B5EF4-FFF2-40B4-BE49-F238E27FC236}">
                    <a16:creationId xmlns:a16="http://schemas.microsoft.com/office/drawing/2014/main" id="{16E9D16B-8C65-D890-5E1C-F672DE67FC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82344" y="3705332"/>
                <a:ext cx="3448456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6" name="直線コネクタ 25">
              <a:extLst>
                <a:ext uri="{FF2B5EF4-FFF2-40B4-BE49-F238E27FC236}">
                  <a16:creationId xmlns:a16="http://schemas.microsoft.com/office/drawing/2014/main" id="{AD670AA4-2FE5-7E41-FA08-FFD293F3DE1E}"/>
                </a:ext>
              </a:extLst>
            </p:cNvPr>
            <p:cNvCxnSpPr>
              <a:cxnSpLocks/>
            </p:cNvCxnSpPr>
            <p:nvPr/>
          </p:nvCxnSpPr>
          <p:spPr>
            <a:xfrm>
              <a:off x="361544" y="2098393"/>
              <a:ext cx="6359119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コネクタ 38">
              <a:extLst>
                <a:ext uri="{FF2B5EF4-FFF2-40B4-BE49-F238E27FC236}">
                  <a16:creationId xmlns:a16="http://schemas.microsoft.com/office/drawing/2014/main" id="{F083CD60-4301-5D76-A72B-796460EF8CF9}"/>
                </a:ext>
              </a:extLst>
            </p:cNvPr>
            <p:cNvCxnSpPr>
              <a:cxnSpLocks/>
            </p:cNvCxnSpPr>
            <p:nvPr/>
          </p:nvCxnSpPr>
          <p:spPr>
            <a:xfrm>
              <a:off x="361544" y="2371832"/>
              <a:ext cx="921156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02645E1-F97D-BF4F-8687-81657CE99809}"/>
              </a:ext>
            </a:extLst>
          </p:cNvPr>
          <p:cNvSpPr txBox="1"/>
          <p:nvPr/>
        </p:nvSpPr>
        <p:spPr>
          <a:xfrm>
            <a:off x="1" y="212932"/>
            <a:ext cx="69176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＜セコム誤発報時の解除方法（</a:t>
            </a:r>
            <a:r>
              <a:rPr lang="en-US" altLang="ja-JP" sz="28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1/7</a:t>
            </a:r>
            <a:r>
              <a:rPr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）＞</a:t>
            </a:r>
            <a:endParaRPr lang="en-US" altLang="ja-JP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12" name="図 11" descr="グラフィカル ユーザー インターフェイス が含まれている画像&#10;&#10;自動的に生成された説明">
            <a:extLst>
              <a:ext uri="{FF2B5EF4-FFF2-40B4-BE49-F238E27FC236}">
                <a16:creationId xmlns:a16="http://schemas.microsoft.com/office/drawing/2014/main" id="{C8D49C3B-65E2-BE7C-0ADD-5B7D2B142B9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0368" y="3475361"/>
            <a:ext cx="2203654" cy="1652739"/>
          </a:xfrm>
          <a:prstGeom prst="rect">
            <a:avLst/>
          </a:prstGeom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5C9DDDED-DADC-86BC-CB73-C2CEB68448EC}"/>
              </a:ext>
            </a:extLst>
          </p:cNvPr>
          <p:cNvSpPr txBox="1"/>
          <p:nvPr/>
        </p:nvSpPr>
        <p:spPr>
          <a:xfrm>
            <a:off x="2749271" y="5270448"/>
            <a:ext cx="4100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※</a:t>
            </a:r>
            <a:r>
              <a:rPr lang="ja-JP" altLang="en-US" sz="11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「コントローラ」は「操作表示器」が設置されている壁の裏側にあります。</a:t>
            </a:r>
            <a:endParaRPr lang="en-US" altLang="ja-JP" sz="900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" name="矢印: 上向き折線 3">
            <a:extLst>
              <a:ext uri="{FF2B5EF4-FFF2-40B4-BE49-F238E27FC236}">
                <a16:creationId xmlns:a16="http://schemas.microsoft.com/office/drawing/2014/main" id="{32A4BC30-C47F-8141-8A43-3EA53A0EC071}"/>
              </a:ext>
            </a:extLst>
          </p:cNvPr>
          <p:cNvSpPr/>
          <p:nvPr/>
        </p:nvSpPr>
        <p:spPr>
          <a:xfrm rot="5400000">
            <a:off x="5007225" y="2987433"/>
            <a:ext cx="683947" cy="3000844"/>
          </a:xfrm>
          <a:prstGeom prst="bentUpArrow">
            <a:avLst>
              <a:gd name="adj1" fmla="val 50000"/>
              <a:gd name="adj2" fmla="val 25000"/>
              <a:gd name="adj3" fmla="val 2726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9DE82FD-50F0-6400-9E51-94AAA8CF81B6}"/>
              </a:ext>
            </a:extLst>
          </p:cNvPr>
          <p:cNvSpPr txBox="1"/>
          <p:nvPr/>
        </p:nvSpPr>
        <p:spPr>
          <a:xfrm>
            <a:off x="3848778" y="4529715"/>
            <a:ext cx="30008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カードを端末にかざしてから次頁操作を行う</a:t>
            </a:r>
            <a:endParaRPr lang="en-US" altLang="ja-JP" sz="10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B6AB3073-1300-6E2E-1DC7-F0FAF1B2012D}"/>
              </a:ext>
            </a:extLst>
          </p:cNvPr>
          <p:cNvGrpSpPr/>
          <p:nvPr/>
        </p:nvGrpSpPr>
        <p:grpSpPr>
          <a:xfrm>
            <a:off x="8186105" y="3071403"/>
            <a:ext cx="935128" cy="701346"/>
            <a:chOff x="3423926" y="1546355"/>
            <a:chExt cx="1320136" cy="990102"/>
          </a:xfrm>
        </p:grpSpPr>
        <p:pic>
          <p:nvPicPr>
            <p:cNvPr id="15" name="図 14" descr="テキスト, 手紙&#10;&#10;自動的に生成された説明">
              <a:extLst>
                <a:ext uri="{FF2B5EF4-FFF2-40B4-BE49-F238E27FC236}">
                  <a16:creationId xmlns:a16="http://schemas.microsoft.com/office/drawing/2014/main" id="{F75F505E-E2FB-B71D-DF2F-D61B0C24975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3926" y="1546355"/>
              <a:ext cx="1320136" cy="990102"/>
            </a:xfrm>
            <a:prstGeom prst="rect">
              <a:avLst/>
            </a:prstGeom>
          </p:spPr>
        </p:pic>
        <p:sp>
          <p:nvSpPr>
            <p:cNvPr id="16" name="テキスト ボックス 34">
              <a:extLst>
                <a:ext uri="{FF2B5EF4-FFF2-40B4-BE49-F238E27FC236}">
                  <a16:creationId xmlns:a16="http://schemas.microsoft.com/office/drawing/2014/main" id="{DCAD2B58-CC8D-30AB-7BC7-F29FDB16657E}"/>
                </a:ext>
              </a:extLst>
            </p:cNvPr>
            <p:cNvSpPr txBox="1"/>
            <p:nvPr/>
          </p:nvSpPr>
          <p:spPr>
            <a:xfrm>
              <a:off x="3502526" y="2259265"/>
              <a:ext cx="581468" cy="17379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>
              <a:defPPr>
                <a:defRPr lang="ja-JP"/>
              </a:defPPr>
              <a:lvl1pPr marL="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ja-JP" altLang="en-US" sz="80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事務棟</a:t>
              </a:r>
              <a:endParaRPr lang="en-US" altLang="ja-JP" sz="5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</p:grpSp>
      <p:sp>
        <p:nvSpPr>
          <p:cNvPr id="11" name="矢印: 左 10">
            <a:extLst>
              <a:ext uri="{FF2B5EF4-FFF2-40B4-BE49-F238E27FC236}">
                <a16:creationId xmlns:a16="http://schemas.microsoft.com/office/drawing/2014/main" id="{4A2CB31F-D97C-40AC-37AF-DC0AB2DC4D41}"/>
              </a:ext>
            </a:extLst>
          </p:cNvPr>
          <p:cNvSpPr/>
          <p:nvPr/>
        </p:nvSpPr>
        <p:spPr>
          <a:xfrm rot="18900000">
            <a:off x="8332423" y="3780130"/>
            <a:ext cx="538821" cy="399903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/>
              <a:t>ここ</a:t>
            </a:r>
          </a:p>
        </p:txBody>
      </p:sp>
      <p:sp>
        <p:nvSpPr>
          <p:cNvPr id="13" name="スライド番号プレースホルダー 1">
            <a:extLst>
              <a:ext uri="{FF2B5EF4-FFF2-40B4-BE49-F238E27FC236}">
                <a16:creationId xmlns:a16="http://schemas.microsoft.com/office/drawing/2014/main" id="{1F925706-8040-1022-3DEE-7201FFB2E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35800" y="6391275"/>
            <a:ext cx="2057400" cy="365125"/>
          </a:xfrm>
        </p:spPr>
        <p:txBody>
          <a:bodyPr/>
          <a:lstStyle/>
          <a:p>
            <a:fld id="{4496CD11-9029-4718-B542-A07CCE74E59E}" type="slidenum">
              <a:rPr kumimoji="1" lang="ja-JP" altLang="en-US" sz="3200" b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15</a:t>
            </a:fld>
            <a:endParaRPr kumimoji="1" lang="ja-JP" altLang="en-US" sz="32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7676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94273CB4-C50E-05EA-93FB-270FCD0C0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348" y="961863"/>
            <a:ext cx="7581900" cy="4543425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40B46D2-7B28-C5B9-7433-56CA5E539304}"/>
              </a:ext>
            </a:extLst>
          </p:cNvPr>
          <p:cNvSpPr txBox="1"/>
          <p:nvPr/>
        </p:nvSpPr>
        <p:spPr>
          <a:xfrm>
            <a:off x="0" y="212932"/>
            <a:ext cx="8354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＜セコム誤発報時の解除方法（</a:t>
            </a:r>
            <a:r>
              <a:rPr lang="en-US" altLang="ja-JP" sz="28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2/7</a:t>
            </a:r>
            <a:r>
              <a:rPr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）＞</a:t>
            </a:r>
            <a:endParaRPr lang="en-US" altLang="ja-JP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3" name="スライド番号プレースホルダー 1">
            <a:extLst>
              <a:ext uri="{FF2B5EF4-FFF2-40B4-BE49-F238E27FC236}">
                <a16:creationId xmlns:a16="http://schemas.microsoft.com/office/drawing/2014/main" id="{1EDFBB13-6902-4648-E3FE-7C350A199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35800" y="6391275"/>
            <a:ext cx="2057400" cy="365125"/>
          </a:xfrm>
        </p:spPr>
        <p:txBody>
          <a:bodyPr/>
          <a:lstStyle/>
          <a:p>
            <a:fld id="{4496CD11-9029-4718-B542-A07CCE74E59E}" type="slidenum">
              <a:rPr kumimoji="1" lang="ja-JP" altLang="en-US" sz="3200" b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16</a:t>
            </a:fld>
            <a:endParaRPr kumimoji="1" lang="ja-JP" altLang="en-US" sz="32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00237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947705C4-DAE7-A4B4-EEFD-98398FA13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97" y="1111043"/>
            <a:ext cx="7620000" cy="5534025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F541C7B-4338-3667-7228-9314AEA74C47}"/>
              </a:ext>
            </a:extLst>
          </p:cNvPr>
          <p:cNvSpPr txBox="1"/>
          <p:nvPr/>
        </p:nvSpPr>
        <p:spPr>
          <a:xfrm>
            <a:off x="0" y="212932"/>
            <a:ext cx="8354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＜セコム誤発報時の解除方法（</a:t>
            </a:r>
            <a:r>
              <a:rPr lang="en-US" altLang="ja-JP" sz="28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3/7</a:t>
            </a:r>
            <a:r>
              <a:rPr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）＞</a:t>
            </a:r>
            <a:endParaRPr lang="en-US" altLang="ja-JP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3" name="スライド番号プレースホルダー 1">
            <a:extLst>
              <a:ext uri="{FF2B5EF4-FFF2-40B4-BE49-F238E27FC236}">
                <a16:creationId xmlns:a16="http://schemas.microsoft.com/office/drawing/2014/main" id="{72BC36BB-DE37-C4E2-A502-FB72B6196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35800" y="6391275"/>
            <a:ext cx="2057400" cy="365125"/>
          </a:xfrm>
        </p:spPr>
        <p:txBody>
          <a:bodyPr/>
          <a:lstStyle/>
          <a:p>
            <a:fld id="{4496CD11-9029-4718-B542-A07CCE74E59E}" type="slidenum">
              <a:rPr kumimoji="1" lang="ja-JP" altLang="en-US" sz="3200" b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17</a:t>
            </a:fld>
            <a:endParaRPr kumimoji="1" lang="ja-JP" altLang="en-US" sz="32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30324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842F9450-38E8-DD68-5420-14917D918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2" y="864963"/>
            <a:ext cx="7534275" cy="1152525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A36CF750-3322-72BA-CA48-B933E8304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862" y="2146300"/>
            <a:ext cx="7515225" cy="4572000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D411328-5221-2720-625F-BD5FEE1356A6}"/>
              </a:ext>
            </a:extLst>
          </p:cNvPr>
          <p:cNvSpPr txBox="1"/>
          <p:nvPr/>
        </p:nvSpPr>
        <p:spPr>
          <a:xfrm>
            <a:off x="0" y="212932"/>
            <a:ext cx="8354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＜セコム誤発報時の解除方法（</a:t>
            </a:r>
            <a:r>
              <a:rPr lang="en-US" altLang="ja-JP" sz="28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4/7</a:t>
            </a:r>
            <a:r>
              <a:rPr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）＞</a:t>
            </a:r>
            <a:endParaRPr lang="en-US" altLang="ja-JP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3" name="スライド番号プレースホルダー 1">
            <a:extLst>
              <a:ext uri="{FF2B5EF4-FFF2-40B4-BE49-F238E27FC236}">
                <a16:creationId xmlns:a16="http://schemas.microsoft.com/office/drawing/2014/main" id="{A5F0326F-82A4-452A-7080-73695D411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35800" y="6391275"/>
            <a:ext cx="2057400" cy="365125"/>
          </a:xfrm>
        </p:spPr>
        <p:txBody>
          <a:bodyPr/>
          <a:lstStyle/>
          <a:p>
            <a:fld id="{4496CD11-9029-4718-B542-A07CCE74E59E}" type="slidenum">
              <a:rPr kumimoji="1" lang="ja-JP" altLang="en-US" sz="3200" b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18</a:t>
            </a:fld>
            <a:endParaRPr kumimoji="1" lang="ja-JP" altLang="en-US" sz="32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17129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58AC39BF-E204-AE73-AD7F-377775D62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19187"/>
            <a:ext cx="7924800" cy="4619625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127CED8-3442-1F8B-F95A-C83A15FF518A}"/>
              </a:ext>
            </a:extLst>
          </p:cNvPr>
          <p:cNvSpPr txBox="1"/>
          <p:nvPr/>
        </p:nvSpPr>
        <p:spPr>
          <a:xfrm>
            <a:off x="0" y="212932"/>
            <a:ext cx="8354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＜セコム誤発報時の解除方法（</a:t>
            </a:r>
            <a:r>
              <a:rPr lang="en-US" altLang="ja-JP" sz="28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5/7</a:t>
            </a:r>
            <a:r>
              <a:rPr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）＞</a:t>
            </a:r>
            <a:endParaRPr lang="en-US" altLang="ja-JP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3" name="スライド番号プレースホルダー 1">
            <a:extLst>
              <a:ext uri="{FF2B5EF4-FFF2-40B4-BE49-F238E27FC236}">
                <a16:creationId xmlns:a16="http://schemas.microsoft.com/office/drawing/2014/main" id="{61B851EC-D181-52DC-229E-82D749EDB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35800" y="6391275"/>
            <a:ext cx="2057400" cy="365125"/>
          </a:xfrm>
        </p:spPr>
        <p:txBody>
          <a:bodyPr/>
          <a:lstStyle/>
          <a:p>
            <a:fld id="{4496CD11-9029-4718-B542-A07CCE74E59E}" type="slidenum">
              <a:rPr kumimoji="1" lang="ja-JP" altLang="en-US" sz="3200" b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19</a:t>
            </a:fld>
            <a:endParaRPr kumimoji="1" lang="ja-JP" alt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71873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162677BB-3597-0AB7-93C2-8FF6D2E70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287" y="685800"/>
            <a:ext cx="7591425" cy="6172200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0ABEE98-2449-40DA-14B2-7D3362B737D6}"/>
              </a:ext>
            </a:extLst>
          </p:cNvPr>
          <p:cNvSpPr txBox="1"/>
          <p:nvPr/>
        </p:nvSpPr>
        <p:spPr>
          <a:xfrm>
            <a:off x="0" y="212932"/>
            <a:ext cx="8354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＜セコム誤発報時の解除方法（</a:t>
            </a:r>
            <a:r>
              <a:rPr lang="en-US" altLang="ja-JP" sz="28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6/7</a:t>
            </a:r>
            <a:r>
              <a:rPr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）＞</a:t>
            </a:r>
            <a:endParaRPr lang="en-US" altLang="ja-JP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3" name="スライド番号プレースホルダー 1">
            <a:extLst>
              <a:ext uri="{FF2B5EF4-FFF2-40B4-BE49-F238E27FC236}">
                <a16:creationId xmlns:a16="http://schemas.microsoft.com/office/drawing/2014/main" id="{A1DF6DED-A89B-BC10-0214-B41F8D8A5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35800" y="6391275"/>
            <a:ext cx="2057400" cy="365125"/>
          </a:xfrm>
        </p:spPr>
        <p:txBody>
          <a:bodyPr/>
          <a:lstStyle/>
          <a:p>
            <a:fld id="{4496CD11-9029-4718-B542-A07CCE74E59E}" type="slidenum">
              <a:rPr kumimoji="1" lang="ja-JP" altLang="en-US" sz="3200" b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20</a:t>
            </a:fld>
            <a:endParaRPr kumimoji="1" lang="ja-JP" alt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32630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DD135FDE-3A0C-5FE4-EDA9-0D9A9C2EA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287" y="885825"/>
            <a:ext cx="7591425" cy="5086350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9C6727C-221D-3F4B-5B3F-EF0FF780A3D1}"/>
              </a:ext>
            </a:extLst>
          </p:cNvPr>
          <p:cNvSpPr txBox="1"/>
          <p:nvPr/>
        </p:nvSpPr>
        <p:spPr>
          <a:xfrm>
            <a:off x="0" y="212932"/>
            <a:ext cx="8354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＜セコム誤発報時の解除方法（</a:t>
            </a:r>
            <a:r>
              <a:rPr lang="en-US" altLang="ja-JP" sz="28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7/7</a:t>
            </a:r>
            <a:r>
              <a:rPr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）＞</a:t>
            </a:r>
            <a:endParaRPr lang="en-US" altLang="ja-JP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3" name="スライド番号プレースホルダー 1">
            <a:extLst>
              <a:ext uri="{FF2B5EF4-FFF2-40B4-BE49-F238E27FC236}">
                <a16:creationId xmlns:a16="http://schemas.microsoft.com/office/drawing/2014/main" id="{9F94E008-17B0-FDD7-31F2-1FBB7B6AE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35800" y="6391275"/>
            <a:ext cx="2057400" cy="365125"/>
          </a:xfrm>
        </p:spPr>
        <p:txBody>
          <a:bodyPr/>
          <a:lstStyle/>
          <a:p>
            <a:fld id="{4496CD11-9029-4718-B542-A07CCE74E59E}" type="slidenum">
              <a:rPr kumimoji="1" lang="ja-JP" altLang="en-US" sz="3200" b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21</a:t>
            </a:fld>
            <a:endParaRPr kumimoji="1" lang="ja-JP" altLang="en-US" sz="32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2478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be2417d-bab9-4352-b5e3-f82d8daab18b">
      <Terms xmlns="http://schemas.microsoft.com/office/infopath/2007/PartnerControls"/>
    </lcf76f155ced4ddcb4097134ff3c332f>
    <TaxCatchAll xmlns="0d7faf80-31b9-4068-99f9-7c93d5f70ac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30AC2644284D9D4AA822B62988C9D622" ma:contentTypeVersion="11" ma:contentTypeDescription="新しいドキュメントを作成します。" ma:contentTypeScope="" ma:versionID="6554e88826b7b12c4e2eb7f8ea057f1d">
  <xsd:schema xmlns:xsd="http://www.w3.org/2001/XMLSchema" xmlns:xs="http://www.w3.org/2001/XMLSchema" xmlns:p="http://schemas.microsoft.com/office/2006/metadata/properties" xmlns:ns2="ebe2417d-bab9-4352-b5e3-f82d8daab18b" xmlns:ns3="0d7faf80-31b9-4068-99f9-7c93d5f70aca" targetNamespace="http://schemas.microsoft.com/office/2006/metadata/properties" ma:root="true" ma:fieldsID="33ae0c569d29c81b1bed222f7324324a" ns2:_="" ns3:_="">
    <xsd:import namespace="ebe2417d-bab9-4352-b5e3-f82d8daab18b"/>
    <xsd:import namespace="0d7faf80-31b9-4068-99f9-7c93d5f70ac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e2417d-bab9-4352-b5e3-f82d8daab1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b053ac32-7e03-4b82-88d1-ba6959e72a0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7faf80-31b9-4068-99f9-7c93d5f70ac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215c5aa-e75e-48aa-8769-1bfd52955b7f}" ma:internalName="TaxCatchAll" ma:showField="CatchAllData" ma:web="0d7faf80-31b9-4068-99f9-7c93d5f70ac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DEE9110-CA06-47A6-A118-B21386E6FD78}">
  <ds:schemaRefs>
    <ds:schemaRef ds:uri="http://schemas.microsoft.com/office/2006/metadata/properties"/>
    <ds:schemaRef ds:uri="http://schemas.microsoft.com/office/infopath/2007/PartnerControls"/>
    <ds:schemaRef ds:uri="ebe2417d-bab9-4352-b5e3-f82d8daab18b"/>
    <ds:schemaRef ds:uri="0d7faf80-31b9-4068-99f9-7c93d5f70aca"/>
  </ds:schemaRefs>
</ds:datastoreItem>
</file>

<file path=customXml/itemProps2.xml><?xml version="1.0" encoding="utf-8"?>
<ds:datastoreItem xmlns:ds="http://schemas.openxmlformats.org/officeDocument/2006/customXml" ds:itemID="{AFE6F9F0-B7BB-41FD-A780-5D68CA9D59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be2417d-bab9-4352-b5e3-f82d8daab18b"/>
    <ds:schemaRef ds:uri="0d7faf80-31b9-4068-99f9-7c93d5f70ac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B05CD25-3DEC-41F0-836C-9160762A2E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2094</TotalTime>
  <Words>1594</Words>
  <Application>Microsoft Office PowerPoint</Application>
  <PresentationFormat>画面に合わせる (4:3)</PresentationFormat>
  <Paragraphs>316</Paragraphs>
  <Slides>21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27" baseType="lpstr">
      <vt:lpstr>BIZ UDPゴシック</vt:lpstr>
      <vt:lpstr>Meiryo UI</vt:lpstr>
      <vt:lpstr>Arial</vt:lpstr>
      <vt:lpstr>Calibri</vt:lpstr>
      <vt:lpstr>Calibri Light</vt:lpstr>
      <vt:lpstr>Office テーマ</vt:lpstr>
      <vt:lpstr>戸締りルール  Rev.20 （改定日：2025/1/15）    西山Bの席後ろにLEDライトがあるため活用してください 担当週は個人で持って頂いてもOK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日本光電工業株式会社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HAMADA Manabu (濱田 学)</dc:creator>
  <cp:lastModifiedBy>AMANO Hiroyuki (天野 浩行)</cp:lastModifiedBy>
  <cp:revision>127</cp:revision>
  <cp:lastPrinted>2024-08-23T13:33:09Z</cp:lastPrinted>
  <dcterms:created xsi:type="dcterms:W3CDTF">2017-09-29T02:01:53Z</dcterms:created>
  <dcterms:modified xsi:type="dcterms:W3CDTF">2025-04-21T13:40:43Z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0x01010030AC2644284D9D4AA822B62988C9D622</vt:lpwstr>
  </property>
  <property fmtid="{D5CDD505-2E9C-101B-9397-08002B2CF9AE}" pid="3" name="MediaServiceImageTags">
    <vt:lpwstr/>
  </property>
</Properties>
</file>