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5" r:id="rId4"/>
    <p:sldId id="262" r:id="rId5"/>
    <p:sldId id="256" r:id="rId6"/>
    <p:sldId id="257" r:id="rId7"/>
    <p:sldId id="259" r:id="rId8"/>
    <p:sldId id="266" r:id="rId9"/>
    <p:sldId id="267" r:id="rId10"/>
    <p:sldId id="263" r:id="rId11"/>
    <p:sldId id="264" r:id="rId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05" autoAdjust="0"/>
    <p:restoredTop sz="94660"/>
  </p:normalViewPr>
  <p:slideViewPr>
    <p:cSldViewPr snapToGrid="0">
      <p:cViewPr varScale="1">
        <p:scale>
          <a:sx n="80" d="100"/>
          <a:sy n="80" d="100"/>
        </p:scale>
        <p:origin x="108" y="4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82AA67-5D29-AA60-CE56-3D5783C601B4}"/>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73DC99D-6976-92D1-BAFE-13626340F7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B2A5F9E-51F8-53FB-FA61-63C4A23A8DD3}"/>
              </a:ext>
            </a:extLst>
          </p:cNvPr>
          <p:cNvSpPr>
            <a:spLocks noGrp="1"/>
          </p:cNvSpPr>
          <p:nvPr>
            <p:ph type="dt" sz="half" idx="10"/>
          </p:nvPr>
        </p:nvSpPr>
        <p:spPr/>
        <p:txBody>
          <a:bodyPr/>
          <a:lstStyle/>
          <a:p>
            <a:fld id="{C465A158-7B95-4F37-AF2D-E8B71EC35251}" type="datetimeFigureOut">
              <a:rPr kumimoji="1" lang="ja-JP" altLang="en-US" smtClean="0"/>
              <a:t>2026/7/3</a:t>
            </a:fld>
            <a:endParaRPr kumimoji="1" lang="ja-JP" altLang="en-US"/>
          </a:p>
        </p:txBody>
      </p:sp>
      <p:sp>
        <p:nvSpPr>
          <p:cNvPr id="5" name="フッター プレースホルダー 4">
            <a:extLst>
              <a:ext uri="{FF2B5EF4-FFF2-40B4-BE49-F238E27FC236}">
                <a16:creationId xmlns:a16="http://schemas.microsoft.com/office/drawing/2014/main" id="{5C49A1D9-9F5E-E13C-58D3-5FCC2D1D354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167D415-CCD4-0F83-20C0-416BBC946244}"/>
              </a:ext>
            </a:extLst>
          </p:cNvPr>
          <p:cNvSpPr>
            <a:spLocks noGrp="1"/>
          </p:cNvSpPr>
          <p:nvPr>
            <p:ph type="sldNum" sz="quarter" idx="12"/>
          </p:nvPr>
        </p:nvSpPr>
        <p:spPr/>
        <p:txBody>
          <a:bodyPr/>
          <a:lstStyle/>
          <a:p>
            <a:fld id="{5FD0BE3B-341E-479E-9DE6-0C5BDF56C6CB}" type="slidenum">
              <a:rPr kumimoji="1" lang="ja-JP" altLang="en-US" smtClean="0"/>
              <a:t>‹#›</a:t>
            </a:fld>
            <a:endParaRPr kumimoji="1" lang="ja-JP" altLang="en-US"/>
          </a:p>
        </p:txBody>
      </p:sp>
    </p:spTree>
    <p:extLst>
      <p:ext uri="{BB962C8B-B14F-4D97-AF65-F5344CB8AC3E}">
        <p14:creationId xmlns:p14="http://schemas.microsoft.com/office/powerpoint/2010/main" val="1400879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DD8F5A-4AC6-7275-2721-1B8834FF0A5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76FAEC3-4105-42DA-33B6-57D00FFA6D30}"/>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95D6FF0-1696-2C2A-098A-ED95C2654905}"/>
              </a:ext>
            </a:extLst>
          </p:cNvPr>
          <p:cNvSpPr>
            <a:spLocks noGrp="1"/>
          </p:cNvSpPr>
          <p:nvPr>
            <p:ph type="dt" sz="half" idx="10"/>
          </p:nvPr>
        </p:nvSpPr>
        <p:spPr/>
        <p:txBody>
          <a:bodyPr/>
          <a:lstStyle/>
          <a:p>
            <a:fld id="{C465A158-7B95-4F37-AF2D-E8B71EC35251}" type="datetimeFigureOut">
              <a:rPr kumimoji="1" lang="ja-JP" altLang="en-US" smtClean="0"/>
              <a:t>2026/7/3</a:t>
            </a:fld>
            <a:endParaRPr kumimoji="1" lang="ja-JP" altLang="en-US"/>
          </a:p>
        </p:txBody>
      </p:sp>
      <p:sp>
        <p:nvSpPr>
          <p:cNvPr id="5" name="フッター プレースホルダー 4">
            <a:extLst>
              <a:ext uri="{FF2B5EF4-FFF2-40B4-BE49-F238E27FC236}">
                <a16:creationId xmlns:a16="http://schemas.microsoft.com/office/drawing/2014/main" id="{43400C00-3C2C-0C57-24B6-2200F02BC4D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9ECEEC8-EC55-D1FC-F5C2-BF611342BDC5}"/>
              </a:ext>
            </a:extLst>
          </p:cNvPr>
          <p:cNvSpPr>
            <a:spLocks noGrp="1"/>
          </p:cNvSpPr>
          <p:nvPr>
            <p:ph type="sldNum" sz="quarter" idx="12"/>
          </p:nvPr>
        </p:nvSpPr>
        <p:spPr/>
        <p:txBody>
          <a:bodyPr/>
          <a:lstStyle/>
          <a:p>
            <a:fld id="{5FD0BE3B-341E-479E-9DE6-0C5BDF56C6CB}" type="slidenum">
              <a:rPr kumimoji="1" lang="ja-JP" altLang="en-US" smtClean="0"/>
              <a:t>‹#›</a:t>
            </a:fld>
            <a:endParaRPr kumimoji="1" lang="ja-JP" altLang="en-US"/>
          </a:p>
        </p:txBody>
      </p:sp>
    </p:spTree>
    <p:extLst>
      <p:ext uri="{BB962C8B-B14F-4D97-AF65-F5344CB8AC3E}">
        <p14:creationId xmlns:p14="http://schemas.microsoft.com/office/powerpoint/2010/main" val="1605805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B63992-FB9C-BEAE-1AB2-0D17B93C04E6}"/>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837F33C-D321-8776-9182-B1156EBBF18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D565FB3-18C2-3FE9-EE07-964E107D415C}"/>
              </a:ext>
            </a:extLst>
          </p:cNvPr>
          <p:cNvSpPr>
            <a:spLocks noGrp="1"/>
          </p:cNvSpPr>
          <p:nvPr>
            <p:ph type="dt" sz="half" idx="10"/>
          </p:nvPr>
        </p:nvSpPr>
        <p:spPr/>
        <p:txBody>
          <a:bodyPr/>
          <a:lstStyle/>
          <a:p>
            <a:fld id="{C465A158-7B95-4F37-AF2D-E8B71EC35251}" type="datetimeFigureOut">
              <a:rPr kumimoji="1" lang="ja-JP" altLang="en-US" smtClean="0"/>
              <a:t>2026/7/3</a:t>
            </a:fld>
            <a:endParaRPr kumimoji="1" lang="ja-JP" altLang="en-US"/>
          </a:p>
        </p:txBody>
      </p:sp>
      <p:sp>
        <p:nvSpPr>
          <p:cNvPr id="5" name="フッター プレースホルダー 4">
            <a:extLst>
              <a:ext uri="{FF2B5EF4-FFF2-40B4-BE49-F238E27FC236}">
                <a16:creationId xmlns:a16="http://schemas.microsoft.com/office/drawing/2014/main" id="{269E4A9F-3BEB-1BBA-1F91-00496265E04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524565D-223C-AB39-4CCC-313A818BB5D7}"/>
              </a:ext>
            </a:extLst>
          </p:cNvPr>
          <p:cNvSpPr>
            <a:spLocks noGrp="1"/>
          </p:cNvSpPr>
          <p:nvPr>
            <p:ph type="sldNum" sz="quarter" idx="12"/>
          </p:nvPr>
        </p:nvSpPr>
        <p:spPr/>
        <p:txBody>
          <a:bodyPr/>
          <a:lstStyle/>
          <a:p>
            <a:fld id="{5FD0BE3B-341E-479E-9DE6-0C5BDF56C6CB}" type="slidenum">
              <a:rPr kumimoji="1" lang="ja-JP" altLang="en-US" smtClean="0"/>
              <a:t>‹#›</a:t>
            </a:fld>
            <a:endParaRPr kumimoji="1" lang="ja-JP" altLang="en-US"/>
          </a:p>
        </p:txBody>
      </p:sp>
    </p:spTree>
    <p:extLst>
      <p:ext uri="{BB962C8B-B14F-4D97-AF65-F5344CB8AC3E}">
        <p14:creationId xmlns:p14="http://schemas.microsoft.com/office/powerpoint/2010/main" val="3893728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800B1A-6FAD-7E86-0238-CE2D1492277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EC3F337-8F6A-1FE9-D2AC-250F04B4C32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6182560-6253-3206-368D-D077219A50E3}"/>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6CD1910A-16D8-F069-B461-25DE986274A5}"/>
              </a:ext>
            </a:extLst>
          </p:cNvPr>
          <p:cNvSpPr>
            <a:spLocks noGrp="1"/>
          </p:cNvSpPr>
          <p:nvPr>
            <p:ph type="dt" sz="half" idx="10"/>
          </p:nvPr>
        </p:nvSpPr>
        <p:spPr/>
        <p:txBody>
          <a:bodyPr/>
          <a:lstStyle/>
          <a:p>
            <a:fld id="{C465A158-7B95-4F37-AF2D-E8B71EC35251}" type="datetimeFigureOut">
              <a:rPr kumimoji="1" lang="ja-JP" altLang="en-US" smtClean="0"/>
              <a:t>2026/7/3</a:t>
            </a:fld>
            <a:endParaRPr kumimoji="1" lang="ja-JP" altLang="en-US"/>
          </a:p>
        </p:txBody>
      </p:sp>
      <p:sp>
        <p:nvSpPr>
          <p:cNvPr id="6" name="フッター プレースホルダー 5">
            <a:extLst>
              <a:ext uri="{FF2B5EF4-FFF2-40B4-BE49-F238E27FC236}">
                <a16:creationId xmlns:a16="http://schemas.microsoft.com/office/drawing/2014/main" id="{6078548B-9E8F-F5CD-C17E-924F1AFEA73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606D59F-F97C-9028-79B8-2929599B113E}"/>
              </a:ext>
            </a:extLst>
          </p:cNvPr>
          <p:cNvSpPr>
            <a:spLocks noGrp="1"/>
          </p:cNvSpPr>
          <p:nvPr>
            <p:ph type="sldNum" sz="quarter" idx="12"/>
          </p:nvPr>
        </p:nvSpPr>
        <p:spPr/>
        <p:txBody>
          <a:bodyPr/>
          <a:lstStyle/>
          <a:p>
            <a:fld id="{5FD0BE3B-341E-479E-9DE6-0C5BDF56C6CB}" type="slidenum">
              <a:rPr kumimoji="1" lang="ja-JP" altLang="en-US" smtClean="0"/>
              <a:t>‹#›</a:t>
            </a:fld>
            <a:endParaRPr kumimoji="1" lang="ja-JP" altLang="en-US"/>
          </a:p>
        </p:txBody>
      </p:sp>
    </p:spTree>
    <p:extLst>
      <p:ext uri="{BB962C8B-B14F-4D97-AF65-F5344CB8AC3E}">
        <p14:creationId xmlns:p14="http://schemas.microsoft.com/office/powerpoint/2010/main" val="562553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B92134-C284-BD52-6BF4-52F75AA2DEA3}"/>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2CADB40-83C7-F293-E59E-205A44863B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088A029B-7A22-17F2-2C05-4B39A4AB7FD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BD1FD313-18D4-55F3-4971-0D9B8E3E9F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41E1D938-F0B9-FE75-56C5-7FE4FFC22A82}"/>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0FF9FFE-EF92-4107-713F-9A671FFB3F5D}"/>
              </a:ext>
            </a:extLst>
          </p:cNvPr>
          <p:cNvSpPr>
            <a:spLocks noGrp="1"/>
          </p:cNvSpPr>
          <p:nvPr>
            <p:ph type="dt" sz="half" idx="10"/>
          </p:nvPr>
        </p:nvSpPr>
        <p:spPr/>
        <p:txBody>
          <a:bodyPr/>
          <a:lstStyle/>
          <a:p>
            <a:fld id="{C465A158-7B95-4F37-AF2D-E8B71EC35251}" type="datetimeFigureOut">
              <a:rPr kumimoji="1" lang="ja-JP" altLang="en-US" smtClean="0"/>
              <a:t>2026/7/3</a:t>
            </a:fld>
            <a:endParaRPr kumimoji="1" lang="ja-JP" altLang="en-US"/>
          </a:p>
        </p:txBody>
      </p:sp>
      <p:sp>
        <p:nvSpPr>
          <p:cNvPr id="8" name="フッター プレースホルダー 7">
            <a:extLst>
              <a:ext uri="{FF2B5EF4-FFF2-40B4-BE49-F238E27FC236}">
                <a16:creationId xmlns:a16="http://schemas.microsoft.com/office/drawing/2014/main" id="{7426CD7A-4588-04C0-9526-86D3B5F4BDE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AA9C46AF-C890-C04D-F20E-28C02DCB06B2}"/>
              </a:ext>
            </a:extLst>
          </p:cNvPr>
          <p:cNvSpPr>
            <a:spLocks noGrp="1"/>
          </p:cNvSpPr>
          <p:nvPr>
            <p:ph type="sldNum" sz="quarter" idx="12"/>
          </p:nvPr>
        </p:nvSpPr>
        <p:spPr/>
        <p:txBody>
          <a:bodyPr/>
          <a:lstStyle/>
          <a:p>
            <a:fld id="{5FD0BE3B-341E-479E-9DE6-0C5BDF56C6CB}" type="slidenum">
              <a:rPr kumimoji="1" lang="ja-JP" altLang="en-US" smtClean="0"/>
              <a:t>‹#›</a:t>
            </a:fld>
            <a:endParaRPr kumimoji="1" lang="ja-JP" altLang="en-US"/>
          </a:p>
        </p:txBody>
      </p:sp>
    </p:spTree>
    <p:extLst>
      <p:ext uri="{BB962C8B-B14F-4D97-AF65-F5344CB8AC3E}">
        <p14:creationId xmlns:p14="http://schemas.microsoft.com/office/powerpoint/2010/main" val="2960724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40CBB9-F0CE-FC42-1ED8-A8C5F4FCD8AD}"/>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260D151A-BD33-B552-CFEE-AD2DE8E57843}"/>
              </a:ext>
            </a:extLst>
          </p:cNvPr>
          <p:cNvSpPr>
            <a:spLocks noGrp="1"/>
          </p:cNvSpPr>
          <p:nvPr>
            <p:ph type="dt" sz="half" idx="10"/>
          </p:nvPr>
        </p:nvSpPr>
        <p:spPr/>
        <p:txBody>
          <a:bodyPr/>
          <a:lstStyle/>
          <a:p>
            <a:fld id="{C465A158-7B95-4F37-AF2D-E8B71EC35251}" type="datetimeFigureOut">
              <a:rPr kumimoji="1" lang="ja-JP" altLang="en-US" smtClean="0"/>
              <a:t>2026/7/3</a:t>
            </a:fld>
            <a:endParaRPr kumimoji="1" lang="ja-JP" altLang="en-US"/>
          </a:p>
        </p:txBody>
      </p:sp>
      <p:sp>
        <p:nvSpPr>
          <p:cNvPr id="4" name="フッター プレースホルダー 3">
            <a:extLst>
              <a:ext uri="{FF2B5EF4-FFF2-40B4-BE49-F238E27FC236}">
                <a16:creationId xmlns:a16="http://schemas.microsoft.com/office/drawing/2014/main" id="{15645F97-0A45-5C3D-0D37-582638AC0AC7}"/>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51019A1-14C1-1A3B-7E25-997B35B55E8A}"/>
              </a:ext>
            </a:extLst>
          </p:cNvPr>
          <p:cNvSpPr>
            <a:spLocks noGrp="1"/>
          </p:cNvSpPr>
          <p:nvPr>
            <p:ph type="sldNum" sz="quarter" idx="12"/>
          </p:nvPr>
        </p:nvSpPr>
        <p:spPr/>
        <p:txBody>
          <a:bodyPr/>
          <a:lstStyle/>
          <a:p>
            <a:fld id="{5FD0BE3B-341E-479E-9DE6-0C5BDF56C6CB}" type="slidenum">
              <a:rPr kumimoji="1" lang="ja-JP" altLang="en-US" smtClean="0"/>
              <a:t>‹#›</a:t>
            </a:fld>
            <a:endParaRPr kumimoji="1" lang="ja-JP" altLang="en-US"/>
          </a:p>
        </p:txBody>
      </p:sp>
    </p:spTree>
    <p:extLst>
      <p:ext uri="{BB962C8B-B14F-4D97-AF65-F5344CB8AC3E}">
        <p14:creationId xmlns:p14="http://schemas.microsoft.com/office/powerpoint/2010/main" val="1157779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5DBC0FF-4BA5-FDA2-0EB1-F5F6F92EEA30}"/>
              </a:ext>
            </a:extLst>
          </p:cNvPr>
          <p:cNvSpPr>
            <a:spLocks noGrp="1"/>
          </p:cNvSpPr>
          <p:nvPr>
            <p:ph type="dt" sz="half" idx="10"/>
          </p:nvPr>
        </p:nvSpPr>
        <p:spPr/>
        <p:txBody>
          <a:bodyPr/>
          <a:lstStyle/>
          <a:p>
            <a:fld id="{C465A158-7B95-4F37-AF2D-E8B71EC35251}" type="datetimeFigureOut">
              <a:rPr kumimoji="1" lang="ja-JP" altLang="en-US" smtClean="0"/>
              <a:t>2026/7/3</a:t>
            </a:fld>
            <a:endParaRPr kumimoji="1" lang="ja-JP" altLang="en-US"/>
          </a:p>
        </p:txBody>
      </p:sp>
      <p:sp>
        <p:nvSpPr>
          <p:cNvPr id="3" name="フッター プレースホルダー 2">
            <a:extLst>
              <a:ext uri="{FF2B5EF4-FFF2-40B4-BE49-F238E27FC236}">
                <a16:creationId xmlns:a16="http://schemas.microsoft.com/office/drawing/2014/main" id="{4AAA79D5-163E-71E6-5792-64323492BA1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A71C72B-2C20-DD38-AD48-5E8ED6843EA3}"/>
              </a:ext>
            </a:extLst>
          </p:cNvPr>
          <p:cNvSpPr>
            <a:spLocks noGrp="1"/>
          </p:cNvSpPr>
          <p:nvPr>
            <p:ph type="sldNum" sz="quarter" idx="12"/>
          </p:nvPr>
        </p:nvSpPr>
        <p:spPr/>
        <p:txBody>
          <a:bodyPr/>
          <a:lstStyle/>
          <a:p>
            <a:fld id="{5FD0BE3B-341E-479E-9DE6-0C5BDF56C6CB}" type="slidenum">
              <a:rPr kumimoji="1" lang="ja-JP" altLang="en-US" smtClean="0"/>
              <a:t>‹#›</a:t>
            </a:fld>
            <a:endParaRPr kumimoji="1" lang="ja-JP" altLang="en-US"/>
          </a:p>
        </p:txBody>
      </p:sp>
    </p:spTree>
    <p:extLst>
      <p:ext uri="{BB962C8B-B14F-4D97-AF65-F5344CB8AC3E}">
        <p14:creationId xmlns:p14="http://schemas.microsoft.com/office/powerpoint/2010/main" val="28991871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36F2CB-D334-E416-DDCF-356DB61353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6B9CA93-EEFF-3CA0-990B-FE56D6363A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9D0FEA36-9E8A-A32F-087E-1ADBA0BD2F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09A8064-E0B7-7062-9D75-F241F947E6E6}"/>
              </a:ext>
            </a:extLst>
          </p:cNvPr>
          <p:cNvSpPr>
            <a:spLocks noGrp="1"/>
          </p:cNvSpPr>
          <p:nvPr>
            <p:ph type="dt" sz="half" idx="10"/>
          </p:nvPr>
        </p:nvSpPr>
        <p:spPr/>
        <p:txBody>
          <a:bodyPr/>
          <a:lstStyle/>
          <a:p>
            <a:fld id="{C465A158-7B95-4F37-AF2D-E8B71EC35251}" type="datetimeFigureOut">
              <a:rPr kumimoji="1" lang="ja-JP" altLang="en-US" smtClean="0"/>
              <a:t>2026/7/3</a:t>
            </a:fld>
            <a:endParaRPr kumimoji="1" lang="ja-JP" altLang="en-US"/>
          </a:p>
        </p:txBody>
      </p:sp>
      <p:sp>
        <p:nvSpPr>
          <p:cNvPr id="6" name="フッター プレースホルダー 5">
            <a:extLst>
              <a:ext uri="{FF2B5EF4-FFF2-40B4-BE49-F238E27FC236}">
                <a16:creationId xmlns:a16="http://schemas.microsoft.com/office/drawing/2014/main" id="{24D0B918-45F0-DFE4-7272-E47651F0F40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259900F-AF29-CFA7-67BA-498BFA03F7C9}"/>
              </a:ext>
            </a:extLst>
          </p:cNvPr>
          <p:cNvSpPr>
            <a:spLocks noGrp="1"/>
          </p:cNvSpPr>
          <p:nvPr>
            <p:ph type="sldNum" sz="quarter" idx="12"/>
          </p:nvPr>
        </p:nvSpPr>
        <p:spPr/>
        <p:txBody>
          <a:bodyPr/>
          <a:lstStyle/>
          <a:p>
            <a:fld id="{5FD0BE3B-341E-479E-9DE6-0C5BDF56C6CB}" type="slidenum">
              <a:rPr kumimoji="1" lang="ja-JP" altLang="en-US" smtClean="0"/>
              <a:t>‹#›</a:t>
            </a:fld>
            <a:endParaRPr kumimoji="1" lang="ja-JP" altLang="en-US"/>
          </a:p>
        </p:txBody>
      </p:sp>
    </p:spTree>
    <p:extLst>
      <p:ext uri="{BB962C8B-B14F-4D97-AF65-F5344CB8AC3E}">
        <p14:creationId xmlns:p14="http://schemas.microsoft.com/office/powerpoint/2010/main" val="1807097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F690B8-C2ED-0D65-6A7F-5721E33A00A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80A4AE4C-2175-D8F3-89BD-48EFD04A6F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748C1D42-224C-08C7-0F72-6BBCFAC05D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0888866-D5D8-CDAE-93F7-3128DF2C8EFE}"/>
              </a:ext>
            </a:extLst>
          </p:cNvPr>
          <p:cNvSpPr>
            <a:spLocks noGrp="1"/>
          </p:cNvSpPr>
          <p:nvPr>
            <p:ph type="dt" sz="half" idx="10"/>
          </p:nvPr>
        </p:nvSpPr>
        <p:spPr/>
        <p:txBody>
          <a:bodyPr/>
          <a:lstStyle/>
          <a:p>
            <a:fld id="{C465A158-7B95-4F37-AF2D-E8B71EC35251}" type="datetimeFigureOut">
              <a:rPr kumimoji="1" lang="ja-JP" altLang="en-US" smtClean="0"/>
              <a:t>2026/7/3</a:t>
            </a:fld>
            <a:endParaRPr kumimoji="1" lang="ja-JP" altLang="en-US"/>
          </a:p>
        </p:txBody>
      </p:sp>
      <p:sp>
        <p:nvSpPr>
          <p:cNvPr id="6" name="フッター プレースホルダー 5">
            <a:extLst>
              <a:ext uri="{FF2B5EF4-FFF2-40B4-BE49-F238E27FC236}">
                <a16:creationId xmlns:a16="http://schemas.microsoft.com/office/drawing/2014/main" id="{F7BC17A9-1489-3203-C8AE-3835B61A41A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5C1E7D9-9275-ABE8-EFD4-2E4E14A272D7}"/>
              </a:ext>
            </a:extLst>
          </p:cNvPr>
          <p:cNvSpPr>
            <a:spLocks noGrp="1"/>
          </p:cNvSpPr>
          <p:nvPr>
            <p:ph type="sldNum" sz="quarter" idx="12"/>
          </p:nvPr>
        </p:nvSpPr>
        <p:spPr/>
        <p:txBody>
          <a:bodyPr/>
          <a:lstStyle/>
          <a:p>
            <a:fld id="{5FD0BE3B-341E-479E-9DE6-0C5BDF56C6CB}" type="slidenum">
              <a:rPr kumimoji="1" lang="ja-JP" altLang="en-US" smtClean="0"/>
              <a:t>‹#›</a:t>
            </a:fld>
            <a:endParaRPr kumimoji="1" lang="ja-JP" altLang="en-US"/>
          </a:p>
        </p:txBody>
      </p:sp>
    </p:spTree>
    <p:extLst>
      <p:ext uri="{BB962C8B-B14F-4D97-AF65-F5344CB8AC3E}">
        <p14:creationId xmlns:p14="http://schemas.microsoft.com/office/powerpoint/2010/main" val="8062864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224C13-AC9E-9C1D-7378-D79EC98F827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B9F1ECE-5DDF-0870-C61F-49FA281A9AB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7B0E25B-FFDF-C504-E98D-C9C3AA0E9F95}"/>
              </a:ext>
            </a:extLst>
          </p:cNvPr>
          <p:cNvSpPr>
            <a:spLocks noGrp="1"/>
          </p:cNvSpPr>
          <p:nvPr>
            <p:ph type="dt" sz="half" idx="10"/>
          </p:nvPr>
        </p:nvSpPr>
        <p:spPr/>
        <p:txBody>
          <a:bodyPr/>
          <a:lstStyle/>
          <a:p>
            <a:fld id="{C465A158-7B95-4F37-AF2D-E8B71EC35251}" type="datetimeFigureOut">
              <a:rPr kumimoji="1" lang="ja-JP" altLang="en-US" smtClean="0"/>
              <a:t>2026/7/3</a:t>
            </a:fld>
            <a:endParaRPr kumimoji="1" lang="ja-JP" altLang="en-US"/>
          </a:p>
        </p:txBody>
      </p:sp>
      <p:sp>
        <p:nvSpPr>
          <p:cNvPr id="5" name="フッター プレースホルダー 4">
            <a:extLst>
              <a:ext uri="{FF2B5EF4-FFF2-40B4-BE49-F238E27FC236}">
                <a16:creationId xmlns:a16="http://schemas.microsoft.com/office/drawing/2014/main" id="{DC5F05EE-8FF7-1BDA-1C57-CF859195397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FF8B98B-DD52-8429-81F6-4D8EB2A640F7}"/>
              </a:ext>
            </a:extLst>
          </p:cNvPr>
          <p:cNvSpPr>
            <a:spLocks noGrp="1"/>
          </p:cNvSpPr>
          <p:nvPr>
            <p:ph type="sldNum" sz="quarter" idx="12"/>
          </p:nvPr>
        </p:nvSpPr>
        <p:spPr/>
        <p:txBody>
          <a:bodyPr/>
          <a:lstStyle/>
          <a:p>
            <a:fld id="{5FD0BE3B-341E-479E-9DE6-0C5BDF56C6CB}" type="slidenum">
              <a:rPr kumimoji="1" lang="ja-JP" altLang="en-US" smtClean="0"/>
              <a:t>‹#›</a:t>
            </a:fld>
            <a:endParaRPr kumimoji="1" lang="ja-JP" altLang="en-US"/>
          </a:p>
        </p:txBody>
      </p:sp>
    </p:spTree>
    <p:extLst>
      <p:ext uri="{BB962C8B-B14F-4D97-AF65-F5344CB8AC3E}">
        <p14:creationId xmlns:p14="http://schemas.microsoft.com/office/powerpoint/2010/main" val="1406516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F23F6B6-CECA-CAEF-69C0-D88367EFA095}"/>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895597F-2574-EF45-4FC7-78F59318AEE9}"/>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E085F5-4F4A-A1C5-E388-125DB78FD907}"/>
              </a:ext>
            </a:extLst>
          </p:cNvPr>
          <p:cNvSpPr>
            <a:spLocks noGrp="1"/>
          </p:cNvSpPr>
          <p:nvPr>
            <p:ph type="dt" sz="half" idx="10"/>
          </p:nvPr>
        </p:nvSpPr>
        <p:spPr/>
        <p:txBody>
          <a:bodyPr/>
          <a:lstStyle/>
          <a:p>
            <a:fld id="{C465A158-7B95-4F37-AF2D-E8B71EC35251}" type="datetimeFigureOut">
              <a:rPr kumimoji="1" lang="ja-JP" altLang="en-US" smtClean="0"/>
              <a:t>2026/7/3</a:t>
            </a:fld>
            <a:endParaRPr kumimoji="1" lang="ja-JP" altLang="en-US"/>
          </a:p>
        </p:txBody>
      </p:sp>
      <p:sp>
        <p:nvSpPr>
          <p:cNvPr id="5" name="フッター プレースホルダー 4">
            <a:extLst>
              <a:ext uri="{FF2B5EF4-FFF2-40B4-BE49-F238E27FC236}">
                <a16:creationId xmlns:a16="http://schemas.microsoft.com/office/drawing/2014/main" id="{90B5729C-5F98-47BD-906F-6650889365D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CA8D832-ACEA-B755-D775-BE859400B23F}"/>
              </a:ext>
            </a:extLst>
          </p:cNvPr>
          <p:cNvSpPr>
            <a:spLocks noGrp="1"/>
          </p:cNvSpPr>
          <p:nvPr>
            <p:ph type="sldNum" sz="quarter" idx="12"/>
          </p:nvPr>
        </p:nvSpPr>
        <p:spPr/>
        <p:txBody>
          <a:bodyPr/>
          <a:lstStyle/>
          <a:p>
            <a:fld id="{5FD0BE3B-341E-479E-9DE6-0C5BDF56C6CB}" type="slidenum">
              <a:rPr kumimoji="1" lang="ja-JP" altLang="en-US" smtClean="0"/>
              <a:t>‹#›</a:t>
            </a:fld>
            <a:endParaRPr kumimoji="1" lang="ja-JP" altLang="en-US"/>
          </a:p>
        </p:txBody>
      </p:sp>
    </p:spTree>
    <p:extLst>
      <p:ext uri="{BB962C8B-B14F-4D97-AF65-F5344CB8AC3E}">
        <p14:creationId xmlns:p14="http://schemas.microsoft.com/office/powerpoint/2010/main" val="1057450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D577138-50CA-6DEE-70F8-5755A58914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3233687-ED27-7B38-A4DB-D603729D4F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BE6806E-DC97-2877-3305-FCC8604016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65A158-7B95-4F37-AF2D-E8B71EC35251}" type="datetimeFigureOut">
              <a:rPr kumimoji="1" lang="ja-JP" altLang="en-US" smtClean="0"/>
              <a:t>2026/7/3</a:t>
            </a:fld>
            <a:endParaRPr kumimoji="1" lang="ja-JP" altLang="en-US"/>
          </a:p>
        </p:txBody>
      </p:sp>
      <p:sp>
        <p:nvSpPr>
          <p:cNvPr id="5" name="フッター プレースホルダー 4">
            <a:extLst>
              <a:ext uri="{FF2B5EF4-FFF2-40B4-BE49-F238E27FC236}">
                <a16:creationId xmlns:a16="http://schemas.microsoft.com/office/drawing/2014/main" id="{D174DC4A-6179-A565-1763-69DA66A36F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E9C9D20A-1871-1DB0-30DA-A3BE6DEB5A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FD0BE3B-341E-479E-9DE6-0C5BDF56C6CB}" type="slidenum">
              <a:rPr kumimoji="1" lang="ja-JP" altLang="en-US" smtClean="0"/>
              <a:t>‹#›</a:t>
            </a:fld>
            <a:endParaRPr kumimoji="1" lang="ja-JP" altLang="en-US"/>
          </a:p>
        </p:txBody>
      </p:sp>
    </p:spTree>
    <p:extLst>
      <p:ext uri="{BB962C8B-B14F-4D97-AF65-F5344CB8AC3E}">
        <p14:creationId xmlns:p14="http://schemas.microsoft.com/office/powerpoint/2010/main" val="3917894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F86A4-9423-0FCD-E5CB-0AC656FEAAF4}"/>
            </a:ext>
          </a:extLst>
        </p:cNvPr>
        <p:cNvGrpSpPr/>
        <p:nvPr/>
      </p:nvGrpSpPr>
      <p:grpSpPr>
        <a:xfrm>
          <a:off x="0" y="0"/>
          <a:ext cx="0" cy="0"/>
          <a:chOff x="0" y="0"/>
          <a:chExt cx="0" cy="0"/>
        </a:xfrm>
      </p:grpSpPr>
      <p:sp>
        <p:nvSpPr>
          <p:cNvPr id="2" name="正方形/長方形 1">
            <a:extLst>
              <a:ext uri="{FF2B5EF4-FFF2-40B4-BE49-F238E27FC236}">
                <a16:creationId xmlns:a16="http://schemas.microsoft.com/office/drawing/2014/main" id="{1D438168-FF87-58D0-4AD9-6941B1885D4C}"/>
              </a:ext>
            </a:extLst>
          </p:cNvPr>
          <p:cNvSpPr/>
          <p:nvPr/>
        </p:nvSpPr>
        <p:spPr>
          <a:xfrm>
            <a:off x="1758950" y="1625600"/>
            <a:ext cx="8674100" cy="19431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4800" b="1"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送信機</a:t>
            </a:r>
            <a:endParaRPr lang="en-US" altLang="ja-JP" sz="4800" b="1"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a:p>
            <a:pPr algn="ctr"/>
            <a:r>
              <a:rPr lang="ja-JP" altLang="en-US" sz="4800" b="1"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生産ライン移行</a:t>
            </a:r>
            <a:endParaRPr lang="en-US" altLang="ja-JP" sz="4800" b="1"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C2EC1048-830F-273F-5F57-BDF83A3100AB}"/>
              </a:ext>
            </a:extLst>
          </p:cNvPr>
          <p:cNvSpPr/>
          <p:nvPr/>
        </p:nvSpPr>
        <p:spPr>
          <a:xfrm>
            <a:off x="8746836" y="5902036"/>
            <a:ext cx="3244956" cy="48952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2000" dirty="0">
                <a:solidFill>
                  <a:schemeClr val="tx1"/>
                </a:solidFill>
                <a:latin typeface="Meiryo UI" panose="020B0604030504040204" pitchFamily="50" charset="-128"/>
                <a:ea typeface="Meiryo UI" panose="020B0604030504040204" pitchFamily="50" charset="-128"/>
              </a:rPr>
              <a:t>第二生産部　実装技術課</a:t>
            </a:r>
            <a:endParaRPr lang="en-US" altLang="ja-JP" sz="20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453436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FB83E-5879-8030-8ED8-49C51B788098}"/>
            </a:ext>
          </a:extLst>
        </p:cNvPr>
        <p:cNvGrpSpPr/>
        <p:nvPr/>
      </p:nvGrpSpPr>
      <p:grpSpPr>
        <a:xfrm>
          <a:off x="0" y="0"/>
          <a:ext cx="0" cy="0"/>
          <a:chOff x="0" y="0"/>
          <a:chExt cx="0" cy="0"/>
        </a:xfrm>
      </p:grpSpPr>
      <p:sp>
        <p:nvSpPr>
          <p:cNvPr id="2" name="正方形/長方形 1">
            <a:extLst>
              <a:ext uri="{FF2B5EF4-FFF2-40B4-BE49-F238E27FC236}">
                <a16:creationId xmlns:a16="http://schemas.microsoft.com/office/drawing/2014/main" id="{F354CF15-DE35-2BD2-13BE-62B8AA60B2A8}"/>
              </a:ext>
            </a:extLst>
          </p:cNvPr>
          <p:cNvSpPr/>
          <p:nvPr/>
        </p:nvSpPr>
        <p:spPr>
          <a:xfrm>
            <a:off x="285750" y="177800"/>
            <a:ext cx="5200650" cy="8763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800"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＜送信機の生産ライン移行経緯＞　</a:t>
            </a:r>
            <a:endParaRPr lang="en-US" altLang="ja-JP" sz="2800"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p:txBody>
      </p:sp>
      <p:sp>
        <p:nvSpPr>
          <p:cNvPr id="4" name="正方形/長方形 3">
            <a:extLst>
              <a:ext uri="{FF2B5EF4-FFF2-40B4-BE49-F238E27FC236}">
                <a16:creationId xmlns:a16="http://schemas.microsoft.com/office/drawing/2014/main" id="{CA5F34A4-C8E9-8D34-2DD1-635AD454FFA8}"/>
              </a:ext>
            </a:extLst>
          </p:cNvPr>
          <p:cNvSpPr/>
          <p:nvPr/>
        </p:nvSpPr>
        <p:spPr>
          <a:xfrm>
            <a:off x="554182" y="983672"/>
            <a:ext cx="11434618" cy="404091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altLang="ja-JP" sz="2000" dirty="0">
                <a:latin typeface="Meiryo UI" panose="020B0604030504040204" pitchFamily="50" charset="-128"/>
                <a:ea typeface="Meiryo UI" panose="020B0604030504040204" pitchFamily="50" charset="-128"/>
              </a:rPr>
              <a:t>L2</a:t>
            </a:r>
            <a:r>
              <a:rPr lang="ja-JP" altLang="en-US" sz="2000" dirty="0">
                <a:latin typeface="Meiryo UI" panose="020B0604030504040204" pitchFamily="50" charset="-128"/>
                <a:ea typeface="Meiryo UI" panose="020B0604030504040204" pitchFamily="50" charset="-128"/>
              </a:rPr>
              <a:t>ラインで生産している</a:t>
            </a:r>
            <a:r>
              <a:rPr lang="en-US" altLang="ja-JP" sz="2000" dirty="0">
                <a:latin typeface="Meiryo UI" panose="020B0604030504040204" pitchFamily="50" charset="-128"/>
                <a:ea typeface="Meiryo UI" panose="020B0604030504040204" pitchFamily="50" charset="-128"/>
              </a:rPr>
              <a:t>TEC</a:t>
            </a:r>
            <a:r>
              <a:rPr lang="ja-JP" altLang="en-US" sz="2000" dirty="0">
                <a:latin typeface="Meiryo UI" panose="020B0604030504040204" pitchFamily="50" charset="-128"/>
                <a:ea typeface="Meiryo UI" panose="020B0604030504040204" pitchFamily="50" charset="-128"/>
              </a:rPr>
              <a:t>系の生産台数は、</a:t>
            </a:r>
            <a:r>
              <a:rPr lang="en-US" altLang="ja-JP" sz="2000" dirty="0">
                <a:latin typeface="Meiryo UI" panose="020B0604030504040204" pitchFamily="50" charset="-128"/>
                <a:ea typeface="Meiryo UI" panose="020B0604030504040204" pitchFamily="50" charset="-128"/>
              </a:rPr>
              <a:t>2025</a:t>
            </a:r>
            <a:r>
              <a:rPr lang="ja-JP" altLang="en-US" sz="2000" dirty="0">
                <a:latin typeface="Meiryo UI" panose="020B0604030504040204" pitchFamily="50" charset="-128"/>
                <a:ea typeface="Meiryo UI" panose="020B0604030504040204" pitchFamily="50" charset="-128"/>
              </a:rPr>
              <a:t>年</a:t>
            </a:r>
            <a:r>
              <a:rPr lang="en-US" altLang="ja-JP" sz="2000" dirty="0">
                <a:latin typeface="Meiryo UI" panose="020B0604030504040204" pitchFamily="50" charset="-128"/>
                <a:ea typeface="Meiryo UI" panose="020B0604030504040204" pitchFamily="50" charset="-128"/>
              </a:rPr>
              <a:t>12</a:t>
            </a:r>
            <a:r>
              <a:rPr lang="ja-JP" altLang="en-US" sz="2000" dirty="0">
                <a:latin typeface="Meiryo UI" panose="020B0604030504040204" pitchFamily="50" charset="-128"/>
                <a:ea typeface="Meiryo UI" panose="020B0604030504040204" pitchFamily="50" charset="-128"/>
              </a:rPr>
              <a:t>月中旬以降、大幅に減産傾向となり、実装設備の</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稼働率が</a:t>
            </a:r>
            <a:r>
              <a:rPr lang="en-US" altLang="ja-JP" sz="2000" dirty="0">
                <a:latin typeface="Meiryo UI" panose="020B0604030504040204" pitchFamily="50" charset="-128"/>
                <a:ea typeface="Meiryo UI" panose="020B0604030504040204" pitchFamily="50" charset="-128"/>
              </a:rPr>
              <a:t>50%</a:t>
            </a:r>
            <a:r>
              <a:rPr lang="ja-JP" altLang="en-US" sz="2000" dirty="0">
                <a:latin typeface="Meiryo UI" panose="020B0604030504040204" pitchFamily="50" charset="-128"/>
                <a:ea typeface="Meiryo UI" panose="020B0604030504040204" pitchFamily="50" charset="-128"/>
              </a:rPr>
              <a:t>を下回る日が断続的に発生。</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この状況を踏まえ、実装技術課にて</a:t>
            </a:r>
            <a:r>
              <a:rPr lang="en-US" altLang="ja-JP" sz="2000" dirty="0">
                <a:latin typeface="Meiryo UI" panose="020B0604030504040204" pitchFamily="50" charset="-128"/>
                <a:ea typeface="Meiryo UI" panose="020B0604030504040204" pitchFamily="50" charset="-128"/>
              </a:rPr>
              <a:t>BOSS</a:t>
            </a:r>
            <a:r>
              <a:rPr lang="ja-JP" altLang="en-US" sz="2000" dirty="0">
                <a:latin typeface="Meiryo UI" panose="020B0604030504040204" pitchFamily="50" charset="-128"/>
                <a:ea typeface="Meiryo UI" panose="020B0604030504040204" pitchFamily="50" charset="-128"/>
              </a:rPr>
              <a:t>の生産計画</a:t>
            </a:r>
            <a:r>
              <a:rPr lang="en-US" altLang="ja-JP" sz="2000" dirty="0">
                <a:latin typeface="Meiryo UI" panose="020B0604030504040204" pitchFamily="50" charset="-128"/>
                <a:ea typeface="Meiryo UI" panose="020B0604030504040204" pitchFamily="50" charset="-128"/>
              </a:rPr>
              <a:t>(2026</a:t>
            </a:r>
            <a:r>
              <a:rPr lang="ja-JP" altLang="en-US" sz="2000" dirty="0">
                <a:latin typeface="Meiryo UI" panose="020B0604030504040204" pitchFamily="50" charset="-128"/>
                <a:ea typeface="Meiryo UI" panose="020B0604030504040204" pitchFamily="50" charset="-128"/>
              </a:rPr>
              <a:t>年</a:t>
            </a:r>
            <a:r>
              <a:rPr lang="en-US" altLang="ja-JP" sz="2000" dirty="0">
                <a:latin typeface="Meiryo UI" panose="020B0604030504040204" pitchFamily="50" charset="-128"/>
                <a:ea typeface="Meiryo UI" panose="020B0604030504040204" pitchFamily="50" charset="-128"/>
              </a:rPr>
              <a:t>6</a:t>
            </a:r>
            <a:r>
              <a:rPr lang="ja-JP" altLang="en-US" sz="2000" dirty="0">
                <a:latin typeface="Meiryo UI" panose="020B0604030504040204" pitchFamily="50" charset="-128"/>
                <a:ea typeface="Meiryo UI" panose="020B0604030504040204" pitchFamily="50" charset="-128"/>
              </a:rPr>
              <a:t>月まで</a:t>
            </a: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を確認した結果、</a:t>
            </a:r>
            <a:r>
              <a:rPr lang="en-US" altLang="ja-JP" sz="2000" dirty="0">
                <a:latin typeface="Meiryo UI" panose="020B0604030504040204" pitchFamily="50" charset="-128"/>
                <a:ea typeface="Meiryo UI" panose="020B0604030504040204" pitchFamily="50" charset="-128"/>
              </a:rPr>
              <a:t>TEC</a:t>
            </a:r>
            <a:r>
              <a:rPr lang="ja-JP" altLang="en-US" sz="2000" dirty="0">
                <a:latin typeface="Meiryo UI" panose="020B0604030504040204" pitchFamily="50" charset="-128"/>
                <a:ea typeface="Meiryo UI" panose="020B0604030504040204" pitchFamily="50" charset="-128"/>
              </a:rPr>
              <a:t>系の生産は長期的にも低調に推移する見込みであることを確認。</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一方で、試作品や</a:t>
            </a:r>
            <a:r>
              <a:rPr lang="en-US" altLang="ja-JP" sz="2000" dirty="0">
                <a:latin typeface="Meiryo UI" panose="020B0604030504040204" pitchFamily="50" charset="-128"/>
                <a:ea typeface="Meiryo UI" panose="020B0604030504040204" pitchFamily="50" charset="-128"/>
              </a:rPr>
              <a:t>NKV(330/440)</a:t>
            </a:r>
            <a:r>
              <a:rPr lang="ja-JP" altLang="en-US" sz="2000" dirty="0">
                <a:latin typeface="Meiryo UI" panose="020B0604030504040204" pitchFamily="50" charset="-128"/>
                <a:ea typeface="Meiryo UI" panose="020B0604030504040204" pitchFamily="50" charset="-128"/>
              </a:rPr>
              <a:t>、ならびに通常生産品</a:t>
            </a: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送信機を含む</a:t>
            </a: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を生産している</a:t>
            </a:r>
            <a:r>
              <a:rPr lang="en-US" altLang="ja-JP" sz="2000" dirty="0">
                <a:latin typeface="Meiryo UI" panose="020B0604030504040204" pitchFamily="50" charset="-128"/>
                <a:ea typeface="Meiryo UI" panose="020B0604030504040204" pitchFamily="50" charset="-128"/>
              </a:rPr>
              <a:t>L1</a:t>
            </a:r>
            <a:r>
              <a:rPr lang="ja-JP" altLang="en-US" sz="2000" dirty="0">
                <a:latin typeface="Meiryo UI" panose="020B0604030504040204" pitchFamily="50" charset="-128"/>
                <a:ea typeface="Meiryo UI" panose="020B0604030504040204" pitchFamily="50" charset="-128"/>
              </a:rPr>
              <a:t>ラインにおいては、</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慢性的に稼働率が高い状態が継続している。このため、ライン間の負荷平準化を目的として、送信機の</a:t>
            </a:r>
            <a:r>
              <a:rPr lang="en-US" altLang="ja-JP" sz="2000" dirty="0">
                <a:latin typeface="Meiryo UI" panose="020B0604030504040204" pitchFamily="50" charset="-128"/>
                <a:ea typeface="Meiryo UI" panose="020B0604030504040204" pitchFamily="50" charset="-128"/>
              </a:rPr>
              <a:t>L2</a:t>
            </a:r>
            <a:r>
              <a:rPr lang="ja-JP" altLang="en-US" sz="2000" dirty="0">
                <a:latin typeface="Meiryo UI" panose="020B0604030504040204" pitchFamily="50" charset="-128"/>
                <a:ea typeface="Meiryo UI" panose="020B0604030504040204" pitchFamily="50" charset="-128"/>
              </a:rPr>
              <a:t>ラインへの移行を推進しておりました。</a:t>
            </a:r>
            <a:endParaRPr lang="en-US" altLang="ja-JP" sz="2000" dirty="0">
              <a:latin typeface="Meiryo UI" panose="020B0604030504040204" pitchFamily="50" charset="-128"/>
              <a:ea typeface="Meiryo UI" panose="020B0604030504040204" pitchFamily="50" charset="-128"/>
            </a:endParaRPr>
          </a:p>
          <a:p>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また、</a:t>
            </a:r>
            <a:r>
              <a:rPr lang="en-US" altLang="ja-JP" sz="2000" dirty="0">
                <a:latin typeface="Meiryo UI" panose="020B0604030504040204" pitchFamily="50" charset="-128"/>
                <a:ea typeface="Meiryo UI" panose="020B0604030504040204" pitchFamily="50" charset="-128"/>
              </a:rPr>
              <a:t>L3</a:t>
            </a:r>
            <a:r>
              <a:rPr lang="ja-JP" altLang="en-US" sz="2000" dirty="0">
                <a:latin typeface="Meiryo UI" panose="020B0604030504040204" pitchFamily="50" charset="-128"/>
                <a:ea typeface="Meiryo UI" panose="020B0604030504040204" pitchFamily="50" charset="-128"/>
              </a:rPr>
              <a:t>ラインにて生産している</a:t>
            </a:r>
            <a:r>
              <a:rPr lang="en-US" altLang="ja-JP" sz="2000" dirty="0">
                <a:latin typeface="Meiryo UI" panose="020B0604030504040204" pitchFamily="50" charset="-128"/>
                <a:ea typeface="Meiryo UI" panose="020B0604030504040204" pitchFamily="50" charset="-128"/>
              </a:rPr>
              <a:t>AED</a:t>
            </a:r>
            <a:r>
              <a:rPr lang="ja-JP" altLang="en-US" sz="2000" dirty="0">
                <a:latin typeface="Meiryo UI" panose="020B0604030504040204" pitchFamily="50" charset="-128"/>
                <a:ea typeface="Meiryo UI" panose="020B0604030504040204" pitchFamily="50" charset="-128"/>
              </a:rPr>
              <a:t>系の生産台数についても、</a:t>
            </a:r>
            <a:r>
              <a:rPr lang="en-US" altLang="ja-JP" sz="2000" dirty="0">
                <a:latin typeface="Meiryo UI" panose="020B0604030504040204" pitchFamily="50" charset="-128"/>
                <a:ea typeface="Meiryo UI" panose="020B0604030504040204" pitchFamily="50" charset="-128"/>
              </a:rPr>
              <a:t>2026</a:t>
            </a:r>
            <a:r>
              <a:rPr lang="ja-JP" altLang="en-US" sz="2000" dirty="0">
                <a:latin typeface="Meiryo UI" panose="020B0604030504040204" pitchFamily="50" charset="-128"/>
                <a:ea typeface="Meiryo UI" panose="020B0604030504040204" pitchFamily="50" charset="-128"/>
              </a:rPr>
              <a:t>年</a:t>
            </a:r>
            <a:r>
              <a:rPr lang="en-US" altLang="ja-JP" sz="2000" dirty="0">
                <a:latin typeface="Meiryo UI" panose="020B0604030504040204" pitchFamily="50" charset="-128"/>
                <a:ea typeface="Meiryo UI" panose="020B0604030504040204" pitchFamily="50" charset="-128"/>
              </a:rPr>
              <a:t>6</a:t>
            </a:r>
            <a:r>
              <a:rPr lang="ja-JP" altLang="en-US" sz="2000" dirty="0">
                <a:latin typeface="Meiryo UI" panose="020B0604030504040204" pitchFamily="50" charset="-128"/>
                <a:ea typeface="Meiryo UI" panose="020B0604030504040204" pitchFamily="50" charset="-128"/>
              </a:rPr>
              <a:t>月以降に大幅に減算が見込まれており、このような状況を踏まえ、実装技術課では送信機の生産条件について、</a:t>
            </a:r>
            <a:r>
              <a:rPr lang="en-US" altLang="ja-JP" sz="2000" dirty="0">
                <a:latin typeface="Meiryo UI" panose="020B0604030504040204" pitchFamily="50" charset="-128"/>
                <a:ea typeface="Meiryo UI" panose="020B0604030504040204" pitchFamily="50" charset="-128"/>
              </a:rPr>
              <a:t>L2</a:t>
            </a:r>
            <a:r>
              <a:rPr lang="ja-JP" altLang="en-US" sz="2000" dirty="0">
                <a:latin typeface="Meiryo UI" panose="020B0604030504040204" pitchFamily="50" charset="-128"/>
                <a:ea typeface="Meiryo UI" panose="020B0604030504040204" pitchFamily="50" charset="-128"/>
              </a:rPr>
              <a:t>ラインへの移行を前提とした条件変更の検討を進めてまいりました。</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なお、</a:t>
            </a:r>
            <a:r>
              <a:rPr lang="en-US" altLang="ja-JP" sz="2000" dirty="0">
                <a:latin typeface="Meiryo UI" panose="020B0604030504040204" pitchFamily="50" charset="-128"/>
                <a:ea typeface="Meiryo UI" panose="020B0604030504040204" pitchFamily="50" charset="-128"/>
              </a:rPr>
              <a:t>AED</a:t>
            </a:r>
            <a:r>
              <a:rPr lang="ja-JP" altLang="en-US" sz="2000" dirty="0">
                <a:latin typeface="Meiryo UI" panose="020B0604030504040204" pitchFamily="50" charset="-128"/>
                <a:ea typeface="Meiryo UI" panose="020B0604030504040204" pitchFamily="50" charset="-128"/>
              </a:rPr>
              <a:t>については他グループにて一貫生産ラインの構築検討が進められていたことから、当初計画に基づき、</a:t>
            </a:r>
            <a:r>
              <a:rPr lang="en-US" altLang="ja-JP" sz="2000" dirty="0">
                <a:latin typeface="Meiryo UI" panose="020B0604030504040204" pitchFamily="50" charset="-128"/>
                <a:ea typeface="Meiryo UI" panose="020B0604030504040204" pitchFamily="50" charset="-128"/>
              </a:rPr>
              <a:t>L2</a:t>
            </a:r>
            <a:r>
              <a:rPr lang="ja-JP" altLang="en-US" sz="2000" dirty="0">
                <a:latin typeface="Meiryo UI" panose="020B0604030504040204" pitchFamily="50" charset="-128"/>
                <a:ea typeface="Meiryo UI" panose="020B0604030504040204" pitchFamily="50" charset="-128"/>
              </a:rPr>
              <a:t>ラインへの移行対応を継続して実施いたしました。</a:t>
            </a:r>
            <a:endParaRPr lang="en-US" altLang="ja-JP" sz="20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436969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68199-DCFE-6DB9-1EEB-9C298357A640}"/>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75AF8F5-8276-89BA-1A91-F6B1CDAF8511}"/>
              </a:ext>
            </a:extLst>
          </p:cNvPr>
          <p:cNvSpPr/>
          <p:nvPr/>
        </p:nvSpPr>
        <p:spPr>
          <a:xfrm>
            <a:off x="285750" y="177800"/>
            <a:ext cx="6013450" cy="8763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800"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a:t>
            </a:r>
            <a:r>
              <a:rPr lang="en-US" altLang="ja-JP" sz="2800"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L2</a:t>
            </a:r>
            <a:r>
              <a:rPr lang="ja-JP" altLang="en-US" sz="2800"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ラインと</a:t>
            </a:r>
            <a:r>
              <a:rPr lang="en-US" altLang="ja-JP" sz="2800"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L3</a:t>
            </a:r>
            <a:r>
              <a:rPr lang="ja-JP" altLang="en-US" sz="2800"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ラインの生産実績＞　</a:t>
            </a:r>
            <a:endParaRPr lang="en-US" altLang="ja-JP" sz="2800"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p:txBody>
      </p:sp>
      <p:pic>
        <p:nvPicPr>
          <p:cNvPr id="6" name="図 5">
            <a:extLst>
              <a:ext uri="{FF2B5EF4-FFF2-40B4-BE49-F238E27FC236}">
                <a16:creationId xmlns:a16="http://schemas.microsoft.com/office/drawing/2014/main" id="{4CD7ED3C-B32C-4FC4-48C3-410AA947697B}"/>
              </a:ext>
            </a:extLst>
          </p:cNvPr>
          <p:cNvPicPr>
            <a:picLocks noChangeAspect="1"/>
          </p:cNvPicPr>
          <p:nvPr/>
        </p:nvPicPr>
        <p:blipFill>
          <a:blip r:embed="rId2"/>
          <a:srcRect r="46083"/>
          <a:stretch>
            <a:fillRect/>
          </a:stretch>
        </p:blipFill>
        <p:spPr>
          <a:xfrm>
            <a:off x="924560" y="1054100"/>
            <a:ext cx="9428480" cy="5617966"/>
          </a:xfrm>
          <a:prstGeom prst="rect">
            <a:avLst/>
          </a:prstGeom>
        </p:spPr>
      </p:pic>
      <p:cxnSp>
        <p:nvCxnSpPr>
          <p:cNvPr id="8" name="直線コネクタ 7">
            <a:extLst>
              <a:ext uri="{FF2B5EF4-FFF2-40B4-BE49-F238E27FC236}">
                <a16:creationId xmlns:a16="http://schemas.microsoft.com/office/drawing/2014/main" id="{1521A6D5-5DFD-5F0A-B59A-8AE9695BB093}"/>
              </a:ext>
            </a:extLst>
          </p:cNvPr>
          <p:cNvCxnSpPr>
            <a:cxnSpLocks/>
          </p:cNvCxnSpPr>
          <p:nvPr/>
        </p:nvCxnSpPr>
        <p:spPr>
          <a:xfrm>
            <a:off x="7703129" y="1126836"/>
            <a:ext cx="0" cy="2844800"/>
          </a:xfrm>
          <a:prstGeom prst="line">
            <a:avLst/>
          </a:prstGeom>
          <a:ln w="57150">
            <a:solidFill>
              <a:srgbClr val="FF0000"/>
            </a:solidFill>
            <a:prstDash val="sysDot"/>
          </a:ln>
        </p:spPr>
        <p:style>
          <a:lnRef idx="2">
            <a:schemeClr val="accent1"/>
          </a:lnRef>
          <a:fillRef idx="0">
            <a:schemeClr val="accent1"/>
          </a:fillRef>
          <a:effectRef idx="1">
            <a:schemeClr val="accent1"/>
          </a:effectRef>
          <a:fontRef idx="minor">
            <a:schemeClr val="tx1"/>
          </a:fontRef>
        </p:style>
      </p:cxnSp>
      <p:sp>
        <p:nvSpPr>
          <p:cNvPr id="11" name="矢印: 右 10">
            <a:extLst>
              <a:ext uri="{FF2B5EF4-FFF2-40B4-BE49-F238E27FC236}">
                <a16:creationId xmlns:a16="http://schemas.microsoft.com/office/drawing/2014/main" id="{8B10B3DD-2F28-B70C-A47C-D577A1610037}"/>
              </a:ext>
            </a:extLst>
          </p:cNvPr>
          <p:cNvSpPr/>
          <p:nvPr/>
        </p:nvSpPr>
        <p:spPr>
          <a:xfrm>
            <a:off x="7891088" y="600364"/>
            <a:ext cx="2461952" cy="1246304"/>
          </a:xfrm>
          <a:prstGeom prst="rightArrow">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latin typeface="Meiryo UI" panose="020B0604030504040204" pitchFamily="50" charset="-128"/>
                <a:ea typeface="Meiryo UI" panose="020B0604030504040204" pitchFamily="50" charset="-128"/>
              </a:rPr>
              <a:t>大幅に減産</a:t>
            </a:r>
            <a:endParaRPr kumimoji="1" lang="en-US" altLang="ja-JP" sz="2000" dirty="0">
              <a:latin typeface="Meiryo UI" panose="020B0604030504040204" pitchFamily="50" charset="-128"/>
              <a:ea typeface="Meiryo UI" panose="020B0604030504040204" pitchFamily="50" charset="-128"/>
            </a:endParaRPr>
          </a:p>
          <a:p>
            <a:pPr algn="ctr"/>
            <a:r>
              <a:rPr lang="en-US" altLang="ja-JP" sz="2000" dirty="0">
                <a:latin typeface="Meiryo UI" panose="020B0604030504040204" pitchFamily="50" charset="-128"/>
                <a:ea typeface="Meiryo UI" panose="020B0604030504040204" pitchFamily="50" charset="-128"/>
              </a:rPr>
              <a:t>2025/12/12</a:t>
            </a:r>
            <a:r>
              <a:rPr lang="ja-JP" altLang="en-US" sz="2000" dirty="0">
                <a:latin typeface="Meiryo UI" panose="020B0604030504040204" pitchFamily="50" charset="-128"/>
                <a:ea typeface="Meiryo UI" panose="020B0604030504040204" pitchFamily="50" charset="-128"/>
              </a:rPr>
              <a:t>～</a:t>
            </a:r>
            <a:endParaRPr kumimoji="1" lang="ja-JP" altLang="en-US" sz="2000" dirty="0">
              <a:latin typeface="Meiryo UI" panose="020B0604030504040204" pitchFamily="50" charset="-128"/>
              <a:ea typeface="Meiryo UI" panose="020B0604030504040204" pitchFamily="50" charset="-128"/>
            </a:endParaRPr>
          </a:p>
        </p:txBody>
      </p:sp>
      <p:cxnSp>
        <p:nvCxnSpPr>
          <p:cNvPr id="12" name="直線コネクタ 11">
            <a:extLst>
              <a:ext uri="{FF2B5EF4-FFF2-40B4-BE49-F238E27FC236}">
                <a16:creationId xmlns:a16="http://schemas.microsoft.com/office/drawing/2014/main" id="{AF442595-865E-A96F-1CEB-5C04E244D23B}"/>
              </a:ext>
            </a:extLst>
          </p:cNvPr>
          <p:cNvCxnSpPr>
            <a:cxnSpLocks/>
          </p:cNvCxnSpPr>
          <p:nvPr/>
        </p:nvCxnSpPr>
        <p:spPr>
          <a:xfrm>
            <a:off x="7292107" y="3991811"/>
            <a:ext cx="0" cy="2844800"/>
          </a:xfrm>
          <a:prstGeom prst="line">
            <a:avLst/>
          </a:prstGeom>
          <a:ln w="57150">
            <a:solidFill>
              <a:srgbClr val="FF0000"/>
            </a:solidFill>
            <a:prstDash val="sysDot"/>
          </a:ln>
        </p:spPr>
        <p:style>
          <a:lnRef idx="2">
            <a:schemeClr val="accent1"/>
          </a:lnRef>
          <a:fillRef idx="0">
            <a:schemeClr val="accent1"/>
          </a:fillRef>
          <a:effectRef idx="1">
            <a:schemeClr val="accent1"/>
          </a:effectRef>
          <a:fontRef idx="minor">
            <a:schemeClr val="tx1"/>
          </a:fontRef>
        </p:style>
      </p:cxnSp>
      <p:sp>
        <p:nvSpPr>
          <p:cNvPr id="13" name="矢印: 右 12">
            <a:extLst>
              <a:ext uri="{FF2B5EF4-FFF2-40B4-BE49-F238E27FC236}">
                <a16:creationId xmlns:a16="http://schemas.microsoft.com/office/drawing/2014/main" id="{93EDE2EB-FA87-4743-A4CB-1E9A08ADE07C}"/>
              </a:ext>
            </a:extLst>
          </p:cNvPr>
          <p:cNvSpPr/>
          <p:nvPr/>
        </p:nvSpPr>
        <p:spPr>
          <a:xfrm>
            <a:off x="7480066" y="3897745"/>
            <a:ext cx="2461952" cy="1113588"/>
          </a:xfrm>
          <a:prstGeom prst="rightArrow">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latin typeface="Meiryo UI" panose="020B0604030504040204" pitchFamily="50" charset="-128"/>
                <a:ea typeface="Meiryo UI" panose="020B0604030504040204" pitchFamily="50" charset="-128"/>
              </a:rPr>
              <a:t>大幅に減産</a:t>
            </a:r>
            <a:endParaRPr kumimoji="1" lang="en-US" altLang="ja-JP" sz="2000" dirty="0">
              <a:latin typeface="Meiryo UI" panose="020B0604030504040204" pitchFamily="50" charset="-128"/>
              <a:ea typeface="Meiryo UI" panose="020B0604030504040204" pitchFamily="50" charset="-128"/>
            </a:endParaRPr>
          </a:p>
          <a:p>
            <a:pPr algn="ctr"/>
            <a:r>
              <a:rPr lang="en-US" altLang="ja-JP" sz="2000" dirty="0">
                <a:latin typeface="Meiryo UI" panose="020B0604030504040204" pitchFamily="50" charset="-128"/>
                <a:ea typeface="Meiryo UI" panose="020B0604030504040204" pitchFamily="50" charset="-128"/>
              </a:rPr>
              <a:t>2026/6/2</a:t>
            </a:r>
            <a:r>
              <a:rPr lang="ja-JP" altLang="en-US" sz="2000" dirty="0">
                <a:latin typeface="Meiryo UI" panose="020B0604030504040204" pitchFamily="50" charset="-128"/>
                <a:ea typeface="Meiryo UI" panose="020B0604030504040204" pitchFamily="50" charset="-128"/>
              </a:rPr>
              <a:t>～</a:t>
            </a:r>
            <a:endParaRPr kumimoji="1" lang="ja-JP" altLang="en-US" sz="20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094304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6CACC-73F7-4E02-FCFF-BBB80B91D560}"/>
            </a:ext>
          </a:extLst>
        </p:cNvPr>
        <p:cNvGrpSpPr/>
        <p:nvPr/>
      </p:nvGrpSpPr>
      <p:grpSpPr>
        <a:xfrm>
          <a:off x="0" y="0"/>
          <a:ext cx="0" cy="0"/>
          <a:chOff x="0" y="0"/>
          <a:chExt cx="0" cy="0"/>
        </a:xfrm>
      </p:grpSpPr>
      <p:sp>
        <p:nvSpPr>
          <p:cNvPr id="2" name="正方形/長方形 1">
            <a:extLst>
              <a:ext uri="{FF2B5EF4-FFF2-40B4-BE49-F238E27FC236}">
                <a16:creationId xmlns:a16="http://schemas.microsoft.com/office/drawing/2014/main" id="{F61C81FF-3633-823C-41E3-01D735714729}"/>
              </a:ext>
            </a:extLst>
          </p:cNvPr>
          <p:cNvSpPr/>
          <p:nvPr/>
        </p:nvSpPr>
        <p:spPr>
          <a:xfrm>
            <a:off x="285749" y="177800"/>
            <a:ext cx="5690177" cy="8763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800"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＜実装技術課業務内容と難易度＞　</a:t>
            </a:r>
            <a:endParaRPr lang="en-US" altLang="ja-JP" sz="2800"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E0D92B7B-87C2-9908-532A-1F47F4DB3E56}"/>
              </a:ext>
            </a:extLst>
          </p:cNvPr>
          <p:cNvSpPr/>
          <p:nvPr/>
        </p:nvSpPr>
        <p:spPr>
          <a:xfrm>
            <a:off x="285749" y="5161946"/>
            <a:ext cx="11706043" cy="122961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0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生産移行においては、</a:t>
            </a:r>
            <a:r>
              <a:rPr lang="en-US" altLang="ja-JP" sz="20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L2</a:t>
            </a:r>
            <a:r>
              <a:rPr lang="ja-JP" altLang="en-US" sz="20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ラインへの移行と比較して</a:t>
            </a:r>
            <a:r>
              <a:rPr lang="en-US" altLang="ja-JP" sz="20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L3</a:t>
            </a:r>
            <a:r>
              <a:rPr lang="ja-JP" altLang="en-US" sz="20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ラインへの移行の方が負荷工数が大きい状況にありました。</a:t>
            </a:r>
            <a:endParaRPr lang="en-US" altLang="ja-JP" sz="20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a:p>
            <a:r>
              <a:rPr lang="ja-JP" altLang="en-US" sz="20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また、実装設備の稼働率改善を早期に実行することは、会社への貢献度の観点からも重要であると判断しております。さらに、鹿島からの生産移管時期の前倒しが可能となる点も踏まえ、総合的に検討した結果、実装技術課としては</a:t>
            </a:r>
            <a:r>
              <a:rPr lang="en-US" altLang="ja-JP" sz="20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L2</a:t>
            </a:r>
            <a:r>
              <a:rPr lang="ja-JP" altLang="en-US" sz="20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ラインへの生産移行を決定いたしました。</a:t>
            </a:r>
            <a:endParaRPr lang="en-US" altLang="ja-JP" sz="20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p:txBody>
      </p:sp>
      <p:pic>
        <p:nvPicPr>
          <p:cNvPr id="3" name="図 2">
            <a:extLst>
              <a:ext uri="{FF2B5EF4-FFF2-40B4-BE49-F238E27FC236}">
                <a16:creationId xmlns:a16="http://schemas.microsoft.com/office/drawing/2014/main" id="{FA9592BE-749F-D474-5334-FD8ED3C999A9}"/>
              </a:ext>
            </a:extLst>
          </p:cNvPr>
          <p:cNvPicPr>
            <a:picLocks noChangeAspect="1"/>
          </p:cNvPicPr>
          <p:nvPr/>
        </p:nvPicPr>
        <p:blipFill>
          <a:blip r:embed="rId2"/>
          <a:stretch>
            <a:fillRect/>
          </a:stretch>
        </p:blipFill>
        <p:spPr>
          <a:xfrm>
            <a:off x="957450" y="1125220"/>
            <a:ext cx="7711440" cy="3672840"/>
          </a:xfrm>
          <a:prstGeom prst="rect">
            <a:avLst/>
          </a:prstGeom>
        </p:spPr>
      </p:pic>
    </p:spTree>
    <p:extLst>
      <p:ext uri="{BB962C8B-B14F-4D97-AF65-F5344CB8AC3E}">
        <p14:creationId xmlns:p14="http://schemas.microsoft.com/office/powerpoint/2010/main" val="3857191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717B05DF-D931-293B-9A9B-FFC754B30F85}"/>
              </a:ext>
            </a:extLst>
          </p:cNvPr>
          <p:cNvSpPr/>
          <p:nvPr/>
        </p:nvSpPr>
        <p:spPr>
          <a:xfrm>
            <a:off x="254000" y="355600"/>
            <a:ext cx="8674100" cy="584201"/>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・生産計画</a:t>
            </a:r>
            <a:r>
              <a:rPr lang="en-US" altLang="ja-JP"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(2022/06/22</a:t>
            </a:r>
            <a:r>
              <a:rPr lang="ja-JP" altLang="en-US"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a:t>
            </a:r>
            <a:r>
              <a:rPr lang="en-US" altLang="ja-JP"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2026/11/15)_</a:t>
            </a:r>
            <a:r>
              <a:rPr lang="ja-JP" altLang="en-US"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送信機移管前</a:t>
            </a:r>
            <a:endParaRPr lang="en-US" altLang="ja-JP"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p:txBody>
      </p:sp>
      <p:pic>
        <p:nvPicPr>
          <p:cNvPr id="2" name="図 1">
            <a:extLst>
              <a:ext uri="{FF2B5EF4-FFF2-40B4-BE49-F238E27FC236}">
                <a16:creationId xmlns:a16="http://schemas.microsoft.com/office/drawing/2014/main" id="{F8928AD0-8357-4A9C-0E4C-B2CD8D97C80C}"/>
              </a:ext>
            </a:extLst>
          </p:cNvPr>
          <p:cNvPicPr>
            <a:picLocks noChangeAspect="1"/>
          </p:cNvPicPr>
          <p:nvPr/>
        </p:nvPicPr>
        <p:blipFill>
          <a:blip r:embed="rId2"/>
          <a:stretch>
            <a:fillRect/>
          </a:stretch>
        </p:blipFill>
        <p:spPr>
          <a:xfrm>
            <a:off x="289560" y="939801"/>
            <a:ext cx="11612880" cy="5029200"/>
          </a:xfrm>
          <a:prstGeom prst="rect">
            <a:avLst/>
          </a:prstGeom>
        </p:spPr>
      </p:pic>
    </p:spTree>
    <p:extLst>
      <p:ext uri="{BB962C8B-B14F-4D97-AF65-F5344CB8AC3E}">
        <p14:creationId xmlns:p14="http://schemas.microsoft.com/office/powerpoint/2010/main" val="2597488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A9C42-47F5-4EC6-8F2C-2471A4D6C3E5}"/>
            </a:ext>
          </a:extLst>
        </p:cNvPr>
        <p:cNvGrpSpPr/>
        <p:nvPr/>
      </p:nvGrpSpPr>
      <p:grpSpPr>
        <a:xfrm>
          <a:off x="0" y="0"/>
          <a:ext cx="0" cy="0"/>
          <a:chOff x="0" y="0"/>
          <a:chExt cx="0" cy="0"/>
        </a:xfrm>
      </p:grpSpPr>
      <p:sp>
        <p:nvSpPr>
          <p:cNvPr id="2" name="正方形/長方形 1">
            <a:extLst>
              <a:ext uri="{FF2B5EF4-FFF2-40B4-BE49-F238E27FC236}">
                <a16:creationId xmlns:a16="http://schemas.microsoft.com/office/drawing/2014/main" id="{60228D19-E07F-2AFE-F84B-FDAF14A8F13C}"/>
              </a:ext>
            </a:extLst>
          </p:cNvPr>
          <p:cNvSpPr/>
          <p:nvPr/>
        </p:nvSpPr>
        <p:spPr>
          <a:xfrm>
            <a:off x="254000" y="355600"/>
            <a:ext cx="8674100" cy="584201"/>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・生産計画</a:t>
            </a:r>
            <a:r>
              <a:rPr lang="en-US" altLang="ja-JP"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(2022/06/22</a:t>
            </a:r>
            <a:r>
              <a:rPr lang="ja-JP" altLang="en-US"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a:t>
            </a:r>
            <a:r>
              <a:rPr lang="en-US" altLang="ja-JP"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2026/11/15)_</a:t>
            </a:r>
            <a:r>
              <a:rPr lang="ja-JP" altLang="en-US"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送信機移管後</a:t>
            </a:r>
            <a:endParaRPr lang="en-US" altLang="ja-JP"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p:txBody>
      </p:sp>
      <p:pic>
        <p:nvPicPr>
          <p:cNvPr id="3" name="図 2">
            <a:extLst>
              <a:ext uri="{FF2B5EF4-FFF2-40B4-BE49-F238E27FC236}">
                <a16:creationId xmlns:a16="http://schemas.microsoft.com/office/drawing/2014/main" id="{6431582F-230C-6067-B07C-6523A571C48D}"/>
              </a:ext>
            </a:extLst>
          </p:cNvPr>
          <p:cNvPicPr>
            <a:picLocks noChangeAspect="1"/>
          </p:cNvPicPr>
          <p:nvPr/>
        </p:nvPicPr>
        <p:blipFill>
          <a:blip r:embed="rId2"/>
          <a:stretch>
            <a:fillRect/>
          </a:stretch>
        </p:blipFill>
        <p:spPr>
          <a:xfrm>
            <a:off x="289560" y="941070"/>
            <a:ext cx="11612880" cy="4975860"/>
          </a:xfrm>
          <a:prstGeom prst="rect">
            <a:avLst/>
          </a:prstGeom>
        </p:spPr>
      </p:pic>
    </p:spTree>
    <p:extLst>
      <p:ext uri="{BB962C8B-B14F-4D97-AF65-F5344CB8AC3E}">
        <p14:creationId xmlns:p14="http://schemas.microsoft.com/office/powerpoint/2010/main" val="2389321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94C09-5504-C929-BEAC-468E7BB2F257}"/>
            </a:ext>
          </a:extLst>
        </p:cNvPr>
        <p:cNvGrpSpPr/>
        <p:nvPr/>
      </p:nvGrpSpPr>
      <p:grpSpPr>
        <a:xfrm>
          <a:off x="0" y="0"/>
          <a:ext cx="0" cy="0"/>
          <a:chOff x="0" y="0"/>
          <a:chExt cx="0" cy="0"/>
        </a:xfrm>
      </p:grpSpPr>
      <p:graphicFrame>
        <p:nvGraphicFramePr>
          <p:cNvPr id="6" name="表 5">
            <a:extLst>
              <a:ext uri="{FF2B5EF4-FFF2-40B4-BE49-F238E27FC236}">
                <a16:creationId xmlns:a16="http://schemas.microsoft.com/office/drawing/2014/main" id="{B3C8ECAD-8C29-ED2C-EF18-04CFCDE8CD78}"/>
              </a:ext>
            </a:extLst>
          </p:cNvPr>
          <p:cNvGraphicFramePr>
            <a:graphicFrameLocks noGrp="1"/>
          </p:cNvGraphicFramePr>
          <p:nvPr>
            <p:extLst>
              <p:ext uri="{D42A27DB-BD31-4B8C-83A1-F6EECF244321}">
                <p14:modId xmlns:p14="http://schemas.microsoft.com/office/powerpoint/2010/main" val="1208146238"/>
              </p:ext>
            </p:extLst>
          </p:nvPr>
        </p:nvGraphicFramePr>
        <p:xfrm>
          <a:off x="7454900" y="2451101"/>
          <a:ext cx="4508500" cy="1879599"/>
        </p:xfrm>
        <a:graphic>
          <a:graphicData uri="http://schemas.openxmlformats.org/drawingml/2006/table">
            <a:tbl>
              <a:tblPr>
                <a:tableStyleId>{5C22544A-7EE6-4342-B048-85BDC9FD1C3A}</a:tableStyleId>
              </a:tblPr>
              <a:tblGrid>
                <a:gridCol w="1880064">
                  <a:extLst>
                    <a:ext uri="{9D8B030D-6E8A-4147-A177-3AD203B41FA5}">
                      <a16:colId xmlns:a16="http://schemas.microsoft.com/office/drawing/2014/main" val="3243083926"/>
                    </a:ext>
                  </a:extLst>
                </a:gridCol>
                <a:gridCol w="1314218">
                  <a:extLst>
                    <a:ext uri="{9D8B030D-6E8A-4147-A177-3AD203B41FA5}">
                      <a16:colId xmlns:a16="http://schemas.microsoft.com/office/drawing/2014/main" val="2983995966"/>
                    </a:ext>
                  </a:extLst>
                </a:gridCol>
                <a:gridCol w="1314218">
                  <a:extLst>
                    <a:ext uri="{9D8B030D-6E8A-4147-A177-3AD203B41FA5}">
                      <a16:colId xmlns:a16="http://schemas.microsoft.com/office/drawing/2014/main" val="1217311584"/>
                    </a:ext>
                  </a:extLst>
                </a:gridCol>
              </a:tblGrid>
              <a:tr h="626533">
                <a:tc>
                  <a:txBody>
                    <a:bodyPr/>
                    <a:lstStyle/>
                    <a:p>
                      <a:pPr algn="ctr" fontAlgn="ctr">
                        <a:buNone/>
                      </a:pPr>
                      <a:r>
                        <a:rPr lang="ja-JP" sz="2000" u="none" strike="noStrike">
                          <a:effectLst/>
                          <a:latin typeface="Meiryo UI" panose="020B0604030504040204" pitchFamily="50" charset="-128"/>
                          <a:ea typeface="Meiryo UI" panose="020B0604030504040204" pitchFamily="50" charset="-128"/>
                        </a:rPr>
                        <a:t>　</a:t>
                      </a:r>
                      <a:endParaRPr lang="ja-JP" sz="20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tc>
                <a:tc>
                  <a:txBody>
                    <a:bodyPr/>
                    <a:lstStyle/>
                    <a:p>
                      <a:pPr algn="ctr" fontAlgn="ctr">
                        <a:buNone/>
                      </a:pPr>
                      <a:r>
                        <a:rPr lang="ja-JP" sz="2000" u="none" strike="noStrike">
                          <a:effectLst/>
                          <a:latin typeface="Meiryo UI" panose="020B0604030504040204" pitchFamily="50" charset="-128"/>
                          <a:ea typeface="Meiryo UI" panose="020B0604030504040204" pitchFamily="50" charset="-128"/>
                        </a:rPr>
                        <a:t>L2ライン</a:t>
                      </a:r>
                      <a:endParaRPr lang="ja-JP" sz="20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tc>
                <a:tc>
                  <a:txBody>
                    <a:bodyPr/>
                    <a:lstStyle/>
                    <a:p>
                      <a:pPr algn="ctr" fontAlgn="ctr">
                        <a:buNone/>
                      </a:pPr>
                      <a:r>
                        <a:rPr lang="ja-JP" sz="2000" u="none" strike="noStrike">
                          <a:effectLst/>
                          <a:latin typeface="Meiryo UI" panose="020B0604030504040204" pitchFamily="50" charset="-128"/>
                          <a:ea typeface="Meiryo UI" panose="020B0604030504040204" pitchFamily="50" charset="-128"/>
                        </a:rPr>
                        <a:t>L3ライン</a:t>
                      </a:r>
                      <a:endParaRPr lang="ja-JP" sz="20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tc>
                <a:extLst>
                  <a:ext uri="{0D108BD9-81ED-4DB2-BD59-A6C34878D82A}">
                    <a16:rowId xmlns:a16="http://schemas.microsoft.com/office/drawing/2014/main" val="68715737"/>
                  </a:ext>
                </a:extLst>
              </a:tr>
              <a:tr h="626533">
                <a:tc>
                  <a:txBody>
                    <a:bodyPr/>
                    <a:lstStyle/>
                    <a:p>
                      <a:pPr algn="ctr" fontAlgn="ctr">
                        <a:buNone/>
                      </a:pPr>
                      <a:r>
                        <a:rPr lang="ja-JP" sz="2000" u="none" strike="noStrike">
                          <a:effectLst/>
                          <a:latin typeface="Meiryo UI" panose="020B0604030504040204" pitchFamily="50" charset="-128"/>
                          <a:ea typeface="Meiryo UI" panose="020B0604030504040204" pitchFamily="50" charset="-128"/>
                        </a:rPr>
                        <a:t>稼働率＞100%</a:t>
                      </a:r>
                      <a:endParaRPr lang="ja-JP" sz="20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tc>
                <a:tc>
                  <a:txBody>
                    <a:bodyPr/>
                    <a:lstStyle/>
                    <a:p>
                      <a:pPr algn="ctr" fontAlgn="ctr">
                        <a:buNone/>
                      </a:pPr>
                      <a:r>
                        <a:rPr lang="ja-JP" sz="2000" u="none" strike="noStrike" dirty="0">
                          <a:effectLst/>
                          <a:latin typeface="Meiryo UI" panose="020B0604030504040204" pitchFamily="50" charset="-128"/>
                          <a:ea typeface="Meiryo UI" panose="020B0604030504040204" pitchFamily="50" charset="-128"/>
                        </a:rPr>
                        <a:t>19</a:t>
                      </a:r>
                      <a:r>
                        <a:rPr lang="ja-JP" altLang="en-US" sz="2000" u="none" strike="noStrike" dirty="0">
                          <a:effectLst/>
                          <a:latin typeface="Meiryo UI" panose="020B0604030504040204" pitchFamily="50" charset="-128"/>
                          <a:ea typeface="Meiryo UI" panose="020B0604030504040204" pitchFamily="50" charset="-128"/>
                        </a:rPr>
                        <a:t>日</a:t>
                      </a:r>
                      <a:endParaRPr lang="ja-JP" sz="20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tc>
                <a:tc>
                  <a:txBody>
                    <a:bodyPr/>
                    <a:lstStyle/>
                    <a:p>
                      <a:pPr algn="ctr" fontAlgn="ctr">
                        <a:buNone/>
                      </a:pPr>
                      <a:r>
                        <a:rPr lang="ja-JP" sz="2000" u="none" strike="noStrike" dirty="0">
                          <a:effectLst/>
                          <a:latin typeface="Meiryo UI" panose="020B0604030504040204" pitchFamily="50" charset="-128"/>
                          <a:ea typeface="Meiryo UI" panose="020B0604030504040204" pitchFamily="50" charset="-128"/>
                        </a:rPr>
                        <a:t>17</a:t>
                      </a:r>
                      <a:r>
                        <a:rPr lang="ja-JP" altLang="en-US" sz="2000" u="none" strike="noStrike" dirty="0">
                          <a:effectLst/>
                          <a:latin typeface="Meiryo UI" panose="020B0604030504040204" pitchFamily="50" charset="-128"/>
                          <a:ea typeface="Meiryo UI" panose="020B0604030504040204" pitchFamily="50" charset="-128"/>
                        </a:rPr>
                        <a:t>日</a:t>
                      </a:r>
                      <a:endParaRPr lang="ja-JP" sz="20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tc>
                <a:extLst>
                  <a:ext uri="{0D108BD9-81ED-4DB2-BD59-A6C34878D82A}">
                    <a16:rowId xmlns:a16="http://schemas.microsoft.com/office/drawing/2014/main" val="3619303760"/>
                  </a:ext>
                </a:extLst>
              </a:tr>
              <a:tr h="626533">
                <a:tc>
                  <a:txBody>
                    <a:bodyPr/>
                    <a:lstStyle/>
                    <a:p>
                      <a:pPr algn="ctr" fontAlgn="ctr">
                        <a:buNone/>
                      </a:pPr>
                      <a:r>
                        <a:rPr lang="ja-JP" sz="2000" u="none" strike="noStrike">
                          <a:effectLst/>
                          <a:latin typeface="Meiryo UI" panose="020B0604030504040204" pitchFamily="50" charset="-128"/>
                          <a:ea typeface="Meiryo UI" panose="020B0604030504040204" pitchFamily="50" charset="-128"/>
                        </a:rPr>
                        <a:t>稼働率＜50%</a:t>
                      </a:r>
                      <a:endParaRPr lang="ja-JP" sz="2000" b="0" i="0" u="none" strike="noStrike">
                        <a:solidFill>
                          <a:srgbClr val="000000"/>
                        </a:solidFill>
                        <a:effectLst/>
                        <a:latin typeface="Meiryo UI" panose="020B0604030504040204" pitchFamily="50" charset="-128"/>
                        <a:ea typeface="Meiryo UI" panose="020B0604030504040204" pitchFamily="50" charset="-128"/>
                      </a:endParaRPr>
                    </a:p>
                  </a:txBody>
                  <a:tcPr marL="9525" marR="9525" marT="9525" marB="0" anchor="ctr"/>
                </a:tc>
                <a:tc>
                  <a:txBody>
                    <a:bodyPr/>
                    <a:lstStyle/>
                    <a:p>
                      <a:pPr algn="ctr" fontAlgn="ctr">
                        <a:buNone/>
                      </a:pPr>
                      <a:r>
                        <a:rPr lang="ja-JP" sz="2000" u="none" strike="noStrike" dirty="0">
                          <a:effectLst/>
                          <a:latin typeface="Meiryo UI" panose="020B0604030504040204" pitchFamily="50" charset="-128"/>
                          <a:ea typeface="Meiryo UI" panose="020B0604030504040204" pitchFamily="50" charset="-128"/>
                        </a:rPr>
                        <a:t>14</a:t>
                      </a:r>
                      <a:r>
                        <a:rPr lang="ja-JP" altLang="en-US" sz="2000" u="none" strike="noStrike" dirty="0">
                          <a:effectLst/>
                          <a:latin typeface="Meiryo UI" panose="020B0604030504040204" pitchFamily="50" charset="-128"/>
                          <a:ea typeface="Meiryo UI" panose="020B0604030504040204" pitchFamily="50" charset="-128"/>
                        </a:rPr>
                        <a:t>日</a:t>
                      </a:r>
                      <a:endParaRPr lang="ja-JP" sz="20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tc>
                <a:tc>
                  <a:txBody>
                    <a:bodyPr/>
                    <a:lstStyle/>
                    <a:p>
                      <a:pPr algn="ctr" fontAlgn="ctr">
                        <a:buNone/>
                      </a:pPr>
                      <a:r>
                        <a:rPr lang="ja-JP" sz="2000" u="none" strike="noStrike" dirty="0">
                          <a:effectLst/>
                          <a:latin typeface="Meiryo UI" panose="020B0604030504040204" pitchFamily="50" charset="-128"/>
                          <a:ea typeface="Meiryo UI" panose="020B0604030504040204" pitchFamily="50" charset="-128"/>
                        </a:rPr>
                        <a:t>12</a:t>
                      </a:r>
                      <a:r>
                        <a:rPr lang="ja-JP" altLang="en-US" sz="2000" u="none" strike="noStrike" dirty="0">
                          <a:effectLst/>
                          <a:latin typeface="Meiryo UI" panose="020B0604030504040204" pitchFamily="50" charset="-128"/>
                          <a:ea typeface="Meiryo UI" panose="020B0604030504040204" pitchFamily="50" charset="-128"/>
                        </a:rPr>
                        <a:t>日</a:t>
                      </a:r>
                      <a:endParaRPr lang="ja-JP" sz="20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tc>
                <a:extLst>
                  <a:ext uri="{0D108BD9-81ED-4DB2-BD59-A6C34878D82A}">
                    <a16:rowId xmlns:a16="http://schemas.microsoft.com/office/drawing/2014/main" val="873470183"/>
                  </a:ext>
                </a:extLst>
              </a:tr>
            </a:tbl>
          </a:graphicData>
        </a:graphic>
      </p:graphicFrame>
      <p:sp>
        <p:nvSpPr>
          <p:cNvPr id="7" name="正方形/長方形 6">
            <a:extLst>
              <a:ext uri="{FF2B5EF4-FFF2-40B4-BE49-F238E27FC236}">
                <a16:creationId xmlns:a16="http://schemas.microsoft.com/office/drawing/2014/main" id="{C7DD0F80-270D-C04D-9325-583C71351470}"/>
              </a:ext>
            </a:extLst>
          </p:cNvPr>
          <p:cNvSpPr/>
          <p:nvPr/>
        </p:nvSpPr>
        <p:spPr>
          <a:xfrm>
            <a:off x="254000" y="355600"/>
            <a:ext cx="9693564" cy="584201"/>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・生産計画</a:t>
            </a:r>
            <a:r>
              <a:rPr lang="en-US" altLang="ja-JP"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(2022/06/22</a:t>
            </a:r>
            <a:r>
              <a:rPr lang="ja-JP" altLang="en-US"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a:t>
            </a:r>
            <a:r>
              <a:rPr lang="en-US" altLang="ja-JP"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2026/11/15)_</a:t>
            </a:r>
            <a:r>
              <a:rPr lang="ja-JP" altLang="en-US"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送信機移管後の稼働率</a:t>
            </a:r>
            <a:endParaRPr lang="en-US" altLang="ja-JP"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93BF77AA-49AB-F62D-7156-B27C9A2E0686}"/>
              </a:ext>
            </a:extLst>
          </p:cNvPr>
          <p:cNvSpPr/>
          <p:nvPr/>
        </p:nvSpPr>
        <p:spPr>
          <a:xfrm>
            <a:off x="9028546" y="1637080"/>
            <a:ext cx="3163454" cy="765465"/>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1600" dirty="0">
                <a:latin typeface="Meiryo UI" panose="020B0604030504040204" pitchFamily="50" charset="-128"/>
                <a:ea typeface="Meiryo UI" panose="020B0604030504040204" pitchFamily="50" charset="-128"/>
              </a:rPr>
              <a:t>稼働率</a:t>
            </a:r>
            <a:r>
              <a:rPr lang="en-US" altLang="ja-JP" sz="1600" dirty="0">
                <a:latin typeface="Meiryo UI" panose="020B0604030504040204" pitchFamily="50" charset="-128"/>
                <a:ea typeface="Meiryo UI" panose="020B0604030504040204" pitchFamily="50" charset="-128"/>
              </a:rPr>
              <a:t>100%</a:t>
            </a:r>
            <a:r>
              <a:rPr lang="ja-JP" altLang="en-US" sz="1600" dirty="0">
                <a:latin typeface="Meiryo UI" panose="020B0604030504040204" pitchFamily="50" charset="-128"/>
                <a:ea typeface="Meiryo UI" panose="020B0604030504040204" pitchFamily="50" charset="-128"/>
              </a:rPr>
              <a:t>：</a:t>
            </a:r>
            <a:r>
              <a:rPr lang="en-US" altLang="ja-JP" sz="1600" dirty="0">
                <a:latin typeface="Meiryo UI" panose="020B0604030504040204" pitchFamily="50" charset="-128"/>
                <a:ea typeface="Meiryo UI" panose="020B0604030504040204" pitchFamily="50" charset="-128"/>
              </a:rPr>
              <a:t>2</a:t>
            </a:r>
            <a:r>
              <a:rPr lang="ja-JP" altLang="en-US" sz="1600" dirty="0">
                <a:latin typeface="Meiryo UI" panose="020B0604030504040204" pitchFamily="50" charset="-128"/>
                <a:ea typeface="Meiryo UI" panose="020B0604030504040204" pitchFamily="50" charset="-128"/>
              </a:rPr>
              <a:t>勤務</a:t>
            </a:r>
            <a:r>
              <a:rPr lang="en-US" altLang="ja-JP" sz="1600" dirty="0">
                <a:latin typeface="Meiryo UI" panose="020B0604030504040204" pitchFamily="50" charset="-128"/>
                <a:ea typeface="Meiryo UI" panose="020B0604030504040204" pitchFamily="50" charset="-128"/>
              </a:rPr>
              <a:t>(15.0Hr)</a:t>
            </a:r>
          </a:p>
          <a:p>
            <a:r>
              <a:rPr lang="ja-JP" altLang="en-US" sz="1600" dirty="0">
                <a:latin typeface="Meiryo UI" panose="020B0604030504040204" pitchFamily="50" charset="-128"/>
                <a:ea typeface="Meiryo UI" panose="020B0604030504040204" pitchFamily="50" charset="-128"/>
              </a:rPr>
              <a:t>稼働率　</a:t>
            </a:r>
            <a:r>
              <a:rPr lang="en-US" altLang="ja-JP" sz="1600" dirty="0">
                <a:latin typeface="Meiryo UI" panose="020B0604030504040204" pitchFamily="50" charset="-128"/>
                <a:ea typeface="Meiryo UI" panose="020B0604030504040204" pitchFamily="50" charset="-128"/>
              </a:rPr>
              <a:t>50%</a:t>
            </a:r>
            <a:r>
              <a:rPr lang="ja-JP" altLang="en-US" sz="1600" dirty="0">
                <a:latin typeface="Meiryo UI" panose="020B0604030504040204" pitchFamily="50" charset="-128"/>
                <a:ea typeface="Meiryo UI" panose="020B0604030504040204" pitchFamily="50" charset="-128"/>
              </a:rPr>
              <a:t>：</a:t>
            </a:r>
            <a:r>
              <a:rPr lang="en-US" altLang="ja-JP" sz="1600" dirty="0">
                <a:latin typeface="Meiryo UI" panose="020B0604030504040204" pitchFamily="50" charset="-128"/>
                <a:ea typeface="Meiryo UI" panose="020B0604030504040204" pitchFamily="50" charset="-128"/>
              </a:rPr>
              <a:t>1</a:t>
            </a:r>
            <a:r>
              <a:rPr lang="ja-JP" altLang="en-US" sz="1600" dirty="0">
                <a:latin typeface="Meiryo UI" panose="020B0604030504040204" pitchFamily="50" charset="-128"/>
                <a:ea typeface="Meiryo UI" panose="020B0604030504040204" pitchFamily="50" charset="-128"/>
              </a:rPr>
              <a:t>勤務</a:t>
            </a:r>
            <a:r>
              <a:rPr lang="en-US" altLang="ja-JP" sz="1600" dirty="0">
                <a:latin typeface="Meiryo UI" panose="020B0604030504040204" pitchFamily="50" charset="-128"/>
                <a:ea typeface="Meiryo UI" panose="020B0604030504040204" pitchFamily="50" charset="-128"/>
              </a:rPr>
              <a:t>(7.5Hr)</a:t>
            </a:r>
          </a:p>
        </p:txBody>
      </p:sp>
      <p:sp>
        <p:nvSpPr>
          <p:cNvPr id="9" name="正方形/長方形 8">
            <a:extLst>
              <a:ext uri="{FF2B5EF4-FFF2-40B4-BE49-F238E27FC236}">
                <a16:creationId xmlns:a16="http://schemas.microsoft.com/office/drawing/2014/main" id="{C0034DC5-A7B6-A125-D47C-C82BD48FC1E1}"/>
              </a:ext>
            </a:extLst>
          </p:cNvPr>
          <p:cNvSpPr/>
          <p:nvPr/>
        </p:nvSpPr>
        <p:spPr>
          <a:xfrm>
            <a:off x="7379855" y="5161946"/>
            <a:ext cx="4611937" cy="122961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0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送信機の生産を</a:t>
            </a:r>
            <a:endParaRPr lang="en-US" altLang="ja-JP" sz="20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a:p>
            <a:r>
              <a:rPr lang="en-US" altLang="ja-JP" sz="20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L2</a:t>
            </a:r>
            <a:r>
              <a:rPr lang="ja-JP" altLang="en-US" sz="20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ライン・</a:t>
            </a:r>
            <a:r>
              <a:rPr lang="en-US" altLang="ja-JP" sz="20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L3</a:t>
            </a:r>
            <a:r>
              <a:rPr lang="ja-JP" altLang="en-US" sz="20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ラインのどちらに移行しても</a:t>
            </a:r>
            <a:endParaRPr lang="en-US" altLang="ja-JP" sz="20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a:p>
            <a:r>
              <a:rPr lang="ja-JP" altLang="en-US" sz="20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大きな差は無し</a:t>
            </a:r>
            <a:endParaRPr lang="en-US" altLang="ja-JP" sz="20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p:txBody>
      </p:sp>
      <p:pic>
        <p:nvPicPr>
          <p:cNvPr id="4" name="図 3">
            <a:extLst>
              <a:ext uri="{FF2B5EF4-FFF2-40B4-BE49-F238E27FC236}">
                <a16:creationId xmlns:a16="http://schemas.microsoft.com/office/drawing/2014/main" id="{48C80B2F-213B-0E55-AA06-C0D916787A94}"/>
              </a:ext>
            </a:extLst>
          </p:cNvPr>
          <p:cNvPicPr>
            <a:picLocks noChangeAspect="1"/>
          </p:cNvPicPr>
          <p:nvPr/>
        </p:nvPicPr>
        <p:blipFill>
          <a:blip r:embed="rId2"/>
          <a:stretch>
            <a:fillRect/>
          </a:stretch>
        </p:blipFill>
        <p:spPr>
          <a:xfrm>
            <a:off x="1052831" y="920904"/>
            <a:ext cx="6035040" cy="2857500"/>
          </a:xfrm>
          <a:prstGeom prst="rect">
            <a:avLst/>
          </a:prstGeom>
        </p:spPr>
      </p:pic>
      <p:pic>
        <p:nvPicPr>
          <p:cNvPr id="5" name="図 4">
            <a:extLst>
              <a:ext uri="{FF2B5EF4-FFF2-40B4-BE49-F238E27FC236}">
                <a16:creationId xmlns:a16="http://schemas.microsoft.com/office/drawing/2014/main" id="{D6E974C4-FF29-2B76-E9D0-077C35A46137}"/>
              </a:ext>
            </a:extLst>
          </p:cNvPr>
          <p:cNvPicPr>
            <a:picLocks noChangeAspect="1"/>
          </p:cNvPicPr>
          <p:nvPr/>
        </p:nvPicPr>
        <p:blipFill>
          <a:blip r:embed="rId3"/>
          <a:stretch>
            <a:fillRect/>
          </a:stretch>
        </p:blipFill>
        <p:spPr>
          <a:xfrm>
            <a:off x="1052831" y="3900525"/>
            <a:ext cx="6035040" cy="2849880"/>
          </a:xfrm>
          <a:prstGeom prst="rect">
            <a:avLst/>
          </a:prstGeom>
        </p:spPr>
      </p:pic>
    </p:spTree>
    <p:extLst>
      <p:ext uri="{BB962C8B-B14F-4D97-AF65-F5344CB8AC3E}">
        <p14:creationId xmlns:p14="http://schemas.microsoft.com/office/powerpoint/2010/main" val="1863733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E4964-7DB7-78A5-87A6-3A7BFA435880}"/>
            </a:ext>
          </a:extLst>
        </p:cNvPr>
        <p:cNvGrpSpPr/>
        <p:nvPr/>
      </p:nvGrpSpPr>
      <p:grpSpPr>
        <a:xfrm>
          <a:off x="0" y="0"/>
          <a:ext cx="0" cy="0"/>
          <a:chOff x="0" y="0"/>
          <a:chExt cx="0" cy="0"/>
        </a:xfrm>
      </p:grpSpPr>
      <p:sp>
        <p:nvSpPr>
          <p:cNvPr id="7" name="正方形/長方形 6">
            <a:extLst>
              <a:ext uri="{FF2B5EF4-FFF2-40B4-BE49-F238E27FC236}">
                <a16:creationId xmlns:a16="http://schemas.microsoft.com/office/drawing/2014/main" id="{10119859-154F-B176-3886-DBD53B58618C}"/>
              </a:ext>
            </a:extLst>
          </p:cNvPr>
          <p:cNvSpPr/>
          <p:nvPr/>
        </p:nvSpPr>
        <p:spPr>
          <a:xfrm>
            <a:off x="254000" y="355600"/>
            <a:ext cx="9693564" cy="584201"/>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a:t>
            </a:r>
            <a:r>
              <a:rPr lang="en-US" altLang="ja-JP"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L1</a:t>
            </a:r>
            <a:r>
              <a:rPr lang="ja-JP" altLang="en-US"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ライン　と　</a:t>
            </a:r>
            <a:r>
              <a:rPr lang="en-US" altLang="ja-JP"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L2</a:t>
            </a:r>
            <a:r>
              <a:rPr lang="ja-JP" altLang="en-US"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ライン　の</a:t>
            </a:r>
            <a:r>
              <a:rPr lang="ja-JP" altLang="en-US" sz="24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タクトタイム</a:t>
            </a:r>
            <a:r>
              <a:rPr lang="ja-JP" altLang="en-US"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比較結果</a:t>
            </a:r>
            <a:endParaRPr lang="en-US" altLang="ja-JP"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p:txBody>
      </p:sp>
      <p:sp>
        <p:nvSpPr>
          <p:cNvPr id="4" name="正方形/長方形 3">
            <a:extLst>
              <a:ext uri="{FF2B5EF4-FFF2-40B4-BE49-F238E27FC236}">
                <a16:creationId xmlns:a16="http://schemas.microsoft.com/office/drawing/2014/main" id="{F5E1FC57-D06E-3AC1-BF55-29FD754F0AAD}"/>
              </a:ext>
            </a:extLst>
          </p:cNvPr>
          <p:cNvSpPr/>
          <p:nvPr/>
        </p:nvSpPr>
        <p:spPr>
          <a:xfrm>
            <a:off x="108283" y="871002"/>
            <a:ext cx="3549316" cy="496575"/>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altLang="ja-JP" sz="2000" b="1" dirty="0">
                <a:solidFill>
                  <a:schemeClr val="tx1"/>
                </a:solidFill>
                <a:latin typeface="Meiryo UI" panose="020B0604030504040204" pitchFamily="50" charset="-128"/>
                <a:ea typeface="Meiryo UI" panose="020B0604030504040204" pitchFamily="50" charset="-128"/>
              </a:rPr>
              <a:t>1.</a:t>
            </a:r>
            <a:r>
              <a:rPr lang="ja-JP" altLang="en-US" sz="2000" b="1" dirty="0">
                <a:solidFill>
                  <a:schemeClr val="tx1"/>
                </a:solidFill>
                <a:latin typeface="Meiryo UI" panose="020B0604030504040204" pitchFamily="50" charset="-128"/>
                <a:ea typeface="Meiryo UI" panose="020B0604030504040204" pitchFamily="50" charset="-128"/>
              </a:rPr>
              <a:t>品目別タクトタイム</a:t>
            </a:r>
            <a:r>
              <a:rPr lang="en-US" altLang="ja-JP" sz="2000" b="1" dirty="0">
                <a:solidFill>
                  <a:schemeClr val="tx1"/>
                </a:solidFill>
                <a:latin typeface="Meiryo UI" panose="020B0604030504040204" pitchFamily="50" charset="-128"/>
                <a:ea typeface="Meiryo UI" panose="020B0604030504040204" pitchFamily="50" charset="-128"/>
              </a:rPr>
              <a:t>(1</a:t>
            </a:r>
            <a:r>
              <a:rPr lang="ja-JP" altLang="en-US" sz="2000" b="1" dirty="0">
                <a:solidFill>
                  <a:schemeClr val="tx1"/>
                </a:solidFill>
                <a:latin typeface="Meiryo UI" panose="020B0604030504040204" pitchFamily="50" charset="-128"/>
                <a:ea typeface="Meiryo UI" panose="020B0604030504040204" pitchFamily="50" charset="-128"/>
              </a:rPr>
              <a:t>シート</a:t>
            </a:r>
            <a:r>
              <a:rPr lang="en-US" altLang="ja-JP" sz="2000" b="1" dirty="0">
                <a:solidFill>
                  <a:schemeClr val="tx1"/>
                </a:solidFill>
                <a:latin typeface="Meiryo UI" panose="020B0604030504040204" pitchFamily="50" charset="-128"/>
                <a:ea typeface="Meiryo UI" panose="020B0604030504040204" pitchFamily="50" charset="-128"/>
              </a:rPr>
              <a:t>)</a:t>
            </a:r>
          </a:p>
        </p:txBody>
      </p:sp>
      <p:sp>
        <p:nvSpPr>
          <p:cNvPr id="3" name="正方形/長方形 2">
            <a:extLst>
              <a:ext uri="{FF2B5EF4-FFF2-40B4-BE49-F238E27FC236}">
                <a16:creationId xmlns:a16="http://schemas.microsoft.com/office/drawing/2014/main" id="{5D42CB08-3EC7-4D6B-C17D-46E177A5F23F}"/>
              </a:ext>
            </a:extLst>
          </p:cNvPr>
          <p:cNvSpPr/>
          <p:nvPr/>
        </p:nvSpPr>
        <p:spPr>
          <a:xfrm>
            <a:off x="1422733" y="5366485"/>
            <a:ext cx="9282364" cy="122961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0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リフローの温度プロファイルをリニア型からハット型へ変更した結果、</a:t>
            </a:r>
            <a:endParaRPr lang="en-US" altLang="ja-JP" sz="20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a:p>
            <a:r>
              <a:rPr lang="ja-JP" altLang="en-US" sz="20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全品目において１シート当たりのタクトタイムが短縮され、生産性の向上が確認された</a:t>
            </a:r>
            <a:endParaRPr lang="en-US" altLang="ja-JP" sz="20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p:txBody>
      </p:sp>
      <p:pic>
        <p:nvPicPr>
          <p:cNvPr id="1026" name="Picture 2">
            <a:extLst>
              <a:ext uri="{FF2B5EF4-FFF2-40B4-BE49-F238E27FC236}">
                <a16:creationId xmlns:a16="http://schemas.microsoft.com/office/drawing/2014/main" id="{CBA4588B-A2C1-B946-8E8E-D17D39A82F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00" y="1367577"/>
            <a:ext cx="8962189" cy="416694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表 4">
            <a:extLst>
              <a:ext uri="{FF2B5EF4-FFF2-40B4-BE49-F238E27FC236}">
                <a16:creationId xmlns:a16="http://schemas.microsoft.com/office/drawing/2014/main" id="{31181259-D3AC-4631-DD45-60A4D592BD29}"/>
              </a:ext>
            </a:extLst>
          </p:cNvPr>
          <p:cNvGraphicFramePr>
            <a:graphicFrameLocks noGrp="1"/>
          </p:cNvGraphicFramePr>
          <p:nvPr>
            <p:extLst>
              <p:ext uri="{D42A27DB-BD31-4B8C-83A1-F6EECF244321}">
                <p14:modId xmlns:p14="http://schemas.microsoft.com/office/powerpoint/2010/main" val="2379162348"/>
              </p:ext>
            </p:extLst>
          </p:nvPr>
        </p:nvGraphicFramePr>
        <p:xfrm>
          <a:off x="9517438" y="1367577"/>
          <a:ext cx="2503658" cy="4449546"/>
        </p:xfrm>
        <a:graphic>
          <a:graphicData uri="http://schemas.openxmlformats.org/drawingml/2006/table">
            <a:tbl>
              <a:tblPr/>
              <a:tblGrid>
                <a:gridCol w="804309">
                  <a:extLst>
                    <a:ext uri="{9D8B030D-6E8A-4147-A177-3AD203B41FA5}">
                      <a16:colId xmlns:a16="http://schemas.microsoft.com/office/drawing/2014/main" val="2564926591"/>
                    </a:ext>
                  </a:extLst>
                </a:gridCol>
                <a:gridCol w="581163">
                  <a:extLst>
                    <a:ext uri="{9D8B030D-6E8A-4147-A177-3AD203B41FA5}">
                      <a16:colId xmlns:a16="http://schemas.microsoft.com/office/drawing/2014/main" val="2661112879"/>
                    </a:ext>
                  </a:extLst>
                </a:gridCol>
                <a:gridCol w="608136">
                  <a:extLst>
                    <a:ext uri="{9D8B030D-6E8A-4147-A177-3AD203B41FA5}">
                      <a16:colId xmlns:a16="http://schemas.microsoft.com/office/drawing/2014/main" val="67889405"/>
                    </a:ext>
                  </a:extLst>
                </a:gridCol>
                <a:gridCol w="510050">
                  <a:extLst>
                    <a:ext uri="{9D8B030D-6E8A-4147-A177-3AD203B41FA5}">
                      <a16:colId xmlns:a16="http://schemas.microsoft.com/office/drawing/2014/main" val="3096641158"/>
                    </a:ext>
                  </a:extLst>
                </a:gridCol>
              </a:tblGrid>
              <a:tr h="161161">
                <a:tc>
                  <a:txBody>
                    <a:bodyPr/>
                    <a:lstStyle/>
                    <a:p>
                      <a:pPr algn="ctr" fontAlgn="ctr">
                        <a:buNone/>
                      </a:pPr>
                      <a:endParaRPr lang="ja-JP" sz="800" b="0" i="0" u="none" strike="noStrike">
                        <a:solidFill>
                          <a:srgbClr val="000000"/>
                        </a:solidFill>
                        <a:effectLst/>
                        <a:latin typeface="Meiryo UI" panose="020B0604030504040204" pitchFamily="50" charset="-128"/>
                        <a:ea typeface="Meiryo UI" panose="020B0604030504040204" pitchFamily="50" charset="-128"/>
                      </a:endParaRP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L1ライン</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L2ライン</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タクトタイム</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48537376"/>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URS-42952</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561.10</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378.13</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dirty="0">
                          <a:solidFill>
                            <a:srgbClr val="000000"/>
                          </a:solidFill>
                          <a:effectLst/>
                          <a:latin typeface="Meiryo UI" panose="020B0604030504040204" pitchFamily="50" charset="-128"/>
                          <a:ea typeface="Meiryo UI" panose="020B0604030504040204" pitchFamily="50" charset="-128"/>
                        </a:rPr>
                        <a:t>0.67</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5817640"/>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URS-4348</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1590.84</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1307.24</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0.82</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3503021"/>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URS-45452</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1816.28</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1228.56</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0.68</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35696780"/>
                  </a:ext>
                </a:extLst>
              </a:tr>
              <a:tr h="0">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URS-43013</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1343.93</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904.36</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0.67</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6357516"/>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URS-4461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1291.51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911.25</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0.71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9032662"/>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URS-4215</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1259.17</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802.44</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0.64</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7147398"/>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URS-43014</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1338.05</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898.49</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0.67</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1067045"/>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URS-42982</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1579.15</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1156.48</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0.73</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5314683"/>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URS-42883</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1400.56</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989.41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0.71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60108982"/>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URS-4377-01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1210.72</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860.08</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0.71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3033645"/>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URS-45451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1652.26</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1012.95</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0.61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9925373"/>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URS-43721-01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1442.64</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958.86</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0.66</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0487144"/>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URS-4349-01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1130.89</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765.79</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0.68</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67500151"/>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URS-4289</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1197.95</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741.33</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0.62</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944147"/>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URS-43011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1345.27</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902.58</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0.67</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2722181"/>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URS-4377</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1202.19</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859.24</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0.71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07340276"/>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URS-42881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1374.73</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947.86</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0.69</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34689814"/>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URS-43012</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1340.72</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898.24</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0.67</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66562828"/>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URS-4045</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1156.52</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794.43</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0.69</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8248527"/>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URS-42951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556.03</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373.93</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0.67</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2945264"/>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URS-4346</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1266.75</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842.58</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0.67</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878256"/>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URS-4372</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1446.58</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960.29</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0.66</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50787870"/>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URS-43721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1444.90</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960.29</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0.66</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0157344"/>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URS-42882</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1398.99</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989.06</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0.71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25306968"/>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URS-42981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1463.47</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981.63</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0.67</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4068848"/>
                  </a:ext>
                </a:extLst>
              </a:tr>
              <a:tr h="161161">
                <a:tc>
                  <a:txBody>
                    <a:bodyPr/>
                    <a:lstStyle/>
                    <a:p>
                      <a:pPr algn="ctr" fontAlgn="ctr">
                        <a:buNone/>
                      </a:pPr>
                      <a:endParaRPr lang="ja-JP" sz="800" b="0" i="0" u="none" strike="noStrike">
                        <a:solidFill>
                          <a:srgbClr val="000000"/>
                        </a:solidFill>
                        <a:effectLst/>
                        <a:latin typeface="Meiryo UI" panose="020B0604030504040204" pitchFamily="50" charset="-128"/>
                        <a:ea typeface="Meiryo UI" panose="020B0604030504040204" pitchFamily="50" charset="-128"/>
                      </a:endParaRPr>
                    </a:p>
                  </a:txBody>
                  <a:tcPr marL="7393" marR="7393" marT="7393" marB="35485"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32811.19</a:t>
                      </a:r>
                    </a:p>
                  </a:txBody>
                  <a:tcPr marL="7393" marR="7393" marT="7393" marB="35485"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22425.52</a:t>
                      </a:r>
                    </a:p>
                  </a:txBody>
                  <a:tcPr marL="7393" marR="7393" marT="7393" marB="35485"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ja-JP" sz="800" b="0" i="0" u="none" strike="noStrike" dirty="0">
                          <a:solidFill>
                            <a:srgbClr val="000000"/>
                          </a:solidFill>
                          <a:effectLst/>
                          <a:latin typeface="Meiryo UI" panose="020B0604030504040204" pitchFamily="50" charset="-128"/>
                          <a:ea typeface="Meiryo UI" panose="020B0604030504040204" pitchFamily="50" charset="-128"/>
                        </a:rPr>
                        <a:t>68.35%</a:t>
                      </a:r>
                    </a:p>
                  </a:txBody>
                  <a:tcPr marL="7393" marR="7393" marT="7393" marB="35485"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028800931"/>
                  </a:ext>
                </a:extLst>
              </a:tr>
            </a:tbl>
          </a:graphicData>
        </a:graphic>
      </p:graphicFrame>
    </p:spTree>
    <p:extLst>
      <p:ext uri="{BB962C8B-B14F-4D97-AF65-F5344CB8AC3E}">
        <p14:creationId xmlns:p14="http://schemas.microsoft.com/office/powerpoint/2010/main" val="977846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97E8B-47D8-C417-AF88-49C70260211F}"/>
            </a:ext>
          </a:extLst>
        </p:cNvPr>
        <p:cNvGrpSpPr/>
        <p:nvPr/>
      </p:nvGrpSpPr>
      <p:grpSpPr>
        <a:xfrm>
          <a:off x="0" y="0"/>
          <a:ext cx="0" cy="0"/>
          <a:chOff x="0" y="0"/>
          <a:chExt cx="0" cy="0"/>
        </a:xfrm>
      </p:grpSpPr>
      <p:sp>
        <p:nvSpPr>
          <p:cNvPr id="7" name="正方形/長方形 6">
            <a:extLst>
              <a:ext uri="{FF2B5EF4-FFF2-40B4-BE49-F238E27FC236}">
                <a16:creationId xmlns:a16="http://schemas.microsoft.com/office/drawing/2014/main" id="{DB9BAB1E-2730-46D9-50AB-EB4443E3119E}"/>
              </a:ext>
            </a:extLst>
          </p:cNvPr>
          <p:cNvSpPr/>
          <p:nvPr/>
        </p:nvSpPr>
        <p:spPr>
          <a:xfrm>
            <a:off x="254000" y="355600"/>
            <a:ext cx="9693564" cy="584201"/>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a:t>
            </a:r>
            <a:r>
              <a:rPr lang="en-US" altLang="ja-JP"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L1</a:t>
            </a:r>
            <a:r>
              <a:rPr lang="ja-JP" altLang="en-US"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ライン　と　</a:t>
            </a:r>
            <a:r>
              <a:rPr lang="en-US" altLang="ja-JP"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L2</a:t>
            </a:r>
            <a:r>
              <a:rPr lang="ja-JP" altLang="en-US"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ライン　の</a:t>
            </a:r>
            <a:r>
              <a:rPr lang="ja-JP" altLang="en-US" sz="24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タクトタイム</a:t>
            </a:r>
            <a:r>
              <a:rPr lang="ja-JP" altLang="en-US"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比較結果</a:t>
            </a:r>
            <a:endParaRPr lang="en-US" altLang="ja-JP" sz="2400" b="1" u="sng"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p:txBody>
      </p:sp>
      <p:sp>
        <p:nvSpPr>
          <p:cNvPr id="4" name="正方形/長方形 3">
            <a:extLst>
              <a:ext uri="{FF2B5EF4-FFF2-40B4-BE49-F238E27FC236}">
                <a16:creationId xmlns:a16="http://schemas.microsoft.com/office/drawing/2014/main" id="{5D45D667-2B95-5F8A-F63F-5612BB33578F}"/>
              </a:ext>
            </a:extLst>
          </p:cNvPr>
          <p:cNvSpPr/>
          <p:nvPr/>
        </p:nvSpPr>
        <p:spPr>
          <a:xfrm>
            <a:off x="108282" y="867609"/>
            <a:ext cx="5787191" cy="496575"/>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altLang="ja-JP" sz="2000" b="1" dirty="0">
                <a:solidFill>
                  <a:schemeClr val="tx1"/>
                </a:solidFill>
                <a:latin typeface="Meiryo UI" panose="020B0604030504040204" pitchFamily="50" charset="-128"/>
                <a:ea typeface="Meiryo UI" panose="020B0604030504040204" pitchFamily="50" charset="-128"/>
              </a:rPr>
              <a:t>2.</a:t>
            </a:r>
            <a:r>
              <a:rPr lang="ja-JP" altLang="en-US" sz="2000" b="1" dirty="0">
                <a:solidFill>
                  <a:schemeClr val="tx1"/>
                </a:solidFill>
                <a:latin typeface="Meiryo UI" panose="020B0604030504040204" pitchFamily="50" charset="-128"/>
                <a:ea typeface="Meiryo UI" panose="020B0604030504040204" pitchFamily="50" charset="-128"/>
              </a:rPr>
              <a:t>品目別総生産タクトタイム</a:t>
            </a:r>
            <a:r>
              <a:rPr lang="en-US" altLang="ja-JP" sz="2000" b="1" dirty="0">
                <a:solidFill>
                  <a:schemeClr val="tx1"/>
                </a:solidFill>
                <a:latin typeface="Meiryo UI" panose="020B0604030504040204" pitchFamily="50" charset="-128"/>
                <a:ea typeface="Meiryo UI" panose="020B0604030504040204" pitchFamily="50" charset="-128"/>
              </a:rPr>
              <a:t>(</a:t>
            </a:r>
            <a:r>
              <a:rPr lang="ja-JP" altLang="en-US" sz="2000" b="1" dirty="0">
                <a:solidFill>
                  <a:schemeClr val="tx1"/>
                </a:solidFill>
                <a:latin typeface="Meiryo UI" panose="020B0604030504040204" pitchFamily="50" charset="-128"/>
                <a:ea typeface="Meiryo UI" panose="020B0604030504040204" pitchFamily="50" charset="-128"/>
              </a:rPr>
              <a:t>指図</a:t>
            </a:r>
            <a:r>
              <a:rPr lang="en-US" altLang="ja-JP" sz="2000" b="1" dirty="0">
                <a:solidFill>
                  <a:schemeClr val="tx1"/>
                </a:solidFill>
                <a:latin typeface="Meiryo UI" panose="020B0604030504040204" pitchFamily="50" charset="-128"/>
                <a:ea typeface="Meiryo UI" panose="020B0604030504040204" pitchFamily="50" charset="-128"/>
              </a:rPr>
              <a:t>)</a:t>
            </a:r>
          </a:p>
        </p:txBody>
      </p:sp>
      <p:sp>
        <p:nvSpPr>
          <p:cNvPr id="2" name="正方形/長方形 1">
            <a:extLst>
              <a:ext uri="{FF2B5EF4-FFF2-40B4-BE49-F238E27FC236}">
                <a16:creationId xmlns:a16="http://schemas.microsoft.com/office/drawing/2014/main" id="{55F7D043-81A1-AD02-1B27-04C90158DC96}"/>
              </a:ext>
            </a:extLst>
          </p:cNvPr>
          <p:cNvSpPr/>
          <p:nvPr/>
        </p:nvSpPr>
        <p:spPr>
          <a:xfrm>
            <a:off x="108282" y="5799219"/>
            <a:ext cx="11911264" cy="92643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0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カメラ認識方式がマルチ認識からライン認識へ変更となったことから、特定部品については、実装可能なモジュラーが限定さる状況となった。今後は、特定部品に対してノズル構成および配置数の見直しを進め、サイクルタイムの短縮によるタクトタイム改善に取り組む</a:t>
            </a:r>
            <a:endParaRPr lang="en-US" altLang="ja-JP" sz="2000" b="1" u="sng" dirty="0">
              <a:solidFill>
                <a:schemeClr val="tx1"/>
              </a:solidFill>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p:txBody>
      </p:sp>
      <p:pic>
        <p:nvPicPr>
          <p:cNvPr id="2050" name="Picture 2">
            <a:extLst>
              <a:ext uri="{FF2B5EF4-FFF2-40B4-BE49-F238E27FC236}">
                <a16:creationId xmlns:a16="http://schemas.microsoft.com/office/drawing/2014/main" id="{4BE6FF13-802A-70D4-D1A6-483FA7251F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00" y="1343327"/>
            <a:ext cx="9010316" cy="434761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表 2">
            <a:extLst>
              <a:ext uri="{FF2B5EF4-FFF2-40B4-BE49-F238E27FC236}">
                <a16:creationId xmlns:a16="http://schemas.microsoft.com/office/drawing/2014/main" id="{C80BC98B-70A4-7BCC-DD81-D346201FB6A3}"/>
              </a:ext>
            </a:extLst>
          </p:cNvPr>
          <p:cNvGraphicFramePr>
            <a:graphicFrameLocks noGrp="1"/>
          </p:cNvGraphicFramePr>
          <p:nvPr>
            <p:extLst>
              <p:ext uri="{D42A27DB-BD31-4B8C-83A1-F6EECF244321}">
                <p14:modId xmlns:p14="http://schemas.microsoft.com/office/powerpoint/2010/main" val="1850238959"/>
              </p:ext>
            </p:extLst>
          </p:nvPr>
        </p:nvGraphicFramePr>
        <p:xfrm>
          <a:off x="9515888" y="1364184"/>
          <a:ext cx="2503658" cy="4449546"/>
        </p:xfrm>
        <a:graphic>
          <a:graphicData uri="http://schemas.openxmlformats.org/drawingml/2006/table">
            <a:tbl>
              <a:tblPr/>
              <a:tblGrid>
                <a:gridCol w="804309">
                  <a:extLst>
                    <a:ext uri="{9D8B030D-6E8A-4147-A177-3AD203B41FA5}">
                      <a16:colId xmlns:a16="http://schemas.microsoft.com/office/drawing/2014/main" val="933021852"/>
                    </a:ext>
                  </a:extLst>
                </a:gridCol>
                <a:gridCol w="581163">
                  <a:extLst>
                    <a:ext uri="{9D8B030D-6E8A-4147-A177-3AD203B41FA5}">
                      <a16:colId xmlns:a16="http://schemas.microsoft.com/office/drawing/2014/main" val="3439068629"/>
                    </a:ext>
                  </a:extLst>
                </a:gridCol>
                <a:gridCol w="608136">
                  <a:extLst>
                    <a:ext uri="{9D8B030D-6E8A-4147-A177-3AD203B41FA5}">
                      <a16:colId xmlns:a16="http://schemas.microsoft.com/office/drawing/2014/main" val="556131600"/>
                    </a:ext>
                  </a:extLst>
                </a:gridCol>
                <a:gridCol w="510050">
                  <a:extLst>
                    <a:ext uri="{9D8B030D-6E8A-4147-A177-3AD203B41FA5}">
                      <a16:colId xmlns:a16="http://schemas.microsoft.com/office/drawing/2014/main" val="4232171481"/>
                    </a:ext>
                  </a:extLst>
                </a:gridCol>
              </a:tblGrid>
              <a:tr h="161161">
                <a:tc>
                  <a:txBody>
                    <a:bodyPr/>
                    <a:lstStyle/>
                    <a:p>
                      <a:pPr algn="ctr" fontAlgn="ctr">
                        <a:buNone/>
                      </a:pPr>
                      <a:endParaRPr lang="ja-JP" sz="800" b="0" i="0" u="none" strike="noStrike">
                        <a:solidFill>
                          <a:srgbClr val="000000"/>
                        </a:solidFill>
                        <a:effectLst/>
                        <a:latin typeface="Meiryo UI" panose="020B0604030504040204" pitchFamily="50" charset="-128"/>
                        <a:ea typeface="Meiryo UI" panose="020B0604030504040204" pitchFamily="50" charset="-128"/>
                      </a:endParaRP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L1ライン</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L2ライン</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タクトタイム</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10590710"/>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URS-42952</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2000.48</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1817.51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0.91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40825131"/>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URS-4348</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4233.10</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5905.05</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1.39</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86335126"/>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URS-45452</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14065.43</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16991.41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1.21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54100555"/>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URS-43013</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2924.03</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2484.46</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0.85</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67702972"/>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URS-4461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8363.37</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8571.18</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1.02</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74071612"/>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URS-4215</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4137.92</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3681.19</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0.89</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6823781"/>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URS-43014</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2918.15</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2478.59</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0.85</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6466598"/>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URS-42982</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5192.89</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6058.63</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1.17</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1387471"/>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URS-42883</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3611.81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3200.66</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0.89</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2517168"/>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URS-4377-01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4089.47</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3738.83</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0.91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1209690"/>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URS-45451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5768.22</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5761.74</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1.00</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5023567"/>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URS-43721-01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4848.97</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4431.03</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0.91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89451428"/>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URS-4349-01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2539.64</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2174.54</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0.86</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51237062"/>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URS-4289</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4076.70</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3620.08</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0.89</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16328598"/>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URS-43011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2100.97</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1658.28</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0.79</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2025362"/>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URS-4377</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4080.94</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3737.99</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0.92</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31660685"/>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URS-42881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4958.48</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4531.61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0.91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99126231"/>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URS-43012</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2920.82</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2478.34</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0.85</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73723448"/>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URS-4045</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2565.27</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2203.18</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0.86</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87743433"/>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URS-42951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1995.40</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1813.31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0.91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9376083"/>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URS-4346</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2675.50</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2251.33</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0.84</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36431063"/>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URS-4372</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4852.91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4439.56</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0.91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5180045"/>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URS-43721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4851.23</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4439.56</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0.92</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81257958"/>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URS-42882</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4982.74</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4572.81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0.92</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9155996"/>
                  </a:ext>
                </a:extLst>
              </a:tr>
              <a:tr h="161161">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URS-42981</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5047.22</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4565.38</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0.90</a:t>
                      </a:r>
                    </a:p>
                  </a:txBody>
                  <a:tcPr marL="7393" marR="7393" marT="7393" marB="3548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55105360"/>
                  </a:ext>
                </a:extLst>
              </a:tr>
              <a:tr h="161161">
                <a:tc>
                  <a:txBody>
                    <a:bodyPr/>
                    <a:lstStyle/>
                    <a:p>
                      <a:pPr algn="ctr" fontAlgn="ctr">
                        <a:buNone/>
                      </a:pPr>
                      <a:endParaRPr lang="ja-JP" sz="800" b="0" i="0" u="none" strike="noStrike">
                        <a:solidFill>
                          <a:srgbClr val="000000"/>
                        </a:solidFill>
                        <a:effectLst/>
                        <a:latin typeface="Meiryo UI" panose="020B0604030504040204" pitchFamily="50" charset="-128"/>
                        <a:ea typeface="Meiryo UI" panose="020B0604030504040204" pitchFamily="50" charset="-128"/>
                      </a:endParaRPr>
                    </a:p>
                  </a:txBody>
                  <a:tcPr marL="7393" marR="7393" marT="7393" marB="35485"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109801.63</a:t>
                      </a:r>
                    </a:p>
                  </a:txBody>
                  <a:tcPr marL="7393" marR="7393" marT="7393" marB="35485"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107606.27</a:t>
                      </a:r>
                    </a:p>
                  </a:txBody>
                  <a:tcPr marL="7393" marR="7393" marT="7393" marB="35485"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ja-JP" sz="800" b="0" i="0" u="none" strike="noStrike" dirty="0">
                          <a:solidFill>
                            <a:srgbClr val="000000"/>
                          </a:solidFill>
                          <a:effectLst/>
                          <a:latin typeface="Meiryo UI" panose="020B0604030504040204" pitchFamily="50" charset="-128"/>
                          <a:ea typeface="Meiryo UI" panose="020B0604030504040204" pitchFamily="50" charset="-128"/>
                        </a:rPr>
                        <a:t>98.00%</a:t>
                      </a:r>
                    </a:p>
                  </a:txBody>
                  <a:tcPr marL="7393" marR="7393" marT="7393" marB="35485"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61352902"/>
                  </a:ext>
                </a:extLst>
              </a:tr>
            </a:tbl>
          </a:graphicData>
        </a:graphic>
      </p:graphicFrame>
    </p:spTree>
    <p:extLst>
      <p:ext uri="{BB962C8B-B14F-4D97-AF65-F5344CB8AC3E}">
        <p14:creationId xmlns:p14="http://schemas.microsoft.com/office/powerpoint/2010/main" val="1963961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8FFC4-CFD5-1C84-68E4-4798E81A0C24}"/>
            </a:ext>
          </a:extLst>
        </p:cNvPr>
        <p:cNvGrpSpPr/>
        <p:nvPr/>
      </p:nvGrpSpPr>
      <p:grpSpPr>
        <a:xfrm>
          <a:off x="0" y="0"/>
          <a:ext cx="0" cy="0"/>
          <a:chOff x="0" y="0"/>
          <a:chExt cx="0" cy="0"/>
        </a:xfrm>
      </p:grpSpPr>
      <p:sp>
        <p:nvSpPr>
          <p:cNvPr id="2" name="正方形/長方形 1">
            <a:extLst>
              <a:ext uri="{FF2B5EF4-FFF2-40B4-BE49-F238E27FC236}">
                <a16:creationId xmlns:a16="http://schemas.microsoft.com/office/drawing/2014/main" id="{D51E23CD-C412-2D6C-8885-5218AB3E80C1}"/>
              </a:ext>
            </a:extLst>
          </p:cNvPr>
          <p:cNvSpPr/>
          <p:nvPr/>
        </p:nvSpPr>
        <p:spPr>
          <a:xfrm>
            <a:off x="285750" y="177800"/>
            <a:ext cx="5200650" cy="8763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800"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＜改善点＞　</a:t>
            </a:r>
            <a:endParaRPr lang="en-US" altLang="ja-JP" sz="2800"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E9D0D378-04C2-5EC4-8FE8-58124779F2BC}"/>
              </a:ext>
            </a:extLst>
          </p:cNvPr>
          <p:cNvSpPr/>
          <p:nvPr/>
        </p:nvSpPr>
        <p:spPr>
          <a:xfrm>
            <a:off x="558800" y="800100"/>
            <a:ext cx="11226800" cy="11938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000" dirty="0">
                <a:latin typeface="Meiryo UI" panose="020B0604030504040204" pitchFamily="50" charset="-128"/>
                <a:ea typeface="Meiryo UI" panose="020B0604030504040204" pitchFamily="50" charset="-128"/>
              </a:rPr>
              <a:t>・</a:t>
            </a:r>
            <a:r>
              <a:rPr lang="en-US" altLang="ja-JP" sz="2000" dirty="0">
                <a:latin typeface="Meiryo UI" panose="020B0604030504040204" pitchFamily="50" charset="-128"/>
                <a:ea typeface="Meiryo UI" panose="020B0604030504040204" pitchFamily="50" charset="-128"/>
              </a:rPr>
              <a:t>1st</a:t>
            </a:r>
            <a:r>
              <a:rPr lang="ja-JP" altLang="en-US" sz="2000" dirty="0">
                <a:latin typeface="Meiryo UI" panose="020B0604030504040204" pitchFamily="50" charset="-128"/>
                <a:ea typeface="Meiryo UI" panose="020B0604030504040204" pitchFamily="50" charset="-128"/>
              </a:rPr>
              <a:t>生産の固定品目群における温度プロファイルを日常点検用と同一条件に統一することで、</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温度プロファイル立ち上げに伴う待機回数の削減を図り、設備可動率の向上を目的として実験を計画。</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あわせて、日常点検用の規格値についても見直しを行う</a:t>
            </a:r>
            <a:endParaRPr lang="en-US" altLang="ja-JP" sz="2000" dirty="0">
              <a:latin typeface="Meiryo UI" panose="020B0604030504040204" pitchFamily="50" charset="-128"/>
              <a:ea typeface="Meiryo UI" panose="020B0604030504040204" pitchFamily="50" charset="-128"/>
            </a:endParaRPr>
          </a:p>
        </p:txBody>
      </p:sp>
      <p:sp>
        <p:nvSpPr>
          <p:cNvPr id="4" name="正方形/長方形 3">
            <a:extLst>
              <a:ext uri="{FF2B5EF4-FFF2-40B4-BE49-F238E27FC236}">
                <a16:creationId xmlns:a16="http://schemas.microsoft.com/office/drawing/2014/main" id="{5A890189-92B5-B5AC-32BA-EA71639C690B}"/>
              </a:ext>
            </a:extLst>
          </p:cNvPr>
          <p:cNvSpPr/>
          <p:nvPr/>
        </p:nvSpPr>
        <p:spPr>
          <a:xfrm>
            <a:off x="285750" y="2426862"/>
            <a:ext cx="5200650" cy="8763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800"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＜問題発生＞　</a:t>
            </a:r>
            <a:endParaRPr lang="en-US" altLang="ja-JP" sz="2800"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274B9195-6B0F-72A0-8E92-0D40235FB2DA}"/>
              </a:ext>
            </a:extLst>
          </p:cNvPr>
          <p:cNvSpPr/>
          <p:nvPr/>
        </p:nvSpPr>
        <p:spPr>
          <a:xfrm>
            <a:off x="558800" y="3049161"/>
            <a:ext cx="11226800" cy="23114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000" dirty="0">
                <a:latin typeface="Meiryo UI" panose="020B0604030504040204" pitchFamily="50" charset="-128"/>
                <a:ea typeface="Meiryo UI" panose="020B0604030504040204" pitchFamily="50" charset="-128"/>
              </a:rPr>
              <a:t>・実装ライン担当者より、以下の内容を実装技術係担当者に問い合わせがあり、認識の相違により業務へ</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支障が生じている状況です</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1.</a:t>
            </a:r>
            <a:r>
              <a:rPr lang="ja-JP" altLang="ja-JP" sz="2000" dirty="0">
                <a:latin typeface="Meiryo UI" panose="020B0604030504040204" pitchFamily="50" charset="-128"/>
                <a:ea typeface="Meiryo UI" panose="020B0604030504040204" pitchFamily="50" charset="-128"/>
              </a:rPr>
              <a:t>一週間前に実施された天野様との面談において、送信機は</a:t>
            </a:r>
            <a:r>
              <a:rPr lang="en-US" altLang="ja-JP" sz="2000" dirty="0">
                <a:latin typeface="Meiryo UI" panose="020B0604030504040204" pitchFamily="50" charset="-128"/>
                <a:ea typeface="Meiryo UI" panose="020B0604030504040204" pitchFamily="50" charset="-128"/>
              </a:rPr>
              <a:t>L3</a:t>
            </a:r>
            <a:r>
              <a:rPr lang="ja-JP" altLang="en-US" sz="2000" dirty="0">
                <a:latin typeface="Meiryo UI" panose="020B0604030504040204" pitchFamily="50" charset="-128"/>
                <a:ea typeface="Meiryo UI" panose="020B0604030504040204" pitchFamily="50" charset="-128"/>
              </a:rPr>
              <a:t>ライン</a:t>
            </a:r>
            <a:r>
              <a:rPr lang="ja-JP" altLang="ja-JP" sz="2000" dirty="0">
                <a:latin typeface="Meiryo UI" panose="020B0604030504040204" pitchFamily="50" charset="-128"/>
                <a:ea typeface="Meiryo UI" panose="020B0604030504040204" pitchFamily="50" charset="-128"/>
              </a:rPr>
              <a:t>へ移行する</a:t>
            </a:r>
            <a:r>
              <a:rPr lang="ja-JP" altLang="en-US" sz="2000" dirty="0">
                <a:latin typeface="Meiryo UI" panose="020B0604030504040204" pitchFamily="50" charset="-128"/>
                <a:ea typeface="Meiryo UI" panose="020B0604030504040204" pitchFamily="50" charset="-128"/>
              </a:rPr>
              <a:t>旨の</a:t>
            </a:r>
            <a:r>
              <a:rPr lang="ja-JP" altLang="ja-JP" sz="2000" dirty="0">
                <a:latin typeface="Meiryo UI" panose="020B0604030504040204" pitchFamily="50" charset="-128"/>
                <a:ea typeface="Meiryo UI" panose="020B0604030504040204" pitchFamily="50" charset="-128"/>
              </a:rPr>
              <a:t>説明を受けていた。</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2.</a:t>
            </a:r>
            <a:r>
              <a:rPr lang="ja-JP" altLang="ja-JP" sz="2000" dirty="0">
                <a:latin typeface="Meiryo UI" panose="020B0604030504040204" pitchFamily="50" charset="-128"/>
                <a:ea typeface="Meiryo UI" panose="020B0604030504040204" pitchFamily="50" charset="-128"/>
              </a:rPr>
              <a:t>佐藤様の退職に伴い、急遽</a:t>
            </a:r>
            <a:r>
              <a:rPr lang="en-US" altLang="ja-JP" sz="2000" dirty="0">
                <a:latin typeface="Meiryo UI" panose="020B0604030504040204" pitchFamily="50" charset="-128"/>
                <a:ea typeface="Meiryo UI" panose="020B0604030504040204" pitchFamily="50" charset="-128"/>
              </a:rPr>
              <a:t>L2</a:t>
            </a:r>
            <a:r>
              <a:rPr lang="ja-JP" altLang="en-US" sz="2000" dirty="0">
                <a:latin typeface="Meiryo UI" panose="020B0604030504040204" pitchFamily="50" charset="-128"/>
                <a:ea typeface="Meiryo UI" panose="020B0604030504040204" pitchFamily="50" charset="-128"/>
              </a:rPr>
              <a:t>ライン</a:t>
            </a:r>
            <a:r>
              <a:rPr lang="ja-JP" altLang="ja-JP" sz="2000" dirty="0">
                <a:latin typeface="Meiryo UI" panose="020B0604030504040204" pitchFamily="50" charset="-128"/>
                <a:ea typeface="Meiryo UI" panose="020B0604030504040204" pitchFamily="50" charset="-128"/>
              </a:rPr>
              <a:t>へ移行したと</a:t>
            </a:r>
            <a:r>
              <a:rPr lang="ja-JP" altLang="en-US" sz="2000" dirty="0">
                <a:latin typeface="Meiryo UI" panose="020B0604030504040204" pitchFamily="50" charset="-128"/>
                <a:ea typeface="Meiryo UI" panose="020B0604030504040204" pitchFamily="50" charset="-128"/>
              </a:rPr>
              <a:t>の情報が共有されている</a:t>
            </a:r>
            <a:r>
              <a:rPr lang="ja-JP" altLang="ja-JP" sz="2000" dirty="0">
                <a:latin typeface="Meiryo UI" panose="020B0604030504040204" pitchFamily="50" charset="-128"/>
                <a:ea typeface="Meiryo UI" panose="020B0604030504040204" pitchFamily="50" charset="-128"/>
              </a:rPr>
              <a:t>。</a:t>
            </a: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3.</a:t>
            </a:r>
            <a:r>
              <a:rPr lang="ja-JP" altLang="ja-JP" sz="2000" dirty="0">
                <a:latin typeface="Meiryo UI" panose="020B0604030504040204" pitchFamily="50" charset="-128"/>
                <a:ea typeface="Meiryo UI" panose="020B0604030504040204" pitchFamily="50" charset="-128"/>
              </a:rPr>
              <a:t>実装技術</a:t>
            </a:r>
            <a:r>
              <a:rPr lang="ja-JP" altLang="en-US" sz="2000" dirty="0">
                <a:latin typeface="Meiryo UI" panose="020B0604030504040204" pitchFamily="50" charset="-128"/>
                <a:ea typeface="Meiryo UI" panose="020B0604030504040204" pitchFamily="50" charset="-128"/>
              </a:rPr>
              <a:t>課の</a:t>
            </a:r>
            <a:r>
              <a:rPr lang="ja-JP" altLang="ja-JP" sz="2000" dirty="0">
                <a:latin typeface="Meiryo UI" panose="020B0604030504040204" pitchFamily="50" charset="-128"/>
                <a:ea typeface="Meiryo UI" panose="020B0604030504040204" pitchFamily="50" charset="-128"/>
              </a:rPr>
              <a:t>判断</a:t>
            </a:r>
            <a:r>
              <a:rPr lang="ja-JP" altLang="en-US" sz="2000" dirty="0">
                <a:latin typeface="Meiryo UI" panose="020B0604030504040204" pitchFamily="50" charset="-128"/>
                <a:ea typeface="Meiryo UI" panose="020B0604030504040204" pitchFamily="50" charset="-128"/>
              </a:rPr>
              <a:t>により</a:t>
            </a:r>
            <a:r>
              <a:rPr lang="ja-JP" altLang="ja-JP" sz="2000" dirty="0">
                <a:latin typeface="Meiryo UI" panose="020B0604030504040204" pitchFamily="50" charset="-128"/>
                <a:ea typeface="Meiryo UI" panose="020B0604030504040204" pitchFamily="50" charset="-128"/>
              </a:rPr>
              <a:t>、</a:t>
            </a:r>
            <a:r>
              <a:rPr lang="en-US" altLang="ja-JP" sz="2000" dirty="0">
                <a:latin typeface="Meiryo UI" panose="020B0604030504040204" pitchFamily="50" charset="-128"/>
                <a:ea typeface="Meiryo UI" panose="020B0604030504040204" pitchFamily="50" charset="-128"/>
              </a:rPr>
              <a:t>L2</a:t>
            </a:r>
            <a:r>
              <a:rPr lang="ja-JP" altLang="en-US" sz="2000" dirty="0">
                <a:latin typeface="Meiryo UI" panose="020B0604030504040204" pitchFamily="50" charset="-128"/>
                <a:ea typeface="Meiryo UI" panose="020B0604030504040204" pitchFamily="50" charset="-128"/>
              </a:rPr>
              <a:t>ライン</a:t>
            </a:r>
            <a:r>
              <a:rPr lang="ja-JP" altLang="ja-JP" sz="2000" dirty="0">
                <a:latin typeface="Meiryo UI" panose="020B0604030504040204" pitchFamily="50" charset="-128"/>
                <a:ea typeface="Meiryo UI" panose="020B0604030504040204" pitchFamily="50" charset="-128"/>
              </a:rPr>
              <a:t>へ移行したと</a:t>
            </a:r>
            <a:r>
              <a:rPr lang="ja-JP" altLang="en-US" sz="2000" dirty="0">
                <a:latin typeface="Meiryo UI" panose="020B0604030504040204" pitchFamily="50" charset="-128"/>
                <a:ea typeface="Meiryo UI" panose="020B0604030504040204" pitchFamily="50" charset="-128"/>
              </a:rPr>
              <a:t>の</a:t>
            </a:r>
            <a:r>
              <a:rPr lang="ja-JP" altLang="ja-JP" sz="2000" dirty="0">
                <a:latin typeface="Meiryo UI" panose="020B0604030504040204" pitchFamily="50" charset="-128"/>
                <a:ea typeface="Meiryo UI" panose="020B0604030504040204" pitchFamily="50" charset="-128"/>
              </a:rPr>
              <a:t>認識</a:t>
            </a:r>
            <a:r>
              <a:rPr lang="ja-JP" altLang="en-US" sz="2000" dirty="0">
                <a:latin typeface="Meiryo UI" panose="020B0604030504040204" pitchFamily="50" charset="-128"/>
                <a:ea typeface="Meiryo UI" panose="020B0604030504040204" pitchFamily="50" charset="-128"/>
              </a:rPr>
              <a:t>が関係者間で存在している</a:t>
            </a:r>
            <a:r>
              <a:rPr lang="ja-JP" altLang="ja-JP" sz="2000" dirty="0">
                <a:latin typeface="Meiryo UI" panose="020B0604030504040204" pitchFamily="50" charset="-128"/>
                <a:ea typeface="Meiryo UI" panose="020B0604030504040204" pitchFamily="50" charset="-128"/>
              </a:rPr>
              <a:t>。</a:t>
            </a:r>
            <a:endParaRPr lang="en-US" altLang="ja-JP" sz="20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144166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0130B-06B5-9419-1AC4-99D0DA0D144B}"/>
            </a:ext>
          </a:extLst>
        </p:cNvPr>
        <p:cNvGrpSpPr/>
        <p:nvPr/>
      </p:nvGrpSpPr>
      <p:grpSpPr>
        <a:xfrm>
          <a:off x="0" y="0"/>
          <a:ext cx="0" cy="0"/>
          <a:chOff x="0" y="0"/>
          <a:chExt cx="0" cy="0"/>
        </a:xfrm>
      </p:grpSpPr>
      <p:sp>
        <p:nvSpPr>
          <p:cNvPr id="2" name="正方形/長方形 1">
            <a:extLst>
              <a:ext uri="{FF2B5EF4-FFF2-40B4-BE49-F238E27FC236}">
                <a16:creationId xmlns:a16="http://schemas.microsoft.com/office/drawing/2014/main" id="{1A763C81-03FF-1EE2-5A2D-058DE338255E}"/>
              </a:ext>
            </a:extLst>
          </p:cNvPr>
          <p:cNvSpPr/>
          <p:nvPr/>
        </p:nvSpPr>
        <p:spPr>
          <a:xfrm>
            <a:off x="285749" y="177800"/>
            <a:ext cx="5523923" cy="8763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800"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rPr>
              <a:t>＜問題発生内容に対しての回答＞　</a:t>
            </a:r>
            <a:endParaRPr lang="en-US" altLang="ja-JP" sz="2800" dirty="0">
              <a:effectLst>
                <a:outerShdw blurRad="38100" dist="38100" dir="2700000" algn="tl">
                  <a:srgbClr val="000000">
                    <a:alpha val="43137"/>
                  </a:srgbClr>
                </a:outerShdw>
              </a:effectLst>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A35E0CAD-5AB3-BFD5-B078-990CD7230D16}"/>
              </a:ext>
            </a:extLst>
          </p:cNvPr>
          <p:cNvSpPr/>
          <p:nvPr/>
        </p:nvSpPr>
        <p:spPr>
          <a:xfrm>
            <a:off x="558800" y="969817"/>
            <a:ext cx="11226800" cy="5541819"/>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1.</a:t>
            </a:r>
            <a:r>
              <a:rPr lang="ja-JP" altLang="ja-JP" sz="2000" dirty="0">
                <a:latin typeface="Meiryo UI" panose="020B0604030504040204" pitchFamily="50" charset="-128"/>
                <a:ea typeface="Meiryo UI" panose="020B0604030504040204" pitchFamily="50" charset="-128"/>
              </a:rPr>
              <a:t>一週間前に実施された天野様との面談において、送信機は</a:t>
            </a:r>
            <a:r>
              <a:rPr lang="en-US" altLang="ja-JP" sz="2000" dirty="0">
                <a:latin typeface="Meiryo UI" panose="020B0604030504040204" pitchFamily="50" charset="-128"/>
                <a:ea typeface="Meiryo UI" panose="020B0604030504040204" pitchFamily="50" charset="-128"/>
              </a:rPr>
              <a:t>L3</a:t>
            </a:r>
            <a:r>
              <a:rPr lang="ja-JP" altLang="en-US" sz="2000" dirty="0">
                <a:latin typeface="Meiryo UI" panose="020B0604030504040204" pitchFamily="50" charset="-128"/>
                <a:ea typeface="Meiryo UI" panose="020B0604030504040204" pitchFamily="50" charset="-128"/>
              </a:rPr>
              <a:t>ライン</a:t>
            </a:r>
            <a:r>
              <a:rPr lang="ja-JP" altLang="ja-JP" sz="2000" dirty="0">
                <a:latin typeface="Meiryo UI" panose="020B0604030504040204" pitchFamily="50" charset="-128"/>
                <a:ea typeface="Meiryo UI" panose="020B0604030504040204" pitchFamily="50" charset="-128"/>
              </a:rPr>
              <a:t>へ移行する</a:t>
            </a:r>
            <a:r>
              <a:rPr lang="ja-JP" altLang="en-US" sz="2000" dirty="0">
                <a:latin typeface="Meiryo UI" panose="020B0604030504040204" pitchFamily="50" charset="-128"/>
                <a:ea typeface="Meiryo UI" panose="020B0604030504040204" pitchFamily="50" charset="-128"/>
              </a:rPr>
              <a:t>旨の</a:t>
            </a:r>
            <a:r>
              <a:rPr lang="ja-JP" altLang="ja-JP" sz="2000" dirty="0">
                <a:latin typeface="Meiryo UI" panose="020B0604030504040204" pitchFamily="50" charset="-128"/>
                <a:ea typeface="Meiryo UI" panose="020B0604030504040204" pitchFamily="50" charset="-128"/>
              </a:rPr>
              <a:t>説明を受けていた。</a:t>
            </a:r>
            <a:endParaRPr lang="en-US" altLang="ja-JP" sz="2000" dirty="0">
              <a:latin typeface="Meiryo UI" panose="020B0604030504040204" pitchFamily="50" charset="-128"/>
              <a:ea typeface="Meiryo UI" panose="020B0604030504040204" pitchFamily="50" charset="-128"/>
            </a:endParaRPr>
          </a:p>
          <a:p>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　</a:t>
            </a:r>
            <a:r>
              <a:rPr lang="en-US" altLang="ja-JP" sz="2000" b="1" dirty="0">
                <a:solidFill>
                  <a:srgbClr val="FF0000"/>
                </a:solidFill>
                <a:latin typeface="Meiryo UI" panose="020B0604030504040204" pitchFamily="50" charset="-128"/>
                <a:ea typeface="Meiryo UI" panose="020B0604030504040204" pitchFamily="50" charset="-128"/>
              </a:rPr>
              <a:t>L2</a:t>
            </a:r>
            <a:r>
              <a:rPr lang="ja-JP" altLang="en-US" sz="2000" b="1" dirty="0">
                <a:solidFill>
                  <a:srgbClr val="FF0000"/>
                </a:solidFill>
                <a:latin typeface="Meiryo UI" panose="020B0604030504040204" pitchFamily="50" charset="-128"/>
                <a:ea typeface="Meiryo UI" panose="020B0604030504040204" pitchFamily="50" charset="-128"/>
              </a:rPr>
              <a:t>ラインまたは</a:t>
            </a:r>
            <a:r>
              <a:rPr lang="en-US" altLang="ja-JP" sz="2000" b="1" dirty="0">
                <a:solidFill>
                  <a:srgbClr val="FF0000"/>
                </a:solidFill>
                <a:latin typeface="Meiryo UI" panose="020B0604030504040204" pitchFamily="50" charset="-128"/>
                <a:ea typeface="Meiryo UI" panose="020B0604030504040204" pitchFamily="50" charset="-128"/>
              </a:rPr>
              <a:t>L3</a:t>
            </a:r>
            <a:r>
              <a:rPr lang="ja-JP" altLang="en-US" sz="2000" b="1" dirty="0">
                <a:solidFill>
                  <a:srgbClr val="FF0000"/>
                </a:solidFill>
                <a:latin typeface="Meiryo UI" panose="020B0604030504040204" pitchFamily="50" charset="-128"/>
                <a:ea typeface="Meiryo UI" panose="020B0604030504040204" pitchFamily="50" charset="-128"/>
              </a:rPr>
              <a:t>ラインのいずれへ移行するかについては、生産一課内で検討をお願い致します</a:t>
            </a:r>
            <a:endParaRPr lang="en-US" altLang="ja-JP" sz="2000" b="1" dirty="0">
              <a:solidFill>
                <a:srgbClr val="FF0000"/>
              </a:solidFill>
              <a:latin typeface="Meiryo UI" panose="020B0604030504040204" pitchFamily="50" charset="-128"/>
              <a:ea typeface="Meiryo UI" panose="020B0604030504040204" pitchFamily="50" charset="-128"/>
            </a:endParaRPr>
          </a:p>
          <a:p>
            <a:r>
              <a:rPr lang="ja-JP" altLang="en-US" sz="2000" b="1" dirty="0">
                <a:solidFill>
                  <a:srgbClr val="FF0000"/>
                </a:solidFill>
                <a:latin typeface="Meiryo UI" panose="020B0604030504040204" pitchFamily="50" charset="-128"/>
                <a:ea typeface="Meiryo UI" panose="020B0604030504040204" pitchFamily="50" charset="-128"/>
              </a:rPr>
              <a:t>　　　　　　　　なお、</a:t>
            </a:r>
            <a:r>
              <a:rPr lang="en-US" altLang="ja-JP" sz="2000" b="1" dirty="0">
                <a:solidFill>
                  <a:srgbClr val="FF0000"/>
                </a:solidFill>
                <a:latin typeface="Meiryo UI" panose="020B0604030504040204" pitchFamily="50" charset="-128"/>
                <a:ea typeface="Meiryo UI" panose="020B0604030504040204" pitchFamily="50" charset="-128"/>
              </a:rPr>
              <a:t>L3</a:t>
            </a:r>
            <a:r>
              <a:rPr lang="ja-JP" altLang="en-US" sz="2000" b="1" dirty="0">
                <a:solidFill>
                  <a:srgbClr val="FF0000"/>
                </a:solidFill>
                <a:latin typeface="Meiryo UI" panose="020B0604030504040204" pitchFamily="50" charset="-128"/>
                <a:ea typeface="Meiryo UI" panose="020B0604030504040204" pitchFamily="50" charset="-128"/>
              </a:rPr>
              <a:t>ラインへの移行する場合は、</a:t>
            </a:r>
            <a:r>
              <a:rPr lang="en-US" altLang="ja-JP" sz="2000" b="1" dirty="0">
                <a:solidFill>
                  <a:srgbClr val="FF0000"/>
                </a:solidFill>
                <a:latin typeface="Meiryo UI" panose="020B0604030504040204" pitchFamily="50" charset="-128"/>
                <a:ea typeface="Meiryo UI" panose="020B0604030504040204" pitchFamily="50" charset="-128"/>
              </a:rPr>
              <a:t>76</a:t>
            </a:r>
            <a:r>
              <a:rPr lang="ja-JP" altLang="en-US" sz="2000" b="1" dirty="0">
                <a:solidFill>
                  <a:srgbClr val="FF0000"/>
                </a:solidFill>
                <a:latin typeface="Meiryo UI" panose="020B0604030504040204" pitchFamily="50" charset="-128"/>
                <a:ea typeface="Meiryo UI" panose="020B0604030504040204" pitchFamily="50" charset="-128"/>
              </a:rPr>
              <a:t>期下期以降の対応となる見込みです</a:t>
            </a:r>
            <a:endParaRPr lang="en-US" altLang="ja-JP" sz="2000" b="1" dirty="0">
              <a:solidFill>
                <a:srgbClr val="FF0000"/>
              </a:solidFill>
              <a:latin typeface="Meiryo UI" panose="020B0604030504040204" pitchFamily="50" charset="-128"/>
              <a:ea typeface="Meiryo UI" panose="020B0604030504040204" pitchFamily="50" charset="-128"/>
            </a:endParaRPr>
          </a:p>
          <a:p>
            <a:endParaRPr lang="en-US" altLang="ja-JP" sz="2000" dirty="0">
              <a:latin typeface="Meiryo UI" panose="020B0604030504040204" pitchFamily="50" charset="-128"/>
              <a:ea typeface="Meiryo UI" panose="020B0604030504040204" pitchFamily="50" charset="-128"/>
            </a:endParaRPr>
          </a:p>
          <a:p>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2.</a:t>
            </a:r>
            <a:r>
              <a:rPr lang="ja-JP" altLang="ja-JP" sz="2000" dirty="0">
                <a:latin typeface="Meiryo UI" panose="020B0604030504040204" pitchFamily="50" charset="-128"/>
                <a:ea typeface="Meiryo UI" panose="020B0604030504040204" pitchFamily="50" charset="-128"/>
              </a:rPr>
              <a:t>佐藤様の退職に伴い、急遽</a:t>
            </a:r>
            <a:r>
              <a:rPr lang="en-US" altLang="ja-JP" sz="2000" dirty="0">
                <a:latin typeface="Meiryo UI" panose="020B0604030504040204" pitchFamily="50" charset="-128"/>
                <a:ea typeface="Meiryo UI" panose="020B0604030504040204" pitchFamily="50" charset="-128"/>
              </a:rPr>
              <a:t>L2</a:t>
            </a:r>
            <a:r>
              <a:rPr lang="ja-JP" altLang="en-US" sz="2000" dirty="0">
                <a:latin typeface="Meiryo UI" panose="020B0604030504040204" pitchFamily="50" charset="-128"/>
                <a:ea typeface="Meiryo UI" panose="020B0604030504040204" pitchFamily="50" charset="-128"/>
              </a:rPr>
              <a:t>ライン</a:t>
            </a:r>
            <a:r>
              <a:rPr lang="ja-JP" altLang="ja-JP" sz="2000" dirty="0">
                <a:latin typeface="Meiryo UI" panose="020B0604030504040204" pitchFamily="50" charset="-128"/>
                <a:ea typeface="Meiryo UI" panose="020B0604030504040204" pitchFamily="50" charset="-128"/>
              </a:rPr>
              <a:t>へ移行したと</a:t>
            </a:r>
            <a:r>
              <a:rPr lang="ja-JP" altLang="en-US" sz="2000" dirty="0">
                <a:latin typeface="Meiryo UI" panose="020B0604030504040204" pitchFamily="50" charset="-128"/>
                <a:ea typeface="Meiryo UI" panose="020B0604030504040204" pitchFamily="50" charset="-128"/>
              </a:rPr>
              <a:t>の情報が共有されている</a:t>
            </a:r>
            <a:r>
              <a:rPr lang="ja-JP" altLang="ja-JP" sz="2000" dirty="0">
                <a:latin typeface="Meiryo UI" panose="020B0604030504040204" pitchFamily="50" charset="-128"/>
                <a:ea typeface="Meiryo UI" panose="020B0604030504040204" pitchFamily="50" charset="-128"/>
              </a:rPr>
              <a:t>。</a:t>
            </a:r>
            <a:endParaRPr lang="en-US" altLang="ja-JP" sz="2000" dirty="0">
              <a:latin typeface="Meiryo UI" panose="020B0604030504040204" pitchFamily="50" charset="-128"/>
              <a:ea typeface="Meiryo UI" panose="020B0604030504040204" pitchFamily="50" charset="-128"/>
            </a:endParaRPr>
          </a:p>
          <a:p>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　後任者への引継も考慮し、前倒しで検討を進めてまいりました</a:t>
            </a:r>
            <a:r>
              <a:rPr lang="en-US" altLang="ja-JP" sz="2000" dirty="0">
                <a:latin typeface="Meiryo UI" panose="020B0604030504040204" pitchFamily="50" charset="-128"/>
                <a:ea typeface="Meiryo UI" panose="020B0604030504040204" pitchFamily="50" charset="-128"/>
              </a:rPr>
              <a:t>(9</a:t>
            </a:r>
            <a:r>
              <a:rPr lang="ja-JP" altLang="en-US" sz="2000" dirty="0">
                <a:latin typeface="Meiryo UI" panose="020B0604030504040204" pitchFamily="50" charset="-128"/>
                <a:ea typeface="Meiryo UI" panose="020B0604030504040204" pitchFamily="50" charset="-128"/>
              </a:rPr>
              <a:t>月に生産移管予定</a:t>
            </a:r>
            <a:r>
              <a:rPr lang="en-US" altLang="ja-JP" sz="2000" dirty="0">
                <a:latin typeface="Meiryo UI" panose="020B0604030504040204" pitchFamily="50" charset="-128"/>
                <a:ea typeface="Meiryo UI" panose="020B0604030504040204" pitchFamily="50" charset="-128"/>
              </a:rPr>
              <a:t>)</a:t>
            </a:r>
          </a:p>
          <a:p>
            <a:endParaRPr lang="en-US" altLang="ja-JP" sz="2000" dirty="0">
              <a:latin typeface="Meiryo UI" panose="020B0604030504040204" pitchFamily="50" charset="-128"/>
              <a:ea typeface="Meiryo UI" panose="020B0604030504040204" pitchFamily="50" charset="-128"/>
            </a:endParaRPr>
          </a:p>
          <a:p>
            <a:endParaRPr lang="ja-JP"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3.</a:t>
            </a:r>
            <a:r>
              <a:rPr lang="ja-JP" altLang="ja-JP" sz="2000" dirty="0">
                <a:latin typeface="Meiryo UI" panose="020B0604030504040204" pitchFamily="50" charset="-128"/>
                <a:ea typeface="Meiryo UI" panose="020B0604030504040204" pitchFamily="50" charset="-128"/>
              </a:rPr>
              <a:t>実装技術</a:t>
            </a:r>
            <a:r>
              <a:rPr lang="ja-JP" altLang="en-US" sz="2000" dirty="0">
                <a:latin typeface="Meiryo UI" panose="020B0604030504040204" pitchFamily="50" charset="-128"/>
                <a:ea typeface="Meiryo UI" panose="020B0604030504040204" pitchFamily="50" charset="-128"/>
              </a:rPr>
              <a:t>課の</a:t>
            </a:r>
            <a:r>
              <a:rPr lang="ja-JP" altLang="ja-JP" sz="2000" dirty="0">
                <a:latin typeface="Meiryo UI" panose="020B0604030504040204" pitchFamily="50" charset="-128"/>
                <a:ea typeface="Meiryo UI" panose="020B0604030504040204" pitchFamily="50" charset="-128"/>
              </a:rPr>
              <a:t>判断</a:t>
            </a:r>
            <a:r>
              <a:rPr lang="ja-JP" altLang="en-US" sz="2000" dirty="0">
                <a:latin typeface="Meiryo UI" panose="020B0604030504040204" pitchFamily="50" charset="-128"/>
                <a:ea typeface="Meiryo UI" panose="020B0604030504040204" pitchFamily="50" charset="-128"/>
              </a:rPr>
              <a:t>により</a:t>
            </a:r>
            <a:r>
              <a:rPr lang="ja-JP" altLang="ja-JP" sz="2000" dirty="0">
                <a:latin typeface="Meiryo UI" panose="020B0604030504040204" pitchFamily="50" charset="-128"/>
                <a:ea typeface="Meiryo UI" panose="020B0604030504040204" pitchFamily="50" charset="-128"/>
              </a:rPr>
              <a:t>、</a:t>
            </a:r>
            <a:r>
              <a:rPr lang="en-US" altLang="ja-JP" sz="2000" dirty="0">
                <a:latin typeface="Meiryo UI" panose="020B0604030504040204" pitchFamily="50" charset="-128"/>
                <a:ea typeface="Meiryo UI" panose="020B0604030504040204" pitchFamily="50" charset="-128"/>
              </a:rPr>
              <a:t>L2</a:t>
            </a:r>
            <a:r>
              <a:rPr lang="ja-JP" altLang="en-US" sz="2000" dirty="0">
                <a:latin typeface="Meiryo UI" panose="020B0604030504040204" pitchFamily="50" charset="-128"/>
                <a:ea typeface="Meiryo UI" panose="020B0604030504040204" pitchFamily="50" charset="-128"/>
              </a:rPr>
              <a:t>ライン</a:t>
            </a:r>
            <a:r>
              <a:rPr lang="ja-JP" altLang="ja-JP" sz="2000" dirty="0">
                <a:latin typeface="Meiryo UI" panose="020B0604030504040204" pitchFamily="50" charset="-128"/>
                <a:ea typeface="Meiryo UI" panose="020B0604030504040204" pitchFamily="50" charset="-128"/>
              </a:rPr>
              <a:t>へ移行したと</a:t>
            </a:r>
            <a:r>
              <a:rPr lang="ja-JP" altLang="en-US" sz="2000" dirty="0">
                <a:latin typeface="Meiryo UI" panose="020B0604030504040204" pitchFamily="50" charset="-128"/>
                <a:ea typeface="Meiryo UI" panose="020B0604030504040204" pitchFamily="50" charset="-128"/>
              </a:rPr>
              <a:t>の</a:t>
            </a:r>
            <a:r>
              <a:rPr lang="ja-JP" altLang="ja-JP" sz="2000" dirty="0">
                <a:latin typeface="Meiryo UI" panose="020B0604030504040204" pitchFamily="50" charset="-128"/>
                <a:ea typeface="Meiryo UI" panose="020B0604030504040204" pitchFamily="50" charset="-128"/>
              </a:rPr>
              <a:t>認識</a:t>
            </a:r>
            <a:r>
              <a:rPr lang="ja-JP" altLang="en-US" sz="2000" dirty="0">
                <a:latin typeface="Meiryo UI" panose="020B0604030504040204" pitchFamily="50" charset="-128"/>
                <a:ea typeface="Meiryo UI" panose="020B0604030504040204" pitchFamily="50" charset="-128"/>
              </a:rPr>
              <a:t>が関係者間で存在している</a:t>
            </a:r>
            <a:r>
              <a:rPr lang="ja-JP" altLang="ja-JP" sz="2000" dirty="0">
                <a:latin typeface="Meiryo UI" panose="020B0604030504040204" pitchFamily="50" charset="-128"/>
                <a:ea typeface="Meiryo UI" panose="020B0604030504040204" pitchFamily="50" charset="-128"/>
              </a:rPr>
              <a:t>。</a:t>
            </a:r>
            <a:endParaRPr lang="en-US" altLang="ja-JP" sz="2000" dirty="0">
              <a:latin typeface="Meiryo UI" panose="020B0604030504040204" pitchFamily="50" charset="-128"/>
              <a:ea typeface="Meiryo UI" panose="020B0604030504040204" pitchFamily="50" charset="-128"/>
            </a:endParaRPr>
          </a:p>
          <a:p>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　・本件は</a:t>
            </a:r>
            <a:r>
              <a:rPr lang="en-US" altLang="ja-JP" sz="2000" dirty="0">
                <a:latin typeface="Meiryo UI" panose="020B0604030504040204" pitchFamily="50" charset="-128"/>
                <a:ea typeface="Meiryo UI" panose="020B0604030504040204" pitchFamily="50" charset="-128"/>
              </a:rPr>
              <a:t>76</a:t>
            </a:r>
            <a:r>
              <a:rPr lang="ja-JP" altLang="en-US" sz="2000" dirty="0">
                <a:latin typeface="Meiryo UI" panose="020B0604030504040204" pitchFamily="50" charset="-128"/>
                <a:ea typeface="Meiryo UI" panose="020B0604030504040204" pitchFamily="50" charset="-128"/>
              </a:rPr>
              <a:t>期の実装技術係メンバーの組織貢献目標としてテーマ化されており、</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上司との面談にて承認を得ております</a:t>
            </a: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各担当者のタレントパレットに起票</a:t>
            </a:r>
            <a:r>
              <a:rPr lang="en-US" altLang="ja-JP" sz="2000" dirty="0">
                <a:latin typeface="Meiryo UI" panose="020B0604030504040204" pitchFamily="50" charset="-128"/>
                <a:ea typeface="Meiryo UI" panose="020B0604030504040204" pitchFamily="50" charset="-128"/>
              </a:rPr>
              <a:t>)</a:t>
            </a: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6</a:t>
            </a:r>
            <a:r>
              <a:rPr lang="ja-JP" altLang="en-US" sz="2000" dirty="0">
                <a:latin typeface="Meiryo UI" panose="020B0604030504040204" pitchFamily="50" charset="-128"/>
                <a:ea typeface="Meiryo UI" panose="020B0604030504040204" pitchFamily="50" charset="-128"/>
              </a:rPr>
              <a:t>月</a:t>
            </a:r>
            <a:r>
              <a:rPr lang="en-US" altLang="ja-JP" sz="2000" dirty="0">
                <a:latin typeface="Meiryo UI" panose="020B0604030504040204" pitchFamily="50" charset="-128"/>
                <a:ea typeface="Meiryo UI" panose="020B0604030504040204" pitchFamily="50" charset="-128"/>
              </a:rPr>
              <a:t>17</a:t>
            </a:r>
            <a:r>
              <a:rPr lang="ja-JP" altLang="en-US" sz="2000" dirty="0">
                <a:latin typeface="Meiryo UI" panose="020B0604030504040204" pitchFamily="50" charset="-128"/>
                <a:ea typeface="Meiryo UI" panose="020B0604030504040204" pitchFamily="50" charset="-128"/>
              </a:rPr>
              <a:t>日</a:t>
            </a: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水</a:t>
            </a: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に関係部門へ情報展開を実施済みであり、事前に西山</a:t>
            </a:r>
            <a:r>
              <a:rPr lang="en-US" altLang="ja-JP" sz="2000" dirty="0">
                <a:latin typeface="Meiryo UI" panose="020B0604030504040204" pitchFamily="50" charset="-128"/>
                <a:ea typeface="Meiryo UI" panose="020B0604030504040204" pitchFamily="50" charset="-128"/>
              </a:rPr>
              <a:t>FS</a:t>
            </a:r>
            <a:r>
              <a:rPr lang="ja-JP" altLang="en-US" sz="2000" dirty="0">
                <a:latin typeface="Meiryo UI" panose="020B0604030504040204" pitchFamily="50" charset="-128"/>
                <a:ea typeface="Meiryo UI" panose="020B0604030504040204" pitchFamily="50" charset="-128"/>
              </a:rPr>
              <a:t>と茂木</a:t>
            </a: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由</a:t>
            </a:r>
            <a:r>
              <a:rPr lang="en-US" altLang="ja-JP" sz="2000" dirty="0">
                <a:latin typeface="Meiryo UI" panose="020B0604030504040204" pitchFamily="50" charset="-128"/>
                <a:ea typeface="Meiryo UI" panose="020B0604030504040204" pitchFamily="50" charset="-128"/>
              </a:rPr>
              <a:t>)kk</a:t>
            </a:r>
            <a:r>
              <a:rPr lang="ja-JP" altLang="en-US" sz="2000" dirty="0">
                <a:latin typeface="Meiryo UI" panose="020B0604030504040204" pitchFamily="50" charset="-128"/>
                <a:ea typeface="Meiryo UI" panose="020B0604030504040204" pitchFamily="50" charset="-128"/>
              </a:rPr>
              <a:t>より、</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L2</a:t>
            </a:r>
            <a:r>
              <a:rPr lang="ja-JP" altLang="en-US" sz="2000" dirty="0">
                <a:latin typeface="Meiryo UI" panose="020B0604030504040204" pitchFamily="50" charset="-128"/>
                <a:ea typeface="Meiryo UI" panose="020B0604030504040204" pitchFamily="50" charset="-128"/>
              </a:rPr>
              <a:t>ラインへの移管に対して承認を得ております</a:t>
            </a:r>
            <a:endParaRPr lang="en-US" altLang="ja-JP" sz="20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2500587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252</TotalTime>
  <Words>1294</Words>
  <Application>Microsoft Office PowerPoint</Application>
  <PresentationFormat>ワイド画面</PresentationFormat>
  <Paragraphs>285</Paragraphs>
  <Slides>11</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11</vt:i4>
      </vt:variant>
    </vt:vector>
  </HeadingPairs>
  <TitlesOfParts>
    <vt:vector size="16" baseType="lpstr">
      <vt:lpstr>Meiryo UI</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TAKEBUCHI Masaki (竹渕 正樹)</dc:creator>
  <cp:lastModifiedBy>TAKEBUCHI Masaki (竹渕 正樹)</cp:lastModifiedBy>
  <cp:revision>11</cp:revision>
  <dcterms:created xsi:type="dcterms:W3CDTF">2026-06-30T05:14:10Z</dcterms:created>
  <dcterms:modified xsi:type="dcterms:W3CDTF">2026-07-03T04:47:01Z</dcterms:modified>
</cp:coreProperties>
</file>