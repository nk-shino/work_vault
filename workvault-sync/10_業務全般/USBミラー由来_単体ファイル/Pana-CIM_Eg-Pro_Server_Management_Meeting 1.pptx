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meeting background and agenda in this conversation.
- Microsoft 365 meeting invitation:「Pana-CIM・Eg-Proサーバーの管理体制および手順書作成に関する打ち合わせ」(2026-09-16). 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Pana-CIM / Eg-Pro サーバー運用管理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会議用資料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440" y="96012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234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Pana-CIM・Eg-Pro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90195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FE3FF"/>
                </a:solidFill>
              </a:rPr>
              <a:t>サーバー運用管理の標準化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2880360"/>
            <a:ext cx="6766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</a:rPr>
              <a:t>管理手順書・定期点検手順書の作成方針と管理体制を協議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3968496"/>
            <a:ext cx="5303520" cy="1"/>
          </a:xfrm>
          <a:prstGeom prst="line">
            <a:avLst/>
          </a:prstGeom>
          <a:noFill/>
          <a:ln w="254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685800" y="4187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2026年9月16日｜会議用資料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5074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</a:rPr>
              <a:t>本日の着地点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54681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「何を管理するか」「誰が担うか」「何を確認するか」を合意する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01  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本会議で決めたいこと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73152" cy="288036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95528" y="196596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管理範囲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441448"/>
            <a:ext cx="3054096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Pana-CIM／Eg-Proそれぞれについて、対象機器・データ・設定・関連作業の範囲を整理する。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73152" cy="2880360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標準手順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441448"/>
            <a:ext cx="3054096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管理手順書と定期点検手順書の構成、作成方法、レビュー方法を決める。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783080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73152" cy="28803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348472" y="196596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管理体制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2441448"/>
            <a:ext cx="3054096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管理責任者・担当者・代行者の役割を明確にし、属人化を抑える。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25880" y="5074920"/>
            <a:ext cx="9555480" cy="77724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AFC7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600200" y="5303520"/>
            <a:ext cx="9034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04A"/>
                </a:solidFill>
              </a:rPr>
              <a:t>会議終了時の成果物：決定事項／未決事項／担当／期限を記録したアクション一覧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02 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経緯と今回の問題認識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280160" y="2999232"/>
            <a:ext cx="8595360" cy="1"/>
          </a:xfrm>
          <a:prstGeom prst="line">
            <a:avLst/>
          </a:prstGeom>
          <a:noFill/>
          <a:ln w="50800">
            <a:solidFill>
              <a:srgbClr val="AFC7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44752" y="2615184"/>
            <a:ext cx="420624" cy="420624"/>
          </a:xfrm>
          <a:prstGeom prst="ellipse">
            <a:avLst/>
          </a:prstGeom>
          <a:solidFill>
            <a:srgbClr val="0B5C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444752" y="27066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3310128"/>
            <a:ext cx="21762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77240" y="3310128"/>
            <a:ext cx="73152" cy="169164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349300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サーバー再起動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968496"/>
            <a:ext cx="1737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8/5（土）にEg-Proサーバーを再起動。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59352" y="2615184"/>
            <a:ext cx="420624" cy="420624"/>
          </a:xfrm>
          <a:prstGeom prst="ellipse">
            <a:avLst/>
          </a:prstGeom>
          <a:solidFill>
            <a:srgbClr val="C84B4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959352" y="27066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3310128"/>
            <a:ext cx="21762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3310128"/>
            <a:ext cx="73152" cy="1691640"/>
          </a:xfrm>
          <a:prstGeom prst="rect">
            <a:avLst/>
          </a:prstGeom>
          <a:solidFill>
            <a:srgbClr val="C84B4B"/>
          </a:solidFill>
          <a:ln w="12700">
            <a:solidFill>
              <a:srgbClr val="C84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520440" y="349300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バックアップ異常を確認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3968496"/>
            <a:ext cx="1737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サブサーバーへの自動バックアップが、2025年頃から正常に実施されていなかったことが判明。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73952" y="2615184"/>
            <a:ext cx="420624" cy="420624"/>
          </a:xfrm>
          <a:prstGeom prst="ellipse">
            <a:avLst/>
          </a:prstGeom>
          <a:solidFill>
            <a:srgbClr val="2D8C6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73952" y="27066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3310128"/>
            <a:ext cx="21762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806440" y="3310128"/>
            <a:ext cx="73152" cy="1691640"/>
          </a:xfrm>
          <a:prstGeom prst="rect">
            <a:avLst/>
          </a:prstGeom>
          <a:solidFill>
            <a:srgbClr val="2D8C6F"/>
          </a:solidFill>
          <a:ln w="12700">
            <a:solidFill>
              <a:srgbClr val="2D8C6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035040" y="349300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現在は復旧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35040" y="3968496"/>
            <a:ext cx="1737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現在はバックアップが実施される状態。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88552" y="2615184"/>
            <a:ext cx="420624" cy="420624"/>
          </a:xfrm>
          <a:prstGeom prst="ellipse">
            <a:avLst/>
          </a:prstGeom>
          <a:solidFill>
            <a:srgbClr val="0B5C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988552" y="27066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21040" y="3310128"/>
            <a:ext cx="21762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8321040" y="3310128"/>
            <a:ext cx="73152" cy="169164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549640" y="349300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運用標準化へ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49640" y="3968496"/>
            <a:ext cx="1737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管理・点検・復旧手順を文書化し、定期確認する体制を整備。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4B"/>
                </a:solidFill>
              </a:rPr>
              <a:t>確認された構造的課題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71800" y="5321808"/>
            <a:ext cx="8046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3142"/>
                </a:solidFill>
              </a:rPr>
              <a:t>知見者の退職により、サーバー運用情報を関係者間で再整理し、文書として残す必要がある。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03 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現状から見える運用リスク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1965960" cy="320040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リスク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24328" y="1755648"/>
            <a:ext cx="5029200" cy="320040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会議で確認する問い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53528" y="1755648"/>
            <a:ext cx="3840480" cy="320040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必要な運用要素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1965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B4B"/>
                </a:solidFill>
              </a:rPr>
              <a:t>検知の遅れ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4328" y="2103120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142"/>
                </a:solidFill>
              </a:rPr>
              <a:t>バックアップ停止を定期点検で検知できていたか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53528" y="210312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点検結果の記録・確認者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962656"/>
            <a:ext cx="196596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知識の偏在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4328" y="2962656"/>
            <a:ext cx="502920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142"/>
                </a:solidFill>
              </a:rPr>
              <a:t>操作・復旧方法が特定者の知見に依存していないか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53528" y="2962656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手順書・代行体制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822192"/>
            <a:ext cx="1965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責任の曖昧さ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3822192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142"/>
                </a:solidFill>
              </a:rPr>
              <a:t>異常時の判断・連絡・復旧責任が明確か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53528" y="3822192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責任者・担当者・連絡先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681728"/>
            <a:ext cx="196596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復旧可能性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24328" y="4681728"/>
            <a:ext cx="502920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142"/>
                </a:solidFill>
              </a:rPr>
              <a:t>バックアップ取得だけでなく復旧確認まで定義されているか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53528" y="4681728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復旧手順・確認記録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04 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管理範囲の整理フレーム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2221992" cy="585216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対象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4389120" cy="585216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Pana-CIM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69480" y="1737360"/>
            <a:ext cx="4251960" cy="585216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Eg-Pro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22219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04A"/>
                </a:solidFill>
              </a:rPr>
              <a:t>機器・構成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80360" y="2395728"/>
            <a:ext cx="4389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要確認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269480" y="2395728"/>
            <a:ext cx="4251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主／サブ構成を確認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3054096"/>
            <a:ext cx="2221992" cy="5852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04A"/>
                </a:solidFill>
              </a:rPr>
              <a:t>データ・設定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80360" y="3054096"/>
            <a:ext cx="4389120" cy="5852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要確認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9480" y="3054096"/>
            <a:ext cx="4251960" cy="5852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品目マスタ等を含む範囲を確認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3712464"/>
            <a:ext cx="22219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04A"/>
                </a:solidFill>
              </a:rPr>
              <a:t>バックアップ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80360" y="3712464"/>
            <a:ext cx="4389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方式・保存先を確認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69480" y="3712464"/>
            <a:ext cx="4251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自動バックアップの状態・保存先を確認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2221992" cy="5852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04A"/>
                </a:solidFill>
              </a:rPr>
              <a:t>復旧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4370832"/>
            <a:ext cx="4389120" cy="5852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復旧手順・確認方法を定義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69480" y="4370832"/>
            <a:ext cx="4251960" cy="5852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復旧手順・確認方法を定義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5029200"/>
            <a:ext cx="22219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04A"/>
                </a:solidFill>
              </a:rPr>
              <a:t>関連者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80360" y="5029200"/>
            <a:ext cx="4389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責任者・担当者・代行者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69480" y="5029200"/>
            <a:ext cx="4251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責任者・担当者・代行者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5870448"/>
            <a:ext cx="10104120" cy="4572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E8C7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234440" y="5989320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A5512"/>
                </a:solidFill>
              </a:rPr>
              <a:t>判断ポイント：共通化できる管理項目と、サーバー固有の操作手順を分けて文書化する。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05  DOCUMENTS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2304A"/>
                </a:solidFill>
              </a:rPr>
              <a:t>手順書の構成案</a:t>
            </a:r>
            <a:r>
              <a:rPr lang="ja-JP" altLang="en-US" sz="2500" b="1" dirty="0">
                <a:solidFill>
                  <a:srgbClr val="FF0000"/>
                </a:solidFill>
              </a:rPr>
              <a:t>（</a:t>
            </a:r>
            <a:r>
              <a:rPr lang="en-US" altLang="ja-JP" sz="2500" b="1" dirty="0">
                <a:solidFill>
                  <a:srgbClr val="FF0000"/>
                </a:solidFill>
              </a:rPr>
              <a:t>ZZZ-90000</a:t>
            </a:r>
            <a:r>
              <a:rPr lang="ja-JP" altLang="en-US" sz="2500" b="1" dirty="0">
                <a:solidFill>
                  <a:srgbClr val="FF0000"/>
                </a:solidFill>
              </a:rPr>
              <a:t>で作成）</a:t>
            </a:r>
            <a:endParaRPr lang="en-US" sz="25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519379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68680" y="1938528"/>
            <a:ext cx="530352" cy="53035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204825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81912" y="18836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04A"/>
                </a:solidFill>
              </a:rPr>
              <a:t>目的・適用範囲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81912" y="22585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対象サーバー、対象作業、除外範囲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3072384"/>
            <a:ext cx="519379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530352" cy="53035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40156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81912" y="32369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04A"/>
                </a:solidFill>
              </a:rPr>
              <a:t>構成と管理情報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81912" y="36118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機器構成、保存先、関連システム、連絡先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85800" y="4425696"/>
            <a:ext cx="519379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68680" y="4645152"/>
            <a:ext cx="530352" cy="53035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81912" y="4590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04A"/>
                </a:solidFill>
              </a:rPr>
              <a:t>日常・定期管理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81912" y="49651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状態確認、記録、異常判定、エスカレーション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336792" y="1719072"/>
            <a:ext cx="519379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519672" y="1938528"/>
            <a:ext cx="530352" cy="530352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519672" y="204825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2904" y="18836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04A"/>
                </a:solidFill>
              </a:rPr>
              <a:t>バックアップ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32904" y="22585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実施方式、確認方法、失敗時の処置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36792" y="3072384"/>
            <a:ext cx="519379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519672" y="3291840"/>
            <a:ext cx="530352" cy="530352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519672" y="340156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32904" y="32369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04A"/>
                </a:solidFill>
              </a:rPr>
              <a:t>復旧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32904" y="36118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復旧条件、作業手順、復旧後確認、記録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336792" y="4425696"/>
            <a:ext cx="519379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519672" y="4645152"/>
            <a:ext cx="530352" cy="530352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519672" y="47548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32904" y="4590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04A"/>
                </a:solidFill>
              </a:rPr>
              <a:t>変更・文書管理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32904" y="49651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設定変更、承認、改訂履歴、教育・引継ぎ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49808" y="58338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AB"/>
                </a:solidFill>
              </a:rPr>
              <a:t>会議で決める項目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23160" y="5797296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142"/>
                </a:solidFill>
              </a:rPr>
              <a:t>文書の分け方｜作成担当｜レビュー者｜承認者｜保管場所｜改訂ルール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06  INSPECTION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定期点検項目と頻度の協議案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1920240" cy="347472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点検対象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664208"/>
            <a:ext cx="4023360" cy="347472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確認項目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37960" y="1664208"/>
            <a:ext cx="3063240" cy="347472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判定・記録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0" y="1664208"/>
            <a:ext cx="1993392" cy="347472"/>
          </a:xfrm>
          <a:prstGeom prst="rect">
            <a:avLst/>
          </a:prstGeom>
          <a:solidFill>
            <a:srgbClr val="12304A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実施頻度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192024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33142"/>
                </a:solidFill>
              </a:rPr>
              <a:t>稼働状態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514600" y="2039112"/>
            <a:ext cx="402336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サービス／ジョブの状態、エラー表示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537960" y="2039112"/>
            <a:ext cx="306324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正常判定基準を定義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01200" y="2039112"/>
            <a:ext cx="1993392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5CAB"/>
                </a:solidFill>
              </a:rPr>
              <a:t>頻度：協議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920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33142"/>
                </a:solidFill>
              </a:rPr>
              <a:t>バックアップ実行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514600" y="2651760"/>
            <a:ext cx="402336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最終実行日時、成否、ログ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3063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成功記録を確認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601200" y="2651760"/>
            <a:ext cx="1993392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5CAB"/>
                </a:solidFill>
              </a:rPr>
              <a:t>頻度：協議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94360" y="3264408"/>
            <a:ext cx="192024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33142"/>
                </a:solidFill>
              </a:rPr>
              <a:t>バックアップデータ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514600" y="3264408"/>
            <a:ext cx="402336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保存先、世代、ファイル確認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537960" y="3264408"/>
            <a:ext cx="306324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確認方法を定義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601200" y="3264408"/>
            <a:ext cx="1993392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5CAB"/>
                </a:solidFill>
              </a:rPr>
              <a:t>頻度：協議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94360" y="3877056"/>
            <a:ext cx="1920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33142"/>
                </a:solidFill>
              </a:rPr>
              <a:t>容量・保存領域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514600" y="3877056"/>
            <a:ext cx="402336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空き容量、増加傾向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37960" y="3877056"/>
            <a:ext cx="3063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注意／異常基準を定義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601200" y="3877056"/>
            <a:ext cx="1993392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5CAB"/>
                </a:solidFill>
              </a:rPr>
              <a:t>頻度：協議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94360" y="4489704"/>
            <a:ext cx="192024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33142"/>
                </a:solidFill>
              </a:rPr>
              <a:t>復旧確認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514600" y="4489704"/>
            <a:ext cx="402336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復旧可否を確認する方法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537960" y="4489704"/>
            <a:ext cx="3063240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実施条件・記録を定義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601200" y="4489704"/>
            <a:ext cx="1993392" cy="539496"/>
          </a:xfrm>
          <a:prstGeom prst="rect">
            <a:avLst/>
          </a:prstGeom>
          <a:solidFill>
            <a:srgbClr val="F0F4F8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5CAB"/>
                </a:solidFill>
              </a:rPr>
              <a:t>頻度：協議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94360" y="5102352"/>
            <a:ext cx="1920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33142"/>
                </a:solidFill>
              </a:rPr>
              <a:t>記録・報告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2514600" y="5102352"/>
            <a:ext cx="402336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点検者、結果、異常時対応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537960" y="5102352"/>
            <a:ext cx="3063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3142"/>
                </a:solidFill>
              </a:rPr>
              <a:t>保管先・承認者を定義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601200" y="5102352"/>
            <a:ext cx="1993392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5CAB"/>
                </a:solidFill>
              </a:rPr>
              <a:t>都度記録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658368" y="5897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04A"/>
                </a:solidFill>
              </a:rPr>
              <a:t>頻度決定時の観点：異常の影響／検知可能性／作業負荷／既存監視の有無</a:t>
            </a:r>
            <a:endParaRPr lang="en-US" sz="12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07  BACKUP &amp; RECOVERY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バックアップ運用と復旧確認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12064" y="2011680"/>
            <a:ext cx="1920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33856" y="2267712"/>
            <a:ext cx="658368" cy="658368"/>
          </a:xfrm>
          <a:prstGeom prst="ellipse">
            <a:avLst/>
          </a:prstGeom>
          <a:solidFill>
            <a:srgbClr val="0B5C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33856" y="2423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4A"/>
                </a:solidFill>
              </a:rPr>
              <a:t>バックアップ実行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3566160"/>
            <a:ext cx="1600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142"/>
                </a:solidFill>
              </a:rPr>
              <a:t>自動実行の状態を確認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2834640"/>
            <a:ext cx="310896" cy="530352"/>
          </a:xfrm>
          <a:prstGeom prst="chevron">
            <a:avLst/>
          </a:prstGeom>
          <a:solidFill>
            <a:srgbClr val="AFC7DD"/>
          </a:solidFill>
          <a:ln w="12700">
            <a:solidFill>
              <a:srgbClr val="AFC7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825496" y="2011680"/>
            <a:ext cx="1920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47288" y="2267712"/>
            <a:ext cx="658368" cy="658368"/>
          </a:xfrm>
          <a:prstGeom prst="ellipse">
            <a:avLst/>
          </a:prstGeom>
          <a:solidFill>
            <a:srgbClr val="0B5C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47288" y="2423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0088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4A"/>
                </a:solidFill>
              </a:rPr>
              <a:t>結果確認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3566160"/>
            <a:ext cx="1600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142"/>
                </a:solidFill>
              </a:rPr>
              <a:t>ログ・最終実行・保存データを確認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64024" y="2834640"/>
            <a:ext cx="310896" cy="530352"/>
          </a:xfrm>
          <a:prstGeom prst="chevron">
            <a:avLst/>
          </a:prstGeom>
          <a:solidFill>
            <a:srgbClr val="AFC7DD"/>
          </a:solidFill>
          <a:ln w="12700">
            <a:solidFill>
              <a:srgbClr val="AFC7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138928" y="2011680"/>
            <a:ext cx="1920240" cy="2240280"/>
          </a:xfrm>
          <a:prstGeom prst="roundRect">
            <a:avLst/>
          </a:prstGeom>
          <a:solidFill>
            <a:srgbClr val="FFF3F0"/>
          </a:solidFill>
          <a:ln w="12700">
            <a:solidFill>
              <a:srgbClr val="E6A69B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760720" y="2267712"/>
            <a:ext cx="658368" cy="658368"/>
          </a:xfrm>
          <a:prstGeom prst="ellipse">
            <a:avLst/>
          </a:prstGeom>
          <a:solidFill>
            <a:srgbClr val="C84B4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4A"/>
                </a:solidFill>
              </a:rPr>
              <a:t>異常時対応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566160"/>
            <a:ext cx="1600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142"/>
                </a:solidFill>
              </a:rPr>
              <a:t>連絡・再実行・原因確認を記録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77456" y="2834640"/>
            <a:ext cx="310896" cy="530352"/>
          </a:xfrm>
          <a:prstGeom prst="chevron">
            <a:avLst/>
          </a:prstGeom>
          <a:solidFill>
            <a:srgbClr val="AFC7DD"/>
          </a:solidFill>
          <a:ln w="12700">
            <a:solidFill>
              <a:srgbClr val="AFC7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7452360" y="2011680"/>
            <a:ext cx="1920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8074152" y="2267712"/>
            <a:ext cx="658368" cy="658368"/>
          </a:xfrm>
          <a:prstGeom prst="ellipse">
            <a:avLst/>
          </a:prstGeom>
          <a:solidFill>
            <a:srgbClr val="0B5C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074152" y="2423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16952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4A"/>
                </a:solidFill>
              </a:rPr>
              <a:t>復旧確認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16952" y="3566160"/>
            <a:ext cx="1600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142"/>
                </a:solidFill>
              </a:rPr>
              <a:t>所定の方法で復旧可能性を確認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90888" y="2834640"/>
            <a:ext cx="310896" cy="530352"/>
          </a:xfrm>
          <a:prstGeom prst="chevron">
            <a:avLst/>
          </a:prstGeom>
          <a:solidFill>
            <a:srgbClr val="AFC7DD"/>
          </a:solidFill>
          <a:ln w="12700">
            <a:solidFill>
              <a:srgbClr val="AFC7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9765792" y="2011680"/>
            <a:ext cx="1920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10387584" y="2267712"/>
            <a:ext cx="658368" cy="658368"/>
          </a:xfrm>
          <a:prstGeom prst="ellipse">
            <a:avLst/>
          </a:prstGeom>
          <a:solidFill>
            <a:srgbClr val="2D8C6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387584" y="2423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30384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4A"/>
                </a:solidFill>
              </a:rPr>
              <a:t>記録・レビュー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30384" y="3566160"/>
            <a:ext cx="1600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142"/>
                </a:solidFill>
              </a:rPr>
              <a:t>点検記録を保管し、責任者が確認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51560" y="4800600"/>
            <a:ext cx="10058400" cy="77724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AFC7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1280160" y="5056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04A"/>
                </a:solidFill>
              </a:rPr>
              <a:t>会議での確認事項：保存先・保持方法・異常時の連絡先・復旧確認の実施条件・記録様式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08 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管理責任者・担当者の決定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73152" cy="1115568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管理責任者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48188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運用ルールの承認、異常時判断、定期レビュー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73152" cy="1115568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主担当者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95728"/>
            <a:ext cx="48188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点検実施、記録、軽微な異常対応、報告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182112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3182112"/>
            <a:ext cx="73152" cy="111556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副担当・代行者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48188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主担当不在時の代行、相互確認、引継ぎ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182112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73152" cy="1115568"/>
          </a:xfrm>
          <a:prstGeom prst="rect">
            <a:avLst/>
          </a:prstGeom>
          <a:solidFill>
            <a:srgbClr val="2D8C6F"/>
          </a:solidFill>
          <a:ln w="12700">
            <a:solidFill>
              <a:srgbClr val="2D8C6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583680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システム関係者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48188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142"/>
                </a:solidFill>
              </a:rPr>
              <a:t>変更情報の共有、専門判断、復旧支援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4800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役割分担記入欄（会議中に確定）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5166360"/>
            <a:ext cx="2121408" cy="320040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対象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5166360"/>
            <a:ext cx="2880360" cy="320040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管理責任者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15000" y="5166360"/>
            <a:ext cx="2880360" cy="320040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主担当者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0" y="5166360"/>
            <a:ext cx="2880360" cy="320040"/>
          </a:xfrm>
          <a:prstGeom prst="rect">
            <a:avLst/>
          </a:prstGeom>
          <a:solidFill>
            <a:srgbClr val="12304A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副担当・代行者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5532120"/>
            <a:ext cx="21214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3142"/>
                </a:solidFill>
              </a:rPr>
              <a:t>Pana-CIM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5532120"/>
            <a:ext cx="2880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42"/>
                </a:solidFill>
              </a:rPr>
              <a:t>＿＿＿＿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5532120"/>
            <a:ext cx="2880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42"/>
                </a:solidFill>
              </a:rPr>
              <a:t>＿＿＿＿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5532120"/>
            <a:ext cx="2880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42"/>
                </a:solidFill>
              </a:rPr>
              <a:t>＿＿＿＿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5897880"/>
            <a:ext cx="2121408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3142"/>
                </a:solidFill>
              </a:rPr>
              <a:t>Eg-Pro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5897880"/>
            <a:ext cx="288036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42"/>
                </a:solidFill>
              </a:rPr>
              <a:t>＿＿＿＿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5897880"/>
            <a:ext cx="288036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42"/>
                </a:solidFill>
              </a:rPr>
              <a:t>＿＿＿＿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5897880"/>
            <a:ext cx="288036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D8E0E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42"/>
                </a:solidFill>
              </a:rPr>
              <a:t>＿＿＿＿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5CAB"/>
                </a:solidFill>
              </a:rPr>
              <a:t>09 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本日の決定事項と次のアクション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10899648" cy="594360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50392" y="1810512"/>
            <a:ext cx="384048" cy="384048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50392" y="19019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4752" y="18470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管理範囲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84708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33142"/>
                </a:solidFill>
              </a:rPr>
              <a:t>Pana-CIM／Eg-Pro</a:t>
            </a:r>
            <a:r>
              <a:rPr lang="ja-JP" altLang="en-US" sz="1200" b="1" dirty="0">
                <a:solidFill>
                  <a:srgbClr val="FF0000"/>
                </a:solidFill>
              </a:rPr>
              <a:t>・</a:t>
            </a:r>
            <a:r>
              <a:rPr lang="en-US" altLang="ja-JP" sz="1200" b="1" dirty="0" err="1">
                <a:solidFill>
                  <a:srgbClr val="FF0000"/>
                </a:solidFill>
              </a:rPr>
              <a:t>Asprova</a:t>
            </a:r>
            <a:r>
              <a:rPr lang="en-US" sz="1200" dirty="0" err="1">
                <a:solidFill>
                  <a:srgbClr val="233142"/>
                </a:solidFill>
              </a:rPr>
              <a:t>の対象範囲と除外範囲</a:t>
            </a:r>
            <a:r>
              <a:rPr lang="ja-JP" altLang="en-US" sz="1200" dirty="0">
                <a:solidFill>
                  <a:srgbClr val="233142"/>
                </a:solidFill>
              </a:rPr>
              <a:t>　　</a:t>
            </a:r>
            <a:r>
              <a:rPr lang="en-US" altLang="ja-JP" sz="1200" b="1" dirty="0">
                <a:solidFill>
                  <a:srgbClr val="FF0000"/>
                </a:solidFill>
              </a:rPr>
              <a:t>※LNB</a:t>
            </a:r>
            <a:r>
              <a:rPr lang="ja-JP" altLang="en-US" sz="1200" b="1" dirty="0">
                <a:solidFill>
                  <a:srgbClr val="FF0000"/>
                </a:solidFill>
              </a:rPr>
              <a:t>も管理者を設けた方が良い為、追加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2478024"/>
            <a:ext cx="1089964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50392" y="2587752"/>
            <a:ext cx="384048" cy="384048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50392" y="26791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44752" y="262432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文書方針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624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33142"/>
                </a:solidFill>
              </a:rPr>
              <a:t>管理手順書・点検手順書の構成、保管・改訂ルール</a:t>
            </a:r>
            <a:r>
              <a:rPr lang="ja-JP" altLang="en-US" sz="1200" dirty="0">
                <a:solidFill>
                  <a:srgbClr val="233142"/>
                </a:solidFill>
              </a:rPr>
              <a:t>　　</a:t>
            </a:r>
            <a:r>
              <a:rPr lang="en-US" altLang="ja-JP" sz="1200" b="1" dirty="0">
                <a:solidFill>
                  <a:srgbClr val="FF0000"/>
                </a:solidFill>
              </a:rPr>
              <a:t>P11</a:t>
            </a:r>
            <a:r>
              <a:rPr lang="ja-JP" altLang="en-US" sz="1200" b="1" dirty="0">
                <a:solidFill>
                  <a:srgbClr val="FF0000"/>
                </a:solidFill>
              </a:rPr>
              <a:t>へ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3255264"/>
            <a:ext cx="10899648" cy="594360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50392" y="3364992"/>
            <a:ext cx="384048" cy="384048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50392" y="34564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34015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点検運用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340156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142"/>
                </a:solidFill>
              </a:rPr>
              <a:t>点検項目、実施頻度、記録・レビュー方法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4032504"/>
            <a:ext cx="1089964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50392" y="4142232"/>
            <a:ext cx="384048" cy="384048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50392" y="42336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44752" y="41788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責任体制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63240" y="417880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 err="1">
                <a:solidFill>
                  <a:srgbClr val="233142"/>
                </a:solidFill>
              </a:rPr>
              <a:t>管理責任者、主担当者</a:t>
            </a:r>
            <a:r>
              <a:rPr lang="ja-JP" altLang="en-US" sz="1200" dirty="0">
                <a:solidFill>
                  <a:srgbClr val="233142"/>
                </a:solidFill>
              </a:rPr>
              <a:t> </a:t>
            </a:r>
            <a:r>
              <a:rPr lang="ja-JP" altLang="en-US" sz="1200" b="1" dirty="0">
                <a:solidFill>
                  <a:srgbClr val="FF0000"/>
                </a:solidFill>
              </a:rPr>
              <a:t>→茂木由　　</a:t>
            </a:r>
            <a:r>
              <a:rPr lang="en-US" sz="1200" dirty="0" err="1">
                <a:solidFill>
                  <a:srgbClr val="233142"/>
                </a:solidFill>
              </a:rPr>
              <a:t>副担当・代行者</a:t>
            </a:r>
            <a:r>
              <a:rPr lang="ja-JP" altLang="en-US" sz="1200" b="1" dirty="0">
                <a:solidFill>
                  <a:srgbClr val="FF0000"/>
                </a:solidFill>
              </a:rPr>
              <a:t>→倉林、石井、茂木絵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4809744"/>
            <a:ext cx="10899648" cy="594360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850392" y="4919472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50392" y="50109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44752" y="495604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A"/>
                </a:solidFill>
              </a:rPr>
              <a:t>作成計画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63240" y="495604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142"/>
                </a:solidFill>
              </a:rPr>
              <a:t>各文書の担当、期限、次回レビュー方法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" y="5742432"/>
            <a:ext cx="10561320" cy="457200"/>
          </a:xfrm>
          <a:prstGeom prst="roundRect">
            <a:avLst/>
          </a:prstGeom>
          <a:solidFill>
            <a:srgbClr val="E9F6F1"/>
          </a:solidFill>
          <a:ln w="12700">
            <a:solidFill>
              <a:srgbClr val="A8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188720" y="587044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8C6F"/>
                </a:solidFill>
              </a:rPr>
              <a:t>完了条件：未決事項を残す場合も、確認方法・担当・期限を明記する。</a:t>
            </a:r>
            <a:endParaRPr lang="en-US" sz="12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83096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4C142F-2969-27F9-D416-6D0C86869622}"/>
              </a:ext>
            </a:extLst>
          </p:cNvPr>
          <p:cNvSpPr txBox="1"/>
          <p:nvPr/>
        </p:nvSpPr>
        <p:spPr>
          <a:xfrm>
            <a:off x="715223" y="989266"/>
            <a:ext cx="49612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Pana-Cim</a:t>
            </a:r>
            <a:r>
              <a:rPr kumimoji="1" lang="ja-JP" altLang="en-US" b="1" dirty="0"/>
              <a:t>・</a:t>
            </a:r>
            <a:r>
              <a:rPr kumimoji="1" lang="en-US" altLang="ja-JP" b="1" dirty="0"/>
              <a:t>LNB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・管理手順書（サーバーについては必須）</a:t>
            </a:r>
            <a:endParaRPr kumimoji="1" lang="en-US" altLang="ja-JP" dirty="0"/>
          </a:p>
          <a:p>
            <a:r>
              <a:rPr kumimoji="1" lang="ja-JP" altLang="en-US" dirty="0"/>
              <a:t>・点検手順書</a:t>
            </a:r>
            <a:endParaRPr kumimoji="1" lang="en-US" altLang="ja-JP" dirty="0"/>
          </a:p>
          <a:p>
            <a:r>
              <a:rPr kumimoji="1" lang="ja-JP" altLang="en-US" dirty="0"/>
              <a:t>・チェックシート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作成チーム</a:t>
            </a:r>
            <a:r>
              <a:rPr kumimoji="1" lang="en-US" altLang="ja-JP" dirty="0"/>
              <a:t>】</a:t>
            </a:r>
          </a:p>
          <a:p>
            <a:r>
              <a:rPr kumimoji="1" lang="ja-JP" altLang="en-US" dirty="0"/>
              <a:t>篠原、大塚、茂木、竹渕</a:t>
            </a:r>
            <a:endParaRPr kumimoji="1" lang="en-US" altLang="ja-JP" dirty="0"/>
          </a:p>
          <a:p>
            <a:r>
              <a:rPr kumimoji="1" lang="ja-JP" altLang="en-US" dirty="0"/>
              <a:t>リーダー：茂木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期限</a:t>
            </a:r>
            <a:r>
              <a:rPr kumimoji="1" lang="en-US" altLang="ja-JP" dirty="0"/>
              <a:t>】</a:t>
            </a:r>
          </a:p>
          <a:p>
            <a:r>
              <a:rPr kumimoji="1" lang="en-US" altLang="ja-JP" dirty="0"/>
              <a:t>2026/12/28</a:t>
            </a:r>
            <a:r>
              <a:rPr kumimoji="1" lang="ja-JP" altLang="en-US" dirty="0"/>
              <a:t>（登録まで）</a:t>
            </a:r>
            <a:endParaRPr kumimoji="1" lang="en-US" altLang="ja-JP" dirty="0"/>
          </a:p>
          <a:p>
            <a:r>
              <a:rPr kumimoji="1" lang="en-US" altLang="ja-JP" dirty="0"/>
              <a:t>2027/1/5</a:t>
            </a:r>
            <a:r>
              <a:rPr kumimoji="1" lang="ja-JP" altLang="en-US" dirty="0"/>
              <a:t>～トライアル開始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027D05-8434-A4D7-820D-429926DDEA20}"/>
              </a:ext>
            </a:extLst>
          </p:cNvPr>
          <p:cNvSpPr txBox="1"/>
          <p:nvPr/>
        </p:nvSpPr>
        <p:spPr>
          <a:xfrm>
            <a:off x="6580361" y="989266"/>
            <a:ext cx="51257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Eg-Pro</a:t>
            </a:r>
            <a:r>
              <a:rPr kumimoji="1" lang="ja-JP" altLang="en-US" b="1" dirty="0"/>
              <a:t>・</a:t>
            </a:r>
            <a:r>
              <a:rPr kumimoji="1" lang="en-US" altLang="ja-JP" b="1" dirty="0" err="1"/>
              <a:t>Asprova</a:t>
            </a:r>
            <a:endParaRPr kumimoji="1" lang="en-US" altLang="ja-JP" b="1" dirty="0"/>
          </a:p>
          <a:p>
            <a:endParaRPr kumimoji="1" lang="en-US" altLang="ja-JP" dirty="0"/>
          </a:p>
          <a:p>
            <a:r>
              <a:rPr kumimoji="1" lang="ja-JP" altLang="en-US" dirty="0"/>
              <a:t>・管理手順書（サーバーについては必須）</a:t>
            </a:r>
            <a:endParaRPr kumimoji="1" lang="en-US" altLang="ja-JP" dirty="0"/>
          </a:p>
          <a:p>
            <a:r>
              <a:rPr kumimoji="1" lang="ja-JP" altLang="en-US" dirty="0"/>
              <a:t>・点検手順書</a:t>
            </a:r>
            <a:endParaRPr kumimoji="1" lang="en-US" altLang="ja-JP" dirty="0"/>
          </a:p>
          <a:p>
            <a:r>
              <a:rPr kumimoji="1" lang="ja-JP" altLang="en-US" dirty="0"/>
              <a:t>・チェックシート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作成チーム</a:t>
            </a:r>
            <a:r>
              <a:rPr kumimoji="1" lang="en-US" altLang="ja-JP" dirty="0"/>
              <a:t>】</a:t>
            </a:r>
          </a:p>
          <a:p>
            <a:r>
              <a:rPr kumimoji="1" lang="ja-JP" altLang="en-US" dirty="0"/>
              <a:t>倉林、松井、石井、茂木由</a:t>
            </a:r>
            <a:endParaRPr kumimoji="1" lang="en-US" altLang="ja-JP" dirty="0"/>
          </a:p>
          <a:p>
            <a:r>
              <a:rPr kumimoji="1" lang="ja-JP" altLang="en-US" dirty="0"/>
              <a:t>リーダー：石井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期限</a:t>
            </a:r>
            <a:r>
              <a:rPr kumimoji="1" lang="en-US" altLang="ja-JP" dirty="0"/>
              <a:t>】</a:t>
            </a:r>
          </a:p>
          <a:p>
            <a:r>
              <a:rPr kumimoji="1" lang="en-US" altLang="ja-JP" dirty="0"/>
              <a:t>2026/12/28</a:t>
            </a:r>
            <a:r>
              <a:rPr kumimoji="1" lang="ja-JP" altLang="en-US" dirty="0"/>
              <a:t>（登録まで）</a:t>
            </a:r>
            <a:endParaRPr kumimoji="1" lang="en-US" altLang="ja-JP" dirty="0"/>
          </a:p>
          <a:p>
            <a:r>
              <a:rPr kumimoji="1" lang="en-US" altLang="ja-JP" dirty="0"/>
              <a:t>2027/1/5</a:t>
            </a:r>
            <a:r>
              <a:rPr kumimoji="1" lang="ja-JP" altLang="en-US" dirty="0"/>
              <a:t>～トライアル開始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D48676-4E05-683D-E852-29AB32DEFC6D}"/>
              </a:ext>
            </a:extLst>
          </p:cNvPr>
          <p:cNvSpPr txBox="1"/>
          <p:nvPr/>
        </p:nvSpPr>
        <p:spPr>
          <a:xfrm>
            <a:off x="3285653" y="294422"/>
            <a:ext cx="4826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/>
              <a:t>※ZZZ-90000</a:t>
            </a:r>
            <a:r>
              <a:rPr kumimoji="1" lang="ja-JP" altLang="en-US" sz="2800" b="1" dirty="0"/>
              <a:t>で作成する</a:t>
            </a:r>
            <a:r>
              <a:rPr kumimoji="1" lang="en-US" altLang="ja-JP" sz="2800" b="1" dirty="0"/>
              <a:t>※</a:t>
            </a:r>
            <a:endParaRPr kumimoji="1" lang="ja-JP" altLang="en-US" sz="28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B214895-2C30-5D91-70CF-73DDFDE0FF64}"/>
              </a:ext>
            </a:extLst>
          </p:cNvPr>
          <p:cNvSpPr txBox="1"/>
          <p:nvPr/>
        </p:nvSpPr>
        <p:spPr>
          <a:xfrm>
            <a:off x="1593410" y="5513602"/>
            <a:ext cx="873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◎一課の作業者がサーバーを操作する場合は手順書を使用して教育を行うこと</a:t>
            </a:r>
          </a:p>
        </p:txBody>
      </p:sp>
    </p:spTree>
    <p:extLst>
      <p:ext uri="{BB962C8B-B14F-4D97-AF65-F5344CB8AC3E}">
        <p14:creationId xmlns:p14="http://schemas.microsoft.com/office/powerpoint/2010/main" val="225955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DE95AE-2649-7B6C-7628-D0530521ACA1}"/>
              </a:ext>
            </a:extLst>
          </p:cNvPr>
          <p:cNvSpPr txBox="1"/>
          <p:nvPr/>
        </p:nvSpPr>
        <p:spPr>
          <a:xfrm>
            <a:off x="1013987" y="615636"/>
            <a:ext cx="86188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・再起動のやり方</a:t>
            </a:r>
            <a:endParaRPr kumimoji="1" lang="en-US" altLang="ja-JP" dirty="0"/>
          </a:p>
          <a:p>
            <a:r>
              <a:rPr kumimoji="1" lang="ja-JP" altLang="en-US" dirty="0"/>
              <a:t>・バックアップが取れてる・・・？</a:t>
            </a:r>
            <a:endParaRPr kumimoji="1" lang="en-US" altLang="ja-JP" dirty="0"/>
          </a:p>
          <a:p>
            <a:r>
              <a:rPr kumimoji="1" lang="ja-JP" altLang="en-US" dirty="0"/>
              <a:t>・トラブルシューティングがあると良い</a:t>
            </a:r>
            <a:endParaRPr kumimoji="1" lang="en-US" altLang="ja-JP" dirty="0"/>
          </a:p>
          <a:p>
            <a:r>
              <a:rPr kumimoji="1" lang="ja-JP" altLang="en-US" dirty="0"/>
              <a:t>・どのサーバーからどのデータがはき出されている？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などがあると良い。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sz="2000" b="1" dirty="0"/>
              <a:t>後は各チームで話あって期限内に作成しましょう！</a:t>
            </a:r>
            <a:endParaRPr kumimoji="1" lang="en-US" altLang="ja-JP" sz="2000" b="1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527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1030</Words>
  <Application>Microsoft Office PowerPoint</Application>
  <PresentationFormat>ワイド画面</PresentationFormat>
  <Paragraphs>250</Paragraphs>
  <Slides>12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Yu Gothic</vt:lpstr>
      <vt:lpstr>Aptos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Pana-CIM・Eg-Proサーバー運用管理の標準化</dc:title>
  <dc:subject>Pana-CIM・Eg-Proサーバー管理体制および手順書作成会議</dc:subject>
  <dc:creator>TAKEBUCHI Masaki (竹渕 正樹)</dc:creator>
  <cp:lastModifiedBy>MOTEKI Emi (茂木 絵美)</cp:lastModifiedBy>
  <cp:revision>5</cp:revision>
  <dcterms:created xsi:type="dcterms:W3CDTF">2026-09-16T01:16:37Z</dcterms:created>
  <dcterms:modified xsi:type="dcterms:W3CDTF">2026-09-16T05:19:59Z</dcterms:modified>
</cp:coreProperties>
</file>