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9" r:id="rId5"/>
    <p:sldId id="270" r:id="rId6"/>
    <p:sldId id="271" r:id="rId7"/>
    <p:sldId id="272" r:id="rId8"/>
    <p:sldId id="273" r:id="rId9"/>
  </p:sldIdLst>
  <p:sldSz cx="9144000" cy="6858000" type="screen4x3"/>
  <p:notesSz cx="6858000" cy="9144000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82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6" name="Picture 14">
            <a:extLst>
              <a:ext uri="{FF2B5EF4-FFF2-40B4-BE49-F238E27FC236}">
                <a16:creationId xmlns:a16="http://schemas.microsoft.com/office/drawing/2014/main" id="{B2F85B5E-476B-7A18-5F1D-9A9A0AA4CC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4" name="Rectangle 2">
            <a:extLst>
              <a:ext uri="{FF2B5EF4-FFF2-40B4-BE49-F238E27FC236}">
                <a16:creationId xmlns:a16="http://schemas.microsoft.com/office/drawing/2014/main" id="{3125CFE5-40B3-A304-BB5D-95D656CABA0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95288" y="836613"/>
            <a:ext cx="7772400" cy="1225550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ja-JP" altLang="en-US" noProof="0"/>
              <a:t>マスタ タイトルの書式設定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69342B55-73A1-6BA5-6B45-301BAB0417F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539750" y="2205038"/>
            <a:ext cx="6400800" cy="1752600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ja-JP" altLang="en-US" noProof="0"/>
              <a:t>マスタ サブタイトルの書式設定</a:t>
            </a:r>
          </a:p>
        </p:txBody>
      </p:sp>
      <p:sp>
        <p:nvSpPr>
          <p:cNvPr id="3083" name="Rectangle 11">
            <a:extLst>
              <a:ext uri="{FF2B5EF4-FFF2-40B4-BE49-F238E27FC236}">
                <a16:creationId xmlns:a16="http://schemas.microsoft.com/office/drawing/2014/main" id="{5BD45F97-E720-6070-86A2-DEAD66D541C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3084" name="Rectangle 12">
            <a:extLst>
              <a:ext uri="{FF2B5EF4-FFF2-40B4-BE49-F238E27FC236}">
                <a16:creationId xmlns:a16="http://schemas.microsoft.com/office/drawing/2014/main" id="{1FF7EFDD-7D5A-556F-37FF-001F577E545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3085" name="Rectangle 13">
            <a:extLst>
              <a:ext uri="{FF2B5EF4-FFF2-40B4-BE49-F238E27FC236}">
                <a16:creationId xmlns:a16="http://schemas.microsoft.com/office/drawing/2014/main" id="{7128B5BB-C906-7BB5-31CB-EA44905773F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69CB404E-B3FA-4803-B860-EE2F50B09D24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C4A45A-94AE-9ACD-4E3B-B07EE503C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9A87EB8-CF9A-AD5A-F9EA-5F455B5B5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968C8E2-86FA-BB77-7A71-8394CEFDA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8A33B54-C7BA-3998-A311-2AF02B439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874B9CD-AC48-C6F0-8575-9BE0F393D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69E149-6B65-49B0-8B47-02C42242458A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948372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292931-EC06-0415-685D-67AB136ED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C33B510-C329-A7BB-38C6-5E0EFE0ABE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7F7CB28-143D-108A-CABF-FA53ACCE2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C1FDC98-DDA8-FE72-29E4-9A3105BEF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57D8C26-16CD-D189-8A42-1666042DE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9C5132-EBD9-4007-AFD5-0501EBA00AFD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347133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A7F885-8D0F-2883-C7F8-8E1555064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30BB3F0-D686-09BC-BBEF-9FEF085C3C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0825" y="1484313"/>
            <a:ext cx="4244975" cy="475297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92EF960-D511-10DE-3654-570CE3A929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484313"/>
            <a:ext cx="4244975" cy="475297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40E2E99-534F-F97B-DF33-182FB42A9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AC72225-FD97-60F9-A245-C5D4BE567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DEAAA54-37F8-D1D3-2E93-D45716449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2C59ED-3AF3-4DBD-B5C3-C4E30AB5C7EA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765798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726858-ECDB-8922-7231-89D134628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29CEF8F-1BBB-BA11-6432-5021788FA1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03E9E10-8EEB-3689-8D37-7AAA64F984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5B4EFF8-F32D-54F5-0BC5-1B99977D53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EB64374-E51D-BA94-F712-D59C3F120E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C1EBF96-660B-C4FC-D3C6-9016D7F64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91F179F-F0CD-2735-2FA5-F343D7128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4FD44BE-291E-F562-45CD-CAA727AEC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7CD6B2-3B10-45AB-B19A-E071FB3AD4BE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163254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63B14E-BB0E-63B6-5459-6114E0FCD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FE19481-4034-D22D-EBFB-B04BDCDB3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8D1BD59-F47E-8B0D-6308-3CA3A6993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F32FAF6-5DE4-E9AE-F7CB-1A3C69D32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4BBBC8-2777-447B-B9A0-CA7C4A9096ED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649450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93A4296-45D6-DAE5-1794-A6D974E6A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CFC172D-7576-4DD8-CDD9-DA3BECC90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CB9A10F-02CB-2109-BDA8-8BD8BA5D1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C03C86-4C13-420A-BAA1-339B6E120B26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286537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CFF84F-B478-ECE8-D021-06AB88CF1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2CBDEB2-664B-6783-5C9F-E556C4971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2A88BD8-60CC-A39B-EF9C-9E03B4D20B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0806869-E455-010E-062C-9AA4DE959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5024AE8-FEBB-9DB1-002E-304B8BBD9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8ABA79C-A9B8-257C-5A7A-89F3E9846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34DA34-61CC-4575-BBC2-83FD12FB8054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479113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75276C-FA19-5AAC-4F9C-DA39AC55F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0622C7D-CB26-E7E7-9C0C-500CFE46A8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2D99A6A-3BF1-7751-00A0-D5D1C1F035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656D4DD-DACD-03BF-1DFE-51879F93B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9B2624B-ADAF-2459-2A66-841095573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A6C1ADE-666A-1FE7-8720-F24FC46AE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585693-3FB1-454F-9808-35788EB345E1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210732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8114D1-9A6F-3887-AD11-E0EED23FD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2428E7C-9D64-8173-35F2-BBAA9B8AB9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E6D0370-B66B-7578-0E18-4253C3AA2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6117EB9-8743-97CF-AE9F-85A4AC34C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E738DBD-E30A-9545-A8B2-1EA3463F9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6015FC-D2A3-46E5-9001-00DE58168A1E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796025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07A299F-28DE-3733-A303-F96921ADD5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732588" y="188913"/>
            <a:ext cx="2160587" cy="6048375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1F70128-1C23-8A8E-9CCB-0F18F5698F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50825" y="188913"/>
            <a:ext cx="6329363" cy="6048375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04F9BD8-F320-B0FD-ED7C-EFB74E312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C1F2C54-E512-25DC-0439-BE15FD98C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2F2FAAD-48DB-56E8-5314-0D7EAE56B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FCEB2A-B0C1-4820-8D70-1A6F8DB08863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790260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8" name="Picture 14">
            <a:extLst>
              <a:ext uri="{FF2B5EF4-FFF2-40B4-BE49-F238E27FC236}">
                <a16:creationId xmlns:a16="http://schemas.microsoft.com/office/drawing/2014/main" id="{77018A5D-B030-44BA-DAD6-03BFA5C6C5A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4CE600EE-6A12-A2B0-45E4-6AB9DCE5B9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50825" y="1484313"/>
            <a:ext cx="8642350" cy="475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E2B1A04B-76A1-BE15-63E2-E3E160B88EB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589713"/>
            <a:ext cx="2133600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ja-JP"/>
          </a:p>
        </p:txBody>
      </p:sp>
      <p:sp>
        <p:nvSpPr>
          <p:cNvPr id="1035" name="Rectangle 11">
            <a:extLst>
              <a:ext uri="{FF2B5EF4-FFF2-40B4-BE49-F238E27FC236}">
                <a16:creationId xmlns:a16="http://schemas.microsoft.com/office/drawing/2014/main" id="{A3F9DD7C-72E8-D343-803E-3EAD5D6E5A8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07950" y="6329363"/>
            <a:ext cx="2663825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ja-JP"/>
          </a:p>
        </p:txBody>
      </p:sp>
      <p:sp>
        <p:nvSpPr>
          <p:cNvPr id="1036" name="Rectangle 12">
            <a:extLst>
              <a:ext uri="{FF2B5EF4-FFF2-40B4-BE49-F238E27FC236}">
                <a16:creationId xmlns:a16="http://schemas.microsoft.com/office/drawing/2014/main" id="{6C8E9A3D-6E06-F633-D676-1B089AE35DF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101013" y="6597650"/>
            <a:ext cx="909637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82B381F-4DD6-4101-B8C1-A666540D6B99}" type="slidenum">
              <a:rPr lang="en-US" altLang="ja-JP"/>
              <a:pPr/>
              <a:t>‹#›</a:t>
            </a:fld>
            <a:endParaRPr lang="en-US" altLang="ja-JP"/>
          </a:p>
        </p:txBody>
      </p:sp>
      <p:sp>
        <p:nvSpPr>
          <p:cNvPr id="1037" name="Rectangle 13">
            <a:extLst>
              <a:ext uri="{FF2B5EF4-FFF2-40B4-BE49-F238E27FC236}">
                <a16:creationId xmlns:a16="http://schemas.microsoft.com/office/drawing/2014/main" id="{F7E2C034-D3CF-5F9A-3237-5321D8AA6A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50825" y="188913"/>
            <a:ext cx="8086725" cy="1125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ＭＳ Ｐゴシック" panose="020B0600070205080204" pitchFamily="50" charset="-128"/>
        </a:defRPr>
      </a:lvl2pPr>
      <a:lvl3pPr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ＭＳ Ｐゴシック" panose="020B0600070205080204" pitchFamily="50" charset="-128"/>
        </a:defRPr>
      </a:lvl3pPr>
      <a:lvl4pPr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ＭＳ Ｐゴシック" panose="020B0600070205080204" pitchFamily="50" charset="-128"/>
        </a:defRPr>
      </a:lvl4pPr>
      <a:lvl5pPr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ＭＳ Ｐゴシック" panose="020B0600070205080204" pitchFamily="50" charset="-128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ＭＳ Ｐゴシック" panose="020B0600070205080204" pitchFamily="50" charset="-128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ＭＳ Ｐゴシック" panose="020B0600070205080204" pitchFamily="50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ＭＳ Ｐゴシック" panose="020B0600070205080204" pitchFamily="50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ＭＳ Ｐゴシック" panose="020B0600070205080204" pitchFamily="50" charset="-128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A394814A-4C52-39B3-CF11-0106EDED463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95288" y="1484784"/>
            <a:ext cx="7772400" cy="1225550"/>
          </a:xfrm>
        </p:spPr>
        <p:txBody>
          <a:bodyPr/>
          <a:lstStyle/>
          <a:p>
            <a:pPr algn="ctr"/>
            <a:r>
              <a:rPr lang="en-US" altLang="ja-JP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76</a:t>
            </a:r>
            <a:r>
              <a:rPr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期　業務報告</a:t>
            </a:r>
            <a:br>
              <a:rPr lang="en-US" altLang="ja-JP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en-US" altLang="ja-JP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8</a:t>
            </a:r>
            <a:r>
              <a:rPr lang="ja-JP" altLang="en-US" sz="4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月</a:t>
            </a:r>
            <a:endParaRPr lang="ja-JP" altLang="ja-JP" sz="40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FA661C78-D988-E808-065E-144285CB286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4572000" y="5301208"/>
            <a:ext cx="4464298" cy="575890"/>
          </a:xfrm>
        </p:spPr>
        <p:txBody>
          <a:bodyPr/>
          <a:lstStyle/>
          <a:p>
            <a:pPr algn="r"/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実装技術課　竹渕</a:t>
            </a:r>
            <a:endParaRPr lang="ja-JP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BC7162-BF72-5995-BFB4-4FCF3FBE7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304951" cy="719807"/>
          </a:xfrm>
        </p:spPr>
        <p:txBody>
          <a:bodyPr/>
          <a:lstStyle/>
          <a:p>
            <a:r>
              <a:rPr kumimoji="1" lang="ja-JP" alt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・定型業務</a:t>
            </a:r>
          </a:p>
        </p:txBody>
      </p:sp>
      <p:sp>
        <p:nvSpPr>
          <p:cNvPr id="4" name="タイトル 1">
            <a:extLst>
              <a:ext uri="{FF2B5EF4-FFF2-40B4-BE49-F238E27FC236}">
                <a16:creationId xmlns:a16="http://schemas.microsoft.com/office/drawing/2014/main" id="{F623A25B-555F-B80B-A5DA-0551F5C7B74E}"/>
              </a:ext>
            </a:extLst>
          </p:cNvPr>
          <p:cNvSpPr txBox="1">
            <a:spLocks/>
          </p:cNvSpPr>
          <p:nvPr/>
        </p:nvSpPr>
        <p:spPr bwMode="auto">
          <a:xfrm>
            <a:off x="539552" y="719806"/>
            <a:ext cx="8136904" cy="32852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・</a:t>
            </a:r>
            <a:r>
              <a:rPr lang="en-US" altLang="ja-JP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NK-format</a:t>
            </a:r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作成：</a:t>
            </a:r>
            <a:r>
              <a:rPr lang="en-US" altLang="ja-JP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12</a:t>
            </a:r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品目</a:t>
            </a:r>
            <a:endParaRPr lang="en-US" altLang="ja-JP" sz="20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 altLang="ja-JP" sz="20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・新規</a:t>
            </a:r>
            <a:r>
              <a:rPr lang="en-US" altLang="ja-JP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Pad</a:t>
            </a:r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図面作成：</a:t>
            </a:r>
            <a:r>
              <a:rPr lang="en-US" altLang="ja-JP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6</a:t>
            </a:r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部品</a:t>
            </a:r>
            <a:endParaRPr lang="en-US" altLang="ja-JP" sz="20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 altLang="ja-JP" sz="20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・新規部品</a:t>
            </a:r>
            <a:r>
              <a:rPr lang="en-US" altLang="ja-JP" sz="2000" b="1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Pad_code</a:t>
            </a:r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付与：</a:t>
            </a:r>
            <a:r>
              <a:rPr lang="en-US" altLang="ja-JP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32</a:t>
            </a:r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部品</a:t>
            </a:r>
            <a:endParaRPr lang="en-US" altLang="ja-JP" sz="20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 altLang="ja-JP" sz="20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・部品検討依頼：</a:t>
            </a:r>
            <a:r>
              <a:rPr lang="en-US" altLang="ja-JP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21</a:t>
            </a:r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件</a:t>
            </a:r>
            <a:endParaRPr lang="en-US" altLang="ja-JP" sz="20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 altLang="ja-JP" sz="20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・特採処理・代替処理：</a:t>
            </a:r>
            <a:r>
              <a:rPr lang="en-US" altLang="ja-JP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26</a:t>
            </a:r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件</a:t>
            </a:r>
            <a:endParaRPr lang="en-US" altLang="ja-JP" sz="20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34094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F16C1-88B1-D338-502C-23550A824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B56F2C-91DA-5009-3EA6-A4A7BB27D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4" y="0"/>
            <a:ext cx="8477539" cy="719807"/>
          </a:xfrm>
        </p:spPr>
        <p:txBody>
          <a:bodyPr/>
          <a:lstStyle/>
          <a:p>
            <a:r>
              <a:rPr kumimoji="1" lang="ja-JP" alt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・テーマ業務①：実装機</a:t>
            </a:r>
            <a:r>
              <a:rPr kumimoji="1" lang="en-US" altLang="ja-JP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_</a:t>
            </a:r>
            <a:r>
              <a:rPr kumimoji="1" lang="ja-JP" alt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稼働率向上</a:t>
            </a:r>
            <a:r>
              <a:rPr kumimoji="1" lang="en-US" altLang="ja-JP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(L2</a:t>
            </a:r>
            <a:r>
              <a:rPr kumimoji="1" lang="ja-JP" alt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ライン</a:t>
            </a:r>
            <a:r>
              <a:rPr kumimoji="1" lang="en-US" altLang="ja-JP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sz="20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タイトル 1">
            <a:extLst>
              <a:ext uri="{FF2B5EF4-FFF2-40B4-BE49-F238E27FC236}">
                <a16:creationId xmlns:a16="http://schemas.microsoft.com/office/drawing/2014/main" id="{EDB0D1BB-7020-8406-03E0-D00B9B1BBE3D}"/>
              </a:ext>
            </a:extLst>
          </p:cNvPr>
          <p:cNvSpPr txBox="1">
            <a:spLocks/>
          </p:cNvSpPr>
          <p:nvPr/>
        </p:nvSpPr>
        <p:spPr bwMode="auto">
          <a:xfrm>
            <a:off x="539552" y="3140968"/>
            <a:ext cx="8136904" cy="26371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完了</a:t>
            </a:r>
            <a:endParaRPr lang="en-US" altLang="ja-JP" sz="20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6E5FFC35-B8BA-3AD3-B02F-1EBCA1815C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6712"/>
            <a:ext cx="9144000" cy="19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494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31851-07D9-F695-E70D-712BEE0DB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>
            <a:extLst>
              <a:ext uri="{FF2B5EF4-FFF2-40B4-BE49-F238E27FC236}">
                <a16:creationId xmlns:a16="http://schemas.microsoft.com/office/drawing/2014/main" id="{BA1D0A1B-CBC2-5A86-7BC3-AC1E6EAB9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477539" cy="719807"/>
          </a:xfrm>
        </p:spPr>
        <p:txBody>
          <a:bodyPr/>
          <a:lstStyle/>
          <a:p>
            <a:r>
              <a:rPr kumimoji="1" lang="ja-JP" alt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・テーマ業務</a:t>
            </a:r>
            <a:r>
              <a:rPr lang="ja-JP" alt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②：新製品</a:t>
            </a:r>
            <a:r>
              <a:rPr lang="en-US" altLang="ja-JP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(TL-BRIGHT)</a:t>
            </a:r>
            <a:r>
              <a:rPr lang="ja-JP" alt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社内生産化</a:t>
            </a:r>
            <a:endParaRPr kumimoji="1" lang="ja-JP" altLang="en-US" sz="20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タイトル 1">
            <a:extLst>
              <a:ext uri="{FF2B5EF4-FFF2-40B4-BE49-F238E27FC236}">
                <a16:creationId xmlns:a16="http://schemas.microsoft.com/office/drawing/2014/main" id="{0592D42C-1C44-E153-AB9D-EDC77A051D48}"/>
              </a:ext>
            </a:extLst>
          </p:cNvPr>
          <p:cNvSpPr txBox="1">
            <a:spLocks/>
          </p:cNvSpPr>
          <p:nvPr/>
        </p:nvSpPr>
        <p:spPr bwMode="auto">
          <a:xfrm>
            <a:off x="539552" y="3140968"/>
            <a:ext cx="8136904" cy="26371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開発部門からの依頼を受け、筐体組み立て時の干渉を防止するとともに、</a:t>
            </a:r>
            <a:endParaRPr lang="en-US" altLang="ja-JP" sz="20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実装品質を確保できる</a:t>
            </a:r>
            <a:r>
              <a:rPr lang="en-US" altLang="ja-JP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Pad</a:t>
            </a:r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設計を実施、最適案を提案</a:t>
            </a:r>
            <a:endParaRPr lang="en-US" altLang="ja-JP" sz="20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736D82C-5182-ED82-1F5D-97B0E46F58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6712"/>
            <a:ext cx="9144000" cy="19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282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D154D-868D-B12B-967C-2A2101545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>
            <a:extLst>
              <a:ext uri="{FF2B5EF4-FFF2-40B4-BE49-F238E27FC236}">
                <a16:creationId xmlns:a16="http://schemas.microsoft.com/office/drawing/2014/main" id="{01F5A920-DAE3-CE4E-2DF4-CA9DB78FD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477539" cy="719807"/>
          </a:xfrm>
        </p:spPr>
        <p:txBody>
          <a:bodyPr/>
          <a:lstStyle/>
          <a:p>
            <a:r>
              <a:rPr kumimoji="1" lang="ja-JP" alt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・テーマ業務</a:t>
            </a:r>
            <a:r>
              <a:rPr lang="ja-JP" alt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③：</a:t>
            </a:r>
            <a:r>
              <a:rPr lang="en-US" altLang="ja-JP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SMD</a:t>
            </a:r>
            <a:r>
              <a:rPr lang="ja-JP" alt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部品データベース再構築</a:t>
            </a:r>
            <a:r>
              <a:rPr lang="en-US" altLang="ja-JP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lang="ja-JP" alt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運用高度化</a:t>
            </a:r>
            <a:r>
              <a:rPr lang="en-US" altLang="ja-JP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sz="20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タイトル 1">
            <a:extLst>
              <a:ext uri="{FF2B5EF4-FFF2-40B4-BE49-F238E27FC236}">
                <a16:creationId xmlns:a16="http://schemas.microsoft.com/office/drawing/2014/main" id="{309BE8CE-D5E4-A7CB-844D-EF692C0388D3}"/>
              </a:ext>
            </a:extLst>
          </p:cNvPr>
          <p:cNvSpPr txBox="1">
            <a:spLocks/>
          </p:cNvSpPr>
          <p:nvPr/>
        </p:nvSpPr>
        <p:spPr bwMode="auto">
          <a:xfrm>
            <a:off x="539552" y="3140968"/>
            <a:ext cx="8136904" cy="26371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月間目標</a:t>
            </a:r>
            <a:r>
              <a:rPr lang="en-US" altLang="ja-JP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241</a:t>
            </a:r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件に対して、遅延無く</a:t>
            </a:r>
            <a:r>
              <a:rPr lang="en-US" altLang="ja-JP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241</a:t>
            </a:r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件を完了し、計画通り</a:t>
            </a:r>
            <a:r>
              <a:rPr lang="en-US" altLang="ja-JP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100%</a:t>
            </a:r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達成</a:t>
            </a:r>
            <a:endParaRPr lang="en-US" altLang="ja-JP" sz="20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AD42AA0-6241-239E-451E-A3AC01F2C6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6712"/>
            <a:ext cx="9144000" cy="1623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545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63E04-D972-7728-2354-AE8E9174D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タイトル 1">
            <a:extLst>
              <a:ext uri="{FF2B5EF4-FFF2-40B4-BE49-F238E27FC236}">
                <a16:creationId xmlns:a16="http://schemas.microsoft.com/office/drawing/2014/main" id="{684A69D9-02A7-81C1-0CC1-E910AABA4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477539" cy="719807"/>
          </a:xfrm>
        </p:spPr>
        <p:txBody>
          <a:bodyPr/>
          <a:lstStyle/>
          <a:p>
            <a:r>
              <a:rPr kumimoji="1" lang="ja-JP" alt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・テーマ業務④</a:t>
            </a:r>
            <a:r>
              <a:rPr lang="ja-JP" alt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：</a:t>
            </a:r>
            <a:r>
              <a:rPr lang="en-US" altLang="ja-JP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SMD</a:t>
            </a:r>
            <a:r>
              <a:rPr lang="ja-JP" alt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部品 </a:t>
            </a:r>
            <a:r>
              <a:rPr lang="en-US" altLang="ja-JP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Pad</a:t>
            </a:r>
            <a:r>
              <a:rPr lang="ja-JP" alt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設計再構築による品質・安定性向上</a:t>
            </a:r>
            <a:endParaRPr kumimoji="1" lang="ja-JP" altLang="en-US" sz="20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タイトル 1">
            <a:extLst>
              <a:ext uri="{FF2B5EF4-FFF2-40B4-BE49-F238E27FC236}">
                <a16:creationId xmlns:a16="http://schemas.microsoft.com/office/drawing/2014/main" id="{5219A04C-D5B8-AC57-BD02-A576BA593B2C}"/>
              </a:ext>
            </a:extLst>
          </p:cNvPr>
          <p:cNvSpPr txBox="1">
            <a:spLocks/>
          </p:cNvSpPr>
          <p:nvPr/>
        </p:nvSpPr>
        <p:spPr bwMode="auto">
          <a:xfrm>
            <a:off x="539552" y="3140968"/>
            <a:ext cx="8136904" cy="26371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月間目標</a:t>
            </a:r>
            <a:r>
              <a:rPr lang="en-US" altLang="ja-JP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241</a:t>
            </a:r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件に対して、遅延無く</a:t>
            </a:r>
            <a:r>
              <a:rPr lang="en-US" altLang="ja-JP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241</a:t>
            </a:r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件を完了し、計画通り</a:t>
            </a:r>
            <a:r>
              <a:rPr lang="en-US" altLang="ja-JP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100%</a:t>
            </a:r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達成した。また、コネクタの</a:t>
            </a:r>
            <a:r>
              <a:rPr lang="en-US" altLang="ja-JP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Pad</a:t>
            </a:r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設計において、同一仕様・同一形状の部品について設計の標準化を推進し、複数の</a:t>
            </a:r>
            <a:r>
              <a:rPr lang="en-US" altLang="ja-JP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Pad</a:t>
            </a:r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設計を統合することで、設計効率の向上とライブラリ管理の最適化を行った</a:t>
            </a:r>
            <a:endParaRPr lang="en-US" altLang="ja-JP" sz="20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C7F9FCD-3743-B640-1C10-EFF82F48F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6712"/>
            <a:ext cx="9144000" cy="1623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2505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DDD27-D51A-D184-864A-034F42778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>
            <a:extLst>
              <a:ext uri="{FF2B5EF4-FFF2-40B4-BE49-F238E27FC236}">
                <a16:creationId xmlns:a16="http://schemas.microsoft.com/office/drawing/2014/main" id="{CF677357-6839-0C13-02A0-20C9208FE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477539" cy="719807"/>
          </a:xfrm>
        </p:spPr>
        <p:txBody>
          <a:bodyPr/>
          <a:lstStyle/>
          <a:p>
            <a:r>
              <a:rPr kumimoji="1" lang="ja-JP" alt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・テーマ業務⑤</a:t>
            </a:r>
            <a:r>
              <a:rPr lang="ja-JP" alt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：</a:t>
            </a:r>
            <a:r>
              <a:rPr lang="en-US" altLang="ja-JP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PFMEA</a:t>
            </a:r>
            <a:r>
              <a:rPr lang="ja-JP" alt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基礎知識習得</a:t>
            </a:r>
            <a:r>
              <a:rPr lang="en-US" altLang="ja-JP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&amp;</a:t>
            </a:r>
            <a:r>
              <a:rPr lang="ja-JP" alt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実施・標準化</a:t>
            </a:r>
            <a:endParaRPr kumimoji="1" lang="ja-JP" altLang="en-US" sz="20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タイトル 1">
            <a:extLst>
              <a:ext uri="{FF2B5EF4-FFF2-40B4-BE49-F238E27FC236}">
                <a16:creationId xmlns:a16="http://schemas.microsoft.com/office/drawing/2014/main" id="{91B3E176-07BD-6A0F-BAA6-F3DB60B60905}"/>
              </a:ext>
            </a:extLst>
          </p:cNvPr>
          <p:cNvSpPr txBox="1">
            <a:spLocks/>
          </p:cNvSpPr>
          <p:nvPr/>
        </p:nvSpPr>
        <p:spPr bwMode="auto">
          <a:xfrm>
            <a:off x="539552" y="3140968"/>
            <a:ext cx="8136904" cy="26371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全</a:t>
            </a:r>
            <a:r>
              <a:rPr lang="en-US" altLang="ja-JP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86</a:t>
            </a:r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項目のうち、</a:t>
            </a:r>
            <a:r>
              <a:rPr lang="en-US" altLang="ja-JP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THD</a:t>
            </a:r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部品出庫工程の</a:t>
            </a:r>
            <a:r>
              <a:rPr lang="en-US" altLang="ja-JP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～</a:t>
            </a:r>
            <a:r>
              <a:rPr lang="en-US" altLang="ja-JP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6</a:t>
            </a:r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項目について、</a:t>
            </a:r>
            <a:endParaRPr lang="en-US" altLang="ja-JP" sz="20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「影響度」「発生度」「検出率」の評価を実施し、リスクの定量化および優先順位付けを行った</a:t>
            </a:r>
            <a:endParaRPr lang="en-US" altLang="ja-JP" sz="20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A15ACB7D-53BA-63BA-49A2-FE3C06325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6712"/>
            <a:ext cx="9144000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203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A4DBE-69E2-52C7-2AB4-DF30C6258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>
            <a:extLst>
              <a:ext uri="{FF2B5EF4-FFF2-40B4-BE49-F238E27FC236}">
                <a16:creationId xmlns:a16="http://schemas.microsoft.com/office/drawing/2014/main" id="{F57249DF-F982-4558-3509-0C643B461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477539" cy="719807"/>
          </a:xfrm>
        </p:spPr>
        <p:txBody>
          <a:bodyPr/>
          <a:lstStyle/>
          <a:p>
            <a:r>
              <a:rPr kumimoji="1" lang="ja-JP" alt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・</a:t>
            </a:r>
            <a:r>
              <a:rPr kumimoji="1" lang="en-US" altLang="ja-JP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Topics</a:t>
            </a:r>
            <a:endParaRPr kumimoji="1" lang="ja-JP" altLang="en-US" sz="20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タイトル 1">
            <a:extLst>
              <a:ext uri="{FF2B5EF4-FFF2-40B4-BE49-F238E27FC236}">
                <a16:creationId xmlns:a16="http://schemas.microsoft.com/office/drawing/2014/main" id="{F9265B7F-9900-4BBE-E556-B1C4C6AFFB35}"/>
              </a:ext>
            </a:extLst>
          </p:cNvPr>
          <p:cNvSpPr txBox="1">
            <a:spLocks/>
          </p:cNvSpPr>
          <p:nvPr/>
        </p:nvSpPr>
        <p:spPr bwMode="auto">
          <a:xfrm>
            <a:off x="179512" y="548680"/>
            <a:ext cx="8477539" cy="1152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r>
              <a:rPr lang="en-US" altLang="ja-JP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UR-4641</a:t>
            </a:r>
          </a:p>
          <a:p>
            <a:r>
              <a:rPr lang="en-US" altLang="ja-JP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NKOM</a:t>
            </a:r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実装ドキュメント要求で実装部品と基板端の公差が</a:t>
            </a:r>
            <a:r>
              <a:rPr lang="en-US" altLang="ja-JP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±0.5mm</a:t>
            </a:r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仕様が提示されている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33B1773-0399-CED4-B6C0-9FAD1A6B4B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844824"/>
            <a:ext cx="4890977" cy="211587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タイトル 1">
            <a:extLst>
              <a:ext uri="{FF2B5EF4-FFF2-40B4-BE49-F238E27FC236}">
                <a16:creationId xmlns:a16="http://schemas.microsoft.com/office/drawing/2014/main" id="{F01595F5-45C0-1867-FBAE-D7C768B6B20B}"/>
              </a:ext>
            </a:extLst>
          </p:cNvPr>
          <p:cNvSpPr txBox="1">
            <a:spLocks/>
          </p:cNvSpPr>
          <p:nvPr/>
        </p:nvSpPr>
        <p:spPr bwMode="auto">
          <a:xfrm>
            <a:off x="539552" y="4221088"/>
            <a:ext cx="8136904" cy="15570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最適な</a:t>
            </a:r>
            <a:r>
              <a:rPr lang="en-US" altLang="ja-JP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Pad</a:t>
            </a:r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寸法を考慮した設計を行い、量産試作による検証を行った。</a:t>
            </a:r>
            <a:endParaRPr lang="en-US" altLang="ja-JP" sz="20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試作評価では、実装公差寸法の測定</a:t>
            </a:r>
            <a:r>
              <a:rPr lang="en-US" altLang="ja-JP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(40</a:t>
            </a:r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サンプル</a:t>
            </a:r>
            <a:r>
              <a:rPr lang="en-US" altLang="ja-JP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を実施し、規定値</a:t>
            </a:r>
            <a:r>
              <a:rPr lang="en-US" altLang="ja-JP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6.5±0.5mm</a:t>
            </a:r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に対して</a:t>
            </a:r>
            <a:r>
              <a:rPr lang="en-US" altLang="ja-JP" sz="2000" b="1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Cpk</a:t>
            </a:r>
            <a:r>
              <a:rPr lang="en-US" altLang="ja-JP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=1.72(5σ</a:t>
            </a:r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相当</a:t>
            </a:r>
            <a:r>
              <a:rPr lang="en-US" altLang="ja-JP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を確認し、十分な工程能力を有することを実証。量産適用においても品質上、問題無い良好な結果が得られた</a:t>
            </a:r>
            <a:endParaRPr lang="en-US" altLang="ja-JP" sz="20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76859973"/>
      </p:ext>
    </p:extLst>
  </p:cSld>
  <p:clrMapOvr>
    <a:masterClrMapping/>
  </p:clrMapOvr>
</p:sld>
</file>

<file path=ppt/theme/theme1.xml><?xml version="1.0" encoding="utf-8"?>
<a:theme xmlns:a="http://schemas.openxmlformats.org/drawingml/2006/main" name="09_NKbeacon-white">
  <a:themeElements>
    <a:clrScheme name="09_NKbeacon-whi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09_NKbeacon-white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09_NKbeacon-whi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9_NKbeacon-whi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9_NKbeacon-whi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9_NKbeacon-whi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9_NKbeacon-whi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9_NKbeacon-whi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9_NKbeacon-whi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9_NKbeacon-whi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9_NKbeacon-whi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9_NKbeacon-whi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9_NKbeacon-whi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9_NKbeacon-whi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09_NKbeacon-white</Template>
  <TotalTime>1783</TotalTime>
  <Words>379</Words>
  <Application>Microsoft Office PowerPoint</Application>
  <PresentationFormat>画面に合わせる (4:3)</PresentationFormat>
  <Paragraphs>29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1" baseType="lpstr">
      <vt:lpstr>Meiryo UI</vt:lpstr>
      <vt:lpstr>Arial</vt:lpstr>
      <vt:lpstr>09_NKbeacon-white</vt:lpstr>
      <vt:lpstr>76期　業務報告 8月</vt:lpstr>
      <vt:lpstr>・定型業務</vt:lpstr>
      <vt:lpstr>・テーマ業務①：実装機_稼働率向上(L2ライン)</vt:lpstr>
      <vt:lpstr>・テーマ業務②：新製品(TL-BRIGHT)社内生産化</vt:lpstr>
      <vt:lpstr>・テーマ業務③：SMD部品データベース再構築(運用高度化)</vt:lpstr>
      <vt:lpstr>・テーマ業務④：SMD部品 Pad設計再構築による品質・安定性向上</vt:lpstr>
      <vt:lpstr>・テーマ業務⑤：PFMEA基礎知識習得&amp;実施・標準化</vt:lpstr>
      <vt:lpstr>・Topics</vt:lpstr>
    </vt:vector>
  </TitlesOfParts>
  <Company>日本光電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日本光電</dc:creator>
  <cp:lastModifiedBy>TAKEBUCHI Masaki (竹渕 正樹)</cp:lastModifiedBy>
  <cp:revision>16</cp:revision>
  <dcterms:created xsi:type="dcterms:W3CDTF">2009-06-04T00:49:37Z</dcterms:created>
  <dcterms:modified xsi:type="dcterms:W3CDTF">2026-08-25T01:56:32Z</dcterms:modified>
</cp:coreProperties>
</file>