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>
            <a:extLst>
              <a:ext uri="{FF2B5EF4-FFF2-40B4-BE49-F238E27FC236}">
                <a16:creationId xmlns:a16="http://schemas.microsoft.com/office/drawing/2014/main" id="{B2F85B5E-476B-7A18-5F1D-9A9A0AA4CC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3125CFE5-40B3-A304-BB5D-95D656CABA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836613"/>
            <a:ext cx="7772400" cy="12255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9342B55-73A1-6BA5-6B45-301BAB0417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9750" y="2205038"/>
            <a:ext cx="64008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5BD45F97-E720-6070-86A2-DEAD66D541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1FF7EFDD-7D5A-556F-37FF-001F577E54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7128B5BB-C906-7BB5-31CB-EA44905773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9CB404E-B3FA-4803-B860-EE2F50B09D2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C4A45A-94AE-9ACD-4E3B-B07EE503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A87EB8-CF9A-AD5A-F9EA-5F455B5B5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68C8E2-86FA-BB77-7A71-8394CEFD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A33B54-C7BA-3998-A311-2AF02B43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74B9CD-AC48-C6F0-8575-9BE0F393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9E149-6B65-49B0-8B47-02C42242458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4837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92931-EC06-0415-685D-67AB136ED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33B510-C329-A7BB-38C6-5E0EFE0AB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F7CB28-143D-108A-CABF-FA53ACCE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1FDC98-DDA8-FE72-29E4-9A3105BE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D8C26-16CD-D189-8A42-1666042D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9C5132-EBD9-4007-AFD5-0501EBA00AF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71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A7F885-8D0F-2883-C7F8-8E155506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0BB3F0-D686-09BC-BBEF-9FEF085C3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825" y="1484313"/>
            <a:ext cx="4244975" cy="47529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2EF960-D511-10DE-3654-570CE3A92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244975" cy="47529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0E2E99-534F-F97B-DF33-182FB42A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C72225-FD97-60F9-A245-C5D4BE56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EAAA54-37F8-D1D3-2E93-D4571644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2C59ED-3AF3-4DBD-B5C3-C4E30AB5C7E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6579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726858-ECDB-8922-7231-89D134628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9CEF8F-1BBB-BA11-6432-5021788FA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3E9E10-8EEB-3689-8D37-7AAA64F98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B4EFF8-F32D-54F5-0BC5-1B99977D5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B64374-E51D-BA94-F712-D59C3F120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1EBF96-660B-C4FC-D3C6-9016D7F6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91F179F-F0CD-2735-2FA5-F343D712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FD44BE-291E-F562-45CD-CAA727AE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CD6B2-3B10-45AB-B19A-E071FB3AD4B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6325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63B14E-BB0E-63B6-5459-6114E0FC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E19481-4034-D22D-EBFB-B04BDCDB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D1BD59-F47E-8B0D-6308-3CA3A699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32FAF6-5DE4-E9AE-F7CB-1A3C69D3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BBBC8-2777-447B-B9A0-CA7C4A9096E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945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93A4296-45D6-DAE5-1794-A6D974E6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CFC172D-7576-4DD8-CDD9-DA3BECC9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B9A10F-02CB-2109-BDA8-8BD8BA5D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03C86-4C13-420A-BAA1-339B6E120B2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8653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CFF84F-B478-ECE8-D021-06AB88CF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CBDEB2-664B-6783-5C9F-E556C4971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A88BD8-60CC-A39B-EF9C-9E03B4D20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806869-E455-010E-062C-9AA4DE95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024AE8-FEBB-9DB1-002E-304B8BBD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ABA79C-A9B8-257C-5A7A-89F3E984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34DA34-61CC-4575-BBC2-83FD12FB805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7911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5276C-FA19-5AAC-4F9C-DA39AC55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622C7D-CB26-E7E7-9C0C-500CFE46A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D99A6A-3BF1-7751-00A0-D5D1C1F03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56D4DD-DACD-03BF-1DFE-51879F93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B2624B-ADAF-2459-2A66-84109557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C1ADE-666A-1FE7-8720-F24FC46A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85693-3FB1-454F-9808-35788EB345E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073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8114D1-9A6F-3887-AD11-E0EED23F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428E7C-9D64-8173-35F2-BBAA9B8AB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6D0370-B66B-7578-0E18-4253C3AA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117EB9-8743-97CF-AE9F-85A4AC34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738DBD-E30A-9545-A8B2-1EA3463F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6015FC-D2A3-46E5-9001-00DE58168A1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9602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7A299F-28DE-3733-A303-F96921AD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32588" y="188913"/>
            <a:ext cx="2160587" cy="60483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F70128-1C23-8A8E-9CCB-0F18F5698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0825" y="188913"/>
            <a:ext cx="6329363" cy="60483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4F9BD8-F320-B0FD-ED7C-EFB74E31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1F2C54-E512-25DC-0439-BE15FD98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2FAAD-48DB-56E8-5314-0D7EAE56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CEB2A-B0C1-4820-8D70-1A6F8DB0886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02603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77018A5D-B030-44BA-DAD6-03BFA5C6C5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4CE600EE-6A12-A2B0-45E4-6AB9DCE5B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1484313"/>
            <a:ext cx="86423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E2B1A04B-76A1-BE15-63E2-E3E160B88E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589713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A3F9DD7C-72E8-D343-803E-3EAD5D6E5A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7950" y="6329363"/>
            <a:ext cx="26638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6C8E9A3D-6E06-F633-D676-1B089AE35D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1013" y="6597650"/>
            <a:ext cx="9096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82B381F-4DD6-4101-B8C1-A666540D6B9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F7E2C034-D3CF-5F9A-3237-5321D8AA6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88913"/>
            <a:ext cx="8086725" cy="112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78000" cy="720000"/>
          </a:xfrm>
        </p:spPr>
        <p:txBody>
          <a:bodyPr wrap="square"/>
          <a:lstStyle/>
          <a:p>
            <a:r>
              <a:rPr sz="20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76期　業務報告　9月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37999"/>
            <a:ext cx="8063999" cy="288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第二生産部　実装技術課　篠原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8063999" cy="324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・業務内容（生産一課連携：在庫差異修正・棚卸し）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22000"/>
            <a:ext cx="8063999" cy="2160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 marL="223200" indent="-223200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・不足部品リストへのEGPro在庫反映：</a:t>
            </a: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5機種へ展開（AED／送信機／TEC1000／NKV／TEC5600）</a:t>
            </a:r>
          </a:p>
          <a:p>
            <a:pPr marL="223200" indent="-223200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・固定テーブル棚卸しの仕様書・手順書・図解作成：</a:t>
            </a: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主要工程1〜10を文書化</a:t>
            </a:r>
          </a:p>
          <a:p>
            <a:pPr marL="223200" indent="-223200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・倉庫移動SQLの改修：</a:t>
            </a: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バックアップ、更新件数確認、確定／取消の仕組みを追加</a:t>
            </a:r>
          </a:p>
          <a:p>
            <a:pPr marL="223200" indent="-223200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・現場確認：</a:t>
            </a: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倉庫コード、抽出条件、例外処理を聞き取りし、確定事項と未確認事項を整理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708000"/>
            <a:ext cx="8063999" cy="1007999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・継続中</a:t>
            </a:r>
          </a:p>
          <a:p>
            <a:pPr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　・0確認の実行手順の具体化</a:t>
            </a:r>
          </a:p>
          <a:p>
            <a:pPr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　・PanaCIMのロス情報をEGProへ戻す経路の調査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24000"/>
            <a:ext cx="8063999" cy="1007999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・Topics</a:t>
            </a:r>
          </a:p>
          <a:p>
            <a:pPr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　①不足部品リストへのEGPro在庫反映</a:t>
            </a:r>
          </a:p>
          <a:p>
            <a:pPr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　②固定テーブル棚卸しの手順整備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940000"/>
            <a:ext cx="8063999" cy="324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※生産一課の了承を得て報告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78000" cy="720000"/>
          </a:xfrm>
        </p:spPr>
        <p:txBody>
          <a:bodyPr wrap="square"/>
          <a:lstStyle/>
          <a:p>
            <a:r>
              <a:rPr sz="20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・Topics①：不足部品リストへのEGPro在庫反映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846000"/>
            <a:ext cx="8063999" cy="684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背景</a:t>
            </a:r>
          </a:p>
          <a:p>
            <a:pPr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従来処理は理論上の残数を次回在庫として繰り越す構造で、EGPro在庫を取り込む処理がなく、現場のロスが計算に反映されなかった。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710000"/>
            <a:ext cx="1548000" cy="540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セットアップ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レポート</a:t>
            </a:r>
          </a:p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（シリアル番号）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60000" y="1908000"/>
            <a:ext cx="3600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2000" y="1710000"/>
            <a:ext cx="1548000" cy="540000"/>
          </a:xfrm>
          <a:prstGeom prst="roundRect">
            <a:avLst>
              <a:gd name="adj" fmla="val 10000"/>
            </a:avLst>
          </a:prstGeom>
          <a:solidFill>
            <a:srgbClr val="FAEFE8"/>
          </a:solidFill>
          <a:ln w="9525">
            <a:solidFill>
              <a:srgbClr val="C0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C0502A"/>
                </a:solidFill>
                <a:latin typeface="Meiryo UI"/>
                <a:ea typeface="Meiryo UI"/>
                <a:cs typeface="Meiryo UI"/>
              </a:rPr>
              <a:t>シリアル照合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12000" y="1908000"/>
            <a:ext cx="3600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44000" y="1710000"/>
            <a:ext cx="1548000" cy="540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部品別に集計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63999" y="1908000"/>
            <a:ext cx="3600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6000" y="1710000"/>
            <a:ext cx="1764000" cy="540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不足部品リスト</a:t>
            </a:r>
          </a:p>
          <a:p>
            <a:pPr algn="ctr">
              <a:lnSpc>
                <a:spcPct val="95000"/>
              </a:lnSpc>
            </a:pPr>
            <a:r>
              <a:rPr sz="11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B列へ反映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2000" y="2484000"/>
            <a:ext cx="1548000" cy="396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EGPro在庫</a:t>
            </a:r>
          </a:p>
        </p:txBody>
      </p:sp>
      <p:sp>
        <p:nvSpPr>
          <p:cNvPr id="12" name="Up Arrow 11"/>
          <p:cNvSpPr/>
          <p:nvPr/>
        </p:nvSpPr>
        <p:spPr>
          <a:xfrm>
            <a:off x="3290400" y="2268000"/>
            <a:ext cx="151200" cy="198000"/>
          </a:xfrm>
          <a:prstGeom prst="up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3041999"/>
            <a:ext cx="8063999" cy="1080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対応</a:t>
            </a:r>
          </a:p>
          <a:p>
            <a:pPr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Excelの数式とVBAを解析し、在庫の更新元を特定。未照合・非掲載・重複・T付き部品の扱い、実行順、バックアップと復元手順を整備。シリアル重複警告12件は文字処理の不具合を特定し修正。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4140000"/>
            <a:ext cx="8063999" cy="251999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結果　　5機種で実機反映を完了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0000" y="4428000"/>
          <a:ext cx="5615998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007999"/>
                <a:gridCol w="1007999"/>
                <a:gridCol w="1080000"/>
                <a:gridCol w="936000"/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機種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更新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据え置き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非掲載0化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警告</a:t>
                      </a:r>
                    </a:p>
                  </a:txBody>
                  <a:tcPr marL="54000" marR="54000" anchor="ctr"/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AED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362件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4件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633件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0件</a:t>
                      </a:r>
                    </a:p>
                  </a:txBody>
                  <a:tcPr marL="54000" marR="54000" anchor="ctr"/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送信機L2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520件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9件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470件</a:t>
                      </a:r>
                    </a:p>
                  </a:txBody>
                  <a:tcPr marL="54000" marR="54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eiryo UI"/>
                          <a:ea typeface="Meiryo UI"/>
                          <a:cs typeface="Meiryo UI"/>
                        </a:rPr>
                        <a:t>0件</a:t>
                      </a:r>
                    </a:p>
                  </a:txBody>
                  <a:tcPr marL="54000" marR="54000" anchor="ctr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36000" y="4428000"/>
            <a:ext cx="2268000" cy="864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他3機種（TEC1000／NKV／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TEC5600）は反映済み。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内訳の記録は未取得。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5472000"/>
            <a:ext cx="8063999" cy="792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現場より、予備部品不足に関する状況が改善したとの報告あり。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78000" cy="720000"/>
          </a:xfrm>
        </p:spPr>
        <p:txBody>
          <a:bodyPr wrap="square"/>
          <a:lstStyle/>
          <a:p>
            <a:r>
              <a:rPr sz="20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・Topics②：固定テーブル棚卸しの手順整備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846000"/>
            <a:ext cx="8063999" cy="792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背景</a:t>
            </a:r>
          </a:p>
          <a:p>
            <a:pPr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既存資料だけでは、使用データ・ツールの処理内容・例外時の判断が分からず、前任者への依存が残っていた。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655999"/>
            <a:ext cx="8063999" cy="251999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文書化した主要工程　1〜10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925999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1. 設備操作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87200" y="2134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60000" y="1925999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2. セットアップ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レポート出力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07200" y="2134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80000" y="1925999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3. EG-Pro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在庫情報出力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27200" y="2134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0000" y="1925999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4. マクロ実行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47200" y="2134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20000" y="1925999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5. スプライシング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切替失敗の処理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2700000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6. リスト印刷と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シール貼り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87200" y="2908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0000" y="2700000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7. 入庫処理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07200" y="2908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80000" y="2700000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8. 所在不明リール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の処理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27200" y="2908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00000" y="2700000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9. 現場部品リスト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／移動SQL作成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47200" y="2908800"/>
            <a:ext cx="147600" cy="14400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20000" y="2700000"/>
            <a:ext cx="1422000" cy="558000"/>
          </a:xfrm>
          <a:prstGeom prst="roundRect">
            <a:avLst>
              <a:gd name="adj" fmla="val 10000"/>
            </a:avLst>
          </a:prstGeom>
          <a:solidFill>
            <a:srgbClr val="EDF1F6"/>
          </a:solidFill>
          <a:ln w="952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10. 部品の取り付け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366000"/>
            <a:ext cx="8063999" cy="1080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対応</a:t>
            </a:r>
          </a:p>
          <a:p>
            <a:pPr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既存資料とマクロ、SQL、出力CSVを突き合わせて文章化。作業分担と判断条件をスイムレーンと判断フローで図解。生産一課への聞き取りを質問票で整理し、ロケーションマスタと棚卸し用倉庫コードを対応づけ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4446000"/>
            <a:ext cx="8063999" cy="684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成果物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詳細設計・仕様書　／　棚卸方法 図解　／　ヒアリング統合記録　／　ロケーションコード対応表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5238000"/>
            <a:ext cx="8063999" cy="936000"/>
          </a:xfrm>
          <a:prstGeom prst="rect">
            <a:avLst/>
          </a:prstGeom>
          <a:noFill/>
        </p:spPr>
        <p:txBody>
          <a:bodyPr wrap="square" lIns="0" rIns="0" tIns="18000" bIns="18000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今後</a:t>
            </a:r>
          </a:p>
          <a:p>
            <a:pPr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0確認の対象抽出方法と実行条件を確定し、手順書を完成させる。改修したSQLを、棚卸しデータで検証する。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9_NKbeacon-white">
  <a:themeElements>
    <a:clrScheme name="09_NKbeacon-whi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_NKbeacon-whi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09_NKbeacon-whi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09_NKbeacon-white</Template>
  <TotalTime>1783</TotalTime>
  <Words>379</Words>
  <Application>Microsoft Office PowerPoint</Application>
  <PresentationFormat>画面に合わせる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Meiryo UI</vt:lpstr>
      <vt:lpstr>Arial</vt:lpstr>
      <vt:lpstr>09_NKbeacon-white</vt:lpstr>
      <vt:lpstr>76期　業務報告 8月</vt:lpstr>
      <vt:lpstr>・定型業務</vt:lpstr>
      <vt:lpstr>・テーマ業務①：実装機_稼働率向上(L2ライン)</vt:lpstr>
      <vt:lpstr>・テーマ業務②：新製品(TL-BRIGHT)社内生産化</vt:lpstr>
      <vt:lpstr>・テーマ業務③：SMD部品データベース再構築(運用高度化)</vt:lpstr>
      <vt:lpstr>・テーマ業務④：SMD部品 Pad設計再構築による品質・安定性向上</vt:lpstr>
      <vt:lpstr>・テーマ業務⑤：PFMEA基礎知識習得&amp;実施・標準化</vt:lpstr>
      <vt:lpstr>・Topics</vt:lpstr>
    </vt:vector>
  </TitlesOfParts>
  <Company>日本光電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日本光電</dc:creator>
  <cp:lastModifiedBy>TAKEBUCHI Masaki (竹渕 正樹)</cp:lastModifiedBy>
  <cp:revision>16</cp:revision>
  <dcterms:created xsi:type="dcterms:W3CDTF">2009-06-04T00:49:37Z</dcterms:created>
  <dcterms:modified xsi:type="dcterms:W3CDTF">2026-08-25T01:56:32Z</dcterms:modified>
</cp:coreProperties>
</file>