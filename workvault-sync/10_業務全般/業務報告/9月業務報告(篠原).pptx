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8" r:id="rId2"/>
    <p:sldId id="260" r:id="rId3"/>
    <p:sldId id="263" r:id="rId4"/>
    <p:sldId id="261" r:id="rId5"/>
    <p:sldId id="264" r:id="rId6"/>
    <p:sldId id="265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CE6C09F-996B-4A97-8B67-0325D5F79331}" v="7" dt="2026-10-23T02:05:53.2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6" d="100"/>
          <a:sy n="96" d="100"/>
        </p:scale>
        <p:origin x="16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NOHARA Soshi (篠原 想詩)" userId="309c0b21-8b61-4cd5-9d32-07652c56306e" providerId="ADAL" clId="{60D42A6B-AE32-4A06-B461-AA9486421C3B}"/>
    <pc:docChg chg="mod modSld">
      <pc:chgData name="SHINOHARA Soshi (篠原 想詩)" userId="309c0b21-8b61-4cd5-9d32-07652c56306e" providerId="ADAL" clId="{60D42A6B-AE32-4A06-B461-AA9486421C3B}" dt="2026-10-23T02:50:58.124" v="70" actId="20577"/>
      <pc:docMkLst>
        <pc:docMk/>
      </pc:docMkLst>
      <pc:sldChg chg="modSp mod">
        <pc:chgData name="SHINOHARA Soshi (篠原 想詩)" userId="309c0b21-8b61-4cd5-9d32-07652c56306e" providerId="ADAL" clId="{60D42A6B-AE32-4A06-B461-AA9486421C3B}" dt="2026-10-23T02:49:54.402" v="28" actId="20577"/>
        <pc:sldMkLst>
          <pc:docMk/>
          <pc:sldMk cId="0" sldId="260"/>
        </pc:sldMkLst>
        <pc:spChg chg="mod">
          <ac:chgData name="SHINOHARA Soshi (篠原 想詩)" userId="309c0b21-8b61-4cd5-9d32-07652c56306e" providerId="ADAL" clId="{60D42A6B-AE32-4A06-B461-AA9486421C3B}" dt="2026-10-23T02:49:54.402" v="28" actId="20577"/>
          <ac:spMkLst>
            <pc:docMk/>
            <pc:sldMk cId="0" sldId="260"/>
            <ac:spMk id="9" creationId="{286AF094-EB23-DE59-C364-CE66702F5820}"/>
          </ac:spMkLst>
        </pc:spChg>
        <pc:spChg chg="mod">
          <ac:chgData name="SHINOHARA Soshi (篠原 想詩)" userId="309c0b21-8b61-4cd5-9d32-07652c56306e" providerId="ADAL" clId="{60D42A6B-AE32-4A06-B461-AA9486421C3B}" dt="2026-10-23T02:49:45.328" v="17" actId="6549"/>
          <ac:spMkLst>
            <pc:docMk/>
            <pc:sldMk cId="0" sldId="260"/>
            <ac:spMk id="11" creationId="{9062C9EA-A562-CB3D-30B1-0D2FE45C706F}"/>
          </ac:spMkLst>
        </pc:spChg>
      </pc:sldChg>
      <pc:sldChg chg="modSp mod">
        <pc:chgData name="SHINOHARA Soshi (篠原 想詩)" userId="309c0b21-8b61-4cd5-9d32-07652c56306e" providerId="ADAL" clId="{60D42A6B-AE32-4A06-B461-AA9486421C3B}" dt="2026-10-23T02:50:58.124" v="70" actId="20577"/>
        <pc:sldMkLst>
          <pc:docMk/>
          <pc:sldMk cId="2460916238" sldId="261"/>
        </pc:sldMkLst>
        <pc:spChg chg="mod">
          <ac:chgData name="SHINOHARA Soshi (篠原 想詩)" userId="309c0b21-8b61-4cd5-9d32-07652c56306e" providerId="ADAL" clId="{60D42A6B-AE32-4A06-B461-AA9486421C3B}" dt="2026-10-23T02:50:58.124" v="70" actId="20577"/>
          <ac:spMkLst>
            <pc:docMk/>
            <pc:sldMk cId="2460916238" sldId="261"/>
            <ac:spMk id="9107" creationId="{0E391B8E-AB01-AC75-D1D9-4BA5617A534F}"/>
          </ac:spMkLst>
        </pc:spChg>
      </pc:sldChg>
      <pc:sldChg chg="modSp mod">
        <pc:chgData name="SHINOHARA Soshi (篠原 想詩)" userId="309c0b21-8b61-4cd5-9d32-07652c56306e" providerId="ADAL" clId="{60D42A6B-AE32-4A06-B461-AA9486421C3B}" dt="2026-10-23T02:50:35.276" v="54" actId="20577"/>
        <pc:sldMkLst>
          <pc:docMk/>
          <pc:sldMk cId="2416652295" sldId="263"/>
        </pc:sldMkLst>
        <pc:spChg chg="mod">
          <ac:chgData name="SHINOHARA Soshi (篠原 想詩)" userId="309c0b21-8b61-4cd5-9d32-07652c56306e" providerId="ADAL" clId="{60D42A6B-AE32-4A06-B461-AA9486421C3B}" dt="2026-10-23T02:50:35.276" v="54" actId="20577"/>
          <ac:spMkLst>
            <pc:docMk/>
            <pc:sldMk cId="2416652295" sldId="263"/>
            <ac:spMk id="15" creationId="{CBB4D034-4453-9918-E427-6F3BF26F1E6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40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0C14BA8A-B438-06C3-FE00-CEF6AB502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8435" name="Rectangle 34">
            <a:extLst>
              <a:ext uri="{FF2B5EF4-FFF2-40B4-BE49-F238E27FC236}">
                <a16:creationId xmlns:a16="http://schemas.microsoft.com/office/drawing/2014/main" id="{6B0FC84E-BB3B-76F7-93E3-D1E2CBA5D297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914400" y="1649414"/>
            <a:ext cx="10363200" cy="1131887"/>
          </a:xfrm>
        </p:spPr>
        <p:txBody>
          <a:bodyPr/>
          <a:lstStyle>
            <a:lvl1pPr algn="ctr">
              <a:defRPr smtClean="0">
                <a:solidFill>
                  <a:srgbClr val="3333CC"/>
                </a:solidFill>
              </a:defRPr>
            </a:lvl1pPr>
          </a:lstStyle>
          <a:p>
            <a:pPr lvl="0"/>
            <a:r>
              <a:rPr lang="ja-JP" altLang="en-US" noProof="0"/>
              <a:t>マスター タイトルの書式設定</a:t>
            </a:r>
          </a:p>
        </p:txBody>
      </p:sp>
      <p:sp>
        <p:nvSpPr>
          <p:cNvPr id="18436" name="Rectangle 35">
            <a:extLst>
              <a:ext uri="{FF2B5EF4-FFF2-40B4-BE49-F238E27FC236}">
                <a16:creationId xmlns:a16="http://schemas.microsoft.com/office/drawing/2014/main" id="{DB3DCA16-0580-FDA1-E39D-90FEF5F81B28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828800" y="3068639"/>
            <a:ext cx="8534400" cy="1800225"/>
          </a:xfrm>
        </p:spPr>
        <p:txBody>
          <a:bodyPr/>
          <a:lstStyle>
            <a:lvl1pPr marL="0" indent="0" algn="ctr">
              <a:buFontTx/>
              <a:buNone/>
              <a:defRPr smtClean="0">
                <a:solidFill>
                  <a:schemeClr val="bg2"/>
                </a:solidFill>
              </a:defRPr>
            </a:lvl1pPr>
          </a:lstStyle>
          <a:p>
            <a:pPr lvl="0"/>
            <a:r>
              <a:rPr lang="ja-JP" altLang="en-US" noProof="0"/>
              <a:t>マスター サブタイトルの書式設定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21EA4C22-869B-D24A-0D05-950D6BF5105B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/>
        <p:txBody>
          <a:bodyPr/>
          <a:lstStyle>
            <a:lvl1pPr algn="l"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A1FF1166-8D8B-9946-8A67-ECCE715BEFC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/>
        <p:txBody>
          <a:bodyPr/>
          <a:lstStyle>
            <a:lvl1pPr>
              <a:defRPr sz="1200">
                <a:solidFill>
                  <a:schemeClr val="bg1"/>
                </a:solidFill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DD108065-3E08-80D3-14B1-3AE4A9BEE1D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/>
            </a:lvl1pPr>
          </a:lstStyle>
          <a:p>
            <a:fld id="{58931EFE-4ACE-4B37-9E60-492B3B153ED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271010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4434" y="1628627"/>
            <a:ext cx="11523133" cy="4608512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398BF68E-D88B-2F4D-5280-6792B81ED93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07ABD81-38F0-6FC5-6691-2F5B84631F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12E8582A-A0C5-05CF-5DB4-EDED19BCB32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AD4172-5909-45D2-B4AB-7D478CE70DD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450850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1EF0829B-40D8-0BCB-C00C-558D5031B9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C23B98A-016D-5485-14B7-93B021A0061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29D4E479-875E-321F-EA33-5184F8AE2EE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EA96D77-31B9-4D47-ABA2-ACC8E627EAB3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4110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404664"/>
            <a:ext cx="11523133" cy="1081088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334434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97601" y="1628627"/>
            <a:ext cx="5659967" cy="4608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804E6841-7FC5-A8B5-7307-47F6CEAC74B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2638F4E9-D9EF-3B5F-2C29-9BCB217C15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A379B939-7426-619C-A6C8-7F5C6FD7AF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9DB38B0-9776-4C5A-B23D-D8EACE3058B1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691294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0" y="385787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646262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28602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8" y="1646262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8" y="228602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36">
            <a:extLst>
              <a:ext uri="{FF2B5EF4-FFF2-40B4-BE49-F238E27FC236}">
                <a16:creationId xmlns:a16="http://schemas.microsoft.com/office/drawing/2014/main" id="{51FB5BD7-9BFD-FA63-2732-8CB83771219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8" name="Rectangle 37">
            <a:extLst>
              <a:ext uri="{FF2B5EF4-FFF2-40B4-BE49-F238E27FC236}">
                <a16:creationId xmlns:a16="http://schemas.microsoft.com/office/drawing/2014/main" id="{E05F4C1D-CCE9-ADAA-E574-6304B551812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9" name="Rectangle 38">
            <a:extLst>
              <a:ext uri="{FF2B5EF4-FFF2-40B4-BE49-F238E27FC236}">
                <a16:creationId xmlns:a16="http://schemas.microsoft.com/office/drawing/2014/main" id="{6A9428D8-CE54-C7D9-B0F7-EEB0022FEB1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CF208F0-7C0C-4EEA-BCA5-C5CBF907F1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81465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X:\Hirao\社外向けPPTテンプレート\作業\20110516\01_NKstandard.png">
            <a:extLst>
              <a:ext uri="{FF2B5EF4-FFF2-40B4-BE49-F238E27FC236}">
                <a16:creationId xmlns:a16="http://schemas.microsoft.com/office/drawing/2014/main" id="{B2943265-7CEE-F422-CE6F-E8236B8D89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334434" y="0"/>
            <a:ext cx="11523133" cy="90872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5269B2E4-5975-5509-5EDB-A48AED073EA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E9960380-7963-0AF4-D089-BE4F4058491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D147536D-C5C1-F152-EA2F-487B9BBD40D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9840710-8035-4C4E-AD8A-9A961CAE275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692121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6">
            <a:extLst>
              <a:ext uri="{FF2B5EF4-FFF2-40B4-BE49-F238E27FC236}">
                <a16:creationId xmlns:a16="http://schemas.microsoft.com/office/drawing/2014/main" id="{AA6A9096-13B0-6DA4-AFE9-5D4CFAA4B9B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" name="Rectangle 37">
            <a:extLst>
              <a:ext uri="{FF2B5EF4-FFF2-40B4-BE49-F238E27FC236}">
                <a16:creationId xmlns:a16="http://schemas.microsoft.com/office/drawing/2014/main" id="{16EA6B18-3402-A35D-8873-ED70D2F4224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4" name="Rectangle 38">
            <a:extLst>
              <a:ext uri="{FF2B5EF4-FFF2-40B4-BE49-F238E27FC236}">
                <a16:creationId xmlns:a16="http://schemas.microsoft.com/office/drawing/2014/main" id="{D8A3DA9E-F976-DDAD-9985-E62135A8DA5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B09AE0-1622-4770-ADFC-0F8BDB01B91C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340456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1" y="38419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38420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1" y="1546249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971AF52C-9B68-47D9-99D2-D9656BE976D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D8F6B586-883C-EE96-DF2D-8F732BBFB5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53908F5E-2B2B-CD6D-EEA1-C20D5044229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795169F-2DF5-4042-AB3F-95FD1414D079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17994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36">
            <a:extLst>
              <a:ext uri="{FF2B5EF4-FFF2-40B4-BE49-F238E27FC236}">
                <a16:creationId xmlns:a16="http://schemas.microsoft.com/office/drawing/2014/main" id="{DD8673C3-03C5-8DB1-35BB-E5D1F996429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7">
            <a:extLst>
              <a:ext uri="{FF2B5EF4-FFF2-40B4-BE49-F238E27FC236}">
                <a16:creationId xmlns:a16="http://schemas.microsoft.com/office/drawing/2014/main" id="{7C690EDB-55A0-DC8E-590F-EB43A85C955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" name="Rectangle 38">
            <a:extLst>
              <a:ext uri="{FF2B5EF4-FFF2-40B4-BE49-F238E27FC236}">
                <a16:creationId xmlns:a16="http://schemas.microsoft.com/office/drawing/2014/main" id="{3CF38E8B-075C-5F0A-347C-FC079992E85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40E599A-8B55-463A-AD15-8821CC1A853B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0419887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976785" y="404665"/>
            <a:ext cx="2880783" cy="5832475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334434" y="404665"/>
            <a:ext cx="8439151" cy="5832475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36">
            <a:extLst>
              <a:ext uri="{FF2B5EF4-FFF2-40B4-BE49-F238E27FC236}">
                <a16:creationId xmlns:a16="http://schemas.microsoft.com/office/drawing/2014/main" id="{42A302F8-0A91-6DC3-9B36-2EAE2299A9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5" name="Rectangle 37">
            <a:extLst>
              <a:ext uri="{FF2B5EF4-FFF2-40B4-BE49-F238E27FC236}">
                <a16:creationId xmlns:a16="http://schemas.microsoft.com/office/drawing/2014/main" id="{636DC084-1454-6C48-492D-CA2A680A72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6" name="Rectangle 38">
            <a:extLst>
              <a:ext uri="{FF2B5EF4-FFF2-40B4-BE49-F238E27FC236}">
                <a16:creationId xmlns:a16="http://schemas.microsoft.com/office/drawing/2014/main" id="{89D0FBA7-0BD2-1B47-93BB-765555FD6B4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5991D6-7BBE-4AD1-A267-9F9F6A4DC4C7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192793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8" descr="X:\Hirao\社外向けPPTテンプレート\作業\20110516\01_NKstandard_Contents.png">
            <a:extLst>
              <a:ext uri="{FF2B5EF4-FFF2-40B4-BE49-F238E27FC236}">
                <a16:creationId xmlns:a16="http://schemas.microsoft.com/office/drawing/2014/main" id="{308997B7-BE02-2346-F06D-1F3C049C48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7" name="Rectangle 34">
            <a:extLst>
              <a:ext uri="{FF2B5EF4-FFF2-40B4-BE49-F238E27FC236}">
                <a16:creationId xmlns:a16="http://schemas.microsoft.com/office/drawing/2014/main" id="{BB8894EC-24F1-EB1A-27EF-11B8207BC0F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334434" y="404814"/>
            <a:ext cx="11523133" cy="1081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タイトルの書式設定</a:t>
            </a:r>
          </a:p>
        </p:txBody>
      </p:sp>
      <p:sp>
        <p:nvSpPr>
          <p:cNvPr id="1028" name="Rectangle 35">
            <a:extLst>
              <a:ext uri="{FF2B5EF4-FFF2-40B4-BE49-F238E27FC236}">
                <a16:creationId xmlns:a16="http://schemas.microsoft.com/office/drawing/2014/main" id="{BF7DD1D5-BC47-702A-71DF-F31991186A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334434" y="1628776"/>
            <a:ext cx="11523133" cy="46085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060" name="Rectangle 36">
            <a:extLst>
              <a:ext uri="{FF2B5EF4-FFF2-40B4-BE49-F238E27FC236}">
                <a16:creationId xmlns:a16="http://schemas.microsoft.com/office/drawing/2014/main" id="{E9536C22-865F-878F-EC9A-05204D67806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8208433" y="6524625"/>
            <a:ext cx="28448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1" name="Rectangle 37">
            <a:extLst>
              <a:ext uri="{FF2B5EF4-FFF2-40B4-BE49-F238E27FC236}">
                <a16:creationId xmlns:a16="http://schemas.microsoft.com/office/drawing/2014/main" id="{6F776330-9727-DE83-A950-31A9B1C0F7D4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3934" y="6524625"/>
            <a:ext cx="3934884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  <a:latin typeface="Arial" charset="0"/>
                <a:ea typeface="ＭＳ Ｐゴシック" pitchFamily="50" charset="-128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1062" name="Rectangle 38">
            <a:extLst>
              <a:ext uri="{FF2B5EF4-FFF2-40B4-BE49-F238E27FC236}">
                <a16:creationId xmlns:a16="http://schemas.microsoft.com/office/drawing/2014/main" id="{9F56BB31-2214-4740-7089-F11C0D650CD0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377085" y="6524625"/>
            <a:ext cx="637116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6C329E27-3137-4DEF-8CF2-7C9CC64C1AA6}" type="slidenum">
              <a:rPr lang="en-US" altLang="ja-JP"/>
              <a:pPr/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6386248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Arial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har char="•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サブタイトル 2">
            <a:extLst>
              <a:ext uri="{FF2B5EF4-FFF2-40B4-BE49-F238E27FC236}">
                <a16:creationId xmlns:a16="http://schemas.microsoft.com/office/drawing/2014/main" id="{D8611FDF-9B1D-9612-327D-9456F6143916}"/>
              </a:ext>
            </a:extLst>
          </p:cNvPr>
          <p:cNvSpPr txBox="1">
            <a:spLocks/>
          </p:cNvSpPr>
          <p:nvPr/>
        </p:nvSpPr>
        <p:spPr bwMode="auto">
          <a:xfrm>
            <a:off x="1827688" y="3492624"/>
            <a:ext cx="8536623" cy="1008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FontTx/>
              <a:buNone/>
              <a:defRPr kumimoji="1" sz="3200" smtClean="0">
                <a:solidFill>
                  <a:schemeClr val="bg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kumimoji="1"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第二生産部実装技術課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  <a:p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実装技術係</a:t>
            </a:r>
            <a:r>
              <a:rPr lang="en-US" altLang="ja-JP" sz="3600" kern="0" dirty="0">
                <a:solidFill>
                  <a:schemeClr val="bg1">
                    <a:lumMod val="50000"/>
                  </a:schemeClr>
                </a:solidFill>
              </a:rPr>
              <a:t>_</a:t>
            </a:r>
            <a:r>
              <a:rPr lang="ja-JP" altLang="en-US" sz="3600" kern="0" dirty="0">
                <a:solidFill>
                  <a:schemeClr val="bg1">
                    <a:lumMod val="50000"/>
                  </a:schemeClr>
                </a:solidFill>
              </a:rPr>
              <a:t>篠原</a:t>
            </a:r>
            <a:endParaRPr lang="en-US" altLang="ja-JP" sz="3600" kern="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8" name="タイトル 1">
            <a:extLst>
              <a:ext uri="{FF2B5EF4-FFF2-40B4-BE49-F238E27FC236}">
                <a16:creationId xmlns:a16="http://schemas.microsoft.com/office/drawing/2014/main" id="{D2FA8936-D68E-6874-8EB3-C9A079275CE7}"/>
              </a:ext>
            </a:extLst>
          </p:cNvPr>
          <p:cNvSpPr txBox="1">
            <a:spLocks/>
          </p:cNvSpPr>
          <p:nvPr/>
        </p:nvSpPr>
        <p:spPr bwMode="auto">
          <a:xfrm>
            <a:off x="913049" y="1814661"/>
            <a:ext cx="10365899" cy="1295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sz="4400" smtClean="0">
                <a:solidFill>
                  <a:srgbClr val="3333CC"/>
                </a:solidFill>
                <a:latin typeface="+mj-lt"/>
                <a:ea typeface="+mj-ea"/>
                <a:cs typeface="+mj-cs"/>
              </a:defRPr>
            </a:lvl1pPr>
            <a:lvl2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2pPr>
            <a:lvl3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3pPr>
            <a:lvl4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4pPr>
            <a:lvl5pPr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5pPr>
            <a:lvl6pPr marL="4572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6pPr>
            <a:lvl7pPr marL="9144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7pPr>
            <a:lvl8pPr marL="13716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8pPr>
            <a:lvl9pPr marL="1828800" algn="l" rtl="0" eaLnBrk="1" fontAlgn="base" hangingPunct="1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1"/>
                </a:solidFill>
                <a:latin typeface="Arial" charset="0"/>
                <a:ea typeface="ＭＳ Ｐゴシック" pitchFamily="50" charset="-128"/>
              </a:defRPr>
            </a:lvl9pPr>
          </a:lstStyle>
          <a:p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76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期　</a:t>
            </a:r>
            <a:r>
              <a:rPr lang="en-US" altLang="ja-JP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9</a:t>
            </a:r>
            <a:r>
              <a:rPr lang="ja-JP" altLang="en-US" sz="5400" kern="0" dirty="0">
                <a:solidFill>
                  <a:schemeClr val="tx1">
                    <a:lumMod val="95000"/>
                    <a:lumOff val="5000"/>
                  </a:schemeClr>
                </a:solidFill>
              </a:rPr>
              <a:t>月業務報告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F73DBF07-353A-1DAE-881E-450898FCC584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en-US" altLang="ja-JP" sz="3600" b="1" dirty="0">
                <a:solidFill>
                  <a:schemeClr val="bg1"/>
                </a:solidFill>
                <a:latin typeface="Amazon Ember" panose="020B0603020204020204" pitchFamily="34" charset="0"/>
                <a:ea typeface="Amazon Ember" panose="020B0603020204020204" pitchFamily="34" charset="0"/>
                <a:cs typeface="Amazon Ember" panose="020B0603020204020204" pitchFamily="34" charset="0"/>
              </a:rPr>
              <a:t>報告の位置づけ　三つの業務テーマ</a:t>
            </a:r>
            <a:endParaRPr lang="ja-JP" altLang="en-US" sz="3600" dirty="0">
              <a:solidFill>
                <a:schemeClr val="bg1"/>
              </a:solidFill>
              <a:latin typeface="Amazon Ember" panose="020B0603020204020204" pitchFamily="34" charset="0"/>
              <a:cs typeface="Amazon Ember" panose="020B0603020204020204" pitchFamily="34" charset="0"/>
            </a:endParaRP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286AF094-EB23-DE59-C364-CE66702F5820}"/>
              </a:ext>
            </a:extLst>
          </p:cNvPr>
          <p:cNvSpPr txBox="1"/>
          <p:nvPr/>
        </p:nvSpPr>
        <p:spPr>
          <a:xfrm>
            <a:off x="540000" y="102098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2800" b="1" dirty="0">
                <a:solidFill>
                  <a:srgbClr val="000000"/>
                </a:solidFill>
                <a:latin typeface="Meiryo"/>
                <a:ea typeface="Meiryo"/>
              </a:rPr>
              <a:t>報告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540000" y="1572621"/>
            <a:ext cx="1065600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結論：下期は与えられた三つの業務テーマを中心に進捗。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棚卸(EGPro-MES差異確認)は上期からの継続テーマ。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29" name="R20">
            <a:extLst>
              <a:ext uri="{FF2B5EF4-FFF2-40B4-BE49-F238E27FC236}">
                <a16:creationId xmlns:a16="http://schemas.microsoft.com/office/drawing/2014/main" id="{99BBA5A8-AC1B-3C0B-F774-2765F922C93F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9001" name="TB_theme_list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457200" y="2743200"/>
            <a:ext cx="3520440" cy="1371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200" b="0" dirty="0">
                <a:solidFill>
                  <a:srgbClr val="000000"/>
                </a:solidFill>
                <a:latin typeface="Meiryo"/>
                <a:ea typeface="Meiryo"/>
              </a:rPr>
              <a:t>・テーマ1 管理方法確立：12月末に初版登録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200" b="0" dirty="0">
                <a:solidFill>
                  <a:srgbClr val="000000"/>
                </a:solidFill>
                <a:latin typeface="Meiryo"/>
                <a:ea typeface="Meiryo"/>
              </a:rPr>
              <a:t>・テーマ2 棚卸のツール改善：来週に本番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200" b="0" dirty="0">
                <a:solidFill>
                  <a:srgbClr val="000000"/>
                </a:solidFill>
                <a:latin typeface="Meiryo"/>
                <a:ea typeface="Meiryo"/>
              </a:rPr>
              <a:t>・テーマ3 鹿島引き込み改修：導入時までに整備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002" name="TB_cap_ge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4160520" y="2587752"/>
            <a:ext cx="758952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▲活動テーマ進捗管理表(下期)：報告はこの3テーマの順</a:t>
            </a:r>
          </a:p>
        </p:txBody>
      </p:sp>
      <p:pic>
        <p:nvPicPr>
          <p:cNvPr id="21507" name="IMG_geki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77416" y="2914219"/>
            <a:ext cx="7273456" cy="3624416"/>
          </a:xfrm>
          <a:prstGeom prst="rect">
            <a:avLst/>
          </a:prstGeom>
        </p:spPr>
      </p:pic>
      <p:sp>
        <p:nvSpPr>
          <p:cNvPr id="9003" name="TB_cap_jo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457200" y="4224528"/>
            <a:ext cx="3474720" cy="32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▲同(上期)：棚卸は継続テーマ</a:t>
            </a:r>
          </a:p>
        </p:txBody>
      </p:sp>
      <p:pic>
        <p:nvPicPr>
          <p:cNvPr id="21508" name="IMG_joki" descr="上期キャプチャ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26280"/>
            <a:ext cx="3474720" cy="1936776"/>
          </a:xfrm>
          <a:prstGeom prst="rect">
            <a:avLst/>
          </a:prstGeom>
        </p:spPr>
      </p:pic>
      <p:pic>
        <p:nvPicPr>
          <p:cNvPr id="5" name="IMG_joki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4096" y="4526280"/>
            <a:ext cx="3474719" cy="19367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09242-80D5-04D1-AA59-FD8FAB0FB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BF3B7B6-7F4A-254F-EB33-2638E125F1E0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テーマ1　Pana-CIM/LNBの管理方法確立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R20">
            <a:extLst>
              <a:ext uri="{FF2B5EF4-FFF2-40B4-BE49-F238E27FC236}">
                <a16:creationId xmlns:a16="http://schemas.microsoft.com/office/drawing/2014/main" id="{03ADD616-96E1-C816-722E-D432D1B1434B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7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461667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実施時期：〜12月末</a:t>
            </a:r>
          </a:p>
        </p:txBody>
      </p:sp>
      <p:sp>
        <p:nvSpPr>
          <p:cNvPr id="9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5128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目標と実績</a:t>
            </a:r>
          </a:p>
        </p:txBody>
      </p:sp>
      <p:sp>
        <p:nvSpPr>
          <p:cNvPr id="11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4"/>
            <a:ext cx="10656000" cy="111958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・目標：管理文書の初版登録を12月末までに完了させる。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・実績：管理手順書案2冊の作成。文書に載せる図解も作成</a:t>
            </a:r>
            <a:r>
              <a:rPr lang="en-US" altLang="ja-JP" b="0" dirty="0">
                <a:solidFill>
                  <a:srgbClr val="000000"/>
                </a:solidFill>
                <a:latin typeface="Meiryo"/>
                <a:ea typeface="Meiryo"/>
              </a:rPr>
              <a:t>(</a:t>
            </a: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進行中</a:t>
            </a:r>
            <a:r>
              <a:rPr lang="en-US" altLang="ja-JP" b="0" dirty="0">
                <a:solidFill>
                  <a:srgbClr val="000000"/>
                </a:solidFill>
                <a:latin typeface="Meiryo"/>
                <a:ea typeface="Meiryo"/>
              </a:rPr>
              <a:t>)</a:t>
            </a: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3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</a:t>
            </a:r>
            <a:r>
              <a:rPr lang="ja-JP" altLang="en-US" dirty="0">
                <a:solidFill>
                  <a:srgbClr val="000000"/>
                </a:solidFill>
                <a:latin typeface="Meiryo"/>
                <a:ea typeface="Meiryo"/>
              </a:rPr>
              <a:t>隔週行う</a:t>
            </a: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チーム確認に向け、レビュー用の準備を進めた。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・残タスクは図の登録、システム間の関係性や実際の操作手順、点検項目の確認など。</a:t>
            </a:r>
            <a:endParaRPr lang="en-US" altLang="ja-JP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17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19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・案2冊： 図は相関図・データフロー図など。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・レビュー期限： 初版登録12月末、LNB点検項目の登録12/28。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次の展開：10/28までに相関図と画像を追加し、同日の会議で承認をいただく。</a:t>
            </a:r>
          </a:p>
        </p:txBody>
      </p:sp>
    </p:spTree>
    <p:extLst>
      <p:ext uri="{BB962C8B-B14F-4D97-AF65-F5344CB8AC3E}">
        <p14:creationId xmlns:p14="http://schemas.microsoft.com/office/powerpoint/2010/main" val="2416652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7C30C-11A3-FE08-718A-0273393F0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8B5E1CCB-E003-0B0A-94DD-5D464AE71E1F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1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テーマ2　EGPro-MES差異確認(棚卸)のツール改善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1535" name="R20">
            <a:extLst>
              <a:ext uri="{FF2B5EF4-FFF2-40B4-BE49-F238E27FC236}">
                <a16:creationId xmlns:a16="http://schemas.microsoft.com/office/drawing/2014/main" id="{2E47C8EF-6705-D95C-B05D-E243520E31E0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9101" name="TB21">
            <a:extLst>
              <a:ext uri="{FF2B5EF4-FFF2-40B4-BE49-F238E27FC236}">
                <a16:creationId xmlns:a16="http://schemas.microsoft.com/office/drawing/2014/main" id="{9D8E4493-09ED-D66D-BB69-F4E17FDDAAE5}"/>
              </a:ext>
            </a:extLst>
          </p:cNvPr>
          <p:cNvSpPr txBox="1"/>
          <p:nvPr/>
        </p:nvSpPr>
        <p:spPr>
          <a:xfrm>
            <a:off x="36000" y="928195"/>
            <a:ext cx="2871216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実施時期：9〜10月(本番は来週)</a:t>
            </a:r>
          </a:p>
        </p:txBody>
      </p:sp>
      <p:sp>
        <p:nvSpPr>
          <p:cNvPr id="9102" name="TB22">
            <a:extLst>
              <a:ext uri="{FF2B5EF4-FFF2-40B4-BE49-F238E27FC236}">
                <a16:creationId xmlns:a16="http://schemas.microsoft.com/office/drawing/2014/main" id="{A76CBF8E-780A-F613-552A-79DF92A79B34}"/>
              </a:ext>
            </a:extLst>
          </p:cNvPr>
          <p:cNvSpPr txBox="1"/>
          <p:nvPr/>
        </p:nvSpPr>
        <p:spPr>
          <a:xfrm>
            <a:off x="540000" y="1433594"/>
            <a:ext cx="6619336" cy="27149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前提と0確認マクロ・セットアップレポート計算機について</a:t>
            </a:r>
          </a:p>
        </p:txBody>
      </p:sp>
      <p:sp>
        <p:nvSpPr>
          <p:cNvPr id="9103" name="TB23">
            <a:extLst>
              <a:ext uri="{FF2B5EF4-FFF2-40B4-BE49-F238E27FC236}">
                <a16:creationId xmlns:a16="http://schemas.microsoft.com/office/drawing/2014/main" id="{334C37F2-BE3E-BFC0-CAB9-D3917FDC0606}"/>
              </a:ext>
            </a:extLst>
          </p:cNvPr>
          <p:cNvSpPr txBox="1"/>
          <p:nvPr/>
        </p:nvSpPr>
        <p:spPr>
          <a:xfrm>
            <a:off x="756000" y="1813175"/>
            <a:ext cx="10656000" cy="7981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・棚卸の手順で必要になる工程で。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・0確認マクロ＝在庫の調整で必要になる確認対象を、倉庫在庫CSVから取り込んで一覧に整えるツール。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dirty="0">
                <a:solidFill>
                  <a:srgbClr val="000000"/>
                </a:solidFill>
                <a:latin typeface="Meiryo"/>
                <a:ea typeface="Meiryo"/>
              </a:rPr>
              <a:t>・セットアップレポート計算機</a:t>
            </a:r>
            <a:r>
              <a:rPr lang="en-US" altLang="ja-JP" dirty="0">
                <a:solidFill>
                  <a:srgbClr val="000000"/>
                </a:solidFill>
                <a:latin typeface="Meiryo"/>
                <a:ea typeface="Meiryo"/>
              </a:rPr>
              <a:t>=</a:t>
            </a:r>
            <a:r>
              <a:rPr lang="ja-JP" altLang="en-US" dirty="0">
                <a:solidFill>
                  <a:srgbClr val="000000"/>
                </a:solidFill>
                <a:latin typeface="Meiryo"/>
                <a:ea typeface="Meiryo"/>
              </a:rPr>
              <a:t>棚卸しで最も重要なツール。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104" name="TB24">
            <a:extLst>
              <a:ext uri="{FF2B5EF4-FFF2-40B4-BE49-F238E27FC236}">
                <a16:creationId xmlns:a16="http://schemas.microsoft.com/office/drawing/2014/main" id="{CFA581EB-E5DD-E949-61AD-F14177A9CC17}"/>
              </a:ext>
            </a:extLst>
          </p:cNvPr>
          <p:cNvSpPr txBox="1"/>
          <p:nvPr/>
        </p:nvSpPr>
        <p:spPr>
          <a:xfrm>
            <a:off x="540000" y="3043668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やったこと（改修の3ポイント）</a:t>
            </a:r>
          </a:p>
        </p:txBody>
      </p:sp>
      <p:sp>
        <p:nvSpPr>
          <p:cNvPr id="9105" name="TB25">
            <a:extLst>
              <a:ext uri="{FF2B5EF4-FFF2-40B4-BE49-F238E27FC236}">
                <a16:creationId xmlns:a16="http://schemas.microsoft.com/office/drawing/2014/main" id="{CBB4D034-4453-9918-E427-6F3BF26F1E67}"/>
              </a:ext>
            </a:extLst>
          </p:cNvPr>
          <p:cNvSpPr txBox="1"/>
          <p:nvPr/>
        </p:nvSpPr>
        <p:spPr>
          <a:xfrm>
            <a:off x="756000" y="3442581"/>
            <a:ext cx="10656000" cy="771569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・0確認マクロの使用方法の確立。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・「実行ログ」シートへ件数・内訳を自動記録。取り込みはボタンからだれでも実行可能</a:t>
            </a:r>
            <a:r>
              <a:rPr lang="ja-JP" altLang="en-US" dirty="0">
                <a:solidFill>
                  <a:srgbClr val="000000"/>
                </a:solidFill>
                <a:latin typeface="Meiryo"/>
                <a:ea typeface="Meiryo"/>
              </a:rPr>
              <a:t>に。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  <p:sp>
        <p:nvSpPr>
          <p:cNvPr id="9106" name="TB26">
            <a:extLst>
              <a:ext uri="{FF2B5EF4-FFF2-40B4-BE49-F238E27FC236}">
                <a16:creationId xmlns:a16="http://schemas.microsoft.com/office/drawing/2014/main" id="{9EA7CA49-8438-F8C9-4C30-426972466047}"/>
              </a:ext>
            </a:extLst>
          </p:cNvPr>
          <p:cNvSpPr txBox="1"/>
          <p:nvPr/>
        </p:nvSpPr>
        <p:spPr>
          <a:xfrm>
            <a:off x="540000" y="4325063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内容</a:t>
            </a:r>
          </a:p>
        </p:txBody>
      </p:sp>
      <p:sp>
        <p:nvSpPr>
          <p:cNvPr id="9107" name="TB27">
            <a:extLst>
              <a:ext uri="{FF2B5EF4-FFF2-40B4-BE49-F238E27FC236}">
                <a16:creationId xmlns:a16="http://schemas.microsoft.com/office/drawing/2014/main" id="{0E391B8E-AB01-AC75-D1D9-4BA5617A534F}"/>
              </a:ext>
            </a:extLst>
          </p:cNvPr>
          <p:cNvSpPr txBox="1"/>
          <p:nvPr/>
        </p:nvSpPr>
        <p:spPr>
          <a:xfrm>
            <a:off x="756000" y="4722706"/>
            <a:ext cx="10656000" cy="1495561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・実装(10/22)：正本へ実装しコンパイル通過。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・試験：写しに10/1版CSV(29,265行)を取込→6,024件が事前計算と全項目一致。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・計算機：本日(10/22)に機能改修の提案→実装中。予定通り実行できる見込み。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→ 次の展開：全体の手順を整備し仕様書を完成。リール消費取消可否の現場確認</a:t>
            </a:r>
            <a:r>
              <a:rPr lang="ja-JP" altLang="en-US" b="0">
                <a:solidFill>
                  <a:srgbClr val="000000"/>
                </a:solidFill>
                <a:latin typeface="Meiryo"/>
                <a:ea typeface="Meiryo"/>
              </a:rPr>
              <a:t>が前提。</a:t>
            </a:r>
            <a:endParaRPr lang="ja-JP" altLang="en-US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24609162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447C5-4718-8CD9-96CE-75F71C727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64226943-6F0D-9B1F-EB98-B1CB9F46A65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テーマ3　鹿島引き込みに伴うツール改修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6" name="TB54">
            <a:extLst>
              <a:ext uri="{FF2B5EF4-FFF2-40B4-BE49-F238E27FC236}">
                <a16:creationId xmlns:a16="http://schemas.microsoft.com/office/drawing/2014/main" id="{9F0FB3CC-52F3-1B56-A3C9-4771819CFED5}"/>
              </a:ext>
            </a:extLst>
          </p:cNvPr>
          <p:cNvSpPr txBox="1"/>
          <p:nvPr/>
        </p:nvSpPr>
        <p:spPr>
          <a:xfrm>
            <a:off x="540000" y="1278000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目標</a:t>
            </a:r>
          </a:p>
        </p:txBody>
      </p:sp>
      <p:sp>
        <p:nvSpPr>
          <p:cNvPr id="10" name="TB55">
            <a:extLst>
              <a:ext uri="{FF2B5EF4-FFF2-40B4-BE49-F238E27FC236}">
                <a16:creationId xmlns:a16="http://schemas.microsoft.com/office/drawing/2014/main" id="{A99D0592-4AAB-EE9D-86AD-508AC56407B7}"/>
              </a:ext>
            </a:extLst>
          </p:cNvPr>
          <p:cNvSpPr txBox="1"/>
          <p:nvPr/>
        </p:nvSpPr>
        <p:spPr>
          <a:xfrm>
            <a:off x="667200" y="1620000"/>
            <a:ext cx="10656000" cy="64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・ジョブ作成時の容量・負荷率の計算ツールを改修し、鹿島品目の導入時も通常通りの運用を可能にする。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・このテーマの進捗報告は生産一課へ行う運用。</a:t>
            </a:r>
          </a:p>
        </p:txBody>
      </p:sp>
      <p:sp>
        <p:nvSpPr>
          <p:cNvPr id="14" name="TB56">
            <a:extLst>
              <a:ext uri="{FF2B5EF4-FFF2-40B4-BE49-F238E27FC236}">
                <a16:creationId xmlns:a16="http://schemas.microsoft.com/office/drawing/2014/main" id="{E01BB2FC-B37F-D766-FE9D-4C8FAD15E35A}"/>
              </a:ext>
            </a:extLst>
          </p:cNvPr>
          <p:cNvSpPr txBox="1"/>
          <p:nvPr/>
        </p:nvSpPr>
        <p:spPr>
          <a:xfrm>
            <a:off x="540000" y="2367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やったこと</a:t>
            </a:r>
          </a:p>
        </p:txBody>
      </p:sp>
      <p:sp>
        <p:nvSpPr>
          <p:cNvPr id="18" name="TB57">
            <a:extLst>
              <a:ext uri="{FF2B5EF4-FFF2-40B4-BE49-F238E27FC236}">
                <a16:creationId xmlns:a16="http://schemas.microsoft.com/office/drawing/2014/main" id="{65F3A6C4-9A81-1EF9-8F56-E2D36B994E0B}"/>
              </a:ext>
            </a:extLst>
          </p:cNvPr>
          <p:cNvSpPr txBox="1"/>
          <p:nvPr/>
        </p:nvSpPr>
        <p:spPr>
          <a:xfrm>
            <a:off x="756000" y="2709546"/>
            <a:ext cx="10656000" cy="86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・先週〜今週、茂木さんのBOSS計画の負荷率計算を支援。品目合計数別の負荷率比較グラフを作成。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・BOSSデータの品目別・月別の集計(ピボット)も実施。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600" b="0" dirty="0">
                <a:solidFill>
                  <a:srgbClr val="000000"/>
                </a:solidFill>
                <a:latin typeface="Meiryo"/>
                <a:ea typeface="Meiryo"/>
              </a:rPr>
              <a:t>・不足部品計算リストのB列差異は9/24に1件対応済み。</a:t>
            </a:r>
          </a:p>
        </p:txBody>
      </p:sp>
      <p:sp>
        <p:nvSpPr>
          <p:cNvPr id="21" name="TB58">
            <a:extLst>
              <a:ext uri="{FF2B5EF4-FFF2-40B4-BE49-F238E27FC236}">
                <a16:creationId xmlns:a16="http://schemas.microsoft.com/office/drawing/2014/main" id="{51637B88-5226-9238-B14D-891D3D348264}"/>
              </a:ext>
            </a:extLst>
          </p:cNvPr>
          <p:cNvSpPr txBox="1"/>
          <p:nvPr/>
        </p:nvSpPr>
        <p:spPr>
          <a:xfrm>
            <a:off x="540000" y="3663546"/>
            <a:ext cx="5040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内容</a:t>
            </a:r>
          </a:p>
        </p:txBody>
      </p:sp>
      <p:graphicFrame>
        <p:nvGraphicFramePr>
          <p:cNvPr id="23" name="T59">
            <a:extLst>
              <a:ext uri="{FF2B5EF4-FFF2-40B4-BE49-F238E27FC236}">
                <a16:creationId xmlns:a16="http://schemas.microsoft.com/office/drawing/2014/main" id="{A1CE0432-81FE-9A98-8528-48DD5FFDE3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7148714"/>
              </p:ext>
            </p:extLst>
          </p:nvPr>
        </p:nvGraphicFramePr>
        <p:xfrm>
          <a:off x="756000" y="3996000"/>
          <a:ext cx="10656000" cy="1882284"/>
        </p:xfrm>
        <a:graphic>
          <a:graphicData uri="http://schemas.openxmlformats.org/drawingml/2006/table">
            <a:tbl>
              <a:tblPr firstRow="1"/>
              <a:tblGrid>
                <a:gridCol w="22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8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状況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負荷率計算の支援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BOSS計画(鹿島4品目+NKV)を7版作成・比較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負荷率比較グラフ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品目合計数別で1点作成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BOSSデータの集計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1,382行抽出→品目別227種・月別6か月のピボット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完了(検証済み)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B列差異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不足部品計算リストの修正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1件対応済み(9/24)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3714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残課題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経緯資料化と品目選定システム改修の検討着手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4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導入時までに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TB60">
            <a:extLst>
              <a:ext uri="{FF2B5EF4-FFF2-40B4-BE49-F238E27FC236}">
                <a16:creationId xmlns:a16="http://schemas.microsoft.com/office/drawing/2014/main" id="{90B734DB-F072-0773-4A91-F2D0428DC85B}"/>
              </a:ext>
            </a:extLst>
          </p:cNvPr>
          <p:cNvSpPr txBox="1"/>
          <p:nvPr/>
        </p:nvSpPr>
        <p:spPr>
          <a:xfrm>
            <a:off x="756000" y="6231929"/>
            <a:ext cx="10872000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1" dirty="0">
                <a:solidFill>
                  <a:srgbClr val="000000"/>
                </a:solidFill>
                <a:latin typeface="Meiryo"/>
                <a:ea typeface="Meiryo"/>
              </a:rPr>
              <a:t>→ 次の展開：経緯資料化と品目選定システム改修の検討を進め、導入時までにツール面を整える</a:t>
            </a: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4196054C-6AD3-7A06-15DA-5D1815E3D737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sp>
        <p:nvSpPr>
          <p:cNvPr id="29" name="TB21">
            <a:extLst>
              <a:ext uri="{FF2B5EF4-FFF2-40B4-BE49-F238E27FC236}">
                <a16:creationId xmlns:a16="http://schemas.microsoft.com/office/drawing/2014/main" id="{0E469F14-DE54-B50C-65FD-4EF61E57F230}"/>
              </a:ext>
            </a:extLst>
          </p:cNvPr>
          <p:cNvSpPr txBox="1"/>
          <p:nvPr/>
        </p:nvSpPr>
        <p:spPr>
          <a:xfrm>
            <a:off x="35999" y="928195"/>
            <a:ext cx="2873456" cy="28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sz="1400" b="0" dirty="0">
                <a:solidFill>
                  <a:srgbClr val="666666"/>
                </a:solidFill>
                <a:latin typeface="Meiryo"/>
                <a:ea typeface="Meiryo"/>
              </a:rPr>
              <a:t>実施時期：10〜3月</a:t>
            </a:r>
          </a:p>
        </p:txBody>
      </p:sp>
    </p:spTree>
    <p:extLst>
      <p:ext uri="{BB962C8B-B14F-4D97-AF65-F5344CB8AC3E}">
        <p14:creationId xmlns:p14="http://schemas.microsoft.com/office/powerpoint/2010/main" val="1474313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84C36-7EDB-A0A5-2342-3C34CBCE0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EE83C36C-337B-3CAA-0B83-0A1517A40289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0" y="-8467"/>
            <a:ext cx="11628000" cy="836613"/>
          </a:xfrm>
        </p:spPr>
        <p:txBody>
          <a:bodyPr/>
          <a:lstStyle/>
          <a:p>
            <a:r>
              <a:rPr lang="ja-JP" altLang="en-US" sz="3600" b="1" dirty="0">
                <a:solidFill>
                  <a:schemeClr val="bg1"/>
                </a:solidFill>
                <a:latin typeface="Meiryo"/>
                <a:ea typeface="Meiryo"/>
              </a:rPr>
              <a:t>進捗と翌月のアクション</a:t>
            </a:r>
            <a:endParaRPr lang="ja-JP" altLang="en-US" sz="3600" dirty="0">
              <a:solidFill>
                <a:schemeClr val="bg1"/>
              </a:solidFill>
            </a:endParaRPr>
          </a:p>
        </p:txBody>
      </p:sp>
      <p:sp>
        <p:nvSpPr>
          <p:cNvPr id="27" name="R20">
            <a:extLst>
              <a:ext uri="{FF2B5EF4-FFF2-40B4-BE49-F238E27FC236}">
                <a16:creationId xmlns:a16="http://schemas.microsoft.com/office/drawing/2014/main" id="{6633C88A-6AB1-478B-040B-00151FCAFBE3}"/>
              </a:ext>
            </a:extLst>
          </p:cNvPr>
          <p:cNvSpPr/>
          <p:nvPr/>
        </p:nvSpPr>
        <p:spPr>
          <a:xfrm>
            <a:off x="0" y="826881"/>
            <a:ext cx="12192000" cy="45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 w="9525">
            <a:noFill/>
          </a:ln>
        </p:spPr>
        <p:txBody>
          <a:bodyPr/>
          <a:lstStyle/>
          <a:p>
            <a:endParaRPr lang="ja-JP"/>
          </a:p>
        </p:txBody>
      </p:sp>
      <p:graphicFrame>
        <p:nvGraphicFramePr>
          <p:cNvPr id="8" name="T63">
            <a:extLst>
              <a:ext uri="{FF2B5EF4-FFF2-40B4-BE49-F238E27FC236}">
                <a16:creationId xmlns:a16="http://schemas.microsoft.com/office/drawing/2014/main" id="{58D35AA5-77A7-64BC-8911-FEFE11A996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2919764"/>
              </p:ext>
            </p:extLst>
          </p:nvPr>
        </p:nvGraphicFramePr>
        <p:xfrm>
          <a:off x="272980" y="2128477"/>
          <a:ext cx="11646040" cy="4113951"/>
        </p:xfrm>
        <a:graphic>
          <a:graphicData uri="http://schemas.openxmlformats.org/drawingml/2006/table">
            <a:tbl>
              <a:tblPr firstRow="1"/>
              <a:tblGrid>
                <a:gridCol w="27224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79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4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区分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内容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1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時期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E9E9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進捗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管理手順書案2冊を草案として作成。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0確認マクロの改修と正本への実装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(実行ログ自動記録・だれでも実行可能に)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鹿島引き込み：容量計算ツールの解析と臨時の負荷率計算</a:t>
                      </a:r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完了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271">
                <a:tc>
                  <a:txBody>
                    <a:bodyPr/>
                    <a:lstStyle/>
                    <a:p>
                      <a:pPr algn="l"/>
                      <a:endParaRPr lang="en-US" altLang="ja-JP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相関図と画像の追加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10/28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セットアップレポート計算機の改修→棚卸しの本番と工数測定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来週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980010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管理手順書の初版登録・LNB点検項目の登録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12月末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0963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鹿島：B列修正の経緯資料化と品目選定システム改修の検討着手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ja-JP" altLang="en-US" sz="1600" b="0" dirty="0">
                          <a:solidFill>
                            <a:srgbClr val="000000"/>
                          </a:solidFill>
                          <a:latin typeface="Meiryo"/>
                          <a:ea typeface="Meiryo"/>
                        </a:rPr>
                        <a:t>導入時まで</a:t>
                      </a: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8261508"/>
                  </a:ext>
                </a:extLst>
              </a:tr>
              <a:tr h="400000"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>
                      <a:solidFill>
                        <a:srgbClr val="9B9B9B"/>
                      </a:solidFill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ja-JP" altLang="en-US" sz="1600" b="0" dirty="0">
                        <a:solidFill>
                          <a:srgbClr val="000000"/>
                        </a:solidFill>
                        <a:latin typeface="Meiryo"/>
                        <a:ea typeface="Meiryo"/>
                      </a:endParaRPr>
                    </a:p>
                  </a:txBody>
                  <a:tcPr marL="72000" marR="72000" marT="36000" marB="36000" anchor="ctr">
                    <a:lnL w="9525" cap="flat">
                      <a:solidFill>
                        <a:srgbClr val="9B9B9B"/>
                      </a:solidFill>
                    </a:lnL>
                    <a:lnR w="9525" cap="flat">
                      <a:solidFill>
                        <a:srgbClr val="9B9B9B"/>
                      </a:solidFill>
                    </a:lnR>
                    <a:lnT w="9525" cap="flat" cmpd="sng" algn="ctr">
                      <a:solidFill>
                        <a:srgbClr val="9B9B9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>
                      <a:solidFill>
                        <a:srgbClr val="9B9B9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7008710"/>
                  </a:ext>
                </a:extLst>
              </a:tr>
            </a:tbl>
          </a:graphicData>
        </a:graphic>
      </p:graphicFrame>
      <p:sp>
        <p:nvSpPr>
          <p:cNvPr id="11" name="TB23">
            <a:extLst>
              <a:ext uri="{FF2B5EF4-FFF2-40B4-BE49-F238E27FC236}">
                <a16:creationId xmlns:a16="http://schemas.microsoft.com/office/drawing/2014/main" id="{9062C9EA-A562-CB3D-30B1-0D2FE45C706F}"/>
              </a:ext>
            </a:extLst>
          </p:cNvPr>
          <p:cNvSpPr txBox="1"/>
          <p:nvPr/>
        </p:nvSpPr>
        <p:spPr>
          <a:xfrm>
            <a:off x="272980" y="1080000"/>
            <a:ext cx="11646040" cy="10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前回(9/18)の進め方に沿い進捗。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ja-JP" altLang="en-US" b="0" dirty="0">
                <a:solidFill>
                  <a:srgbClr val="000000"/>
                </a:solidFill>
                <a:latin typeface="Meiryo"/>
                <a:ea typeface="Meiryo"/>
              </a:rPr>
              <a:t>棚卸し本番は来週(予定どおり)。</a:t>
            </a:r>
            <a:endParaRPr lang="en-US" altLang="ja-JP" b="0" dirty="0">
              <a:solidFill>
                <a:srgbClr val="000000"/>
              </a:solidFill>
              <a:latin typeface="Meiryo"/>
              <a:ea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3249971736"/>
      </p:ext>
    </p:extLst>
  </p:cSld>
  <p:clrMapOvr>
    <a:masterClrMapping/>
  </p:clrMapOvr>
</p:sld>
</file>

<file path=ppt/theme/theme1.xml><?xml version="1.0" encoding="utf-8"?>
<a:theme xmlns:a="http://schemas.openxmlformats.org/drawingml/2006/main" name="PPT_01-01">
  <a:themeElements>
    <a:clrScheme name="01_NKstandard-A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01_NKstandard-A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01_NKstandard-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01_NKstandard-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01_NKstandard-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Metadata/LabelInfo.xml><?xml version="1.0" encoding="utf-8"?>
<clbl:labelList xmlns:clbl="http://schemas.microsoft.com/office/2020/mipLabelMetadata">
  <clbl:label id="{ca9c2885-f052-48d0-98f2-4ee2bfc5cc07}" enabled="0" method="" siteId="{ca9c2885-f052-48d0-98f2-4ee2bfc5cc0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819</Words>
  <Application>Microsoft Office PowerPoint</Application>
  <PresentationFormat>ワイド画面</PresentationFormat>
  <Paragraphs>89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Meiryo</vt:lpstr>
      <vt:lpstr>Amazon Ember</vt:lpstr>
      <vt:lpstr>Arial</vt:lpstr>
      <vt:lpstr>PPT_01-01</vt:lpstr>
      <vt:lpstr>PowerPoint プレゼンテーション</vt:lpstr>
      <vt:lpstr>報告の位置づけ　三つの業務テーマ</vt:lpstr>
      <vt:lpstr>テーマ1　Pana-CIM/LNBの管理方法確立</vt:lpstr>
      <vt:lpstr>テーマ2　EGPro-MES差異確認(棚卸)のツール改善</vt:lpstr>
      <vt:lpstr>テーマ3　鹿島引き込みに伴うツール改修</vt:lpstr>
      <vt:lpstr>進捗と翌月のアクション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SHINOHARA Soshi (篠原 想詩)</cp:lastModifiedBy>
  <cp:revision>1</cp:revision>
  <dcterms:created xsi:type="dcterms:W3CDTF">2026-10-23T02:05:53Z</dcterms:created>
  <dcterms:modified xsi:type="dcterms:W3CDTF">2026-10-23T02:51:04Z</dcterms:modified>
</cp:coreProperties>
</file>