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undo custSel addSld delSld modSld sldOrd delMainMaster">
      <pc:chgData name="SHINOHARA Soshi (篠原 想詩)" userId="309c0b21-8b61-4cd5-9d32-07652c56306e" providerId="ADAL" clId="{60D42A6B-AE32-4A06-B461-AA9486421C3B}" dt="2026-10-21T08:22:14.415" v="2588" actId="20577"/>
      <pc:docMkLst>
        <pc:docMk/>
      </pc:docMkLst>
      <pc:sldChg chg="addSp delSp modSp add del mod">
        <pc:chgData name="SHINOHARA Soshi (篠原 想詩)" userId="309c0b21-8b61-4cd5-9d32-07652c56306e" providerId="ADAL" clId="{60D42A6B-AE32-4A06-B461-AA9486421C3B}" dt="2026-10-21T08:22:14.415" v="2588" actId="20577"/>
        <pc:sldMkLst>
          <pc:docMk/>
          <pc:sldMk cId="0" sldId="258"/>
        </pc:sldMkLst>
        <pc:spChg chg="add mod">
          <ac:chgData name="SHINOHARA Soshi (篠原 想詩)" userId="309c0b21-8b61-4cd5-9d32-07652c56306e" providerId="ADAL" clId="{60D42A6B-AE32-4A06-B461-AA9486421C3B}" dt="2026-10-21T08:22:14.415" v="2588" actId="20577"/>
          <ac:spMkLst>
            <pc:docMk/>
            <pc:sldMk cId="0" sldId="258"/>
            <ac:spMk id="8" creationId="{D2FA8936-D68E-6874-8EB3-C9A079275C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期　</a:t>
            </a:r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9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定型業務と当月の位置づけ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引継ぎ3テーマを集中遂行：0確認マクロは運用確定、管理手順書は案2冊(未承認)、棚卸しマクロは実機検証待ち。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定型業務(JOB作成・設計変更対応)は当月実績0件。記録・基盤の運用と整備に集中した(下表)。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xmlns:a16="http://schemas.microsoft.com/office/drawing/2014/main"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540000" y="2800000"/>
          <a:ext cx="10656000" cy="2060000"/>
        </p:xfrm>
        <a:graphic>
          <a:graphicData uri="http://schemas.openxmlformats.org/drawingml/2006/table">
            <a:tbl>
              <a:tblPr firstRow="1"/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業務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10月実績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JOB作成(不足部品リスト作成)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引継ぎの整備を優先。運用開始は11月以降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記録の運用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日報11本/週報3本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毎日作成。W42は完了済み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保管庫のGitHub移管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3,135ファイル・issue57件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同期は毎日17:30に自動実行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スナップショット容量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56.1GB→0.59GB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除外を許可リスト化(10/8)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テーマ1　0確認マクロver.2の運用確定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xmlns:a16="http://schemas.microsoft.com/office/drawing/2014/main"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実施時期：9〜10月</a:t>
            </a: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目標と実績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・月間目標：質問票35問の回答を運用手順書へ反映し、本番準備を完了させる。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・実績：反映は完了(10/15)。本番は10月末(予定)で、日程は10/28会議で確定。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・照合スクリプトで原因の切り分け(入力CSV起因/マクロ起因)を機械化した。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・10/2に無変更のまま実機で成功し、ver.2を運用として採用した。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19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・対象5,848件(入力CSV 29,246行)。10/2版は再計算で6,084件と一致。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・正本は共有サーバーの「0確認マクロ_ver2.xlsm」。反映は10/15。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・効果：原因の切り分けを機械化(推測→照合)。工数の前後比較は本番時に測定(未測定)。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次の展開：未決4件とxlsmへの実装2件を消化し、本番で全件照合と消し込み結果を確認する。</a:t>
            </a:r>
          </a:p>
        </p:txBody>
      </p:sp>
    </p:spTree>
    <p:extLst>
      <p:ext uri="{BB962C8B-B14F-4D97-AF65-F5344CB8AC3E}">
        <p14:creationId xmlns:p14="http://schemas.microsoft.com/office/powerpoint/2010/main"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テーマ2　PanaCIM・LNB管理手順書の整備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10" name="TB32">
            <a:extLst>
              <a:ext uri="{FF2B5EF4-FFF2-40B4-BE49-F238E27FC236}">
                <a16:creationId xmlns:a16="http://schemas.microsoft.com/office/drawing/2014/main" id="{3ED9BB57-B053-F70B-D524-9A419F78B21D}"/>
              </a:ext>
            </a:extLst>
          </p:cNvPr>
          <p:cNvSpPr txBox="1"/>
          <p:nvPr/>
        </p:nvSpPr>
        <p:spPr>
          <a:xfrm>
            <a:off x="540000" y="1687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背景（解決前）</a:t>
            </a:r>
          </a:p>
        </p:txBody>
      </p:sp>
      <p:sp>
        <p:nvSpPr>
          <p:cNvPr id="14" name="S33">
            <a:extLst>
              <a:ext uri="{FF2B5EF4-FFF2-40B4-BE49-F238E27FC236}">
                <a16:creationId xmlns:a16="http://schemas.microsoft.com/office/drawing/2014/main" id="{5B0E15B8-93C6-B5DC-8BC8-AE4DFDADDF16}"/>
              </a:ext>
            </a:extLst>
          </p:cNvPr>
          <p:cNvSpPr/>
          <p:nvPr/>
        </p:nvSpPr>
        <p:spPr>
          <a:xfrm>
            <a:off x="540000" y="2047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草案に引用元が無い</a:t>
            </a:r>
          </a:p>
        </p:txBody>
      </p:sp>
      <p:sp>
        <p:nvSpPr>
          <p:cNvPr id="18" name="S34">
            <a:extLst>
              <a:ext uri="{FF2B5EF4-FFF2-40B4-BE49-F238E27FC236}">
                <a16:creationId xmlns:a16="http://schemas.microsoft.com/office/drawing/2014/main" id="{497756DF-3408-5C63-2891-8CB7EF569B47}"/>
              </a:ext>
            </a:extLst>
          </p:cNvPr>
          <p:cNvSpPr/>
          <p:nvPr/>
        </p:nvSpPr>
        <p:spPr>
          <a:xfrm>
            <a:off x="2880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2" name="S35">
            <a:extLst>
              <a:ext uri="{FF2B5EF4-FFF2-40B4-BE49-F238E27FC236}">
                <a16:creationId xmlns:a16="http://schemas.microsoft.com/office/drawing/2014/main" id="{1ED71925-19F6-F7EB-DF01-3604792C541E}"/>
              </a:ext>
            </a:extLst>
          </p:cNvPr>
          <p:cNvSpPr/>
          <p:nvPr/>
        </p:nvSpPr>
        <p:spPr>
          <a:xfrm>
            <a:off x="3420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再起動手順が2種混在</a:t>
            </a:r>
          </a:p>
        </p:txBody>
      </p:sp>
      <p:sp>
        <p:nvSpPr>
          <p:cNvPr id="25" name="S36">
            <a:extLst>
              <a:ext uri="{FF2B5EF4-FFF2-40B4-BE49-F238E27FC236}">
                <a16:creationId xmlns:a16="http://schemas.microsoft.com/office/drawing/2014/main" id="{9AA1D80A-7EAB-E5E8-2EB1-FC55B36AF4FB}"/>
              </a:ext>
            </a:extLst>
          </p:cNvPr>
          <p:cNvSpPr/>
          <p:nvPr/>
        </p:nvSpPr>
        <p:spPr>
          <a:xfrm>
            <a:off x="5868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7" name="S37">
            <a:extLst>
              <a:ext uri="{FF2B5EF4-FFF2-40B4-BE49-F238E27FC236}">
                <a16:creationId xmlns:a16="http://schemas.microsoft.com/office/drawing/2014/main" id="{575B3615-02E5-2F13-6748-B3B281746601}"/>
              </a:ext>
            </a:extLst>
          </p:cNvPr>
          <p:cNvSpPr/>
          <p:nvPr/>
        </p:nvSpPr>
        <p:spPr>
          <a:xfrm>
            <a:off x="6408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停止と起動の区切りが無い</a:t>
            </a:r>
          </a:p>
        </p:txBody>
      </p:sp>
      <p:sp>
        <p:nvSpPr>
          <p:cNvPr id="29" name="S38">
            <a:extLst>
              <a:ext uri="{FF2B5EF4-FFF2-40B4-BE49-F238E27FC236}">
                <a16:creationId xmlns:a16="http://schemas.microsoft.com/office/drawing/2014/main" id="{A3A85E53-59E3-14F1-A43D-43A5D5555EB0}"/>
              </a:ext>
            </a:extLst>
          </p:cNvPr>
          <p:cNvSpPr/>
          <p:nvPr/>
        </p:nvSpPr>
        <p:spPr>
          <a:xfrm>
            <a:off x="8856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31" name="S39">
            <a:extLst>
              <a:ext uri="{FF2B5EF4-FFF2-40B4-BE49-F238E27FC236}">
                <a16:creationId xmlns:a16="http://schemas.microsoft.com/office/drawing/2014/main" id="{4360A1D8-3337-5B5F-A527-4558554291F7}"/>
              </a:ext>
            </a:extLst>
          </p:cNvPr>
          <p:cNvSpPr/>
          <p:nvPr/>
        </p:nvSpPr>
        <p:spPr>
          <a:xfrm>
            <a:off x="9396000" y="2047100"/>
            <a:ext cx="2232000" cy="720000"/>
          </a:xfrm>
          <a:prstGeom prst="roundRect">
            <a:avLst/>
          </a:prstGeom>
          <a:solidFill>
            <a:srgbClr val="E2E2E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誤って流すと生産停止</a:t>
            </a:r>
          </a:p>
        </p:txBody>
      </p:sp>
      <p:sp>
        <p:nvSpPr>
          <p:cNvPr id="21505" name="TB40">
            <a:extLst>
              <a:ext uri="{FF2B5EF4-FFF2-40B4-BE49-F238E27FC236}">
                <a16:creationId xmlns:a16="http://schemas.microsoft.com/office/drawing/2014/main" id="{927C2915-20BF-81E6-ADAB-0B263E213E91}"/>
              </a:ext>
            </a:extLst>
          </p:cNvPr>
          <p:cNvSpPr txBox="1"/>
          <p:nvPr/>
        </p:nvSpPr>
        <p:spPr>
          <a:xfrm>
            <a:off x="540000" y="2911100"/>
            <a:ext cx="11088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666666"/>
                </a:solidFill>
                <a:latin typeface="Meiryo"/>
                <a:ea typeface="Meiryo"/>
              </a:rPr>
              <a:t>→ 異常時の手順は「全ラインの生産と作業を停止」から始まり、月次と区別できる整理が必要だった</a:t>
            </a:r>
          </a:p>
        </p:txBody>
      </p:sp>
      <p:sp>
        <p:nvSpPr>
          <p:cNvPr id="21508" name="TB41">
            <a:extLst>
              <a:ext uri="{FF2B5EF4-FFF2-40B4-BE49-F238E27FC236}">
                <a16:creationId xmlns:a16="http://schemas.microsoft.com/office/drawing/2014/main" id="{2292334C-0E0C-4611-CBB3-F1ED8685F0EE}"/>
              </a:ext>
            </a:extLst>
          </p:cNvPr>
          <p:cNvSpPr txBox="1"/>
          <p:nvPr/>
        </p:nvSpPr>
        <p:spPr>
          <a:xfrm>
            <a:off x="540000" y="3523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やったこと（解決後）</a:t>
            </a:r>
          </a:p>
        </p:txBody>
      </p:sp>
      <p:sp>
        <p:nvSpPr>
          <p:cNvPr id="21510" name="S42">
            <a:extLst>
              <a:ext uri="{FF2B5EF4-FFF2-40B4-BE49-F238E27FC236}">
                <a16:creationId xmlns:a16="http://schemas.microsoft.com/office/drawing/2014/main" id="{43FF9372-D4F3-024E-F5FB-EEBCEE3D6C53}"/>
              </a:ext>
            </a:extLst>
          </p:cNvPr>
          <p:cNvSpPr/>
          <p:nvPr/>
        </p:nvSpPr>
        <p:spPr>
          <a:xfrm>
            <a:off x="540000" y="3883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公式資料から本文を反映</a:t>
            </a:r>
          </a:p>
        </p:txBody>
      </p:sp>
      <p:sp>
        <p:nvSpPr>
          <p:cNvPr id="21512" name="S43">
            <a:extLst>
              <a:ext uri="{FF2B5EF4-FFF2-40B4-BE49-F238E27FC236}">
                <a16:creationId xmlns:a16="http://schemas.microsoft.com/office/drawing/2014/main" id="{89D92C62-0182-0465-1688-F4417EC2F72B}"/>
              </a:ext>
            </a:extLst>
          </p:cNvPr>
          <p:cNvSpPr/>
          <p:nvPr/>
        </p:nvSpPr>
        <p:spPr>
          <a:xfrm>
            <a:off x="2880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4" name="S44">
            <a:extLst>
              <a:ext uri="{FF2B5EF4-FFF2-40B4-BE49-F238E27FC236}">
                <a16:creationId xmlns:a16="http://schemas.microsoft.com/office/drawing/2014/main" id="{D0A4DD7B-04A4-164A-EDDF-A00AC17F588E}"/>
              </a:ext>
            </a:extLst>
          </p:cNvPr>
          <p:cNvSpPr/>
          <p:nvPr/>
        </p:nvSpPr>
        <p:spPr>
          <a:xfrm>
            <a:off x="3420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月次と異常時を分離</a:t>
            </a:r>
          </a:p>
        </p:txBody>
      </p:sp>
      <p:sp>
        <p:nvSpPr>
          <p:cNvPr id="21516" name="S45">
            <a:extLst>
              <a:ext uri="{FF2B5EF4-FFF2-40B4-BE49-F238E27FC236}">
                <a16:creationId xmlns:a16="http://schemas.microsoft.com/office/drawing/2014/main" id="{CE12C862-B8D7-8680-F5A6-9D5626C05174}"/>
              </a:ext>
            </a:extLst>
          </p:cNvPr>
          <p:cNvSpPr/>
          <p:nvPr/>
        </p:nvSpPr>
        <p:spPr>
          <a:xfrm>
            <a:off x="5868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8" name="S46">
            <a:extLst>
              <a:ext uri="{FF2B5EF4-FFF2-40B4-BE49-F238E27FC236}">
                <a16:creationId xmlns:a16="http://schemas.microsoft.com/office/drawing/2014/main" id="{0B1D0BFE-19E5-BEBB-29BF-6206205D297A}"/>
              </a:ext>
            </a:extLst>
          </p:cNvPr>
          <p:cNvSpPr/>
          <p:nvPr/>
        </p:nvSpPr>
        <p:spPr>
          <a:xfrm>
            <a:off x="6408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停止1〜6／起動7〜14</a:t>
            </a:r>
          </a:p>
        </p:txBody>
      </p:sp>
      <p:sp>
        <p:nvSpPr>
          <p:cNvPr id="21520" name="S47">
            <a:extLst>
              <a:ext uri="{FF2B5EF4-FFF2-40B4-BE49-F238E27FC236}">
                <a16:creationId xmlns:a16="http://schemas.microsoft.com/office/drawing/2014/main" id="{07C8C824-0855-F504-5ED2-033E183E5AC7}"/>
              </a:ext>
            </a:extLst>
          </p:cNvPr>
          <p:cNvSpPr/>
          <p:nvPr/>
        </p:nvSpPr>
        <p:spPr>
          <a:xfrm>
            <a:off x="8856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22" name="S48">
            <a:extLst>
              <a:ext uri="{FF2B5EF4-FFF2-40B4-BE49-F238E27FC236}">
                <a16:creationId xmlns:a16="http://schemas.microsoft.com/office/drawing/2014/main" id="{23394E18-7729-EF9C-1A57-D32D35698E0B}"/>
              </a:ext>
            </a:extLst>
          </p:cNvPr>
          <p:cNvSpPr/>
          <p:nvPr/>
        </p:nvSpPr>
        <p:spPr>
          <a:xfrm>
            <a:off x="9396000" y="3883100"/>
            <a:ext cx="2232000" cy="720000"/>
          </a:xfrm>
          <a:prstGeom prst="roundRect">
            <a:avLst/>
          </a:prstGeom>
          <a:solidFill>
            <a:schemeClr val="accent1">
              <a:lumMod val="90000"/>
            </a:schemeClr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1" dirty="0">
                <a:solidFill>
                  <a:srgbClr val="000000"/>
                </a:solidFill>
                <a:latin typeface="Meiryo"/>
                <a:ea typeface="Meiryo"/>
              </a:rPr>
              <a:t>管理手順書案2冊を作成</a:t>
            </a:r>
          </a:p>
        </p:txBody>
      </p:sp>
      <p:sp>
        <p:nvSpPr>
          <p:cNvPr id="21527" name="右大かっこ 21526">
            <a:extLst>
              <a:ext uri="{FF2B5EF4-FFF2-40B4-BE49-F238E27FC236}">
                <a16:creationId xmlns:a16="http://schemas.microsoft.com/office/drawing/2014/main" id="{231EE372-2D83-A895-742F-441F2D69583B}"/>
              </a:ext>
            </a:extLst>
          </p:cNvPr>
          <p:cNvSpPr/>
          <p:nvPr/>
        </p:nvSpPr>
        <p:spPr>
          <a:xfrm rot="16200000">
            <a:off x="5873412" y="-2819756"/>
            <a:ext cx="445175" cy="9216537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529" name="TB28">
            <a:extLst>
              <a:ext uri="{FF2B5EF4-FFF2-40B4-BE49-F238E27FC236}">
                <a16:creationId xmlns:a16="http://schemas.microsoft.com/office/drawing/2014/main" id="{08D3BE1E-A7CA-BEB2-ADB6-594EF66852D4}"/>
              </a:ext>
            </a:extLst>
          </p:cNvPr>
          <p:cNvSpPr txBox="1"/>
          <p:nvPr/>
        </p:nvSpPr>
        <p:spPr>
          <a:xfrm>
            <a:off x="540000" y="4968559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21531" name="TB29">
            <a:extLst>
              <a:ext uri="{FF2B5EF4-FFF2-40B4-BE49-F238E27FC236}">
                <a16:creationId xmlns:a16="http://schemas.microsoft.com/office/drawing/2014/main" id="{0E081BA2-CF81-69EE-3F51-8B71713AA293}"/>
              </a:ext>
            </a:extLst>
          </p:cNvPr>
          <p:cNvSpPr txBox="1"/>
          <p:nvPr/>
        </p:nvSpPr>
        <p:spPr>
          <a:xfrm>
            <a:off x="391933" y="5251100"/>
            <a:ext cx="10656000" cy="93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・月間目標：案2冊の承認 → 実績：案2冊を作成(107頁/99頁、未承認)。管理書v0.12・LNB管理書v0.11に反映。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・10/14の会議で再起動手順の統合掲載を決定。停止1〜6/起動7〜14に分割し、月次と異常時を分けた。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次の展開：相関図と画像の追加は10/28まで。LNB点検項目の登録は12/28。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533" name="テキスト ボックス 21532">
            <a:extLst>
              <a:ext uri="{FF2B5EF4-FFF2-40B4-BE49-F238E27FC236}">
                <a16:creationId xmlns:a16="http://schemas.microsoft.com/office/drawing/2014/main" id="{B85F4D50-9C37-7186-F9DF-DF2611B8DAE4}"/>
              </a:ext>
            </a:extLst>
          </p:cNvPr>
          <p:cNvSpPr txBox="1"/>
          <p:nvPr/>
        </p:nvSpPr>
        <p:spPr>
          <a:xfrm>
            <a:off x="4068000" y="1137917"/>
            <a:ext cx="3600000" cy="35086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Meiryo"/>
              </a:rPr>
              <a:t>10/14 会議で統合方針を決定</a:t>
            </a:r>
            <a:endParaRPr lang="ja-JP" altLang="en-US" sz="16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Meiryo"/>
            </a:endParaRPr>
          </a:p>
        </p:txBody>
      </p:sp>
      <p:sp>
        <p:nvSpPr>
          <p:cNvPr id="21535" name="R20">
            <a:extLst>
              <a:ext uri="{FF2B5EF4-FFF2-40B4-BE49-F238E27FC236}">
                <a16:creationId xmlns:a16="http://schemas.microsoft.com/office/drawing/2014/main"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テーマ3　固定テーブル棚卸しマクロver.2の改修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xmlns:a16="http://schemas.microsoft.com/office/drawing/2014/main"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背景</a:t>
            </a:r>
          </a:p>
        </p:txBody>
      </p:sp>
      <p:sp>
        <p:nvSpPr>
          <p:cNvPr id="10" name="TB55">
            <a:extLst>
              <a:ext uri="{FF2B5EF4-FFF2-40B4-BE49-F238E27FC236}">
                <a16:creationId xmlns:a16="http://schemas.microsoft.com/office/drawing/2014/main"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・旧版は現場で動く実績がある一方、空欄の扱い・送信漏れなど直すべき点が判明していた。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・実機での検証工程が無く、本番までに動作を確かめる方法が残されていなかった。</a:t>
            </a:r>
          </a:p>
        </p:txBody>
      </p:sp>
      <p:sp>
        <p:nvSpPr>
          <p:cNvPr id="14" name="TB56">
            <a:extLst>
              <a:ext uri="{FF2B5EF4-FFF2-40B4-BE49-F238E27FC236}">
                <a16:creationId xmlns:a16="http://schemas.microsoft.com/office/drawing/2014/main"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8" name="TB57">
            <a:extLst>
              <a:ext uri="{FF2B5EF4-FFF2-40B4-BE49-F238E27FC236}">
                <a16:creationId xmlns:a16="http://schemas.microsoft.com/office/drawing/2014/main"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・改良点だけをver.2本体へ統合(設定読み込み1回化・空欄スキップ・送信漏れで中断)。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・旧版の実績を尊重し、勝手な書き換えはしない方針で改修。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・テストケース47件を作成し、コンパイル→試し実行10件→本番1件→10件の段階で検証する。</a:t>
            </a:r>
          </a:p>
        </p:txBody>
      </p:sp>
      <p:sp>
        <p:nvSpPr>
          <p:cNvPr id="21" name="TB58">
            <a:extLst>
              <a:ext uri="{FF2B5EF4-FFF2-40B4-BE49-F238E27FC236}">
                <a16:creationId xmlns:a16="http://schemas.microsoft.com/office/drawing/2014/main"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756000" y="3996000"/>
          <a:ext cx="10656000" cy="1882284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改修の統合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ver.2本体へ統合(3点)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テストケース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47件を作成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実機検証(4段階)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コンパイル→試し実行10件→本番1件→10件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0/4段階(未着手)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処理時間の効果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旧版との前後比較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未測定(実機検証時に測定)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生産終了ラインから順に棚卸しを実施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10月末(予定)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65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次の展開：10月末の本番前に実機検証(4段階)を完了させる</a:t>
            </a: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xmlns:a16="http://schemas.microsoft.com/office/drawing/2014/main"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実施時期：10月末 本番(予定)</a:t>
            </a:r>
          </a:p>
        </p:txBody>
      </p:sp>
    </p:spTree>
    <p:extLst>
      <p:ext uri="{BB962C8B-B14F-4D97-AF65-F5344CB8AC3E}">
        <p14:creationId xmlns:p14="http://schemas.microsoft.com/office/powerpoint/2010/main"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成果と翌月のアクション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xmlns:a16="http://schemas.microsoft.com/office/drawing/2014/main"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445471"/>
              </p:ext>
            </p:extLst>
          </p:nvPr>
        </p:nvGraphicFramePr>
        <p:xfrm>
          <a:off x="272980" y="2128477"/>
          <a:ext cx="11646040" cy="3600000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0確認マクロver.2を運用確定(質問票35問を運用手順書へ反映)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管理手順書案2冊を作成(107頁/99頁・未承認)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棚卸しマクロver.2の改修完了(テストケース47件)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01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実機確認の日程と停止判断者を会議で確定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10/28(最優先)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02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管理手順書の承認・相関図と画像の追加・一括バックアップの報告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5839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03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棚卸しマクロver.2の実機検証(4段階)→固定テーブル棚卸しの本番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01063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04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0確認マクロの本番実行と確認工数の測定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61816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05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LNB点検項目の聞き取りと登録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12/28まで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4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934</Words>
  <Application>Microsoft Office PowerPoint</Application>
  <PresentationFormat>ワイド画面</PresentationFormat>
  <Paragraphs>109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定型業務と当月の位置づけ</vt:lpstr>
      <vt:lpstr>テーマ1　0確認マクロver.2の運用確定</vt:lpstr>
      <vt:lpstr>テーマ2　PanaCIM・LNB管理手順書の整備</vt:lpstr>
      <vt:lpstr>テーマ3　固定テーブル棚卸しマクロver.2の改修</vt:lpstr>
      <vt:lpstr>成果と翌月のアクション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SHINOHARA Soshi (篠原 想詩)</dc:creator>
  <cp:lastModifiedBy>SHINOHARA Soshi (篠原 想詩)</cp:lastModifiedBy>
  <cp:revision>1</cp:revision>
  <dcterms:created xsi:type="dcterms:W3CDTF">2026-09-18T05:11:17Z</dcterms:created>
  <dcterms:modified xsi:type="dcterms:W3CDTF">2026-10-21T08:22:17Z</dcterms:modified>
</cp:coreProperties>
</file>