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3A8C0-57F0-478E-88D4-5FB3F7412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49166C-56B2-4E6E-8973-A7F987EA6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00AC6-2D30-4160-BDC7-28EB21DB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B9D98C-23DC-4783-885C-6E559A95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6E1633-21ED-48A4-B006-C50C9F55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95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AAF6D-EA6D-434B-B3A5-B2DEE282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745"/>
            <a:ext cx="7772400" cy="615178"/>
          </a:xfrm>
        </p:spPr>
        <p:txBody>
          <a:bodyPr>
            <a:noAutofit/>
          </a:bodyPr>
          <a:lstStyle>
            <a:lvl1pPr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8DC4B-BC8D-4238-9909-725180CE8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2pPr>
            <a:lvl3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3pPr>
            <a:lvl4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4pPr>
            <a:lvl5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510C5C-1576-44C4-BB1F-324DB996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0CED8E22-53D6-4154-8E3C-6B18391D9624}" type="datetimeFigureOut">
              <a:rPr lang="ja-JP" altLang="en-US" smtClean="0"/>
              <a:pPr/>
              <a:t>2022/3/28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FD6988-86A8-4D80-90E0-5E27A622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生産部生産</a:t>
            </a:r>
            <a:r>
              <a:rPr lang="en-US" altLang="ja-JP"/>
              <a:t>1</a:t>
            </a:r>
            <a:r>
              <a:rPr lang="ja-JP" altLang="en-US"/>
              <a:t>課</a:t>
            </a:r>
            <a:r>
              <a:rPr lang="en-US" altLang="ja-JP"/>
              <a:t>1</a:t>
            </a:r>
            <a:r>
              <a:rPr lang="ja-JP" altLang="en-US"/>
              <a:t>係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0C5CCF-1D43-4E41-8713-0ABBB0E3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320F96E4-6393-485F-BD8D-02C5A2D09C5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71E6363-C0C0-448C-A31B-63C2CEE74031}"/>
              </a:ext>
            </a:extLst>
          </p:cNvPr>
          <p:cNvCxnSpPr>
            <a:cxnSpLocks/>
          </p:cNvCxnSpPr>
          <p:nvPr userDrawn="1"/>
        </p:nvCxnSpPr>
        <p:spPr>
          <a:xfrm>
            <a:off x="0" y="926757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1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1B70F-2394-43D8-83BB-6E1B566B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0C4710-ED24-4C3C-9C57-EBFBD1DA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57D8F-46F4-40F8-B408-3218D58C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0CED8E22-53D6-4154-8E3C-6B18391D9624}" type="datetimeFigureOut">
              <a:rPr lang="ja-JP" altLang="en-US" smtClean="0"/>
              <a:pPr/>
              <a:t>2022/3/28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7B0C6-354E-429C-9E34-E7C42FBF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2A3674-0DEF-4573-9204-D63F786F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320F96E4-6393-485F-BD8D-02C5A2D09C5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31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8A6B70-DC1B-4056-9C96-E38BD6B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BE7CA8-2EAD-4E33-B771-222EB3F7B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8694C4-9DDC-429C-9C1E-B7B25F91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71FA17-2F4C-4241-AB28-1D48C7DE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BC12C-4A72-4181-B97A-EC75B8AF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5C958B-DF13-4EFD-BDAA-3030CE02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97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2230C-8207-41F7-B30F-F995C715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D5522E-2814-4E9A-A2D0-2212C86A0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472FB2-BEA2-4F11-BADA-1F94CE2E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302357-1312-4A4A-AAA9-7ABA15666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2ABCE4-823D-4B3B-9F72-809381C77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64F7F7-488E-46A7-95A5-EE9D9AE4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DFEFB0-1F97-486A-8153-B6F47BC9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80865DC-CD11-4AD4-B7CA-DD1221B5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35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CBE32-3431-4A46-B85C-F4582E3D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D70E16-1015-4D54-9658-DEB9C6B4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0CF965-E1E2-499A-AE18-B87C8C365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F6132F-36B7-469B-990D-8D2BDA0F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2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08557D-2C47-469A-B23E-EB67D934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89AFD-4939-4D05-BE3B-3921E74D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A9C0F1-AE44-42A4-ADBF-D59E726D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7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5C5BC-7EF2-4EF9-A46A-9A328D0F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394B4-E64D-43C4-9F6B-6B06A66B5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E1A201-B48F-456C-B887-3BBD03F7B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1DD2E3-FBBC-4AEF-B289-FB7E864A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C8C1B3-2992-4BE1-87B2-D2797377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F48BD2-6814-44FE-B34A-68718887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08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FEBC2-368F-41D8-BE15-4CF2A340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AB1FD5-A528-40F1-999A-CAF09FEF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097D0B-B1B4-4579-B2D0-DED13C4F5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1F8D24-F97F-4923-955A-CB81003D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D07F4E-3172-40F8-9514-622BB43A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C2ADCC-A356-4FA6-9651-7B73408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85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33762-F233-48E5-A0AC-C3282750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593C8E-0AC3-4C15-96E8-5107FDF6F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C7C0E9-AFE9-4CC7-8727-CBE8FF95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1DB021-C6DB-44CC-A817-090A5F3D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A2BB8-6467-43BA-9E78-8E6EB767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83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1C1A5F-F806-4C36-8F3B-3859EAC3D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D5A69C-CA3B-4342-8C3C-D7E812749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88BF6-F1D7-4A42-954F-914C2894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9F7C0E-2CFC-4014-83BF-6BAA205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0E0F66-3917-4ED2-8523-24711401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55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DA7CB-F089-45B6-AA06-F34D3310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9DCF9A-79EB-4785-8C1B-5B85B28F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C953D-6B86-4EA7-9820-FA7E26B1E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D8E22-53D6-4154-8E3C-6B18391D9624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24D29D-C401-4265-96CF-07E6934D3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2FDCB5-FBD6-41A1-90BE-FEFA766A7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82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4F4C8-B7DC-4184-804A-C4BD687B4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生産計画システムの見直し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9147DD-8143-48F7-AC00-83A425F04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第二生産部生産一課一係</a:t>
            </a:r>
            <a:endParaRPr kumimoji="1" lang="en-US" altLang="zh-TW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佐藤　勇希</a:t>
            </a:r>
          </a:p>
        </p:txBody>
      </p:sp>
    </p:spTree>
    <p:extLst>
      <p:ext uri="{BB962C8B-B14F-4D97-AF65-F5344CB8AC3E}">
        <p14:creationId xmlns:p14="http://schemas.microsoft.com/office/powerpoint/2010/main" val="378965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10359361" cy="682279"/>
          </a:xfrm>
        </p:spPr>
        <p:txBody>
          <a:bodyPr>
            <a:normAutofit/>
          </a:bodyPr>
          <a:lstStyle/>
          <a:p>
            <a:r>
              <a:rPr lang="ja-JP" altLang="en-US" dirty="0"/>
              <a:t>現在の生産計画作成方法簡略図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04C1754-E980-431E-946D-510EF5070E5F}"/>
              </a:ext>
            </a:extLst>
          </p:cNvPr>
          <p:cNvSpPr/>
          <p:nvPr/>
        </p:nvSpPr>
        <p:spPr>
          <a:xfrm>
            <a:off x="1226425" y="1501730"/>
            <a:ext cx="1301898" cy="966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前日までの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未整備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21EA4C6-A74D-41B2-86EB-64842487418E}"/>
              </a:ext>
            </a:extLst>
          </p:cNvPr>
          <p:cNvSpPr/>
          <p:nvPr/>
        </p:nvSpPr>
        <p:spPr>
          <a:xfrm>
            <a:off x="1583759" y="2002143"/>
            <a:ext cx="58723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43638D5-F964-41CD-B243-8773C8650576}"/>
              </a:ext>
            </a:extLst>
          </p:cNvPr>
          <p:cNvSpPr/>
          <p:nvPr/>
        </p:nvSpPr>
        <p:spPr>
          <a:xfrm>
            <a:off x="2826722" y="1656440"/>
            <a:ext cx="1091494" cy="7877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D19EE46-A769-4D1C-9086-F5E2D91056EA}"/>
              </a:ext>
            </a:extLst>
          </p:cNvPr>
          <p:cNvSpPr/>
          <p:nvPr/>
        </p:nvSpPr>
        <p:spPr>
          <a:xfrm>
            <a:off x="3092350" y="2002143"/>
            <a:ext cx="58723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ひし形 8">
            <a:extLst>
              <a:ext uri="{FF2B5EF4-FFF2-40B4-BE49-F238E27FC236}">
                <a16:creationId xmlns:a16="http://schemas.microsoft.com/office/drawing/2014/main" id="{DA482B4B-0A72-4E85-993B-CE8E815EB30F}"/>
              </a:ext>
            </a:extLst>
          </p:cNvPr>
          <p:cNvSpPr/>
          <p:nvPr/>
        </p:nvSpPr>
        <p:spPr>
          <a:xfrm>
            <a:off x="2170989" y="2697344"/>
            <a:ext cx="1051745" cy="565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/>
              <a:t>未整備確認</a:t>
            </a:r>
            <a:endParaRPr kumimoji="1" lang="ja-JP" altLang="en-US" sz="900" b="1" dirty="0"/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942F9B22-ABD5-4FB8-929D-CFA8F93B7824}"/>
              </a:ext>
            </a:extLst>
          </p:cNvPr>
          <p:cNvCxnSpPr>
            <a:stCxn id="36" idx="2"/>
            <a:endCxn id="9" idx="0"/>
          </p:cNvCxnSpPr>
          <p:nvPr/>
        </p:nvCxnSpPr>
        <p:spPr>
          <a:xfrm rot="16200000" flipH="1">
            <a:off x="2095430" y="2095912"/>
            <a:ext cx="383376" cy="819488"/>
          </a:xfrm>
          <a:prstGeom prst="bentConnector3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BE967EC2-19C2-4F7E-9377-4CBE910FAF71}"/>
              </a:ext>
            </a:extLst>
          </p:cNvPr>
          <p:cNvCxnSpPr>
            <a:cxnSpLocks/>
            <a:stCxn id="56" idx="2"/>
            <a:endCxn id="9" idx="0"/>
          </p:cNvCxnSpPr>
          <p:nvPr/>
        </p:nvCxnSpPr>
        <p:spPr>
          <a:xfrm rot="5400000">
            <a:off x="2849726" y="2161105"/>
            <a:ext cx="383376" cy="689103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49416F71-6F2D-4B1B-B4EF-0501821A4245}"/>
              </a:ext>
            </a:extLst>
          </p:cNvPr>
          <p:cNvCxnSpPr>
            <a:cxnSpLocks/>
            <a:stCxn id="9" idx="1"/>
            <a:endCxn id="36" idx="1"/>
          </p:cNvCxnSpPr>
          <p:nvPr/>
        </p:nvCxnSpPr>
        <p:spPr>
          <a:xfrm rot="10800000">
            <a:off x="1583759" y="2158056"/>
            <a:ext cx="587230" cy="821908"/>
          </a:xfrm>
          <a:prstGeom prst="bentConnector3">
            <a:avLst>
              <a:gd name="adj1" fmla="val 138929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ひし形 91">
            <a:extLst>
              <a:ext uri="{FF2B5EF4-FFF2-40B4-BE49-F238E27FC236}">
                <a16:creationId xmlns:a16="http://schemas.microsoft.com/office/drawing/2014/main" id="{04C0DA4C-B4D0-45D9-A208-B506D60DDF51}"/>
              </a:ext>
            </a:extLst>
          </p:cNvPr>
          <p:cNvSpPr/>
          <p:nvPr/>
        </p:nvSpPr>
        <p:spPr>
          <a:xfrm>
            <a:off x="2170988" y="3792201"/>
            <a:ext cx="1051745" cy="565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/>
              <a:t>品目</a:t>
            </a:r>
            <a:endParaRPr lang="en-US" altLang="ja-JP" sz="900" b="1" dirty="0"/>
          </a:p>
          <a:p>
            <a:pPr algn="ctr"/>
            <a:r>
              <a:rPr lang="ja-JP" altLang="en-US" sz="900" b="1" dirty="0"/>
              <a:t>選定</a:t>
            </a:r>
            <a:endParaRPr kumimoji="1" lang="ja-JP" altLang="en-US" sz="900" b="1" dirty="0"/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8E212C74-2655-4691-9EDF-F4394370EE4C}"/>
              </a:ext>
            </a:extLst>
          </p:cNvPr>
          <p:cNvCxnSpPr>
            <a:cxnSpLocks/>
            <a:stCxn id="9" idx="2"/>
            <a:endCxn id="92" idx="0"/>
          </p:cNvCxnSpPr>
          <p:nvPr/>
        </p:nvCxnSpPr>
        <p:spPr>
          <a:xfrm flipH="1">
            <a:off x="2696861" y="3262584"/>
            <a:ext cx="1" cy="52961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F96C0A17-894D-42DC-AA63-93183F232D90}"/>
              </a:ext>
            </a:extLst>
          </p:cNvPr>
          <p:cNvSpPr/>
          <p:nvPr/>
        </p:nvSpPr>
        <p:spPr>
          <a:xfrm>
            <a:off x="142003" y="3267269"/>
            <a:ext cx="2386320" cy="1111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選定</a:t>
            </a:r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条件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･着手日</a:t>
            </a:r>
            <a:endParaRPr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･テーブル占有率</a:t>
            </a:r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90%</a:t>
            </a:r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以上</a:t>
            </a:r>
            <a:endParaRPr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</a:t>
            </a:r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シート数</a:t>
            </a:r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500</a:t>
            </a:r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以上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･共通部品率高品目</a:t>
            </a:r>
            <a:endParaRPr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2AD92EAE-8F25-4CCC-B273-C6F2BB0AE5B5}"/>
              </a:ext>
            </a:extLst>
          </p:cNvPr>
          <p:cNvSpPr/>
          <p:nvPr/>
        </p:nvSpPr>
        <p:spPr>
          <a:xfrm>
            <a:off x="1181085" y="4900244"/>
            <a:ext cx="763778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99FBCF8-248F-4135-8C92-D975BA3A7BC8}"/>
              </a:ext>
            </a:extLst>
          </p:cNvPr>
          <p:cNvSpPr/>
          <p:nvPr/>
        </p:nvSpPr>
        <p:spPr>
          <a:xfrm>
            <a:off x="2308101" y="4894417"/>
            <a:ext cx="763778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FDA2F394-1E2F-437D-9A1C-A35F6555F10C}"/>
              </a:ext>
            </a:extLst>
          </p:cNvPr>
          <p:cNvSpPr/>
          <p:nvPr/>
        </p:nvSpPr>
        <p:spPr>
          <a:xfrm>
            <a:off x="3322488" y="4894418"/>
            <a:ext cx="1091494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  <a:b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固定品目</a:t>
            </a: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37CA6B7E-B764-44DD-83A3-B5B5F766C91B}"/>
              </a:ext>
            </a:extLst>
          </p:cNvPr>
          <p:cNvCxnSpPr>
            <a:cxnSpLocks/>
            <a:stCxn id="92" idx="2"/>
            <a:endCxn id="110" idx="0"/>
          </p:cNvCxnSpPr>
          <p:nvPr/>
        </p:nvCxnSpPr>
        <p:spPr>
          <a:xfrm rot="5400000">
            <a:off x="1858517" y="4061899"/>
            <a:ext cx="542803" cy="113388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F7B7E8DD-9FAA-4451-AF22-4DD540DB5DCF}"/>
              </a:ext>
            </a:extLst>
          </p:cNvPr>
          <p:cNvCxnSpPr>
            <a:cxnSpLocks/>
            <a:stCxn id="92" idx="2"/>
            <a:endCxn id="112" idx="0"/>
          </p:cNvCxnSpPr>
          <p:nvPr/>
        </p:nvCxnSpPr>
        <p:spPr>
          <a:xfrm rot="16200000" flipH="1">
            <a:off x="3014060" y="4040242"/>
            <a:ext cx="536977" cy="1171374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7CCBD67F-1EF5-46BC-B2C4-64C2559BAFB6}"/>
              </a:ext>
            </a:extLst>
          </p:cNvPr>
          <p:cNvCxnSpPr>
            <a:cxnSpLocks/>
            <a:stCxn id="92" idx="2"/>
            <a:endCxn id="111" idx="0"/>
          </p:cNvCxnSpPr>
          <p:nvPr/>
        </p:nvCxnSpPr>
        <p:spPr>
          <a:xfrm flipH="1">
            <a:off x="2689990" y="4357441"/>
            <a:ext cx="6871" cy="53697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75E86A5-47D4-4C53-A313-608DACE712B9}"/>
              </a:ext>
            </a:extLst>
          </p:cNvPr>
          <p:cNvSpPr/>
          <p:nvPr/>
        </p:nvSpPr>
        <p:spPr>
          <a:xfrm>
            <a:off x="1299859" y="2633523"/>
            <a:ext cx="1137551" cy="346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未整備あり</a:t>
            </a: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B2B9E321-0A2B-4B79-BEA7-BA04F3A2ECE7}"/>
              </a:ext>
            </a:extLst>
          </p:cNvPr>
          <p:cNvSpPr/>
          <p:nvPr/>
        </p:nvSpPr>
        <p:spPr>
          <a:xfrm>
            <a:off x="6034045" y="1163130"/>
            <a:ext cx="2642967" cy="2562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asprova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91149E62-9B99-4335-9C74-0AA36F23EBE6}"/>
              </a:ext>
            </a:extLst>
          </p:cNvPr>
          <p:cNvSpPr/>
          <p:nvPr/>
        </p:nvSpPr>
        <p:spPr>
          <a:xfrm>
            <a:off x="9024313" y="1151480"/>
            <a:ext cx="1731554" cy="154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PanaCIM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8FE0DDE-2657-4148-8479-BB3F4CC6FFFC}"/>
              </a:ext>
            </a:extLst>
          </p:cNvPr>
          <p:cNvSpPr/>
          <p:nvPr/>
        </p:nvSpPr>
        <p:spPr>
          <a:xfrm>
            <a:off x="5518878" y="1805168"/>
            <a:ext cx="1030333" cy="674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品目入力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710CFF2E-DA1B-41B5-841D-CC9E4EB8FF68}"/>
              </a:ext>
            </a:extLst>
          </p:cNvPr>
          <p:cNvSpPr/>
          <p:nvPr/>
        </p:nvSpPr>
        <p:spPr>
          <a:xfrm>
            <a:off x="756382" y="4516190"/>
            <a:ext cx="3964086" cy="1406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F9D5406-E82A-443C-8E4B-024D5429219B}"/>
              </a:ext>
            </a:extLst>
          </p:cNvPr>
          <p:cNvSpPr/>
          <p:nvPr/>
        </p:nvSpPr>
        <p:spPr>
          <a:xfrm>
            <a:off x="6060888" y="3942390"/>
            <a:ext cx="2642967" cy="2562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DGS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C441334A-0A1F-4C49-85A4-0764C62672EB}"/>
              </a:ext>
            </a:extLst>
          </p:cNvPr>
          <p:cNvSpPr/>
          <p:nvPr/>
        </p:nvSpPr>
        <p:spPr>
          <a:xfrm>
            <a:off x="5545721" y="4870479"/>
            <a:ext cx="1030333" cy="674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作成</a:t>
            </a: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CDDA0C7-385D-4C4E-A9EA-5B6A8648849B}"/>
              </a:ext>
            </a:extLst>
          </p:cNvPr>
          <p:cNvSpPr/>
          <p:nvPr/>
        </p:nvSpPr>
        <p:spPr>
          <a:xfrm>
            <a:off x="6750562" y="4398175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7C8ED32B-F035-4A46-930A-68AA2BE5EC16}"/>
              </a:ext>
            </a:extLst>
          </p:cNvPr>
          <p:cNvSpPr/>
          <p:nvPr/>
        </p:nvSpPr>
        <p:spPr>
          <a:xfrm>
            <a:off x="6760840" y="5597940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ADD198A1-BAAF-45F5-9095-E3E3A3107E81}"/>
              </a:ext>
            </a:extLst>
          </p:cNvPr>
          <p:cNvSpPr/>
          <p:nvPr/>
        </p:nvSpPr>
        <p:spPr>
          <a:xfrm>
            <a:off x="7748607" y="4870479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35" name="矢印: 右 1034">
            <a:extLst>
              <a:ext uri="{FF2B5EF4-FFF2-40B4-BE49-F238E27FC236}">
                <a16:creationId xmlns:a16="http://schemas.microsoft.com/office/drawing/2014/main" id="{E925AAF1-21AE-4D3F-A07F-6D7715814B16}"/>
              </a:ext>
            </a:extLst>
          </p:cNvPr>
          <p:cNvSpPr/>
          <p:nvPr/>
        </p:nvSpPr>
        <p:spPr>
          <a:xfrm>
            <a:off x="5114292" y="2088791"/>
            <a:ext cx="399669" cy="2770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888DC77C-E19D-4B65-99E2-28F3886965ED}"/>
              </a:ext>
            </a:extLst>
          </p:cNvPr>
          <p:cNvSpPr/>
          <p:nvPr/>
        </p:nvSpPr>
        <p:spPr>
          <a:xfrm>
            <a:off x="6964669" y="1604273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B2B80066-64E6-4D57-A131-2D5C2EBF0F5D}"/>
              </a:ext>
            </a:extLst>
          </p:cNvPr>
          <p:cNvSpPr/>
          <p:nvPr/>
        </p:nvSpPr>
        <p:spPr>
          <a:xfrm>
            <a:off x="6341604" y="2634000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870737D1-9DDE-4731-852B-12461A4AA477}"/>
              </a:ext>
            </a:extLst>
          </p:cNvPr>
          <p:cNvSpPr/>
          <p:nvPr/>
        </p:nvSpPr>
        <p:spPr>
          <a:xfrm>
            <a:off x="7551050" y="2634000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76B685AC-52DC-4C57-A1FF-0CDD95EEAAC5}"/>
              </a:ext>
            </a:extLst>
          </p:cNvPr>
          <p:cNvCxnSpPr>
            <a:cxnSpLocks/>
            <a:stCxn id="153" idx="3"/>
            <a:endCxn id="129" idx="1"/>
          </p:cNvCxnSpPr>
          <p:nvPr/>
        </p:nvCxnSpPr>
        <p:spPr>
          <a:xfrm flipV="1">
            <a:off x="8703855" y="1924412"/>
            <a:ext cx="320458" cy="3299035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コネクタ: カギ線 167">
            <a:extLst>
              <a:ext uri="{FF2B5EF4-FFF2-40B4-BE49-F238E27FC236}">
                <a16:creationId xmlns:a16="http://schemas.microsoft.com/office/drawing/2014/main" id="{3601166A-5F1C-4B6A-93FD-6DA25DAEFB64}"/>
              </a:ext>
            </a:extLst>
          </p:cNvPr>
          <p:cNvCxnSpPr>
            <a:cxnSpLocks/>
            <a:stCxn id="128" idx="3"/>
            <a:endCxn id="129" idx="1"/>
          </p:cNvCxnSpPr>
          <p:nvPr/>
        </p:nvCxnSpPr>
        <p:spPr>
          <a:xfrm flipV="1">
            <a:off x="8677012" y="1924412"/>
            <a:ext cx="347301" cy="519775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51D8FFF7-55C0-4FCF-BBDF-D0E2D5323526}"/>
              </a:ext>
            </a:extLst>
          </p:cNvPr>
          <p:cNvSpPr/>
          <p:nvPr/>
        </p:nvSpPr>
        <p:spPr>
          <a:xfrm>
            <a:off x="9258580" y="1621336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生産情報</a:t>
            </a:r>
          </a:p>
        </p:txBody>
      </p:sp>
      <p:pic>
        <p:nvPicPr>
          <p:cNvPr id="1048" name="Picture 2">
            <a:extLst>
              <a:ext uri="{FF2B5EF4-FFF2-40B4-BE49-F238E27FC236}">
                <a16:creationId xmlns:a16="http://schemas.microsoft.com/office/drawing/2014/main" id="{085D9A54-504C-4CE4-8EF1-794F00242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776" y="3685942"/>
            <a:ext cx="1348179" cy="137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8" name="コネクタ: カギ線 177">
            <a:extLst>
              <a:ext uri="{FF2B5EF4-FFF2-40B4-BE49-F238E27FC236}">
                <a16:creationId xmlns:a16="http://schemas.microsoft.com/office/drawing/2014/main" id="{76BB25A7-752C-4972-AAA9-074492F89EFD}"/>
              </a:ext>
            </a:extLst>
          </p:cNvPr>
          <p:cNvCxnSpPr>
            <a:cxnSpLocks/>
            <a:stCxn id="173" idx="2"/>
            <a:endCxn id="1048" idx="0"/>
          </p:cNvCxnSpPr>
          <p:nvPr/>
        </p:nvCxnSpPr>
        <p:spPr>
          <a:xfrm rot="16200000" flipH="1">
            <a:off x="9568285" y="2498360"/>
            <a:ext cx="1337145" cy="103801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47363297-1BEC-462E-8D8B-2DFDA56A9467}"/>
              </a:ext>
            </a:extLst>
          </p:cNvPr>
          <p:cNvSpPr/>
          <p:nvPr/>
        </p:nvSpPr>
        <p:spPr>
          <a:xfrm>
            <a:off x="10197198" y="4328095"/>
            <a:ext cx="928476" cy="346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EE8B5D78-1700-457D-941C-0F382D54742C}"/>
              </a:ext>
            </a:extLst>
          </p:cNvPr>
          <p:cNvCxnSpPr>
            <a:cxnSpLocks/>
            <a:stCxn id="56" idx="3"/>
            <a:endCxn id="128" idx="0"/>
          </p:cNvCxnSpPr>
          <p:nvPr/>
        </p:nvCxnSpPr>
        <p:spPr>
          <a:xfrm flipV="1">
            <a:off x="3679580" y="1163130"/>
            <a:ext cx="3675949" cy="994926"/>
          </a:xfrm>
          <a:prstGeom prst="bentConnector4">
            <a:avLst>
              <a:gd name="adj1" fmla="val 32025"/>
              <a:gd name="adj2" fmla="val 112115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10359361" cy="682279"/>
          </a:xfrm>
        </p:spPr>
        <p:txBody>
          <a:bodyPr>
            <a:normAutofit/>
          </a:bodyPr>
          <a:lstStyle/>
          <a:p>
            <a:r>
              <a:rPr lang="ja-JP" altLang="en-US" dirty="0"/>
              <a:t>現在の生産計画作成方法簡略図</a:t>
            </a:r>
            <a:r>
              <a:rPr lang="en-US" altLang="ja-JP" dirty="0"/>
              <a:t>(</a:t>
            </a:r>
            <a:r>
              <a:rPr lang="ja-JP" altLang="en-US" dirty="0"/>
              <a:t>問題点</a:t>
            </a:r>
            <a:r>
              <a:rPr lang="en-US" altLang="ja-JP" dirty="0"/>
              <a:t>)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04C1754-E980-431E-946D-510EF5070E5F}"/>
              </a:ext>
            </a:extLst>
          </p:cNvPr>
          <p:cNvSpPr/>
          <p:nvPr/>
        </p:nvSpPr>
        <p:spPr>
          <a:xfrm>
            <a:off x="1226425" y="1501730"/>
            <a:ext cx="1301898" cy="966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前日までの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未整備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21EA4C6-A74D-41B2-86EB-64842487418E}"/>
              </a:ext>
            </a:extLst>
          </p:cNvPr>
          <p:cNvSpPr/>
          <p:nvPr/>
        </p:nvSpPr>
        <p:spPr>
          <a:xfrm>
            <a:off x="1583759" y="2002143"/>
            <a:ext cx="58723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43638D5-F964-41CD-B243-8773C8650576}"/>
              </a:ext>
            </a:extLst>
          </p:cNvPr>
          <p:cNvSpPr/>
          <p:nvPr/>
        </p:nvSpPr>
        <p:spPr>
          <a:xfrm>
            <a:off x="2826722" y="1656440"/>
            <a:ext cx="1091494" cy="7877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D19EE46-A769-4D1C-9086-F5E2D91056EA}"/>
              </a:ext>
            </a:extLst>
          </p:cNvPr>
          <p:cNvSpPr/>
          <p:nvPr/>
        </p:nvSpPr>
        <p:spPr>
          <a:xfrm>
            <a:off x="3092350" y="2002143"/>
            <a:ext cx="58723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ひし形 8">
            <a:extLst>
              <a:ext uri="{FF2B5EF4-FFF2-40B4-BE49-F238E27FC236}">
                <a16:creationId xmlns:a16="http://schemas.microsoft.com/office/drawing/2014/main" id="{DA482B4B-0A72-4E85-993B-CE8E815EB30F}"/>
              </a:ext>
            </a:extLst>
          </p:cNvPr>
          <p:cNvSpPr/>
          <p:nvPr/>
        </p:nvSpPr>
        <p:spPr>
          <a:xfrm>
            <a:off x="2170989" y="2697344"/>
            <a:ext cx="1051745" cy="565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/>
              <a:t>未整備確認</a:t>
            </a:r>
            <a:endParaRPr kumimoji="1" lang="ja-JP" altLang="en-US" sz="900" b="1" dirty="0"/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942F9B22-ABD5-4FB8-929D-CFA8F93B7824}"/>
              </a:ext>
            </a:extLst>
          </p:cNvPr>
          <p:cNvCxnSpPr>
            <a:stCxn id="36" idx="2"/>
            <a:endCxn id="9" idx="0"/>
          </p:cNvCxnSpPr>
          <p:nvPr/>
        </p:nvCxnSpPr>
        <p:spPr>
          <a:xfrm rot="16200000" flipH="1">
            <a:off x="2095430" y="2095912"/>
            <a:ext cx="383376" cy="819488"/>
          </a:xfrm>
          <a:prstGeom prst="bentConnector3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BE967EC2-19C2-4F7E-9377-4CBE910FAF71}"/>
              </a:ext>
            </a:extLst>
          </p:cNvPr>
          <p:cNvCxnSpPr>
            <a:cxnSpLocks/>
            <a:stCxn id="56" idx="2"/>
            <a:endCxn id="9" idx="0"/>
          </p:cNvCxnSpPr>
          <p:nvPr/>
        </p:nvCxnSpPr>
        <p:spPr>
          <a:xfrm rot="5400000">
            <a:off x="2849726" y="2161105"/>
            <a:ext cx="383376" cy="689103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49416F71-6F2D-4B1B-B4EF-0501821A4245}"/>
              </a:ext>
            </a:extLst>
          </p:cNvPr>
          <p:cNvCxnSpPr>
            <a:cxnSpLocks/>
            <a:stCxn id="9" idx="1"/>
            <a:endCxn id="36" idx="1"/>
          </p:cNvCxnSpPr>
          <p:nvPr/>
        </p:nvCxnSpPr>
        <p:spPr>
          <a:xfrm rot="10800000">
            <a:off x="1583759" y="2158056"/>
            <a:ext cx="587230" cy="821908"/>
          </a:xfrm>
          <a:prstGeom prst="bentConnector3">
            <a:avLst>
              <a:gd name="adj1" fmla="val 138929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ひし形 91">
            <a:extLst>
              <a:ext uri="{FF2B5EF4-FFF2-40B4-BE49-F238E27FC236}">
                <a16:creationId xmlns:a16="http://schemas.microsoft.com/office/drawing/2014/main" id="{04C0DA4C-B4D0-45D9-A208-B506D60DDF51}"/>
              </a:ext>
            </a:extLst>
          </p:cNvPr>
          <p:cNvSpPr/>
          <p:nvPr/>
        </p:nvSpPr>
        <p:spPr>
          <a:xfrm>
            <a:off x="2170988" y="3792201"/>
            <a:ext cx="1051745" cy="565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/>
              <a:t>品目</a:t>
            </a:r>
            <a:endParaRPr lang="en-US" altLang="ja-JP" sz="900" b="1" dirty="0"/>
          </a:p>
          <a:p>
            <a:pPr algn="ctr"/>
            <a:r>
              <a:rPr lang="ja-JP" altLang="en-US" sz="900" b="1" dirty="0"/>
              <a:t>選定</a:t>
            </a:r>
            <a:endParaRPr kumimoji="1" lang="ja-JP" altLang="en-US" sz="900" b="1" dirty="0"/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8E212C74-2655-4691-9EDF-F4394370EE4C}"/>
              </a:ext>
            </a:extLst>
          </p:cNvPr>
          <p:cNvCxnSpPr>
            <a:cxnSpLocks/>
            <a:stCxn id="9" idx="2"/>
            <a:endCxn id="92" idx="0"/>
          </p:cNvCxnSpPr>
          <p:nvPr/>
        </p:nvCxnSpPr>
        <p:spPr>
          <a:xfrm flipH="1">
            <a:off x="2696861" y="3262584"/>
            <a:ext cx="1" cy="52961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F96C0A17-894D-42DC-AA63-93183F232D90}"/>
              </a:ext>
            </a:extLst>
          </p:cNvPr>
          <p:cNvSpPr/>
          <p:nvPr/>
        </p:nvSpPr>
        <p:spPr>
          <a:xfrm>
            <a:off x="142003" y="3267269"/>
            <a:ext cx="2386320" cy="1111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選定</a:t>
            </a:r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条件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･着手日</a:t>
            </a:r>
            <a:endParaRPr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･テーブル占有率</a:t>
            </a:r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90%</a:t>
            </a:r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以上</a:t>
            </a:r>
            <a:endParaRPr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</a:t>
            </a:r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シート数</a:t>
            </a:r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500</a:t>
            </a:r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以上</a:t>
            </a:r>
            <a:endParaRPr kumimoji="1"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･共通部品率高品目</a:t>
            </a:r>
            <a:endParaRPr lang="en-US" altLang="ja-JP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2AD92EAE-8F25-4CCC-B273-C6F2BB0AE5B5}"/>
              </a:ext>
            </a:extLst>
          </p:cNvPr>
          <p:cNvSpPr/>
          <p:nvPr/>
        </p:nvSpPr>
        <p:spPr>
          <a:xfrm>
            <a:off x="1181085" y="4900244"/>
            <a:ext cx="763778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99FBCF8-248F-4135-8C92-D975BA3A7BC8}"/>
              </a:ext>
            </a:extLst>
          </p:cNvPr>
          <p:cNvSpPr/>
          <p:nvPr/>
        </p:nvSpPr>
        <p:spPr>
          <a:xfrm>
            <a:off x="2308101" y="4894417"/>
            <a:ext cx="763778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FDA2F394-1E2F-437D-9A1C-A35F6555F10C}"/>
              </a:ext>
            </a:extLst>
          </p:cNvPr>
          <p:cNvSpPr/>
          <p:nvPr/>
        </p:nvSpPr>
        <p:spPr>
          <a:xfrm>
            <a:off x="3322488" y="4894418"/>
            <a:ext cx="1091494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  <a:b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固定品目</a:t>
            </a: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37CA6B7E-B764-44DD-83A3-B5B5F766C91B}"/>
              </a:ext>
            </a:extLst>
          </p:cNvPr>
          <p:cNvCxnSpPr>
            <a:cxnSpLocks/>
            <a:stCxn id="92" idx="2"/>
            <a:endCxn id="110" idx="0"/>
          </p:cNvCxnSpPr>
          <p:nvPr/>
        </p:nvCxnSpPr>
        <p:spPr>
          <a:xfrm rot="5400000">
            <a:off x="1858517" y="4061899"/>
            <a:ext cx="542803" cy="113388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F7B7E8DD-9FAA-4451-AF22-4DD540DB5DCF}"/>
              </a:ext>
            </a:extLst>
          </p:cNvPr>
          <p:cNvCxnSpPr>
            <a:cxnSpLocks/>
            <a:stCxn id="92" idx="2"/>
            <a:endCxn id="112" idx="0"/>
          </p:cNvCxnSpPr>
          <p:nvPr/>
        </p:nvCxnSpPr>
        <p:spPr>
          <a:xfrm rot="16200000" flipH="1">
            <a:off x="3014060" y="4040242"/>
            <a:ext cx="536977" cy="1171374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7CCBD67F-1EF5-46BC-B2C4-64C2559BAFB6}"/>
              </a:ext>
            </a:extLst>
          </p:cNvPr>
          <p:cNvCxnSpPr>
            <a:cxnSpLocks/>
            <a:stCxn id="92" idx="2"/>
            <a:endCxn id="111" idx="0"/>
          </p:cNvCxnSpPr>
          <p:nvPr/>
        </p:nvCxnSpPr>
        <p:spPr>
          <a:xfrm flipH="1">
            <a:off x="2689990" y="4357441"/>
            <a:ext cx="6871" cy="53697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75E86A5-47D4-4C53-A313-608DACE712B9}"/>
              </a:ext>
            </a:extLst>
          </p:cNvPr>
          <p:cNvSpPr/>
          <p:nvPr/>
        </p:nvSpPr>
        <p:spPr>
          <a:xfrm>
            <a:off x="1299859" y="2633523"/>
            <a:ext cx="1137551" cy="346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未整備あり</a:t>
            </a: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B2B9E321-0A2B-4B79-BEA7-BA04F3A2ECE7}"/>
              </a:ext>
            </a:extLst>
          </p:cNvPr>
          <p:cNvSpPr/>
          <p:nvPr/>
        </p:nvSpPr>
        <p:spPr>
          <a:xfrm>
            <a:off x="6034045" y="1163130"/>
            <a:ext cx="2642967" cy="2562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asprova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91149E62-9B99-4335-9C74-0AA36F23EBE6}"/>
              </a:ext>
            </a:extLst>
          </p:cNvPr>
          <p:cNvSpPr/>
          <p:nvPr/>
        </p:nvSpPr>
        <p:spPr>
          <a:xfrm>
            <a:off x="9024313" y="1151480"/>
            <a:ext cx="1731554" cy="154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PanaCIM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8FE0DDE-2657-4148-8479-BB3F4CC6FFFC}"/>
              </a:ext>
            </a:extLst>
          </p:cNvPr>
          <p:cNvSpPr/>
          <p:nvPr/>
        </p:nvSpPr>
        <p:spPr>
          <a:xfrm>
            <a:off x="5518878" y="1805168"/>
            <a:ext cx="1030333" cy="674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品目入力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710CFF2E-DA1B-41B5-841D-CC9E4EB8FF68}"/>
              </a:ext>
            </a:extLst>
          </p:cNvPr>
          <p:cNvSpPr/>
          <p:nvPr/>
        </p:nvSpPr>
        <p:spPr>
          <a:xfrm>
            <a:off x="756382" y="4516190"/>
            <a:ext cx="3964086" cy="1406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F9D5406-E82A-443C-8E4B-024D5429219B}"/>
              </a:ext>
            </a:extLst>
          </p:cNvPr>
          <p:cNvSpPr/>
          <p:nvPr/>
        </p:nvSpPr>
        <p:spPr>
          <a:xfrm>
            <a:off x="6060888" y="3942390"/>
            <a:ext cx="2642967" cy="2562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DGS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C441334A-0A1F-4C49-85A4-0764C62672EB}"/>
              </a:ext>
            </a:extLst>
          </p:cNvPr>
          <p:cNvSpPr/>
          <p:nvPr/>
        </p:nvSpPr>
        <p:spPr>
          <a:xfrm>
            <a:off x="5545721" y="4870479"/>
            <a:ext cx="1030333" cy="674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作成</a:t>
            </a: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CDDA0C7-385D-4C4E-A9EA-5B6A8648849B}"/>
              </a:ext>
            </a:extLst>
          </p:cNvPr>
          <p:cNvSpPr/>
          <p:nvPr/>
        </p:nvSpPr>
        <p:spPr>
          <a:xfrm>
            <a:off x="6750562" y="4398175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7C8ED32B-F035-4A46-930A-68AA2BE5EC16}"/>
              </a:ext>
            </a:extLst>
          </p:cNvPr>
          <p:cNvSpPr/>
          <p:nvPr/>
        </p:nvSpPr>
        <p:spPr>
          <a:xfrm>
            <a:off x="6760840" y="5597940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ADD198A1-BAAF-45F5-9095-E3E3A3107E81}"/>
              </a:ext>
            </a:extLst>
          </p:cNvPr>
          <p:cNvSpPr/>
          <p:nvPr/>
        </p:nvSpPr>
        <p:spPr>
          <a:xfrm>
            <a:off x="7748607" y="4870479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35" name="矢印: 右 1034">
            <a:extLst>
              <a:ext uri="{FF2B5EF4-FFF2-40B4-BE49-F238E27FC236}">
                <a16:creationId xmlns:a16="http://schemas.microsoft.com/office/drawing/2014/main" id="{E925AAF1-21AE-4D3F-A07F-6D7715814B16}"/>
              </a:ext>
            </a:extLst>
          </p:cNvPr>
          <p:cNvSpPr/>
          <p:nvPr/>
        </p:nvSpPr>
        <p:spPr>
          <a:xfrm>
            <a:off x="5114292" y="2088791"/>
            <a:ext cx="399669" cy="2770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888DC77C-E19D-4B65-99E2-28F3886965ED}"/>
              </a:ext>
            </a:extLst>
          </p:cNvPr>
          <p:cNvSpPr/>
          <p:nvPr/>
        </p:nvSpPr>
        <p:spPr>
          <a:xfrm>
            <a:off x="6964669" y="1604273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B2B80066-64E6-4D57-A131-2D5C2EBF0F5D}"/>
              </a:ext>
            </a:extLst>
          </p:cNvPr>
          <p:cNvSpPr/>
          <p:nvPr/>
        </p:nvSpPr>
        <p:spPr>
          <a:xfrm>
            <a:off x="6341604" y="2634000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870737D1-9DDE-4731-852B-12461A4AA477}"/>
              </a:ext>
            </a:extLst>
          </p:cNvPr>
          <p:cNvSpPr/>
          <p:nvPr/>
        </p:nvSpPr>
        <p:spPr>
          <a:xfrm>
            <a:off x="7551050" y="2634000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76B685AC-52DC-4C57-A1FF-0CDD95EEAAC5}"/>
              </a:ext>
            </a:extLst>
          </p:cNvPr>
          <p:cNvCxnSpPr>
            <a:cxnSpLocks/>
            <a:stCxn id="153" idx="3"/>
            <a:endCxn id="129" idx="1"/>
          </p:cNvCxnSpPr>
          <p:nvPr/>
        </p:nvCxnSpPr>
        <p:spPr>
          <a:xfrm flipV="1">
            <a:off x="8703855" y="1924412"/>
            <a:ext cx="320458" cy="3299035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コネクタ: カギ線 167">
            <a:extLst>
              <a:ext uri="{FF2B5EF4-FFF2-40B4-BE49-F238E27FC236}">
                <a16:creationId xmlns:a16="http://schemas.microsoft.com/office/drawing/2014/main" id="{3601166A-5F1C-4B6A-93FD-6DA25DAEFB64}"/>
              </a:ext>
            </a:extLst>
          </p:cNvPr>
          <p:cNvCxnSpPr>
            <a:cxnSpLocks/>
            <a:stCxn id="128" idx="3"/>
            <a:endCxn id="129" idx="1"/>
          </p:cNvCxnSpPr>
          <p:nvPr/>
        </p:nvCxnSpPr>
        <p:spPr>
          <a:xfrm flipV="1">
            <a:off x="8677012" y="1924412"/>
            <a:ext cx="347301" cy="519775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51D8FFF7-55C0-4FCF-BBDF-D0E2D5323526}"/>
              </a:ext>
            </a:extLst>
          </p:cNvPr>
          <p:cNvSpPr/>
          <p:nvPr/>
        </p:nvSpPr>
        <p:spPr>
          <a:xfrm>
            <a:off x="9258580" y="1621336"/>
            <a:ext cx="91853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生産情報</a:t>
            </a:r>
          </a:p>
        </p:txBody>
      </p:sp>
      <p:pic>
        <p:nvPicPr>
          <p:cNvPr id="1048" name="Picture 2">
            <a:extLst>
              <a:ext uri="{FF2B5EF4-FFF2-40B4-BE49-F238E27FC236}">
                <a16:creationId xmlns:a16="http://schemas.microsoft.com/office/drawing/2014/main" id="{085D9A54-504C-4CE4-8EF1-794F00242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776" y="3685942"/>
            <a:ext cx="1348179" cy="137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8" name="コネクタ: カギ線 177">
            <a:extLst>
              <a:ext uri="{FF2B5EF4-FFF2-40B4-BE49-F238E27FC236}">
                <a16:creationId xmlns:a16="http://schemas.microsoft.com/office/drawing/2014/main" id="{76BB25A7-752C-4972-AAA9-074492F89EFD}"/>
              </a:ext>
            </a:extLst>
          </p:cNvPr>
          <p:cNvCxnSpPr>
            <a:cxnSpLocks/>
            <a:stCxn id="173" idx="2"/>
            <a:endCxn id="1048" idx="0"/>
          </p:cNvCxnSpPr>
          <p:nvPr/>
        </p:nvCxnSpPr>
        <p:spPr>
          <a:xfrm rot="16200000" flipH="1">
            <a:off x="9568285" y="2498360"/>
            <a:ext cx="1337145" cy="103801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47363297-1BEC-462E-8D8B-2DFDA56A9467}"/>
              </a:ext>
            </a:extLst>
          </p:cNvPr>
          <p:cNvSpPr/>
          <p:nvPr/>
        </p:nvSpPr>
        <p:spPr>
          <a:xfrm>
            <a:off x="10197198" y="4328095"/>
            <a:ext cx="928476" cy="346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89188F2-B050-4A20-B2C5-6EDAEC865EFF}"/>
              </a:ext>
            </a:extLst>
          </p:cNvPr>
          <p:cNvSpPr/>
          <p:nvPr/>
        </p:nvSpPr>
        <p:spPr>
          <a:xfrm>
            <a:off x="3308920" y="4137614"/>
            <a:ext cx="1846486" cy="9766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①品目選定時点で</a:t>
            </a:r>
            <a:r>
              <a:rPr kumimoji="1" lang="en-US" altLang="ja-JP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､</a:t>
            </a:r>
            <a:endParaRPr lang="en-US" altLang="ja-JP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生産時間の計算を</a:t>
            </a:r>
            <a:endParaRPr kumimoji="1" lang="en-US" altLang="ja-JP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行っていない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E34953D-54DA-4682-81E8-B06B55EA4011}"/>
              </a:ext>
            </a:extLst>
          </p:cNvPr>
          <p:cNvSpPr/>
          <p:nvPr/>
        </p:nvSpPr>
        <p:spPr>
          <a:xfrm>
            <a:off x="6910314" y="1389327"/>
            <a:ext cx="2277502" cy="9766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②</a:t>
            </a:r>
            <a:r>
              <a:rPr lang="en-US" altLang="ja-JP" sz="1400" dirty="0" err="1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asprova</a:t>
            </a:r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の品目マスタ</a:t>
            </a:r>
            <a:endParaRPr lang="en-US" altLang="ja-JP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に登録されている</a:t>
            </a:r>
            <a:endParaRPr lang="en-US" altLang="ja-JP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生産時間の根拠が不明</a:t>
            </a:r>
            <a:endParaRPr kumimoji="1" lang="ja-JP" altLang="en-US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447B62A-999F-43D8-BC57-16C6364AD189}"/>
              </a:ext>
            </a:extLst>
          </p:cNvPr>
          <p:cNvSpPr/>
          <p:nvPr/>
        </p:nvSpPr>
        <p:spPr>
          <a:xfrm>
            <a:off x="9422925" y="4953035"/>
            <a:ext cx="2277502" cy="1545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③表示の時間と実際の生産時間がズレている</a:t>
            </a:r>
            <a:endParaRPr lang="en-US" altLang="ja-JP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1400" dirty="0">
              <a:solidFill>
                <a:srgbClr val="FF0000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恐らく</a:t>
            </a:r>
            <a:r>
              <a:rPr lang="en-US" altLang="ja-JP" sz="1400" dirty="0" err="1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asprova</a:t>
            </a:r>
            <a:r>
              <a:rPr lang="ja-JP" altLang="en-US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のマスタデータを参照して生産時間を表示している為と思われる</a:t>
            </a:r>
            <a:r>
              <a:rPr lang="en-US" altLang="ja-JP" sz="1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E53386F-51AC-41E3-9D77-33C96E75FDBF}"/>
              </a:ext>
            </a:extLst>
          </p:cNvPr>
          <p:cNvSpPr/>
          <p:nvPr/>
        </p:nvSpPr>
        <p:spPr>
          <a:xfrm>
            <a:off x="6096000" y="2876467"/>
            <a:ext cx="2959071" cy="882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④</a:t>
            </a:r>
            <a:r>
              <a:rPr lang="en-US" altLang="ja-JP" sz="1400" dirty="0" err="1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asprova</a:t>
            </a:r>
            <a:r>
              <a:rPr lang="ja-JP" altLang="en-US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が生産時間を計算して</a:t>
            </a:r>
            <a:endParaRPr lang="en-US" altLang="ja-JP" sz="1400" dirty="0">
              <a:solidFill>
                <a:srgbClr val="0000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1400" dirty="0" err="1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r>
              <a:rPr lang="ja-JP" altLang="en-US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へデータ転送するだけの状態</a:t>
            </a:r>
            <a:endParaRPr lang="en-US" altLang="ja-JP" sz="1400" dirty="0">
              <a:solidFill>
                <a:srgbClr val="0000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時間計算だけなら</a:t>
            </a:r>
            <a:r>
              <a:rPr lang="en-US" altLang="ja-JP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Excel</a:t>
            </a:r>
            <a:r>
              <a:rPr lang="ja-JP" altLang="en-US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でも可能</a:t>
            </a:r>
            <a:r>
              <a:rPr kumimoji="1" lang="en-US" altLang="ja-JP" sz="1400" dirty="0">
                <a:solidFill>
                  <a:srgbClr val="0000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dirty="0">
              <a:solidFill>
                <a:srgbClr val="0000FF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18307C65-2E5B-4339-ABB2-F279B78C39DD}"/>
              </a:ext>
            </a:extLst>
          </p:cNvPr>
          <p:cNvCxnSpPr>
            <a:cxnSpLocks/>
          </p:cNvCxnSpPr>
          <p:nvPr/>
        </p:nvCxnSpPr>
        <p:spPr>
          <a:xfrm flipV="1">
            <a:off x="3679580" y="1163130"/>
            <a:ext cx="3675949" cy="994926"/>
          </a:xfrm>
          <a:prstGeom prst="bentConnector4">
            <a:avLst>
              <a:gd name="adj1" fmla="val 32025"/>
              <a:gd name="adj2" fmla="val 112115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233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44C59-233D-4E93-BA67-6A2AE3D0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52745"/>
            <a:ext cx="11073939" cy="615178"/>
          </a:xfrm>
        </p:spPr>
        <p:txBody>
          <a:bodyPr/>
          <a:lstStyle/>
          <a:p>
            <a:r>
              <a:rPr kumimoji="1" lang="en-US" altLang="ja-JP" dirty="0" err="1"/>
              <a:t>Asprova</a:t>
            </a:r>
            <a:r>
              <a:rPr kumimoji="1" lang="ja-JP" altLang="en-US" dirty="0"/>
              <a:t>に登録されている</a:t>
            </a:r>
            <a:r>
              <a:rPr lang="ja-JP" altLang="en-US" dirty="0"/>
              <a:t>生産時間マスタについて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749FE0-A7FA-4F08-B1A5-7BCA6C340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9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2400" dirty="0">
                <a:solidFill>
                  <a:srgbClr val="0000FF"/>
                </a:solidFill>
              </a:rPr>
              <a:t>[</a:t>
            </a:r>
            <a:r>
              <a:rPr kumimoji="1" lang="ja-JP" altLang="en-US" sz="2400" dirty="0">
                <a:solidFill>
                  <a:srgbClr val="0000FF"/>
                </a:solidFill>
              </a:rPr>
              <a:t>基本</a:t>
            </a:r>
            <a:r>
              <a:rPr kumimoji="1" lang="en-US" altLang="ja-JP" sz="2400" dirty="0">
                <a:solidFill>
                  <a:srgbClr val="0000FF"/>
                </a:solidFill>
              </a:rPr>
              <a:t>]</a:t>
            </a:r>
          </a:p>
          <a:p>
            <a:pPr marL="0" indent="0">
              <a:buNone/>
            </a:pPr>
            <a:r>
              <a:rPr kumimoji="1" lang="ja-JP" altLang="en-US" sz="2400" b="1" dirty="0"/>
              <a:t>初生産時の実装機サイクルタイム </a:t>
            </a:r>
            <a:r>
              <a:rPr kumimoji="1" lang="en-US" altLang="ja-JP" sz="2400" b="1" dirty="0"/>
              <a:t>× </a:t>
            </a:r>
            <a:r>
              <a:rPr kumimoji="1" lang="ja-JP" altLang="en-US" sz="2400" b="1" dirty="0"/>
              <a:t>生産台数</a:t>
            </a:r>
            <a:r>
              <a:rPr kumimoji="1" lang="en-US" altLang="ja-JP" sz="2400" b="1" dirty="0"/>
              <a:t> ÷ 0.5</a:t>
            </a:r>
            <a:r>
              <a:rPr kumimoji="1" lang="ja-JP" altLang="en-US" sz="2400" b="1" dirty="0"/>
              <a:t>～</a:t>
            </a:r>
            <a:r>
              <a:rPr kumimoji="1" lang="en-US" altLang="ja-JP" sz="2400" b="1" dirty="0"/>
              <a:t>0.9 + 10m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rgbClr val="0000FF"/>
                </a:solidFill>
              </a:rPr>
              <a:t>[</a:t>
            </a:r>
            <a:r>
              <a:rPr lang="ja-JP" altLang="en-US" sz="2400" dirty="0">
                <a:solidFill>
                  <a:srgbClr val="0000FF"/>
                </a:solidFill>
              </a:rPr>
              <a:t>実装機サイクルタイムが</a:t>
            </a:r>
            <a:r>
              <a:rPr lang="en-US" altLang="ja-JP" sz="2400" dirty="0">
                <a:solidFill>
                  <a:srgbClr val="0000FF"/>
                </a:solidFill>
              </a:rPr>
              <a:t>25s</a:t>
            </a:r>
            <a:r>
              <a:rPr lang="ja-JP" altLang="en-US" sz="2400" dirty="0">
                <a:solidFill>
                  <a:srgbClr val="0000FF"/>
                </a:solidFill>
              </a:rPr>
              <a:t>未満</a:t>
            </a:r>
            <a:r>
              <a:rPr lang="en-US" altLang="ja-JP" sz="2400" dirty="0">
                <a:solidFill>
                  <a:srgbClr val="0000FF"/>
                </a:solidFill>
              </a:rPr>
              <a:t>]</a:t>
            </a:r>
          </a:p>
          <a:p>
            <a:pPr marL="0" indent="0">
              <a:buNone/>
            </a:pPr>
            <a:r>
              <a:rPr kumimoji="1" lang="en-US" altLang="ja-JP" sz="2400" b="1" dirty="0"/>
              <a:t>25[</a:t>
            </a:r>
            <a:r>
              <a:rPr kumimoji="1" lang="ja-JP" altLang="en-US" sz="2400" b="1" dirty="0"/>
              <a:t>リフローサイクルタイム</a:t>
            </a:r>
            <a:r>
              <a:rPr kumimoji="1" lang="en-US" altLang="ja-JP" sz="2400" b="1" dirty="0"/>
              <a:t>]</a:t>
            </a:r>
            <a:r>
              <a:rPr lang="ja-JP" altLang="en-US" sz="2400" b="1" dirty="0"/>
              <a:t> </a:t>
            </a:r>
            <a:r>
              <a:rPr lang="en-US" altLang="ja-JP" sz="2400" b="1" dirty="0"/>
              <a:t>× </a:t>
            </a:r>
            <a:r>
              <a:rPr lang="ja-JP" altLang="en-US" sz="2400" b="1" dirty="0"/>
              <a:t>生産台数 </a:t>
            </a:r>
            <a:r>
              <a:rPr kumimoji="1" lang="en-US" altLang="ja-JP" sz="2400" b="1" dirty="0"/>
              <a:t>÷ 0.5</a:t>
            </a:r>
            <a:r>
              <a:rPr kumimoji="1" lang="ja-JP" altLang="en-US" sz="2400" b="1" dirty="0"/>
              <a:t>～</a:t>
            </a:r>
            <a:r>
              <a:rPr kumimoji="1" lang="en-US" altLang="ja-JP" sz="2400" b="1" dirty="0"/>
              <a:t>0.9 + 10m</a:t>
            </a:r>
          </a:p>
          <a:p>
            <a:pPr marL="0" indent="0">
              <a:buNone/>
            </a:pP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･問題点</a:t>
            </a:r>
            <a:endParaRPr kumimoji="1"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サイクルタイムが初回生産時の時のものであり</a:t>
            </a:r>
            <a:r>
              <a:rPr kumimoji="1" lang="en-US" altLang="ja-JP" sz="2400" dirty="0"/>
              <a:t>､</a:t>
            </a:r>
            <a:r>
              <a:rPr kumimoji="1" lang="ja-JP" altLang="en-US" sz="2400" dirty="0"/>
              <a:t>累積ではない</a:t>
            </a:r>
            <a:endParaRPr kumimoji="1"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リフロー</a:t>
            </a:r>
            <a:r>
              <a:rPr lang="en-US" altLang="ja-JP" sz="2400" dirty="0"/>
              <a:t>25s</a:t>
            </a:r>
            <a:r>
              <a:rPr lang="ja-JP" altLang="en-US" sz="2400" dirty="0"/>
              <a:t>の根拠が無い</a:t>
            </a:r>
            <a:endParaRPr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生産効率の値が品目によってバラバラ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既に実際の</a:t>
            </a:r>
            <a:r>
              <a:rPr kumimoji="1" lang="ja-JP" altLang="en-US" sz="2400" dirty="0"/>
              <a:t>生産時間と大きくズレが生じている</a:t>
            </a:r>
          </a:p>
        </p:txBody>
      </p:sp>
    </p:spTree>
    <p:extLst>
      <p:ext uri="{BB962C8B-B14F-4D97-AF65-F5344CB8AC3E}">
        <p14:creationId xmlns:p14="http://schemas.microsoft.com/office/powerpoint/2010/main" val="238922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9B2153-DF1C-452E-A51D-943FC608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D503C1-FBE5-47A3-9943-F176260EA32F}"/>
              </a:ext>
            </a:extLst>
          </p:cNvPr>
          <p:cNvSpPr/>
          <p:nvPr/>
        </p:nvSpPr>
        <p:spPr>
          <a:xfrm>
            <a:off x="3713380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7A1E6C-2F52-434E-935E-B23B14DE3534}"/>
              </a:ext>
            </a:extLst>
          </p:cNvPr>
          <p:cNvSpPr/>
          <p:nvPr/>
        </p:nvSpPr>
        <p:spPr>
          <a:xfrm>
            <a:off x="4309126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F548F3-A6F0-4B17-A5A3-84885A2287E0}"/>
              </a:ext>
            </a:extLst>
          </p:cNvPr>
          <p:cNvSpPr/>
          <p:nvPr/>
        </p:nvSpPr>
        <p:spPr>
          <a:xfrm>
            <a:off x="4904872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67570F-10E8-4722-B8C4-C9DD7B555A70}"/>
              </a:ext>
            </a:extLst>
          </p:cNvPr>
          <p:cNvSpPr/>
          <p:nvPr/>
        </p:nvSpPr>
        <p:spPr>
          <a:xfrm>
            <a:off x="5500618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3F6B0E-38C4-455D-B0F5-069BAE4C6FD1}"/>
              </a:ext>
            </a:extLst>
          </p:cNvPr>
          <p:cNvSpPr/>
          <p:nvPr/>
        </p:nvSpPr>
        <p:spPr>
          <a:xfrm>
            <a:off x="6093592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5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A0ACAEB-BBC7-4F6B-9784-A7413F2DDE74}"/>
              </a:ext>
            </a:extLst>
          </p:cNvPr>
          <p:cNvSpPr/>
          <p:nvPr/>
        </p:nvSpPr>
        <p:spPr>
          <a:xfrm>
            <a:off x="6686566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6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900CA4E-9A47-4CBF-9504-DAD3E338E575}"/>
              </a:ext>
            </a:extLst>
          </p:cNvPr>
          <p:cNvSpPr/>
          <p:nvPr/>
        </p:nvSpPr>
        <p:spPr>
          <a:xfrm>
            <a:off x="7279540" y="1498917"/>
            <a:ext cx="532013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8ABC8F4-FF85-456D-8244-16E90445BB15}"/>
              </a:ext>
            </a:extLst>
          </p:cNvPr>
          <p:cNvSpPr/>
          <p:nvPr/>
        </p:nvSpPr>
        <p:spPr>
          <a:xfrm>
            <a:off x="3330998" y="1095057"/>
            <a:ext cx="4721629" cy="1032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実装機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4AB5CFE-8B4E-46D6-9A17-7722A9654325}"/>
              </a:ext>
            </a:extLst>
          </p:cNvPr>
          <p:cNvSpPr/>
          <p:nvPr/>
        </p:nvSpPr>
        <p:spPr>
          <a:xfrm>
            <a:off x="1064391" y="1498917"/>
            <a:ext cx="532013" cy="4488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A81288-5F85-4E77-8DEC-F27822677C7E}"/>
              </a:ext>
            </a:extLst>
          </p:cNvPr>
          <p:cNvSpPr/>
          <p:nvPr/>
        </p:nvSpPr>
        <p:spPr>
          <a:xfrm>
            <a:off x="820555" y="1095057"/>
            <a:ext cx="1064028" cy="1032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印刷機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76DA0E9-AFB1-4205-8082-87D185281466}"/>
              </a:ext>
            </a:extLst>
          </p:cNvPr>
          <p:cNvSpPr/>
          <p:nvPr/>
        </p:nvSpPr>
        <p:spPr>
          <a:xfrm>
            <a:off x="2061918" y="1095057"/>
            <a:ext cx="1064028" cy="1032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SPI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0AD7E89-557A-4596-A610-1F1109270346}"/>
              </a:ext>
            </a:extLst>
          </p:cNvPr>
          <p:cNvSpPr/>
          <p:nvPr/>
        </p:nvSpPr>
        <p:spPr>
          <a:xfrm>
            <a:off x="2358407" y="1498917"/>
            <a:ext cx="532013" cy="4488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CC5E1E8-183B-4BFC-A071-0443A135F4BA}"/>
              </a:ext>
            </a:extLst>
          </p:cNvPr>
          <p:cNvSpPr/>
          <p:nvPr/>
        </p:nvSpPr>
        <p:spPr>
          <a:xfrm>
            <a:off x="8257679" y="1090209"/>
            <a:ext cx="3036911" cy="1032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リフロー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C6F5138-E1E1-44D1-A331-298E134B7A62}"/>
              </a:ext>
            </a:extLst>
          </p:cNvPr>
          <p:cNvSpPr/>
          <p:nvPr/>
        </p:nvSpPr>
        <p:spPr>
          <a:xfrm>
            <a:off x="8435009" y="1494069"/>
            <a:ext cx="2701640" cy="4488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B8F43AE-F28E-4078-BF5E-DA6C4EF6EFCD}"/>
              </a:ext>
            </a:extLst>
          </p:cNvPr>
          <p:cNvSpPr txBox="1"/>
          <p:nvPr/>
        </p:nvSpPr>
        <p:spPr>
          <a:xfrm>
            <a:off x="8238647" y="2526230"/>
            <a:ext cx="3823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センサーを取り付けて</a:t>
            </a:r>
            <a:endParaRPr lang="en-US" altLang="ja-JP" b="1" dirty="0"/>
          </a:p>
          <a:p>
            <a:r>
              <a:rPr lang="ja-JP" altLang="en-US" b="1" dirty="0"/>
              <a:t>品目ごとのサイクルタイムを算出</a:t>
            </a:r>
            <a:r>
              <a:rPr lang="en-US" altLang="ja-JP" b="1" dirty="0"/>
              <a:t>?</a:t>
            </a:r>
            <a:endParaRPr lang="ja-JP" altLang="en-US" b="1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7BCEB34-BB29-42C7-B5C7-376C9B5C7A8D}"/>
              </a:ext>
            </a:extLst>
          </p:cNvPr>
          <p:cNvCxnSpPr>
            <a:cxnSpLocks/>
          </p:cNvCxnSpPr>
          <p:nvPr/>
        </p:nvCxnSpPr>
        <p:spPr>
          <a:xfrm flipV="1">
            <a:off x="10150206" y="1718513"/>
            <a:ext cx="1263168" cy="80771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4802700-9625-407D-9958-9831E8C171A6}"/>
              </a:ext>
            </a:extLst>
          </p:cNvPr>
          <p:cNvSpPr txBox="1"/>
          <p:nvPr/>
        </p:nvSpPr>
        <p:spPr>
          <a:xfrm>
            <a:off x="581235" y="3429000"/>
            <a:ext cx="6517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 err="1"/>
              <a:t>Egpro</a:t>
            </a:r>
            <a:r>
              <a:rPr lang="ja-JP" altLang="en-US" b="1" dirty="0"/>
              <a:t>上に蓄積されている生産開始･終了時間から</a:t>
            </a:r>
            <a:endParaRPr lang="en-US" altLang="ja-JP" b="1" dirty="0"/>
          </a:p>
          <a:p>
            <a:r>
              <a:rPr lang="ja-JP" altLang="en-US" b="1" dirty="0"/>
              <a:t>品目ごとの生産時間を計算</a:t>
            </a:r>
            <a:r>
              <a:rPr lang="en-US" altLang="ja-JP" b="1" dirty="0"/>
              <a:t>?</a:t>
            </a:r>
          </a:p>
          <a:p>
            <a:r>
              <a:rPr lang="ja-JP" altLang="en-US" b="1" dirty="0"/>
              <a:t>└休憩時間･生産トラブル等の時間が含まれてしまっている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F6272D4-B9B4-4B0E-9660-4D8B46E0D9B6}"/>
              </a:ext>
            </a:extLst>
          </p:cNvPr>
          <p:cNvSpPr txBox="1"/>
          <p:nvPr/>
        </p:nvSpPr>
        <p:spPr>
          <a:xfrm>
            <a:off x="6625605" y="4540976"/>
            <a:ext cx="56837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 err="1"/>
              <a:t>PanaCIM</a:t>
            </a:r>
            <a:r>
              <a:rPr lang="ja-JP" altLang="en-US" b="1" dirty="0"/>
              <a:t>から出力できる</a:t>
            </a:r>
            <a:endParaRPr lang="en-US" altLang="ja-JP" b="1" dirty="0"/>
          </a:p>
          <a:p>
            <a:r>
              <a:rPr lang="ja-JP" altLang="en-US" b="1" dirty="0"/>
              <a:t>実装機の総稼働時間･総停止時間からうまく計算</a:t>
            </a:r>
            <a:r>
              <a:rPr lang="en-US" altLang="ja-JP" b="1" dirty="0"/>
              <a:t>?</a:t>
            </a:r>
            <a:endParaRPr lang="ja-JP" altLang="en-US" b="1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9D08DB1-C4EB-415F-BAAD-EC180D7C95C2}"/>
              </a:ext>
            </a:extLst>
          </p:cNvPr>
          <p:cNvCxnSpPr>
            <a:cxnSpLocks/>
            <a:stCxn id="27" idx="1"/>
            <a:endCxn id="11" idx="2"/>
          </p:cNvCxnSpPr>
          <p:nvPr/>
        </p:nvCxnSpPr>
        <p:spPr>
          <a:xfrm flipH="1" flipV="1">
            <a:off x="5691813" y="2127218"/>
            <a:ext cx="2546834" cy="722178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840063E-9669-4536-A7D1-BC7FDF78362E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2809702" y="2335989"/>
            <a:ext cx="5428945" cy="513407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6F555D1-E763-4E02-AA51-03CC3FB24AC0}"/>
              </a:ext>
            </a:extLst>
          </p:cNvPr>
          <p:cNvSpPr txBox="1"/>
          <p:nvPr/>
        </p:nvSpPr>
        <p:spPr>
          <a:xfrm>
            <a:off x="366670" y="5632392"/>
            <a:ext cx="6946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0000FF"/>
                </a:solidFill>
              </a:rPr>
              <a:t>･目標</a:t>
            </a:r>
            <a:r>
              <a:rPr lang="en-US" altLang="ja-JP" b="1" dirty="0">
                <a:solidFill>
                  <a:srgbClr val="0000FF"/>
                </a:solidFill>
              </a:rPr>
              <a:t>(</a:t>
            </a:r>
            <a:r>
              <a:rPr lang="ja-JP" altLang="en-US" b="1" dirty="0">
                <a:solidFill>
                  <a:srgbClr val="0000FF"/>
                </a:solidFill>
              </a:rPr>
              <a:t>理想</a:t>
            </a:r>
            <a:r>
              <a:rPr lang="en-US" altLang="ja-JP" b="1" dirty="0">
                <a:solidFill>
                  <a:srgbClr val="0000FF"/>
                </a:solidFill>
              </a:rPr>
              <a:t>)</a:t>
            </a:r>
          </a:p>
          <a:p>
            <a:r>
              <a:rPr lang="ja-JP" altLang="en-US" b="1" dirty="0">
                <a:solidFill>
                  <a:srgbClr val="0000FF"/>
                </a:solidFill>
              </a:rPr>
              <a:t>実生産時間を把握し</a:t>
            </a:r>
            <a:r>
              <a:rPr lang="en-US" altLang="ja-JP" b="1" dirty="0">
                <a:solidFill>
                  <a:srgbClr val="0000FF"/>
                </a:solidFill>
              </a:rPr>
              <a:t>､</a:t>
            </a:r>
            <a:r>
              <a:rPr lang="ja-JP" altLang="en-US" b="1" dirty="0">
                <a:solidFill>
                  <a:srgbClr val="0000FF"/>
                </a:solidFill>
              </a:rPr>
              <a:t>事前に生産時間を把握できるようにする</a:t>
            </a:r>
            <a:endParaRPr lang="en-US" altLang="ja-JP" b="1" dirty="0">
              <a:solidFill>
                <a:srgbClr val="0000FF"/>
              </a:solidFill>
            </a:endParaRPr>
          </a:p>
          <a:p>
            <a:r>
              <a:rPr lang="ja-JP" altLang="en-US" b="1" dirty="0">
                <a:solidFill>
                  <a:srgbClr val="0000FF"/>
                </a:solidFill>
              </a:rPr>
              <a:t>品目選定の時点で</a:t>
            </a:r>
            <a:r>
              <a:rPr lang="en-US" altLang="ja-JP" b="1" dirty="0">
                <a:solidFill>
                  <a:srgbClr val="0000FF"/>
                </a:solidFill>
              </a:rPr>
              <a:t>､</a:t>
            </a:r>
            <a:r>
              <a:rPr lang="ja-JP" altLang="en-US" b="1" dirty="0">
                <a:solidFill>
                  <a:srgbClr val="0000FF"/>
                </a:solidFill>
              </a:rPr>
              <a:t>生産時間を考慮できるような仕組みを作る</a:t>
            </a:r>
          </a:p>
        </p:txBody>
      </p:sp>
    </p:spTree>
    <p:extLst>
      <p:ext uri="{BB962C8B-B14F-4D97-AF65-F5344CB8AC3E}">
        <p14:creationId xmlns:p14="http://schemas.microsoft.com/office/powerpoint/2010/main" val="80631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2248</TotalTime>
  <Words>452</Words>
  <Application>Microsoft Office PowerPoint</Application>
  <PresentationFormat>ワイド画面</PresentationFormat>
  <Paragraphs>125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ＭＳ Ｐゴシック</vt:lpstr>
      <vt:lpstr>ＭＳ ゴシック</vt:lpstr>
      <vt:lpstr>游ゴシック</vt:lpstr>
      <vt:lpstr>游ゴシック Light</vt:lpstr>
      <vt:lpstr>Arial</vt:lpstr>
      <vt:lpstr>Office テーマ</vt:lpstr>
      <vt:lpstr>生産計画システムの見直し</vt:lpstr>
      <vt:lpstr>現在の生産計画作成方法簡略図</vt:lpstr>
      <vt:lpstr>現在の生産計画作成方法簡略図(問題点)</vt:lpstr>
      <vt:lpstr>Asprovaに登録されている生産時間マスタについて</vt:lpstr>
      <vt:lpstr>課題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13</cp:revision>
  <dcterms:created xsi:type="dcterms:W3CDTF">2022-02-16T09:50:12Z</dcterms:created>
  <dcterms:modified xsi:type="dcterms:W3CDTF">2022-03-28T05:03:41Z</dcterms:modified>
</cp:coreProperties>
</file>