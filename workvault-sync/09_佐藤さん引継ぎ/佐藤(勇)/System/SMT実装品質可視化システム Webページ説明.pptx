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sldIdLst>
    <p:sldId id="256" r:id="rId2"/>
    <p:sldId id="297" r:id="rId3"/>
    <p:sldId id="304" r:id="rId4"/>
    <p:sldId id="306" r:id="rId5"/>
    <p:sldId id="270" r:id="rId6"/>
    <p:sldId id="316" r:id="rId7"/>
    <p:sldId id="310" r:id="rId8"/>
    <p:sldId id="318" r:id="rId9"/>
    <p:sldId id="320" r:id="rId10"/>
    <p:sldId id="321" r:id="rId11"/>
    <p:sldId id="322" r:id="rId12"/>
    <p:sldId id="323" r:id="rId13"/>
    <p:sldId id="324" r:id="rId14"/>
    <p:sldId id="32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E3DFD7"/>
    <a:srgbClr val="F2F0EC"/>
    <a:srgbClr val="AE9E7C"/>
    <a:srgbClr val="7F90D5"/>
    <a:srgbClr val="B0A0A0"/>
    <a:srgbClr val="C8B8B8"/>
    <a:srgbClr val="CACACA"/>
    <a:srgbClr val="B3AFCF"/>
    <a:srgbClr val="A09E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1" autoAdjust="0"/>
    <p:restoredTop sz="96804" autoAdjust="0"/>
  </p:normalViewPr>
  <p:slideViewPr>
    <p:cSldViewPr snapToGrid="0">
      <p:cViewPr varScale="1">
        <p:scale>
          <a:sx n="99" d="100"/>
          <a:sy n="99" d="100"/>
        </p:scale>
        <p:origin x="102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812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46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307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7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9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72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3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93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01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64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412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196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511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5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442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225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A7DCE5-1F46-4E0D-971F-89F54B31A5FA}" type="datetimeFigureOut">
              <a:rPr kumimoji="1" lang="ja-JP" altLang="en-US" smtClean="0"/>
              <a:t>2022/3/28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017B81A-EDF9-440F-B506-34EA895C26F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93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88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kumimoji="1"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nksv569.ad.nkc.co.jp/qcd" TargetMode="Externa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DCB689-8C6C-4CEC-8D97-797184D680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rgbClr val="262626"/>
                </a:solidFill>
                <a:latin typeface="+mj-ea"/>
              </a:rPr>
              <a:t>SMT</a:t>
            </a:r>
            <a:r>
              <a:rPr kumimoji="1" lang="ja-JP" altLang="en-US" dirty="0">
                <a:solidFill>
                  <a:srgbClr val="262626"/>
                </a:solidFill>
                <a:latin typeface="+mj-ea"/>
              </a:rPr>
              <a:t>実装品質可視化システム</a:t>
            </a:r>
            <a:r>
              <a:rPr kumimoji="1" lang="en-US" altLang="ja-JP" dirty="0">
                <a:solidFill>
                  <a:srgbClr val="262626"/>
                </a:solidFill>
                <a:latin typeface="+mj-ea"/>
              </a:rPr>
              <a:t>(</a:t>
            </a:r>
            <a:r>
              <a:rPr kumimoji="1" lang="ja-JP" altLang="en-US" dirty="0">
                <a:solidFill>
                  <a:srgbClr val="262626"/>
                </a:solidFill>
                <a:latin typeface="+mj-ea"/>
              </a:rPr>
              <a:t>仮</a:t>
            </a:r>
            <a:r>
              <a:rPr kumimoji="1" lang="en-US" altLang="ja-JP" dirty="0">
                <a:solidFill>
                  <a:srgbClr val="262626"/>
                </a:solidFill>
                <a:latin typeface="+mj-ea"/>
              </a:rPr>
              <a:t>)</a:t>
            </a:r>
            <a:endParaRPr kumimoji="1" lang="ja-JP" altLang="en-US" dirty="0">
              <a:solidFill>
                <a:srgbClr val="262626"/>
              </a:solidFill>
              <a:latin typeface="+mj-ea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3523DF-DB33-407B-9D01-AC19FFE238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>
                <a:latin typeface="+mj-lt"/>
                <a:ea typeface="+mj-ea"/>
              </a:rPr>
              <a:t>操作説明</a:t>
            </a:r>
          </a:p>
        </p:txBody>
      </p:sp>
    </p:spTree>
    <p:extLst>
      <p:ext uri="{BB962C8B-B14F-4D97-AF65-F5344CB8AC3E}">
        <p14:creationId xmlns:p14="http://schemas.microsoft.com/office/powerpoint/2010/main" val="2682745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DA211A-167D-4D21-9875-BB6D6995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目的：従来の</a:t>
            </a:r>
            <a:r>
              <a:rPr lang="en-US" altLang="ja-JP" dirty="0">
                <a:solidFill>
                  <a:schemeClr val="accent6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Excel</a:t>
            </a:r>
            <a:r>
              <a:rPr lang="ja-JP" altLang="en-US" dirty="0">
                <a:solidFill>
                  <a:srgbClr val="262626"/>
                </a:solidFill>
              </a:rPr>
              <a:t>不良集計</a:t>
            </a:r>
            <a:r>
              <a:rPr lang="ja-JP" altLang="en-US" dirty="0"/>
              <a:t>を</a:t>
            </a:r>
            <a:r>
              <a:rPr lang="en-US" altLang="ja-JP" dirty="0">
                <a:solidFill>
                  <a:schemeClr val="accent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dirty="0"/>
              <a:t>化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5F6B08-649D-40A3-B474-977B27063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3600" dirty="0">
                <a:solidFill>
                  <a:schemeClr val="accent6"/>
                </a:solidFill>
                <a:latin typeface="+mj-lt"/>
              </a:rPr>
              <a:t>Excel</a:t>
            </a:r>
            <a:endParaRPr kumimoji="1" lang="ja-JP" altLang="en-US" sz="36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62E087A-B800-4422-B443-1E969FF04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en-US" altLang="ja-JP" dirty="0"/>
              <a:t>		</a:t>
            </a:r>
            <a:r>
              <a:rPr kumimoji="1" lang="en-US" altLang="ja-JP" sz="3600" dirty="0">
                <a:solidFill>
                  <a:schemeClr val="accent2"/>
                </a:solidFill>
                <a:latin typeface="+mj-lt"/>
              </a:rPr>
              <a:t>Web</a:t>
            </a:r>
            <a:endParaRPr kumimoji="1" lang="ja-JP" altLang="en-US" sz="3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7" name="図 3">
            <a:extLst>
              <a:ext uri="{FF2B5EF4-FFF2-40B4-BE49-F238E27FC236}">
                <a16:creationId xmlns:a16="http://schemas.microsoft.com/office/drawing/2014/main" id="{E82316F7-342F-4703-A99D-93D3FAD0E58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243263"/>
            <a:ext cx="4032325" cy="2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コンテンツ プレースホルダー 4" descr="グラフ&#10;&#10;自動的に生成された説明">
            <a:extLst>
              <a:ext uri="{FF2B5EF4-FFF2-40B4-BE49-F238E27FC236}">
                <a16:creationId xmlns:a16="http://schemas.microsoft.com/office/drawing/2014/main" id="{426CFD2D-9796-457C-93CB-849E7F91CCF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66"/>
          <a:stretch/>
        </p:blipFill>
        <p:spPr>
          <a:xfrm>
            <a:off x="7023101" y="3234795"/>
            <a:ext cx="3775873" cy="2760892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807E86BB-7081-4EA2-998A-DF2DBCFC6747}"/>
              </a:ext>
            </a:extLst>
          </p:cNvPr>
          <p:cNvSpPr/>
          <p:nvPr/>
        </p:nvSpPr>
        <p:spPr>
          <a:xfrm>
            <a:off x="5752664" y="4239985"/>
            <a:ext cx="686672" cy="319315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7525E0D8-081E-4D14-ADD8-F81AC6F410A7}"/>
              </a:ext>
            </a:extLst>
          </p:cNvPr>
          <p:cNvSpPr/>
          <p:nvPr/>
        </p:nvSpPr>
        <p:spPr>
          <a:xfrm>
            <a:off x="5014621" y="2285999"/>
            <a:ext cx="1583541" cy="1230832"/>
          </a:xfrm>
          <a:prstGeom prst="wedgeRoundRectCallout">
            <a:avLst/>
          </a:prstGeom>
          <a:solidFill>
            <a:srgbClr val="AE9E7C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グラフ作成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の手間</a:t>
            </a: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80508943-0765-4559-B2BB-56A8662946F3}"/>
              </a:ext>
            </a:extLst>
          </p:cNvPr>
          <p:cNvSpPr/>
          <p:nvPr/>
        </p:nvSpPr>
        <p:spPr>
          <a:xfrm>
            <a:off x="886851" y="4764855"/>
            <a:ext cx="1583541" cy="1230832"/>
          </a:xfrm>
          <a:prstGeom prst="wedgeRoundRectCallout">
            <a:avLst/>
          </a:prstGeom>
          <a:solidFill>
            <a:srgbClr val="AE9E7C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情報共有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の手間</a:t>
            </a:r>
          </a:p>
        </p:txBody>
      </p:sp>
    </p:spTree>
    <p:extLst>
      <p:ext uri="{BB962C8B-B14F-4D97-AF65-F5344CB8AC3E}">
        <p14:creationId xmlns:p14="http://schemas.microsoft.com/office/powerpoint/2010/main" val="158492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 descr="周期的グラフ 単色塗りつぶし">
            <a:extLst>
              <a:ext uri="{FF2B5EF4-FFF2-40B4-BE49-F238E27FC236}">
                <a16:creationId xmlns:a16="http://schemas.microsoft.com/office/drawing/2014/main" id="{A693A493-D742-46F1-A5AD-6AFA8A8D6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472" y="2560320"/>
            <a:ext cx="2798064" cy="2798064"/>
          </a:xfrm>
          <a:prstGeom prst="rect">
            <a:avLst/>
          </a:prstGeom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805CE6-94E4-4592-8CE2-8259EEDFD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0466" cy="3310128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2800" dirty="0">
                <a:latin typeface="+mj-ea"/>
                <a:ea typeface="+mj-ea"/>
              </a:rPr>
              <a:t>折れ線グラフ</a:t>
            </a:r>
            <a:endParaRPr kumimoji="1" lang="en-US" altLang="ja-JP" sz="2800" dirty="0">
              <a:latin typeface="+mj-ea"/>
              <a:ea typeface="+mj-ea"/>
            </a:endParaRPr>
          </a:p>
          <a:p>
            <a:r>
              <a:rPr kumimoji="1" lang="ja-JP" altLang="en-US" dirty="0">
                <a:latin typeface="+mj-ea"/>
                <a:ea typeface="+mj-ea"/>
              </a:rPr>
              <a:t>不良率推移</a:t>
            </a:r>
            <a:endParaRPr kumimoji="1" lang="en-US" altLang="ja-JP" dirty="0">
              <a:latin typeface="+mj-ea"/>
              <a:ea typeface="+mj-ea"/>
            </a:endParaRPr>
          </a:p>
          <a:p>
            <a:endParaRPr kumimoji="1" lang="ja-JP" altLang="en-US" dirty="0">
              <a:latin typeface="+mj-ea"/>
              <a:ea typeface="+mj-ea"/>
            </a:endParaRPr>
          </a:p>
        </p:txBody>
      </p:sp>
      <p:pic>
        <p:nvPicPr>
          <p:cNvPr id="11" name="グラフィックス 10" descr="棒グラフ 単色塗りつぶし">
            <a:extLst>
              <a:ext uri="{FF2B5EF4-FFF2-40B4-BE49-F238E27FC236}">
                <a16:creationId xmlns:a16="http://schemas.microsoft.com/office/drawing/2014/main" id="{552755F1-E3CE-4360-A292-16B242487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3350" y="2560320"/>
            <a:ext cx="2798064" cy="2798064"/>
          </a:xfrm>
          <a:prstGeom prst="rect">
            <a:avLst/>
          </a:prstGeom>
        </p:spPr>
      </p:pic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CFCDCE-DA3B-4355-9193-2956A1B617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sz="2800" dirty="0">
                <a:latin typeface="+mj-ea"/>
                <a:ea typeface="+mj-ea"/>
              </a:rPr>
              <a:t>棒グラフ </a:t>
            </a:r>
            <a:r>
              <a:rPr lang="en-US" altLang="ja-JP" sz="2800" dirty="0">
                <a:latin typeface="+mj-ea"/>
                <a:ea typeface="+mj-ea"/>
              </a:rPr>
              <a:t>&amp;</a:t>
            </a:r>
            <a:r>
              <a:rPr kumimoji="1" lang="en-US" altLang="ja-JP" sz="2800" dirty="0">
                <a:latin typeface="+mj-ea"/>
                <a:ea typeface="+mj-ea"/>
              </a:rPr>
              <a:t> </a:t>
            </a:r>
            <a:r>
              <a:rPr kumimoji="1" lang="ja-JP" altLang="en-US" sz="2800" dirty="0">
                <a:latin typeface="+mj-ea"/>
                <a:ea typeface="+mj-ea"/>
              </a:rPr>
              <a:t>表</a:t>
            </a:r>
            <a:endParaRPr kumimoji="1" lang="en-US" altLang="ja-JP" sz="2800" dirty="0">
              <a:latin typeface="+mj-ea"/>
              <a:ea typeface="+mj-ea"/>
            </a:endParaRPr>
          </a:p>
          <a:p>
            <a:r>
              <a:rPr lang="ja-JP" altLang="en-US" dirty="0">
                <a:latin typeface="+mj-ea"/>
                <a:ea typeface="+mj-ea"/>
              </a:rPr>
              <a:t>品目別不良数</a:t>
            </a:r>
            <a:endParaRPr lang="en-US" altLang="ja-JP" dirty="0">
              <a:latin typeface="+mj-ea"/>
              <a:ea typeface="+mj-ea"/>
            </a:endParaRPr>
          </a:p>
          <a:p>
            <a:r>
              <a:rPr kumimoji="1" lang="ja-JP" altLang="en-US" dirty="0">
                <a:latin typeface="+mj-ea"/>
                <a:ea typeface="+mj-ea"/>
              </a:rPr>
              <a:t>指図別不良数</a:t>
            </a:r>
            <a:endParaRPr kumimoji="1" lang="en-US" altLang="ja-JP" dirty="0">
              <a:latin typeface="+mj-ea"/>
              <a:ea typeface="+mj-ea"/>
            </a:endParaRPr>
          </a:p>
          <a:p>
            <a:r>
              <a:rPr lang="ja-JP" altLang="en-US" dirty="0">
                <a:latin typeface="+mj-ea"/>
                <a:ea typeface="+mj-ea"/>
              </a:rPr>
              <a:t>不良数推移</a:t>
            </a:r>
            <a:endParaRPr lang="en-US" altLang="ja-JP" dirty="0">
              <a:latin typeface="+mj-ea"/>
              <a:ea typeface="+mj-ea"/>
            </a:endParaRPr>
          </a:p>
          <a:p>
            <a:r>
              <a:rPr kumimoji="1" lang="ja-JP" altLang="en-US" dirty="0">
                <a:latin typeface="+mj-ea"/>
                <a:ea typeface="+mj-ea"/>
              </a:rPr>
              <a:t>シンボル別不良数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8D2BFCF-57DA-46A9-8515-D8CD456E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ja-JP" altLang="en-US" dirty="0"/>
              <a:t>構成内容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EA23878-AC73-4DBC-8EF9-58DF7BEB8B6C}"/>
              </a:ext>
            </a:extLst>
          </p:cNvPr>
          <p:cNvSpPr txBox="1"/>
          <p:nvPr/>
        </p:nvSpPr>
        <p:spPr>
          <a:xfrm>
            <a:off x="1292352" y="5393394"/>
            <a:ext cx="96011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hlinkClick r:id="rId6"/>
              </a:rPr>
              <a:t>http://nksv569.ad.nkc.co.jp/qcd</a:t>
            </a:r>
            <a:endParaRPr kumimoji="1" lang="ja-JP" altLang="en-US" sz="2800" dirty="0"/>
          </a:p>
          <a:p>
            <a:pPr algn="ctr"/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8006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C5AF3A-180D-486F-9FDA-0492D22609B3}"/>
              </a:ext>
            </a:extLst>
          </p:cNvPr>
          <p:cNvSpPr txBox="1"/>
          <p:nvPr/>
        </p:nvSpPr>
        <p:spPr>
          <a:xfrm>
            <a:off x="8016240" y="2601840"/>
            <a:ext cx="2880358" cy="2554545"/>
          </a:xfrm>
          <a:prstGeom prst="rect">
            <a:avLst/>
          </a:prstGeom>
          <a:solidFill>
            <a:srgbClr val="B53A3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>
                <a:latin typeface="+mj-ea"/>
                <a:ea typeface="+mj-ea"/>
              </a:rPr>
              <a:t>１日</a:t>
            </a:r>
            <a:endParaRPr kumimoji="1" lang="en-US" altLang="ja-JP" sz="4000" dirty="0">
              <a:latin typeface="+mj-ea"/>
              <a:ea typeface="+mj-ea"/>
            </a:endParaRPr>
          </a:p>
          <a:p>
            <a:pPr algn="ctr"/>
            <a:endParaRPr kumimoji="1" lang="en-US" altLang="ja-JP" sz="4000" dirty="0">
              <a:latin typeface="+mj-lt"/>
            </a:endParaRPr>
          </a:p>
          <a:p>
            <a:pPr algn="ctr"/>
            <a:endParaRPr kumimoji="1" lang="en-US" altLang="ja-JP" sz="4000" dirty="0">
              <a:latin typeface="+mj-lt"/>
            </a:endParaRPr>
          </a:p>
          <a:p>
            <a:pPr algn="ctr"/>
            <a:endParaRPr kumimoji="1" lang="ja-JP" altLang="en-US" sz="4000" dirty="0">
              <a:latin typeface="+mj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1C261E-7590-4CCC-93F3-D8F7E47CC0BB}"/>
              </a:ext>
            </a:extLst>
          </p:cNvPr>
          <p:cNvSpPr txBox="1"/>
          <p:nvPr/>
        </p:nvSpPr>
        <p:spPr>
          <a:xfrm>
            <a:off x="4655821" y="2601840"/>
            <a:ext cx="2880358" cy="2554545"/>
          </a:xfrm>
          <a:prstGeom prst="rect">
            <a:avLst/>
          </a:prstGeom>
          <a:solidFill>
            <a:srgbClr val="815F56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>
                <a:latin typeface="+mj-ea"/>
                <a:ea typeface="+mj-ea"/>
              </a:rPr>
              <a:t>１ヶ月</a:t>
            </a:r>
            <a:endParaRPr kumimoji="1" lang="en-US" altLang="ja-JP" sz="4000" dirty="0">
              <a:latin typeface="+mj-ea"/>
              <a:ea typeface="+mj-ea"/>
            </a:endParaRPr>
          </a:p>
          <a:p>
            <a:pPr algn="ctr"/>
            <a:endParaRPr kumimoji="1" lang="en-US" altLang="ja-JP" sz="4000" dirty="0"/>
          </a:p>
          <a:p>
            <a:pPr algn="ctr"/>
            <a:endParaRPr kumimoji="1" lang="en-US" altLang="ja-JP" sz="4000" dirty="0"/>
          </a:p>
          <a:p>
            <a:pPr algn="ctr"/>
            <a:endParaRPr kumimoji="1" lang="ja-JP" altLang="en-US" sz="4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5ECD4D-A290-4838-AC2D-797D929D6AF0}"/>
              </a:ext>
            </a:extLst>
          </p:cNvPr>
          <p:cNvSpPr txBox="1"/>
          <p:nvPr/>
        </p:nvSpPr>
        <p:spPr>
          <a:xfrm>
            <a:off x="1295402" y="2601840"/>
            <a:ext cx="2880359" cy="2554545"/>
          </a:xfrm>
          <a:prstGeom prst="rect">
            <a:avLst/>
          </a:prstGeom>
          <a:solidFill>
            <a:srgbClr val="AE9E7C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>
                <a:latin typeface="+mj-ea"/>
                <a:ea typeface="+mj-ea"/>
              </a:rPr>
              <a:t>１年</a:t>
            </a:r>
            <a:endParaRPr kumimoji="1" lang="en-US" altLang="ja-JP" sz="4000" dirty="0">
              <a:latin typeface="+mj-ea"/>
              <a:ea typeface="+mj-ea"/>
            </a:endParaRPr>
          </a:p>
          <a:p>
            <a:pPr algn="ctr"/>
            <a:endParaRPr kumimoji="1" lang="en-US" altLang="ja-JP" sz="4000" dirty="0">
              <a:latin typeface="+mj-lt"/>
            </a:endParaRPr>
          </a:p>
          <a:p>
            <a:pPr algn="ctr"/>
            <a:endParaRPr kumimoji="1" lang="en-US" altLang="ja-JP" sz="4000" dirty="0">
              <a:latin typeface="+mj-lt"/>
            </a:endParaRPr>
          </a:p>
          <a:p>
            <a:pPr algn="ctr"/>
            <a:endParaRPr kumimoji="1" lang="en-US" altLang="ja-JP" sz="4000" dirty="0">
              <a:latin typeface="+mj-lt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2C4B99F-FBD4-4E7E-A18B-BCC489A4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ja-JP" altLang="en-US" dirty="0"/>
              <a:t>３種類の表示区間</a:t>
            </a:r>
          </a:p>
        </p:txBody>
      </p:sp>
      <p:pic>
        <p:nvPicPr>
          <p:cNvPr id="3" name="グラフィックス 2" descr="ケーキ 単色塗りつぶし">
            <a:extLst>
              <a:ext uri="{FF2B5EF4-FFF2-40B4-BE49-F238E27FC236}">
                <a16:creationId xmlns:a16="http://schemas.microsoft.com/office/drawing/2014/main" id="{E6E27721-1FC4-4639-AB2D-F77DC1021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7937" y="3171944"/>
            <a:ext cx="1715288" cy="1715288"/>
          </a:xfrm>
          <a:prstGeom prst="rect">
            <a:avLst/>
          </a:prstGeom>
        </p:spPr>
      </p:pic>
      <p:pic>
        <p:nvPicPr>
          <p:cNvPr id="4" name="グラフィックス 3" descr="日毎カレンダー 単色塗りつぶし">
            <a:extLst>
              <a:ext uri="{FF2B5EF4-FFF2-40B4-BE49-F238E27FC236}">
                <a16:creationId xmlns:a16="http://schemas.microsoft.com/office/drawing/2014/main" id="{CB3847D5-50F8-42B2-AF64-9FEBFD1C0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9657" y="3174547"/>
            <a:ext cx="1712685" cy="1712685"/>
          </a:xfrm>
          <a:prstGeom prst="rect">
            <a:avLst/>
          </a:prstGeom>
        </p:spPr>
      </p:pic>
      <p:pic>
        <p:nvPicPr>
          <p:cNvPr id="5" name="グラフィックス 4" descr="時計 単色塗りつぶし">
            <a:extLst>
              <a:ext uri="{FF2B5EF4-FFF2-40B4-BE49-F238E27FC236}">
                <a16:creationId xmlns:a16="http://schemas.microsoft.com/office/drawing/2014/main" id="{5039DDE2-69C5-42E2-A809-1A78142C8A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3227" y="3429000"/>
            <a:ext cx="1459845" cy="14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17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854D1-D19C-4E6F-9969-69B571C83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dirty="0"/>
              <a:t>ページ</a:t>
            </a:r>
            <a:r>
              <a:rPr kumimoji="1" lang="ja-JP" altLang="en-US" dirty="0"/>
              <a:t>と表示区間の対応</a:t>
            </a:r>
            <a:endParaRPr kumimoji="1" lang="ja-JP" altLang="en-US" sz="12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1B3184-EFC4-42A8-A4E0-763F5EAD9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B1AACA75-C5CE-4332-919C-192790AE1E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114771"/>
              </p:ext>
            </p:extLst>
          </p:nvPr>
        </p:nvGraphicFramePr>
        <p:xfrm>
          <a:off x="1295404" y="2556931"/>
          <a:ext cx="9601193" cy="33189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532">
                  <a:extLst>
                    <a:ext uri="{9D8B030D-6E8A-4147-A177-3AD203B41FA5}">
                      <a16:colId xmlns:a16="http://schemas.microsoft.com/office/drawing/2014/main" val="1121059746"/>
                    </a:ext>
                  </a:extLst>
                </a:gridCol>
                <a:gridCol w="1729285">
                  <a:extLst>
                    <a:ext uri="{9D8B030D-6E8A-4147-A177-3AD203B41FA5}">
                      <a16:colId xmlns:a16="http://schemas.microsoft.com/office/drawing/2014/main" val="3428305764"/>
                    </a:ext>
                  </a:extLst>
                </a:gridCol>
                <a:gridCol w="1729285">
                  <a:extLst>
                    <a:ext uri="{9D8B030D-6E8A-4147-A177-3AD203B41FA5}">
                      <a16:colId xmlns:a16="http://schemas.microsoft.com/office/drawing/2014/main" val="2679331746"/>
                    </a:ext>
                  </a:extLst>
                </a:gridCol>
                <a:gridCol w="1729285">
                  <a:extLst>
                    <a:ext uri="{9D8B030D-6E8A-4147-A177-3AD203B41FA5}">
                      <a16:colId xmlns:a16="http://schemas.microsoft.com/office/drawing/2014/main" val="3413110828"/>
                    </a:ext>
                  </a:extLst>
                </a:gridCol>
                <a:gridCol w="1949726">
                  <a:extLst>
                    <a:ext uri="{9D8B030D-6E8A-4147-A177-3AD203B41FA5}">
                      <a16:colId xmlns:a16="http://schemas.microsoft.com/office/drawing/2014/main" val="2607209928"/>
                    </a:ext>
                  </a:extLst>
                </a:gridCol>
                <a:gridCol w="1786080">
                  <a:extLst>
                    <a:ext uri="{9D8B030D-6E8A-4147-A177-3AD203B41FA5}">
                      <a16:colId xmlns:a16="http://schemas.microsoft.com/office/drawing/2014/main" val="2538864646"/>
                    </a:ext>
                  </a:extLst>
                </a:gridCol>
              </a:tblGrid>
              <a:tr h="829734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endParaRPr kumimoji="1" lang="ja-JP" altLang="en-US" sz="1600" dirty="0"/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不良率推移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品目別不良数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指図別不良数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不良数推移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400" b="0" dirty="0">
                          <a:solidFill>
                            <a:schemeClr val="tx1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シンボル別不良数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73257"/>
                  </a:ext>
                </a:extLst>
              </a:tr>
              <a:tr h="829734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lt"/>
                          <a:cs typeface="Angsana New" panose="020B0502040204020203" pitchFamily="18" charset="-34"/>
                        </a:rPr>
                        <a:t>年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20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409780"/>
                  </a:ext>
                </a:extLst>
              </a:tr>
              <a:tr h="829734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lt"/>
                          <a:cs typeface="Angsana New" panose="020B0502040204020203" pitchFamily="18" charset="-34"/>
                        </a:rPr>
                        <a:t>月</a:t>
                      </a:r>
                    </a:p>
                  </a:txBody>
                  <a:tcPr>
                    <a:solidFill>
                      <a:srgbClr val="815F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718004"/>
                  </a:ext>
                </a:extLst>
              </a:tr>
              <a:tr h="829734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lt"/>
                          <a:cs typeface="Angsana New" panose="020B0502040204020203" pitchFamily="18" charset="-34"/>
                        </a:rPr>
                        <a:t>日</a:t>
                      </a:r>
                    </a:p>
                  </a:txBody>
                  <a:tcPr>
                    <a:solidFill>
                      <a:srgbClr val="B53A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20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20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969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95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3A6AC0-9FC6-4A2E-ABA8-608EA80D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ja-JP" altLang="en-US" dirty="0"/>
              <a:t>オプション</a:t>
            </a:r>
          </a:p>
        </p:txBody>
      </p:sp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8554D2BD-9796-4B4D-AC78-C2A0587E3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275197"/>
              </p:ext>
            </p:extLst>
          </p:nvPr>
        </p:nvGraphicFramePr>
        <p:xfrm>
          <a:off x="1295400" y="2542949"/>
          <a:ext cx="9476150" cy="312705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78380">
                  <a:extLst>
                    <a:ext uri="{9D8B030D-6E8A-4147-A177-3AD203B41FA5}">
                      <a16:colId xmlns:a16="http://schemas.microsoft.com/office/drawing/2014/main" val="674842086"/>
                    </a:ext>
                  </a:extLst>
                </a:gridCol>
                <a:gridCol w="954405">
                  <a:extLst>
                    <a:ext uri="{9D8B030D-6E8A-4147-A177-3AD203B41FA5}">
                      <a16:colId xmlns:a16="http://schemas.microsoft.com/office/drawing/2014/main" val="2204467957"/>
                    </a:ext>
                  </a:extLst>
                </a:gridCol>
                <a:gridCol w="1248673">
                  <a:extLst>
                    <a:ext uri="{9D8B030D-6E8A-4147-A177-3AD203B41FA5}">
                      <a16:colId xmlns:a16="http://schemas.microsoft.com/office/drawing/2014/main" val="2225361619"/>
                    </a:ext>
                  </a:extLst>
                </a:gridCol>
                <a:gridCol w="1248673">
                  <a:extLst>
                    <a:ext uri="{9D8B030D-6E8A-4147-A177-3AD203B41FA5}">
                      <a16:colId xmlns:a16="http://schemas.microsoft.com/office/drawing/2014/main" val="3753914949"/>
                    </a:ext>
                  </a:extLst>
                </a:gridCol>
                <a:gridCol w="1248673">
                  <a:extLst>
                    <a:ext uri="{9D8B030D-6E8A-4147-A177-3AD203B41FA5}">
                      <a16:colId xmlns:a16="http://schemas.microsoft.com/office/drawing/2014/main" val="2607334390"/>
                    </a:ext>
                  </a:extLst>
                </a:gridCol>
                <a:gridCol w="1248673">
                  <a:extLst>
                    <a:ext uri="{9D8B030D-6E8A-4147-A177-3AD203B41FA5}">
                      <a16:colId xmlns:a16="http://schemas.microsoft.com/office/drawing/2014/main" val="4231566074"/>
                    </a:ext>
                  </a:extLst>
                </a:gridCol>
                <a:gridCol w="1248673">
                  <a:extLst>
                    <a:ext uri="{9D8B030D-6E8A-4147-A177-3AD203B41FA5}">
                      <a16:colId xmlns:a16="http://schemas.microsoft.com/office/drawing/2014/main" val="1707550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kumimoji="1" lang="ja-JP" alt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b="0" dirty="0">
                          <a:solidFill>
                            <a:srgbClr val="262626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不良率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b="0" dirty="0">
                          <a:solidFill>
                            <a:srgbClr val="262626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品目別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b="0" dirty="0">
                          <a:solidFill>
                            <a:srgbClr val="262626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指図別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b="0" dirty="0">
                          <a:solidFill>
                            <a:srgbClr val="262626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推移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kumimoji="1" lang="ja-JP" altLang="en-US" sz="1400" b="0" dirty="0">
                          <a:solidFill>
                            <a:srgbClr val="262626"/>
                          </a:solidFill>
                          <a:latin typeface="游ゴシック Medium" panose="020B0500000000000000" pitchFamily="50" charset="-128"/>
                          <a:ea typeface="游ゴシック Medium" panose="020B0500000000000000" pitchFamily="50" charset="-128"/>
                        </a:rPr>
                        <a:t>シンボル別</a:t>
                      </a:r>
                    </a:p>
                  </a:txBody>
                  <a:tcPr>
                    <a:solidFill>
                      <a:srgbClr val="E3DF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28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Daily/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累積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セレクト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en-US" altLang="ja-JP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4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ライン統合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ライン別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セレクト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en-US" altLang="ja-JP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19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全ライ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/1~5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ライン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セレクト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99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検査日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実装日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セレクト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en-US" altLang="ja-JP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569894"/>
                  </a:ext>
                </a:extLst>
              </a:tr>
              <a:tr h="4375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品目指定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テキスト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026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全シンボル</a:t>
                      </a:r>
                      <a:r>
                        <a:rPr kumimoji="1" lang="en-US" altLang="ja-JP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/</a:t>
                      </a: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シンボル指定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セレクト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66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最大表示件数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kumimoji="1" lang="ja-JP" altLang="en-US" sz="1400" dirty="0">
                          <a:solidFill>
                            <a:schemeClr val="bg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数値</a:t>
                      </a:r>
                    </a:p>
                  </a:txBody>
                  <a:tcPr>
                    <a:solidFill>
                      <a:srgbClr val="AE9E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kumimoji="1" lang="ja-JP" altLang="en-US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  <a:cs typeface="Arial" panose="020B0604020202020204" pitchFamily="34" charset="0"/>
                        </a:rPr>
                        <a:t>×</a:t>
                      </a:r>
                      <a:endParaRPr kumimoji="1" lang="ja-JP" altLang="en-US" sz="1800" dirty="0">
                        <a:latin typeface="游ゴシック" panose="020B0400000000000000" pitchFamily="50" charset="-128"/>
                        <a:ea typeface="游ゴシック" panose="020B0400000000000000" pitchFamily="50" charset="-128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</a:p>
                  </a:txBody>
                  <a:tcPr>
                    <a:solidFill>
                      <a:srgbClr val="F2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41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101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96C6F9-3D35-4A60-B4D3-94CD9D75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ja-JP" altLang="en-US" dirty="0"/>
              <a:t>フィルタ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EBA2F5-4230-4CEE-A1ED-ED2135B77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304" y="2658533"/>
            <a:ext cx="4334399" cy="576262"/>
          </a:xfrm>
        </p:spPr>
        <p:txBody>
          <a:bodyPr/>
          <a:lstStyle/>
          <a:p>
            <a:r>
              <a:rPr kumimoji="1" lang="ja-JP" altLang="en-US" dirty="0">
                <a:solidFill>
                  <a:srgbClr val="262626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すべての不良項目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624F921-D748-4DF8-91CB-6D7BAB396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4575" y="2658533"/>
            <a:ext cx="4334399" cy="576262"/>
          </a:xfrm>
        </p:spPr>
        <p:txBody>
          <a:bodyPr/>
          <a:lstStyle/>
          <a:p>
            <a:r>
              <a:rPr kumimoji="1" lang="ja-JP" altLang="en-US" dirty="0">
                <a:solidFill>
                  <a:srgbClr val="262626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見たい不良項目に限定</a:t>
            </a:r>
          </a:p>
        </p:txBody>
      </p:sp>
      <p:pic>
        <p:nvPicPr>
          <p:cNvPr id="9" name="コンテンツ プレースホルダー 4" descr="グラフの薄い幾何学的な台座">
            <a:extLst>
              <a:ext uri="{FF2B5EF4-FFF2-40B4-BE49-F238E27FC236}">
                <a16:creationId xmlns:a16="http://schemas.microsoft.com/office/drawing/2014/main" id="{E0927E73-71D9-479D-83DB-90E3E075A1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92" y="3243263"/>
            <a:ext cx="3940665" cy="2632075"/>
          </a:xfrm>
        </p:spPr>
      </p:pic>
      <p:pic>
        <p:nvPicPr>
          <p:cNvPr id="10" name="コンテンツ プレースホルダー 4" descr="幾何学的ブロックの棒グラフ">
            <a:extLst>
              <a:ext uri="{FF2B5EF4-FFF2-40B4-BE49-F238E27FC236}">
                <a16:creationId xmlns:a16="http://schemas.microsoft.com/office/drawing/2014/main" id="{3596A830-93BB-4AF5-B7DF-9F2AF92BF89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576" y="3243263"/>
            <a:ext cx="3949174" cy="2632075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F575CDD2-4035-4323-9D12-4C4DAAD1BE0A}"/>
              </a:ext>
            </a:extLst>
          </p:cNvPr>
          <p:cNvSpPr/>
          <p:nvPr/>
        </p:nvSpPr>
        <p:spPr>
          <a:xfrm>
            <a:off x="5752664" y="4239985"/>
            <a:ext cx="686672" cy="319315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674BAFB-44AD-489D-8F78-04C143E350E9}"/>
              </a:ext>
            </a:extLst>
          </p:cNvPr>
          <p:cNvSpPr txBox="1"/>
          <p:nvPr/>
        </p:nvSpPr>
        <p:spPr>
          <a:xfrm rot="20864385">
            <a:off x="1734851" y="4074060"/>
            <a:ext cx="120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EB6E6E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部品飛散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CE35E6B-8ACB-4D6A-B63D-51196BFC9BC5}"/>
              </a:ext>
            </a:extLst>
          </p:cNvPr>
          <p:cNvSpPr txBox="1"/>
          <p:nvPr/>
        </p:nvSpPr>
        <p:spPr>
          <a:xfrm>
            <a:off x="7741276" y="5506601"/>
            <a:ext cx="164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EB6E6E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only </a:t>
            </a:r>
            <a:r>
              <a:rPr kumimoji="1" lang="ja-JP" altLang="en-US" dirty="0">
                <a:solidFill>
                  <a:srgbClr val="EB6E6E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部品飛散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089F5A2-A7CA-40E2-8B19-06187C47E401}"/>
              </a:ext>
            </a:extLst>
          </p:cNvPr>
          <p:cNvSpPr txBox="1"/>
          <p:nvPr/>
        </p:nvSpPr>
        <p:spPr>
          <a:xfrm rot="1168808">
            <a:off x="3764888" y="5875886"/>
            <a:ext cx="168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9182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部品表裏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887F383-BAE7-4028-9D76-0D717E7D0B89}"/>
              </a:ext>
            </a:extLst>
          </p:cNvPr>
          <p:cNvSpPr txBox="1"/>
          <p:nvPr/>
        </p:nvSpPr>
        <p:spPr>
          <a:xfrm rot="263294">
            <a:off x="3763619" y="3637143"/>
            <a:ext cx="18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EAD8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部品異物浮き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F77B5B2-CB46-4A0F-87F8-5E4ECFDAE6F9}"/>
              </a:ext>
            </a:extLst>
          </p:cNvPr>
          <p:cNvSpPr txBox="1"/>
          <p:nvPr/>
        </p:nvSpPr>
        <p:spPr>
          <a:xfrm rot="4407894">
            <a:off x="3986453" y="5096751"/>
            <a:ext cx="151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BCF9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部品浮き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C587FFA-5F00-46C5-B32B-64FCC001BDDC}"/>
              </a:ext>
            </a:extLst>
          </p:cNvPr>
          <p:cNvSpPr txBox="1"/>
          <p:nvPr/>
        </p:nvSpPr>
        <p:spPr>
          <a:xfrm rot="263294">
            <a:off x="1650673" y="5557482"/>
            <a:ext cx="18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EBB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横マンハッタン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4645F6A-93E2-478C-AF72-88AC2E5EDFAC}"/>
              </a:ext>
            </a:extLst>
          </p:cNvPr>
          <p:cNvSpPr txBox="1"/>
          <p:nvPr/>
        </p:nvSpPr>
        <p:spPr>
          <a:xfrm rot="17495283">
            <a:off x="807950" y="3675709"/>
            <a:ext cx="18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DCE6BE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極性違い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A095B08-86EB-4529-85FC-B4A9E13315F5}"/>
              </a:ext>
            </a:extLst>
          </p:cNvPr>
          <p:cNvSpPr txBox="1"/>
          <p:nvPr/>
        </p:nvSpPr>
        <p:spPr>
          <a:xfrm rot="20404259">
            <a:off x="3449348" y="4293945"/>
            <a:ext cx="1564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B4DCBE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実装もれ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13DE37A-2CFA-4DEA-9CDB-BEAE5D9F2912}"/>
              </a:ext>
            </a:extLst>
          </p:cNvPr>
          <p:cNvSpPr txBox="1"/>
          <p:nvPr/>
        </p:nvSpPr>
        <p:spPr>
          <a:xfrm rot="11653704">
            <a:off x="1177091" y="3305797"/>
            <a:ext cx="18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91CCA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半田漏れ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E647F03-C0DD-41C9-8331-35C23A8808DB}"/>
              </a:ext>
            </a:extLst>
          </p:cNvPr>
          <p:cNvSpPr txBox="1"/>
          <p:nvPr/>
        </p:nvSpPr>
        <p:spPr>
          <a:xfrm rot="17803761">
            <a:off x="4756188" y="4027414"/>
            <a:ext cx="1264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8ABCF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半田不足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9E9C0FC-4616-4863-BBDD-A77E9E4F60E2}"/>
              </a:ext>
            </a:extLst>
          </p:cNvPr>
          <p:cNvSpPr txBox="1"/>
          <p:nvPr/>
        </p:nvSpPr>
        <p:spPr>
          <a:xfrm rot="4580545">
            <a:off x="2625462" y="4730349"/>
            <a:ext cx="120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82A0E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位置ズレ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417F4C4-1093-42E9-8CDE-60A8B1CD546F}"/>
              </a:ext>
            </a:extLst>
          </p:cNvPr>
          <p:cNvSpPr txBox="1"/>
          <p:nvPr/>
        </p:nvSpPr>
        <p:spPr>
          <a:xfrm rot="1448625">
            <a:off x="1571618" y="4672573"/>
            <a:ext cx="1348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A09EDB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リード浮き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1045BB6-6BEB-4F8D-AFA1-0A9A6C99A9BF}"/>
              </a:ext>
            </a:extLst>
          </p:cNvPr>
          <p:cNvSpPr txBox="1"/>
          <p:nvPr/>
        </p:nvSpPr>
        <p:spPr>
          <a:xfrm rot="20099666">
            <a:off x="4775482" y="5212408"/>
            <a:ext cx="18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B3AFC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マンハッタン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D2ED81-5F58-434D-9A2A-B6DCCC97A1E0}"/>
              </a:ext>
            </a:extLst>
          </p:cNvPr>
          <p:cNvSpPr txBox="1"/>
          <p:nvPr/>
        </p:nvSpPr>
        <p:spPr>
          <a:xfrm rot="10523555">
            <a:off x="4607124" y="3171343"/>
            <a:ext cx="925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CACAC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マクラ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62EF799-6571-46EA-AD21-5C4DF0E81CF6}"/>
              </a:ext>
            </a:extLst>
          </p:cNvPr>
          <p:cNvSpPr txBox="1"/>
          <p:nvPr/>
        </p:nvSpPr>
        <p:spPr>
          <a:xfrm rot="17017120">
            <a:off x="2830916" y="3351607"/>
            <a:ext cx="18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B0A0A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その他不良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BA88409-0580-4E00-998B-F562F96D9D1C}"/>
              </a:ext>
            </a:extLst>
          </p:cNvPr>
          <p:cNvSpPr txBox="1"/>
          <p:nvPr/>
        </p:nvSpPr>
        <p:spPr>
          <a:xfrm>
            <a:off x="2436941" y="3860517"/>
            <a:ext cx="1849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C8B8B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はんだブリッジ</a:t>
            </a:r>
          </a:p>
        </p:txBody>
      </p:sp>
    </p:spTree>
    <p:extLst>
      <p:ext uri="{BB962C8B-B14F-4D97-AF65-F5344CB8AC3E}">
        <p14:creationId xmlns:p14="http://schemas.microsoft.com/office/powerpoint/2010/main" val="175533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1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8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7FED98E4-C647-46FB-95F6-C51262317E3C}"/>
              </a:ext>
            </a:extLst>
          </p:cNvPr>
          <p:cNvSpPr/>
          <p:nvPr/>
        </p:nvSpPr>
        <p:spPr>
          <a:xfrm rot="10800000">
            <a:off x="3692980" y="4695298"/>
            <a:ext cx="2378539" cy="399045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4E97A4-594D-4CA1-9815-74706F39FF47}"/>
              </a:ext>
            </a:extLst>
          </p:cNvPr>
          <p:cNvSpPr/>
          <p:nvPr/>
        </p:nvSpPr>
        <p:spPr>
          <a:xfrm>
            <a:off x="3701141" y="2506429"/>
            <a:ext cx="2394859" cy="218887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グラフ, 折れ線グラフ&#10;&#10;自動的に生成された説明">
            <a:extLst>
              <a:ext uri="{FF2B5EF4-FFF2-40B4-BE49-F238E27FC236}">
                <a16:creationId xmlns:a16="http://schemas.microsoft.com/office/drawing/2014/main" id="{CC392CFD-0568-429C-AC63-D326A9E6A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903" y="2656576"/>
            <a:ext cx="1864055" cy="18704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D57003B-EF3D-4548-91E2-39499464D83E}"/>
              </a:ext>
            </a:extLst>
          </p:cNvPr>
          <p:cNvSpPr txBox="1"/>
          <p:nvPr/>
        </p:nvSpPr>
        <p:spPr>
          <a:xfrm>
            <a:off x="3676661" y="4504578"/>
            <a:ext cx="2403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+mj-ea"/>
                <a:ea typeface="+mj-ea"/>
              </a:rPr>
              <a:t>不良率集計　</a:t>
            </a:r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35CCD94-F123-4455-B231-509B54DF9AAB}"/>
              </a:ext>
            </a:extLst>
          </p:cNvPr>
          <p:cNvSpPr/>
          <p:nvPr/>
        </p:nvSpPr>
        <p:spPr>
          <a:xfrm>
            <a:off x="8507180" y="2506420"/>
            <a:ext cx="2394859" cy="21775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21">
            <a:extLst>
              <a:ext uri="{FF2B5EF4-FFF2-40B4-BE49-F238E27FC236}">
                <a16:creationId xmlns:a16="http://schemas.microsoft.com/office/drawing/2014/main" id="{71B4C96E-5D67-4524-963B-750E139C0B22}"/>
              </a:ext>
            </a:extLst>
          </p:cNvPr>
          <p:cNvSpPr/>
          <p:nvPr/>
        </p:nvSpPr>
        <p:spPr>
          <a:xfrm rot="10800000">
            <a:off x="8499019" y="4683988"/>
            <a:ext cx="2378539" cy="399045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グラフ&#10;&#10;自動的に生成された説明">
            <a:extLst>
              <a:ext uri="{FF2B5EF4-FFF2-40B4-BE49-F238E27FC236}">
                <a16:creationId xmlns:a16="http://schemas.microsoft.com/office/drawing/2014/main" id="{8ACBDBEE-721B-40D7-A359-F77B44406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075" y="2656576"/>
            <a:ext cx="1857602" cy="18576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5792CE-5F56-4415-AE7D-3A93BF2EED42}"/>
              </a:ext>
            </a:extLst>
          </p:cNvPr>
          <p:cNvSpPr txBox="1"/>
          <p:nvPr/>
        </p:nvSpPr>
        <p:spPr>
          <a:xfrm>
            <a:off x="8507180" y="4509243"/>
            <a:ext cx="2411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+mj-ea"/>
                <a:ea typeface="+mj-ea"/>
              </a:rPr>
              <a:t>不良数推移</a:t>
            </a:r>
            <a:r>
              <a:rPr lang="en-US" altLang="ja-JP" dirty="0">
                <a:latin typeface="+mj-ea"/>
                <a:ea typeface="+mj-ea"/>
              </a:rPr>
              <a:t>(</a:t>
            </a:r>
            <a:r>
              <a:rPr lang="ja-JP" altLang="en-US" dirty="0">
                <a:latin typeface="+mj-ea"/>
                <a:ea typeface="+mj-ea"/>
              </a:rPr>
              <a:t>年</a:t>
            </a:r>
            <a:r>
              <a:rPr lang="en-US" altLang="ja-JP" dirty="0">
                <a:latin typeface="+mj-ea"/>
                <a:ea typeface="+mj-ea"/>
              </a:rPr>
              <a:t>)</a:t>
            </a:r>
            <a:endParaRPr lang="ja-JP" altLang="en-US" dirty="0">
              <a:latin typeface="+mj-ea"/>
              <a:ea typeface="+mj-ea"/>
            </a:endParaRPr>
          </a:p>
        </p:txBody>
      </p:sp>
      <p:sp>
        <p:nvSpPr>
          <p:cNvPr id="20" name="二等辺三角形 19">
            <a:extLst>
              <a:ext uri="{FF2B5EF4-FFF2-40B4-BE49-F238E27FC236}">
                <a16:creationId xmlns:a16="http://schemas.microsoft.com/office/drawing/2014/main" id="{6ADDEDF5-E2CD-4CD2-981F-D16FEBFA430F}"/>
              </a:ext>
            </a:extLst>
          </p:cNvPr>
          <p:cNvSpPr/>
          <p:nvPr/>
        </p:nvSpPr>
        <p:spPr>
          <a:xfrm rot="10800000">
            <a:off x="1313077" y="4704092"/>
            <a:ext cx="2378539" cy="39904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08081FC-AEE5-4363-BDD0-EC00AC988C35}"/>
              </a:ext>
            </a:extLst>
          </p:cNvPr>
          <p:cNvSpPr/>
          <p:nvPr/>
        </p:nvSpPr>
        <p:spPr>
          <a:xfrm>
            <a:off x="1305845" y="2525186"/>
            <a:ext cx="2394859" cy="2188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8" name="図 37" descr="グラフィカル ユーザー インターフェイス&#10;&#10;低い精度で自動的に生成された説明">
            <a:extLst>
              <a:ext uri="{FF2B5EF4-FFF2-40B4-BE49-F238E27FC236}">
                <a16:creationId xmlns:a16="http://schemas.microsoft.com/office/drawing/2014/main" id="{2FEE0262-BD5C-4B08-BCC9-45001651B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726" y="2656576"/>
            <a:ext cx="1879813" cy="18733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B4987F7-C5F4-4DC1-9217-6C41E78BC755}"/>
              </a:ext>
            </a:extLst>
          </p:cNvPr>
          <p:cNvSpPr/>
          <p:nvPr/>
        </p:nvSpPr>
        <p:spPr>
          <a:xfrm>
            <a:off x="1295402" y="2506437"/>
            <a:ext cx="2392134" cy="336943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8FA06DC-0CFD-4A5F-BC08-26F10716C3E7}"/>
              </a:ext>
            </a:extLst>
          </p:cNvPr>
          <p:cNvSpPr/>
          <p:nvPr/>
        </p:nvSpPr>
        <p:spPr>
          <a:xfrm>
            <a:off x="6095998" y="2506420"/>
            <a:ext cx="2394859" cy="218887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20">
            <a:extLst>
              <a:ext uri="{FF2B5EF4-FFF2-40B4-BE49-F238E27FC236}">
                <a16:creationId xmlns:a16="http://schemas.microsoft.com/office/drawing/2014/main" id="{C6D9EE79-672D-4549-9047-1A1B5E3002A4}"/>
              </a:ext>
            </a:extLst>
          </p:cNvPr>
          <p:cNvSpPr/>
          <p:nvPr/>
        </p:nvSpPr>
        <p:spPr>
          <a:xfrm rot="10800000">
            <a:off x="6090556" y="4695298"/>
            <a:ext cx="2378539" cy="399045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図 24" descr="グラフ, 棒グラフ&#10;&#10;自動的に生成された説明">
            <a:extLst>
              <a:ext uri="{FF2B5EF4-FFF2-40B4-BE49-F238E27FC236}">
                <a16:creationId xmlns:a16="http://schemas.microsoft.com/office/drawing/2014/main" id="{609320FF-9F8C-409B-B6B0-8B0DFE6273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62" y="2656576"/>
            <a:ext cx="1855895" cy="18466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1A2757E-B8FC-4A35-BA9C-9DA8C024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ja-JP" altLang="en-US" dirty="0"/>
              <a:t>ページ切り替え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F3A2A29-9FA5-49D4-9A86-A9454385C666}"/>
              </a:ext>
            </a:extLst>
          </p:cNvPr>
          <p:cNvSpPr txBox="1"/>
          <p:nvPr/>
        </p:nvSpPr>
        <p:spPr>
          <a:xfrm>
            <a:off x="3717461" y="5190221"/>
            <a:ext cx="240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+mj-ea"/>
                <a:ea typeface="+mj-ea"/>
              </a:rPr>
              <a:t>品目別不良数</a:t>
            </a:r>
            <a:r>
              <a:rPr lang="en-US" altLang="ja-JP" dirty="0">
                <a:latin typeface="+mj-ea"/>
                <a:ea typeface="+mj-ea"/>
              </a:rPr>
              <a:t>(</a:t>
            </a:r>
            <a:r>
              <a:rPr lang="ja-JP" altLang="en-US" dirty="0">
                <a:latin typeface="+mj-ea"/>
                <a:ea typeface="+mj-ea"/>
              </a:rPr>
              <a:t>日</a:t>
            </a:r>
            <a:r>
              <a:rPr lang="en-US" altLang="ja-JP" dirty="0">
                <a:latin typeface="+mj-ea"/>
                <a:ea typeface="+mj-ea"/>
              </a:rPr>
              <a:t>)</a:t>
            </a:r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13319DA-FFFE-43E1-9544-85931B8897C4}"/>
              </a:ext>
            </a:extLst>
          </p:cNvPr>
          <p:cNvSpPr txBox="1"/>
          <p:nvPr/>
        </p:nvSpPr>
        <p:spPr>
          <a:xfrm>
            <a:off x="6082395" y="4514178"/>
            <a:ext cx="239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+mj-ea"/>
                <a:ea typeface="+mj-ea"/>
              </a:rPr>
              <a:t>品目別不良数　</a:t>
            </a:r>
            <a:endParaRPr kumimoji="1" lang="ja-JP" altLang="en-US" dirty="0">
              <a:latin typeface="+mj-ea"/>
              <a:ea typeface="+mj-ea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BCBCF33-D242-4542-8DB2-A8747E5B3754}"/>
              </a:ext>
            </a:extLst>
          </p:cNvPr>
          <p:cNvSpPr txBox="1"/>
          <p:nvPr/>
        </p:nvSpPr>
        <p:spPr>
          <a:xfrm>
            <a:off x="6095998" y="5190221"/>
            <a:ext cx="24030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+mj-ea"/>
                <a:ea typeface="+mj-ea"/>
              </a:rPr>
              <a:t>不良数推移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4C587BF-EF1E-4E68-998E-0A6DF0A8C856}"/>
              </a:ext>
            </a:extLst>
          </p:cNvPr>
          <p:cNvSpPr txBox="1"/>
          <p:nvPr/>
        </p:nvSpPr>
        <p:spPr>
          <a:xfrm>
            <a:off x="8490856" y="5190221"/>
            <a:ext cx="2411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>
                <a:latin typeface="+mj-ea"/>
                <a:ea typeface="+mj-ea"/>
              </a:rPr>
              <a:t>不良数推移</a:t>
            </a:r>
            <a:r>
              <a:rPr lang="en-US" altLang="ja-JP" dirty="0">
                <a:latin typeface="+mj-ea"/>
                <a:ea typeface="+mj-ea"/>
              </a:rPr>
              <a:t>(</a:t>
            </a:r>
            <a:r>
              <a:rPr lang="ja-JP" altLang="en-US" dirty="0">
                <a:latin typeface="+mj-ea"/>
                <a:ea typeface="+mj-ea"/>
              </a:rPr>
              <a:t>月</a:t>
            </a:r>
            <a:r>
              <a:rPr lang="en-US" altLang="ja-JP" dirty="0">
                <a:latin typeface="+mj-ea"/>
                <a:ea typeface="+mj-ea"/>
              </a:rPr>
              <a:t>)</a:t>
            </a:r>
            <a:endParaRPr lang="ja-JP" altLang="en-US" dirty="0">
              <a:latin typeface="+mj-ea"/>
              <a:ea typeface="+mj-ea"/>
            </a:endParaRPr>
          </a:p>
        </p:txBody>
      </p:sp>
      <p:pic>
        <p:nvPicPr>
          <p:cNvPr id="34" name="グラフィックス 33" descr="カーソル 枠線">
            <a:extLst>
              <a:ext uri="{FF2B5EF4-FFF2-40B4-BE49-F238E27FC236}">
                <a16:creationId xmlns:a16="http://schemas.microsoft.com/office/drawing/2014/main" id="{5B8A1C6D-B11F-4EFD-A444-994C6717E9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1419" y="3037618"/>
            <a:ext cx="914400" cy="914400"/>
          </a:xfrm>
          <a:prstGeom prst="rect">
            <a:avLst/>
          </a:prstGeom>
        </p:spPr>
      </p:pic>
      <p:pic>
        <p:nvPicPr>
          <p:cNvPr id="35" name="グラフィックス 34" descr="カーソル 枠線">
            <a:extLst>
              <a:ext uri="{FF2B5EF4-FFF2-40B4-BE49-F238E27FC236}">
                <a16:creationId xmlns:a16="http://schemas.microsoft.com/office/drawing/2014/main" id="{E6AFBB85-87CD-4211-9A22-7CBFA179D1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5171" y="3627543"/>
            <a:ext cx="914400" cy="914400"/>
          </a:xfrm>
          <a:prstGeom prst="rect">
            <a:avLst/>
          </a:prstGeom>
        </p:spPr>
      </p:pic>
      <p:pic>
        <p:nvPicPr>
          <p:cNvPr id="36" name="グラフィックス 35" descr="カーソル 枠線">
            <a:extLst>
              <a:ext uri="{FF2B5EF4-FFF2-40B4-BE49-F238E27FC236}">
                <a16:creationId xmlns:a16="http://schemas.microsoft.com/office/drawing/2014/main" id="{ED8C1D36-78D5-40B1-9B66-5559B2DBCE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4308" y="3560569"/>
            <a:ext cx="914400" cy="91440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7935401-8835-4235-B465-9F6B82FABC89}"/>
              </a:ext>
            </a:extLst>
          </p:cNvPr>
          <p:cNvSpPr/>
          <p:nvPr/>
        </p:nvSpPr>
        <p:spPr>
          <a:xfrm>
            <a:off x="3725184" y="2506433"/>
            <a:ext cx="2378977" cy="336943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グラフィックス 38" descr="カーソル 枠線">
            <a:extLst>
              <a:ext uri="{FF2B5EF4-FFF2-40B4-BE49-F238E27FC236}">
                <a16:creationId xmlns:a16="http://schemas.microsoft.com/office/drawing/2014/main" id="{46023A1F-FD93-4C88-B0F4-177EA232AF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3882" y="3612636"/>
            <a:ext cx="914400" cy="91440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92D9003-754D-4087-9D63-6D2C2A37A8F6}"/>
              </a:ext>
            </a:extLst>
          </p:cNvPr>
          <p:cNvSpPr/>
          <p:nvPr/>
        </p:nvSpPr>
        <p:spPr>
          <a:xfrm>
            <a:off x="8515339" y="2506421"/>
            <a:ext cx="2386700" cy="336944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5D2EE90-1414-4026-B9F6-D574DEA01003}"/>
              </a:ext>
            </a:extLst>
          </p:cNvPr>
          <p:cNvSpPr/>
          <p:nvPr/>
        </p:nvSpPr>
        <p:spPr>
          <a:xfrm>
            <a:off x="6134084" y="2506435"/>
            <a:ext cx="2356775" cy="3369431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77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コンテンツ プレースホルダー 4" descr="グラフ, 折れ線グラフ&#10;&#10;自動的に生成された説明">
            <a:extLst>
              <a:ext uri="{FF2B5EF4-FFF2-40B4-BE49-F238E27FC236}">
                <a16:creationId xmlns:a16="http://schemas.microsoft.com/office/drawing/2014/main" id="{3EE421F6-008D-4AF8-828C-B5077518A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586" y="495117"/>
            <a:ext cx="8526827" cy="586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09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自動的に生成された説明">
            <a:extLst>
              <a:ext uri="{FF2B5EF4-FFF2-40B4-BE49-F238E27FC236}">
                <a16:creationId xmlns:a16="http://schemas.microsoft.com/office/drawing/2014/main" id="{3A4C07D8-6D56-42B0-9A11-C610FA0D6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296" y="489360"/>
            <a:ext cx="6379408" cy="587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0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自動的に生成された説明">
            <a:extLst>
              <a:ext uri="{FF2B5EF4-FFF2-40B4-BE49-F238E27FC236}">
                <a16:creationId xmlns:a16="http://schemas.microsoft.com/office/drawing/2014/main" id="{E3EE95EB-4668-4F26-B91A-4CF70E01A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398" y="500513"/>
            <a:ext cx="6355203" cy="585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4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低い精度で自動的に生成された説明">
            <a:extLst>
              <a:ext uri="{FF2B5EF4-FFF2-40B4-BE49-F238E27FC236}">
                <a16:creationId xmlns:a16="http://schemas.microsoft.com/office/drawing/2014/main" id="{F4B1DAFD-BE60-427B-B233-7FD54858E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976" y="491380"/>
            <a:ext cx="6606048" cy="587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94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&#10;&#10;自動的に生成された説明">
            <a:extLst>
              <a:ext uri="{FF2B5EF4-FFF2-40B4-BE49-F238E27FC236}">
                <a16:creationId xmlns:a16="http://schemas.microsoft.com/office/drawing/2014/main" id="{72D67D6E-E3B7-432C-9508-5FA3565173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502" y="486301"/>
            <a:ext cx="6610995" cy="588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3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ーブル&#10;&#10;自動的に生成された説明">
            <a:extLst>
              <a:ext uri="{FF2B5EF4-FFF2-40B4-BE49-F238E27FC236}">
                <a16:creationId xmlns:a16="http://schemas.microsoft.com/office/drawing/2014/main" id="{7DE9F5C4-93AC-4BD4-97D5-24B083481E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4" t="-141" r="134" b="14527"/>
          <a:stretch/>
        </p:blipFill>
        <p:spPr>
          <a:xfrm>
            <a:off x="2495550" y="493295"/>
            <a:ext cx="7200900" cy="587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375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オーガニック">
  <a:themeElements>
    <a:clrScheme name="オーガニック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オーガニック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オーガニック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TM02900743[[fn=オーガニック]]</Template>
  <TotalTime>1826</TotalTime>
  <Words>254</Words>
  <Application>Microsoft Office PowerPoint</Application>
  <PresentationFormat>ワイド画面</PresentationFormat>
  <Paragraphs>130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ＭＳ Ｐゴシック</vt:lpstr>
      <vt:lpstr>メイリオ</vt:lpstr>
      <vt:lpstr>游ゴシック</vt:lpstr>
      <vt:lpstr>游ゴシック Medium</vt:lpstr>
      <vt:lpstr>Arial</vt:lpstr>
      <vt:lpstr>Garamond</vt:lpstr>
      <vt:lpstr>オーガニック</vt:lpstr>
      <vt:lpstr>SMT実装品質可視化システム(仮)</vt:lpstr>
      <vt:lpstr>目的：従来のExcel不良集計をWeb化</vt:lpstr>
      <vt:lpstr>構成内容</vt:lpstr>
      <vt:lpstr>３種類の表示区間</vt:lpstr>
      <vt:lpstr>ページと表示区間の対応</vt:lpstr>
      <vt:lpstr>オプション</vt:lpstr>
      <vt:lpstr>フィルタ</vt:lpstr>
      <vt:lpstr>ページ切り替え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SMT実装品質可視化システム(仮)</dc:title>
  <dc:creator>MIZUO Kazuki (水尾 華月)</dc:creator>
  <cp:lastModifiedBy>MIZUO Kazuki (水尾 華月)</cp:lastModifiedBy>
  <cp:revision>35</cp:revision>
  <dcterms:created xsi:type="dcterms:W3CDTF">2022-02-09T05:15:40Z</dcterms:created>
  <dcterms:modified xsi:type="dcterms:W3CDTF">2022-03-28T00:48:09Z</dcterms:modified>
</cp:coreProperties>
</file>