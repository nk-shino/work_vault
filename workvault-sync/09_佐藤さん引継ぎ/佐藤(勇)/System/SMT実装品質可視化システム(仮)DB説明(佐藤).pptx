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0" r:id="rId5"/>
    <p:sldId id="259" r:id="rId6"/>
    <p:sldId id="264" r:id="rId7"/>
    <p:sldId id="258" r:id="rId8"/>
    <p:sldId id="262" r:id="rId9"/>
    <p:sldId id="261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3A8C0-57F0-478E-88D4-5FB3F7412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49166C-56B2-4E6E-8973-A7F987EA6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300AC6-2D30-4160-BDC7-28EB21DB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B9D98C-23DC-4783-885C-6E559A95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6E1633-21ED-48A4-B006-C50C9F55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95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AAF6D-EA6D-434B-B3A5-B2DEE282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745"/>
            <a:ext cx="7772400" cy="615178"/>
          </a:xfrm>
        </p:spPr>
        <p:txBody>
          <a:bodyPr>
            <a:noAutofit/>
          </a:bodyPr>
          <a:lstStyle>
            <a:lvl1pPr>
              <a:defRPr sz="36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8DC4B-BC8D-4238-9909-725180CE8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2pPr>
            <a:lvl3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3pPr>
            <a:lvl4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4pPr>
            <a:lvl5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510C5C-1576-44C4-BB1F-324DB996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0CED8E22-53D6-4154-8E3C-6B18391D9624}" type="datetimeFigureOut">
              <a:rPr lang="ja-JP" altLang="en-US" smtClean="0"/>
              <a:pPr/>
              <a:t>2022/3/28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FD6988-86A8-4D80-90E0-5E27A622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生産部生産</a:t>
            </a:r>
            <a:r>
              <a:rPr lang="en-US" altLang="ja-JP"/>
              <a:t>1</a:t>
            </a:r>
            <a:r>
              <a:rPr lang="ja-JP" altLang="en-US"/>
              <a:t>課</a:t>
            </a:r>
            <a:r>
              <a:rPr lang="en-US" altLang="ja-JP"/>
              <a:t>1</a:t>
            </a:r>
            <a:r>
              <a:rPr lang="ja-JP" altLang="en-US"/>
              <a:t>係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0C5CCF-1D43-4E41-8713-0ABBB0E3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320F96E4-6393-485F-BD8D-02C5A2D09C5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71E6363-C0C0-448C-A31B-63C2CEE74031}"/>
              </a:ext>
            </a:extLst>
          </p:cNvPr>
          <p:cNvCxnSpPr>
            <a:cxnSpLocks/>
          </p:cNvCxnSpPr>
          <p:nvPr userDrawn="1"/>
        </p:nvCxnSpPr>
        <p:spPr>
          <a:xfrm>
            <a:off x="0" y="926757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1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41B70F-2394-43D8-83BB-6E1B566B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0C4710-ED24-4C3C-9C57-EBFBD1DAC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B57D8F-46F4-40F8-B408-3218D58C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0CED8E22-53D6-4154-8E3C-6B18391D9624}" type="datetimeFigureOut">
              <a:rPr lang="ja-JP" altLang="en-US" smtClean="0"/>
              <a:pPr/>
              <a:t>2022/3/28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7B0C6-354E-429C-9E34-E7C42FBF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2A3674-0DEF-4573-9204-D63F786F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320F96E4-6393-485F-BD8D-02C5A2D09C5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931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8A6B70-DC1B-4056-9C96-E38BD6B2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BE7CA8-2EAD-4E33-B771-222EB3F7B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8694C4-9DDC-429C-9C1E-B7B25F918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71FA17-2F4C-4241-AB28-1D48C7DE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BC12C-4A72-4181-B97A-EC75B8AF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5C958B-DF13-4EFD-BDAA-3030CE02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97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2230C-8207-41F7-B30F-F995C715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D5522E-2814-4E9A-A2D0-2212C86A0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472FB2-BEA2-4F11-BADA-1F94CE2E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302357-1312-4A4A-AAA9-7ABA15666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2ABCE4-823D-4B3B-9F72-809381C77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64F7F7-488E-46A7-95A5-EE9D9AE4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DFEFB0-1F97-486A-8153-B6F47BC9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80865DC-CD11-4AD4-B7CA-DD1221B5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35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FCBE32-3431-4A46-B85C-F4582E3D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D70E16-1015-4D54-9658-DEB9C6B4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0CF965-E1E2-499A-AE18-B87C8C365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F6132F-36B7-469B-990D-8D2BDA0F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2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08557D-2C47-469A-B23E-EB67D934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789AFD-4939-4D05-BE3B-3921E74D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A9C0F1-AE44-42A4-ADBF-D59E726D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7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5C5BC-7EF2-4EF9-A46A-9A328D0F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394B4-E64D-43C4-9F6B-6B06A66B5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E1A201-B48F-456C-B887-3BBD03F7B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1DD2E3-FBBC-4AEF-B289-FB7E864A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C8C1B3-2992-4BE1-87B2-D2797377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F48BD2-6814-44FE-B34A-68718887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08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3FEBC2-368F-41D8-BE15-4CF2A340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AB1FD5-A528-40F1-999A-CAF09FEFA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097D0B-B1B4-4579-B2D0-DED13C4F5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1F8D24-F97F-4923-955A-CB81003D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D07F4E-3172-40F8-9514-622BB43A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C2ADCC-A356-4FA6-9651-7B73408B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85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33762-F233-48E5-A0AC-C3282750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593C8E-0AC3-4C15-96E8-5107FDF6F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C7C0E9-AFE9-4CC7-8727-CBE8FF95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1DB021-C6DB-44CC-A817-090A5F3D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5A2BB8-6467-43BA-9E78-8E6EB767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83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1C1A5F-F806-4C36-8F3B-3859EAC3D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D5A69C-CA3B-4342-8C3C-D7E812749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88BF6-F1D7-4A42-954F-914C2894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9F7C0E-2CFC-4014-83BF-6BAA205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0E0F66-3917-4ED2-8523-24711401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55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6DA7CB-F089-45B6-AA06-F34D3310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9DCF9A-79EB-4785-8C1B-5B85B28F2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C953D-6B86-4EA7-9820-FA7E26B1E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24D29D-C401-4265-96CF-07E6934D3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2FDCB5-FBD6-41A1-90BE-FEFA766A7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82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nksv569.ad.nkc.co.jp/phpmyadmin/index.ph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24F4C8-B7DC-4184-804A-C4BD687B40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SMT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実装品質</a:t>
            </a:r>
            <a:b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可視化システム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仮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b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DB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説明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9147DD-8143-48F7-AC00-83A425F04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第二生産部生産一課一係</a:t>
            </a:r>
            <a:endParaRPr kumimoji="1" lang="en-US" altLang="zh-TW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佐藤　勇希</a:t>
            </a:r>
          </a:p>
        </p:txBody>
      </p:sp>
    </p:spTree>
    <p:extLst>
      <p:ext uri="{BB962C8B-B14F-4D97-AF65-F5344CB8AC3E}">
        <p14:creationId xmlns:p14="http://schemas.microsoft.com/office/powerpoint/2010/main" val="378965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72280-8F98-43BC-BBC1-C0676FC6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4" y="171138"/>
            <a:ext cx="10359361" cy="682279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システム全体図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(ver1.00)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26" name="Picture 2" descr="目視検査のイラスト">
            <a:extLst>
              <a:ext uri="{FF2B5EF4-FFF2-40B4-BE49-F238E27FC236}">
                <a16:creationId xmlns:a16="http://schemas.microsoft.com/office/drawing/2014/main" id="{3C46C77B-495C-455D-AC29-84B5F8511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75" y="2566209"/>
            <a:ext cx="894200" cy="96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2257118-2F90-4179-9A73-5A6211286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66075" y="3046961"/>
            <a:ext cx="571414" cy="46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18C0496-57F8-45BC-8A73-B9CDDF0AFDE6}"/>
              </a:ext>
            </a:extLst>
          </p:cNvPr>
          <p:cNvSpPr/>
          <p:nvPr/>
        </p:nvSpPr>
        <p:spPr>
          <a:xfrm>
            <a:off x="3547456" y="2403128"/>
            <a:ext cx="1983168" cy="13650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NKSV523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30" name="Picture 6" descr="Microsoft Access（マイクロソフト・アクセス）とは - IT用語辞典 e-Words">
            <a:extLst>
              <a:ext uri="{FF2B5EF4-FFF2-40B4-BE49-F238E27FC236}">
                <a16:creationId xmlns:a16="http://schemas.microsoft.com/office/drawing/2014/main" id="{45DCE426-6DB9-471D-8999-A1918A7E6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866" y="2385865"/>
            <a:ext cx="619758" cy="61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F1B0B0E-2409-4057-A320-D1D8EF672D19}"/>
              </a:ext>
            </a:extLst>
          </p:cNvPr>
          <p:cNvSpPr/>
          <p:nvPr/>
        </p:nvSpPr>
        <p:spPr>
          <a:xfrm>
            <a:off x="3843381" y="2829846"/>
            <a:ext cx="89420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不良情報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487AAC64-10A2-4D66-98A6-228E45B0CF90}"/>
              </a:ext>
            </a:extLst>
          </p:cNvPr>
          <p:cNvCxnSpPr>
            <a:stCxn id="1028" idx="1"/>
            <a:endCxn id="6" idx="1"/>
          </p:cNvCxnSpPr>
          <p:nvPr/>
        </p:nvCxnSpPr>
        <p:spPr>
          <a:xfrm flipV="1">
            <a:off x="2037489" y="2985759"/>
            <a:ext cx="1805892" cy="296086"/>
          </a:xfrm>
          <a:prstGeom prst="bentConnector3">
            <a:avLst>
              <a:gd name="adj1" fmla="val 36848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0351AB9-1584-450A-9193-E435351ADD8B}"/>
              </a:ext>
            </a:extLst>
          </p:cNvPr>
          <p:cNvSpPr/>
          <p:nvPr/>
        </p:nvSpPr>
        <p:spPr>
          <a:xfrm>
            <a:off x="6288668" y="3248284"/>
            <a:ext cx="4322217" cy="2418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NKSV569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61DC63C-B793-4444-84D9-93C3DF3CF13B}"/>
              </a:ext>
            </a:extLst>
          </p:cNvPr>
          <p:cNvSpPr/>
          <p:nvPr/>
        </p:nvSpPr>
        <p:spPr>
          <a:xfrm>
            <a:off x="3843067" y="3160042"/>
            <a:ext cx="894514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実装点数</a:t>
            </a:r>
          </a:p>
        </p:txBody>
      </p:sp>
      <p:sp>
        <p:nvSpPr>
          <p:cNvPr id="12" name="雲 11">
            <a:extLst>
              <a:ext uri="{FF2B5EF4-FFF2-40B4-BE49-F238E27FC236}">
                <a16:creationId xmlns:a16="http://schemas.microsoft.com/office/drawing/2014/main" id="{C929B5A0-28F0-420D-BEF0-486BFB4BEAD6}"/>
              </a:ext>
            </a:extLst>
          </p:cNvPr>
          <p:cNvSpPr/>
          <p:nvPr/>
        </p:nvSpPr>
        <p:spPr>
          <a:xfrm>
            <a:off x="677566" y="3716323"/>
            <a:ext cx="1359923" cy="598258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98C910B6-2B14-463B-9690-2AA17D12F9F7}"/>
              </a:ext>
            </a:extLst>
          </p:cNvPr>
          <p:cNvCxnSpPr>
            <a:cxnSpLocks/>
            <a:stCxn id="12" idx="0"/>
            <a:endCxn id="17" idx="1"/>
          </p:cNvCxnSpPr>
          <p:nvPr/>
        </p:nvCxnSpPr>
        <p:spPr>
          <a:xfrm flipV="1">
            <a:off x="2036356" y="3315955"/>
            <a:ext cx="1806711" cy="699497"/>
          </a:xfrm>
          <a:prstGeom prst="bentConnector3">
            <a:avLst>
              <a:gd name="adj1" fmla="val 50000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04C1754-E980-431E-946D-510EF5070E5F}"/>
              </a:ext>
            </a:extLst>
          </p:cNvPr>
          <p:cNvSpPr/>
          <p:nvPr/>
        </p:nvSpPr>
        <p:spPr>
          <a:xfrm>
            <a:off x="9724636" y="1310358"/>
            <a:ext cx="1983168" cy="125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D699DC8C-878D-4EF0-BD19-0EDE3442A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" t="33803" r="5159" b="35469"/>
          <a:stretch/>
        </p:blipFill>
        <p:spPr bwMode="auto">
          <a:xfrm>
            <a:off x="10488202" y="1337080"/>
            <a:ext cx="1153100" cy="2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AF55E91-1F00-467E-984A-D4F782DED143}"/>
              </a:ext>
            </a:extLst>
          </p:cNvPr>
          <p:cNvSpPr/>
          <p:nvPr/>
        </p:nvSpPr>
        <p:spPr>
          <a:xfrm>
            <a:off x="6471148" y="1911565"/>
            <a:ext cx="137685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実装日･ライン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F98B451-E26E-44CC-8DF7-2594BAEB6D00}"/>
              </a:ext>
            </a:extLst>
          </p:cNvPr>
          <p:cNvSpPr/>
          <p:nvPr/>
        </p:nvSpPr>
        <p:spPr>
          <a:xfrm>
            <a:off x="6471148" y="2223390"/>
            <a:ext cx="137685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面取り数他</a:t>
            </a:r>
          </a:p>
        </p:txBody>
      </p:sp>
      <p:pic>
        <p:nvPicPr>
          <p:cNvPr id="1034" name="Picture 10" descr="Amazon RDS for MySQL （MySQLのためのマネージドリレーショナルデータベース） | AWS">
            <a:extLst>
              <a:ext uri="{FF2B5EF4-FFF2-40B4-BE49-F238E27FC236}">
                <a16:creationId xmlns:a16="http://schemas.microsoft.com/office/drawing/2014/main" id="{36113D86-F08C-42E5-AE61-32FFE527C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222" y="1896401"/>
            <a:ext cx="1234235" cy="63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QLServerのデータ型一覧、サイズ、数値、日付、小数点、配列型はない | urashita.com 浦下.com (ウラシタドットコム)">
            <a:extLst>
              <a:ext uri="{FF2B5EF4-FFF2-40B4-BE49-F238E27FC236}">
                <a16:creationId xmlns:a16="http://schemas.microsoft.com/office/drawing/2014/main" id="{C1FD6318-6950-492E-8D19-8E281C152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8904" y="1653348"/>
            <a:ext cx="974631" cy="80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B8B2A1C-8132-494C-B521-04AC49B76FC2}"/>
              </a:ext>
            </a:extLst>
          </p:cNvPr>
          <p:cNvSpPr/>
          <p:nvPr/>
        </p:nvSpPr>
        <p:spPr>
          <a:xfrm>
            <a:off x="6394054" y="1344497"/>
            <a:ext cx="2826314" cy="1373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nksv560(</a:t>
            </a:r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五十嵐さんシステム</a:t>
            </a:r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0D51D482-C4F6-45D3-AD1F-DFDDCE8E35C6}"/>
              </a:ext>
            </a:extLst>
          </p:cNvPr>
          <p:cNvCxnSpPr>
            <a:cxnSpLocks/>
            <a:stCxn id="1036" idx="1"/>
            <a:endCxn id="40" idx="0"/>
          </p:cNvCxnSpPr>
          <p:nvPr/>
        </p:nvCxnSpPr>
        <p:spPr>
          <a:xfrm rot="10800000">
            <a:off x="7159574" y="1911565"/>
            <a:ext cx="3069331" cy="142302"/>
          </a:xfrm>
          <a:prstGeom prst="bentConnector4">
            <a:avLst>
              <a:gd name="adj1" fmla="val 38785"/>
              <a:gd name="adj2" fmla="val 260644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10" descr="Amazon RDS for MySQL （MySQLのためのマネージドリレーショナルデータベース） | AWS">
            <a:extLst>
              <a:ext uri="{FF2B5EF4-FFF2-40B4-BE49-F238E27FC236}">
                <a16:creationId xmlns:a16="http://schemas.microsoft.com/office/drawing/2014/main" id="{900E0ECB-BD45-462D-8A60-665FA2BDF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324" y="3281845"/>
            <a:ext cx="1111449" cy="57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プログラミング言語 Pythonの紹介 - python.jp">
            <a:extLst>
              <a:ext uri="{FF2B5EF4-FFF2-40B4-BE49-F238E27FC236}">
                <a16:creationId xmlns:a16="http://schemas.microsoft.com/office/drawing/2014/main" id="{D963CD43-5455-4729-99C0-EA6531BBF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324" y="3857107"/>
            <a:ext cx="1156922" cy="48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PHP">
            <a:extLst>
              <a:ext uri="{FF2B5EF4-FFF2-40B4-BE49-F238E27FC236}">
                <a16:creationId xmlns:a16="http://schemas.microsoft.com/office/drawing/2014/main" id="{4A754C76-E885-41E3-8B11-2C8BAB490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661" y="4346841"/>
            <a:ext cx="860541" cy="46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3FDAB86F-2D5B-4A96-9C42-3A79DF83E509}"/>
              </a:ext>
            </a:extLst>
          </p:cNvPr>
          <p:cNvCxnSpPr>
            <a:cxnSpLocks/>
            <a:stCxn id="17" idx="2"/>
            <a:endCxn id="43" idx="2"/>
          </p:cNvCxnSpPr>
          <p:nvPr/>
        </p:nvCxnSpPr>
        <p:spPr>
          <a:xfrm rot="16200000" flipH="1">
            <a:off x="5352279" y="2409911"/>
            <a:ext cx="402984" cy="2526895"/>
          </a:xfrm>
          <a:prstGeom prst="bentConnector2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BDAAEA77-79DA-40A3-944E-B0C9FEA11388}"/>
              </a:ext>
            </a:extLst>
          </p:cNvPr>
          <p:cNvCxnSpPr>
            <a:cxnSpLocks/>
            <a:stCxn id="41" idx="2"/>
            <a:endCxn id="43" idx="1"/>
          </p:cNvCxnSpPr>
          <p:nvPr/>
        </p:nvCxnSpPr>
        <p:spPr>
          <a:xfrm rot="16200000" flipH="1">
            <a:off x="6749842" y="2944946"/>
            <a:ext cx="992499" cy="173036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テキスト ボックス 1043">
            <a:extLst>
              <a:ext uri="{FF2B5EF4-FFF2-40B4-BE49-F238E27FC236}">
                <a16:creationId xmlns:a16="http://schemas.microsoft.com/office/drawing/2014/main" id="{3EF818E9-063E-40FF-AADE-45119BC5AE04}"/>
              </a:ext>
            </a:extLst>
          </p:cNvPr>
          <p:cNvSpPr txBox="1"/>
          <p:nvPr/>
        </p:nvSpPr>
        <p:spPr>
          <a:xfrm>
            <a:off x="7913944" y="3324056"/>
            <a:ext cx="1030778" cy="73866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毎朝</a:t>
            </a:r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7</a:t>
            </a:r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時</a:t>
            </a:r>
            <a:endParaRPr kumimoji="1"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追加分のみ</a:t>
            </a:r>
            <a:endParaRPr lang="en-US" altLang="ja-JP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取得</a:t>
            </a:r>
            <a:endParaRPr kumimoji="1" lang="ja-JP" altLang="en-US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7" name="波線 36">
            <a:extLst>
              <a:ext uri="{FF2B5EF4-FFF2-40B4-BE49-F238E27FC236}">
                <a16:creationId xmlns:a16="http://schemas.microsoft.com/office/drawing/2014/main" id="{CBF273EA-51F0-44EE-84C9-0D7C340195AB}"/>
              </a:ext>
            </a:extLst>
          </p:cNvPr>
          <p:cNvSpPr/>
          <p:nvPr/>
        </p:nvSpPr>
        <p:spPr>
          <a:xfrm>
            <a:off x="6780322" y="4567979"/>
            <a:ext cx="1753986" cy="932219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WEB</a:t>
            </a:r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ページ</a:t>
            </a:r>
          </a:p>
        </p:txBody>
      </p: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EDAB3BA9-1E11-4EB4-B57A-A186DAA4FA2C}"/>
              </a:ext>
            </a:extLst>
          </p:cNvPr>
          <p:cNvCxnSpPr>
            <a:cxnSpLocks/>
            <a:stCxn id="43" idx="3"/>
          </p:cNvCxnSpPr>
          <p:nvPr/>
        </p:nvCxnSpPr>
        <p:spPr>
          <a:xfrm rot="16200000" flipH="1">
            <a:off x="7323196" y="4231400"/>
            <a:ext cx="376470" cy="357645"/>
          </a:xfrm>
          <a:prstGeom prst="bentConnector3">
            <a:avLst>
              <a:gd name="adj1" fmla="val 50000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フローチャート: 磁気ディスク 42">
            <a:extLst>
              <a:ext uri="{FF2B5EF4-FFF2-40B4-BE49-F238E27FC236}">
                <a16:creationId xmlns:a16="http://schemas.microsoft.com/office/drawing/2014/main" id="{8027B348-9AD9-455D-A28B-FAD5BF9BA3D4}"/>
              </a:ext>
            </a:extLst>
          </p:cNvPr>
          <p:cNvSpPr/>
          <p:nvPr/>
        </p:nvSpPr>
        <p:spPr>
          <a:xfrm>
            <a:off x="6817219" y="3527714"/>
            <a:ext cx="1030779" cy="694274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DB</a:t>
            </a:r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構築</a:t>
            </a:r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2B0FC3B3-1ABA-4971-8D50-1CEF80E1E644}"/>
              </a:ext>
            </a:extLst>
          </p:cNvPr>
          <p:cNvSpPr/>
          <p:nvPr/>
        </p:nvSpPr>
        <p:spPr>
          <a:xfrm>
            <a:off x="4098995" y="4686635"/>
            <a:ext cx="1346662" cy="10058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社内</a:t>
            </a:r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NW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97" name="コネクタ: カギ線 96">
            <a:extLst>
              <a:ext uri="{FF2B5EF4-FFF2-40B4-BE49-F238E27FC236}">
                <a16:creationId xmlns:a16="http://schemas.microsoft.com/office/drawing/2014/main" id="{CCF27E1D-4481-4A64-BF2B-120FCE7FF2B8}"/>
              </a:ext>
            </a:extLst>
          </p:cNvPr>
          <p:cNvCxnSpPr>
            <a:cxnSpLocks/>
            <a:stCxn id="57" idx="6"/>
            <a:endCxn id="37" idx="1"/>
          </p:cNvCxnSpPr>
          <p:nvPr/>
        </p:nvCxnSpPr>
        <p:spPr>
          <a:xfrm flipV="1">
            <a:off x="5445657" y="5034089"/>
            <a:ext cx="1334665" cy="155466"/>
          </a:xfrm>
          <a:prstGeom prst="bentConnector3">
            <a:avLst>
              <a:gd name="adj1" fmla="val 50000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4">
            <a:extLst>
              <a:ext uri="{FF2B5EF4-FFF2-40B4-BE49-F238E27FC236}">
                <a16:creationId xmlns:a16="http://schemas.microsoft.com/office/drawing/2014/main" id="{4D326247-815A-4149-A708-DE8D630F8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91273" y="5722252"/>
            <a:ext cx="571414" cy="46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4">
            <a:extLst>
              <a:ext uri="{FF2B5EF4-FFF2-40B4-BE49-F238E27FC236}">
                <a16:creationId xmlns:a16="http://schemas.microsoft.com/office/drawing/2014/main" id="{1F93CAC3-81E6-4272-96E8-E00FE8150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93847" y="5957136"/>
            <a:ext cx="571414" cy="46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4">
            <a:extLst>
              <a:ext uri="{FF2B5EF4-FFF2-40B4-BE49-F238E27FC236}">
                <a16:creationId xmlns:a16="http://schemas.microsoft.com/office/drawing/2014/main" id="{04F5091F-5E95-4CEC-85E2-CDE1E7088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58261" y="5835045"/>
            <a:ext cx="571414" cy="46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D7C5D7F-FDED-4496-9DCE-D4A075B96501}"/>
              </a:ext>
            </a:extLst>
          </p:cNvPr>
          <p:cNvSpPr txBox="1"/>
          <p:nvPr/>
        </p:nvSpPr>
        <p:spPr>
          <a:xfrm>
            <a:off x="811432" y="2137427"/>
            <a:ext cx="1197782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目視検査</a:t>
            </a:r>
            <a:endParaRPr kumimoji="1" lang="ja-JP" altLang="en-US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5242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72280-8F98-43BC-BBC1-C0676FC6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4" y="171138"/>
            <a:ext cx="10359361" cy="682279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システム全体図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(ver1.00)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26" name="Picture 2" descr="目視検査のイラスト">
            <a:extLst>
              <a:ext uri="{FF2B5EF4-FFF2-40B4-BE49-F238E27FC236}">
                <a16:creationId xmlns:a16="http://schemas.microsoft.com/office/drawing/2014/main" id="{3C46C77B-495C-455D-AC29-84B5F8511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75" y="2566209"/>
            <a:ext cx="894200" cy="96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2257118-2F90-4179-9A73-5A6211286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66075" y="3046961"/>
            <a:ext cx="571414" cy="46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18C0496-57F8-45BC-8A73-B9CDDF0AFDE6}"/>
              </a:ext>
            </a:extLst>
          </p:cNvPr>
          <p:cNvSpPr/>
          <p:nvPr/>
        </p:nvSpPr>
        <p:spPr>
          <a:xfrm>
            <a:off x="3547456" y="2403128"/>
            <a:ext cx="1983168" cy="13650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NKSV523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30" name="Picture 6" descr="Microsoft Access（マイクロソフト・アクセス）とは - IT用語辞典 e-Words">
            <a:extLst>
              <a:ext uri="{FF2B5EF4-FFF2-40B4-BE49-F238E27FC236}">
                <a16:creationId xmlns:a16="http://schemas.microsoft.com/office/drawing/2014/main" id="{45DCE426-6DB9-471D-8999-A1918A7E6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866" y="2385865"/>
            <a:ext cx="619758" cy="61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F1B0B0E-2409-4057-A320-D1D8EF672D19}"/>
              </a:ext>
            </a:extLst>
          </p:cNvPr>
          <p:cNvSpPr/>
          <p:nvPr/>
        </p:nvSpPr>
        <p:spPr>
          <a:xfrm>
            <a:off x="3843381" y="2829846"/>
            <a:ext cx="89420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不良情報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487AAC64-10A2-4D66-98A6-228E45B0CF90}"/>
              </a:ext>
            </a:extLst>
          </p:cNvPr>
          <p:cNvCxnSpPr>
            <a:stCxn id="1028" idx="1"/>
            <a:endCxn id="6" idx="1"/>
          </p:cNvCxnSpPr>
          <p:nvPr/>
        </p:nvCxnSpPr>
        <p:spPr>
          <a:xfrm flipV="1">
            <a:off x="2037489" y="2985759"/>
            <a:ext cx="1805892" cy="296086"/>
          </a:xfrm>
          <a:prstGeom prst="bentConnector3">
            <a:avLst>
              <a:gd name="adj1" fmla="val 36848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0351AB9-1584-450A-9193-E435351ADD8B}"/>
              </a:ext>
            </a:extLst>
          </p:cNvPr>
          <p:cNvSpPr/>
          <p:nvPr/>
        </p:nvSpPr>
        <p:spPr>
          <a:xfrm>
            <a:off x="6288668" y="3248284"/>
            <a:ext cx="4322217" cy="2418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NKSV569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61DC63C-B793-4444-84D9-93C3DF3CF13B}"/>
              </a:ext>
            </a:extLst>
          </p:cNvPr>
          <p:cNvSpPr/>
          <p:nvPr/>
        </p:nvSpPr>
        <p:spPr>
          <a:xfrm>
            <a:off x="3843067" y="3160042"/>
            <a:ext cx="894514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実装点数</a:t>
            </a:r>
          </a:p>
        </p:txBody>
      </p:sp>
      <p:sp>
        <p:nvSpPr>
          <p:cNvPr id="12" name="雲 11">
            <a:extLst>
              <a:ext uri="{FF2B5EF4-FFF2-40B4-BE49-F238E27FC236}">
                <a16:creationId xmlns:a16="http://schemas.microsoft.com/office/drawing/2014/main" id="{C929B5A0-28F0-420D-BEF0-486BFB4BEAD6}"/>
              </a:ext>
            </a:extLst>
          </p:cNvPr>
          <p:cNvSpPr/>
          <p:nvPr/>
        </p:nvSpPr>
        <p:spPr>
          <a:xfrm>
            <a:off x="677566" y="3716323"/>
            <a:ext cx="1359923" cy="598258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98C910B6-2B14-463B-9690-2AA17D12F9F7}"/>
              </a:ext>
            </a:extLst>
          </p:cNvPr>
          <p:cNvCxnSpPr>
            <a:cxnSpLocks/>
            <a:stCxn id="12" idx="0"/>
            <a:endCxn id="17" idx="1"/>
          </p:cNvCxnSpPr>
          <p:nvPr/>
        </p:nvCxnSpPr>
        <p:spPr>
          <a:xfrm flipV="1">
            <a:off x="2036356" y="3315955"/>
            <a:ext cx="1806711" cy="699497"/>
          </a:xfrm>
          <a:prstGeom prst="bentConnector3">
            <a:avLst>
              <a:gd name="adj1" fmla="val 50000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04C1754-E980-431E-946D-510EF5070E5F}"/>
              </a:ext>
            </a:extLst>
          </p:cNvPr>
          <p:cNvSpPr/>
          <p:nvPr/>
        </p:nvSpPr>
        <p:spPr>
          <a:xfrm>
            <a:off x="9724636" y="1310358"/>
            <a:ext cx="1983168" cy="125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D699DC8C-878D-4EF0-BD19-0EDE3442A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" t="33803" r="5159" b="35469"/>
          <a:stretch/>
        </p:blipFill>
        <p:spPr bwMode="auto">
          <a:xfrm>
            <a:off x="10488202" y="1337080"/>
            <a:ext cx="1153100" cy="2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AF55E91-1F00-467E-984A-D4F782DED143}"/>
              </a:ext>
            </a:extLst>
          </p:cNvPr>
          <p:cNvSpPr/>
          <p:nvPr/>
        </p:nvSpPr>
        <p:spPr>
          <a:xfrm>
            <a:off x="6471148" y="1911565"/>
            <a:ext cx="137685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実装日･ライン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F98B451-E26E-44CC-8DF7-2594BAEB6D00}"/>
              </a:ext>
            </a:extLst>
          </p:cNvPr>
          <p:cNvSpPr/>
          <p:nvPr/>
        </p:nvSpPr>
        <p:spPr>
          <a:xfrm>
            <a:off x="6471148" y="2223390"/>
            <a:ext cx="137685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面取り数他</a:t>
            </a:r>
          </a:p>
        </p:txBody>
      </p:sp>
      <p:pic>
        <p:nvPicPr>
          <p:cNvPr id="1034" name="Picture 10" descr="Amazon RDS for MySQL （MySQLのためのマネージドリレーショナルデータベース） | AWS">
            <a:extLst>
              <a:ext uri="{FF2B5EF4-FFF2-40B4-BE49-F238E27FC236}">
                <a16:creationId xmlns:a16="http://schemas.microsoft.com/office/drawing/2014/main" id="{36113D86-F08C-42E5-AE61-32FFE527C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222" y="1896401"/>
            <a:ext cx="1234235" cy="63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QLServerのデータ型一覧、サイズ、数値、日付、小数点、配列型はない | urashita.com 浦下.com (ウラシタドットコム)">
            <a:extLst>
              <a:ext uri="{FF2B5EF4-FFF2-40B4-BE49-F238E27FC236}">
                <a16:creationId xmlns:a16="http://schemas.microsoft.com/office/drawing/2014/main" id="{C1FD6318-6950-492E-8D19-8E281C152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8904" y="1653348"/>
            <a:ext cx="974631" cy="80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B8B2A1C-8132-494C-B521-04AC49B76FC2}"/>
              </a:ext>
            </a:extLst>
          </p:cNvPr>
          <p:cNvSpPr/>
          <p:nvPr/>
        </p:nvSpPr>
        <p:spPr>
          <a:xfrm>
            <a:off x="6394054" y="1344497"/>
            <a:ext cx="2826314" cy="1373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nksv560(</a:t>
            </a:r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五十嵐さんシステム</a:t>
            </a:r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0D51D482-C4F6-45D3-AD1F-DFDDCE8E35C6}"/>
              </a:ext>
            </a:extLst>
          </p:cNvPr>
          <p:cNvCxnSpPr>
            <a:cxnSpLocks/>
            <a:stCxn id="1036" idx="1"/>
            <a:endCxn id="40" idx="0"/>
          </p:cNvCxnSpPr>
          <p:nvPr/>
        </p:nvCxnSpPr>
        <p:spPr>
          <a:xfrm rot="10800000">
            <a:off x="7159574" y="1911565"/>
            <a:ext cx="3069331" cy="142302"/>
          </a:xfrm>
          <a:prstGeom prst="bentConnector4">
            <a:avLst>
              <a:gd name="adj1" fmla="val 38785"/>
              <a:gd name="adj2" fmla="val 260644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10" descr="Amazon RDS for MySQL （MySQLのためのマネージドリレーショナルデータベース） | AWS">
            <a:extLst>
              <a:ext uri="{FF2B5EF4-FFF2-40B4-BE49-F238E27FC236}">
                <a16:creationId xmlns:a16="http://schemas.microsoft.com/office/drawing/2014/main" id="{900E0ECB-BD45-462D-8A60-665FA2BDF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324" y="3281845"/>
            <a:ext cx="1111449" cy="57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プログラミング言語 Pythonの紹介 - python.jp">
            <a:extLst>
              <a:ext uri="{FF2B5EF4-FFF2-40B4-BE49-F238E27FC236}">
                <a16:creationId xmlns:a16="http://schemas.microsoft.com/office/drawing/2014/main" id="{D963CD43-5455-4729-99C0-EA6531BBF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324" y="3857107"/>
            <a:ext cx="1156922" cy="48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PHP">
            <a:extLst>
              <a:ext uri="{FF2B5EF4-FFF2-40B4-BE49-F238E27FC236}">
                <a16:creationId xmlns:a16="http://schemas.microsoft.com/office/drawing/2014/main" id="{4A754C76-E885-41E3-8B11-2C8BAB490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661" y="4346841"/>
            <a:ext cx="860541" cy="46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3FDAB86F-2D5B-4A96-9C42-3A79DF83E509}"/>
              </a:ext>
            </a:extLst>
          </p:cNvPr>
          <p:cNvCxnSpPr>
            <a:cxnSpLocks/>
            <a:stCxn id="17" idx="2"/>
            <a:endCxn id="43" idx="2"/>
          </p:cNvCxnSpPr>
          <p:nvPr/>
        </p:nvCxnSpPr>
        <p:spPr>
          <a:xfrm rot="16200000" flipH="1">
            <a:off x="5352279" y="2409911"/>
            <a:ext cx="402984" cy="2526895"/>
          </a:xfrm>
          <a:prstGeom prst="bentConnector2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BDAAEA77-79DA-40A3-944E-B0C9FEA11388}"/>
              </a:ext>
            </a:extLst>
          </p:cNvPr>
          <p:cNvCxnSpPr>
            <a:cxnSpLocks/>
            <a:stCxn id="41" idx="2"/>
            <a:endCxn id="43" idx="1"/>
          </p:cNvCxnSpPr>
          <p:nvPr/>
        </p:nvCxnSpPr>
        <p:spPr>
          <a:xfrm rot="16200000" flipH="1">
            <a:off x="6749842" y="2944946"/>
            <a:ext cx="992499" cy="173036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テキスト ボックス 1043">
            <a:extLst>
              <a:ext uri="{FF2B5EF4-FFF2-40B4-BE49-F238E27FC236}">
                <a16:creationId xmlns:a16="http://schemas.microsoft.com/office/drawing/2014/main" id="{3EF818E9-063E-40FF-AADE-45119BC5AE04}"/>
              </a:ext>
            </a:extLst>
          </p:cNvPr>
          <p:cNvSpPr txBox="1"/>
          <p:nvPr/>
        </p:nvSpPr>
        <p:spPr>
          <a:xfrm>
            <a:off x="7913944" y="3324056"/>
            <a:ext cx="1030778" cy="73866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毎朝</a:t>
            </a:r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7</a:t>
            </a:r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時</a:t>
            </a:r>
            <a:endParaRPr kumimoji="1"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追加分のみ</a:t>
            </a:r>
            <a:endParaRPr lang="en-US" altLang="ja-JP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取得</a:t>
            </a:r>
            <a:endParaRPr kumimoji="1" lang="ja-JP" altLang="en-US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7" name="波線 36">
            <a:extLst>
              <a:ext uri="{FF2B5EF4-FFF2-40B4-BE49-F238E27FC236}">
                <a16:creationId xmlns:a16="http://schemas.microsoft.com/office/drawing/2014/main" id="{CBF273EA-51F0-44EE-84C9-0D7C340195AB}"/>
              </a:ext>
            </a:extLst>
          </p:cNvPr>
          <p:cNvSpPr/>
          <p:nvPr/>
        </p:nvSpPr>
        <p:spPr>
          <a:xfrm>
            <a:off x="6780322" y="4567979"/>
            <a:ext cx="1753986" cy="932219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WEB</a:t>
            </a:r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ページ</a:t>
            </a:r>
          </a:p>
        </p:txBody>
      </p: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EDAB3BA9-1E11-4EB4-B57A-A186DAA4FA2C}"/>
              </a:ext>
            </a:extLst>
          </p:cNvPr>
          <p:cNvCxnSpPr>
            <a:cxnSpLocks/>
            <a:stCxn id="43" idx="3"/>
          </p:cNvCxnSpPr>
          <p:nvPr/>
        </p:nvCxnSpPr>
        <p:spPr>
          <a:xfrm rot="16200000" flipH="1">
            <a:off x="7323196" y="4231400"/>
            <a:ext cx="376470" cy="357645"/>
          </a:xfrm>
          <a:prstGeom prst="bentConnector3">
            <a:avLst>
              <a:gd name="adj1" fmla="val 50000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フローチャート: 磁気ディスク 42">
            <a:extLst>
              <a:ext uri="{FF2B5EF4-FFF2-40B4-BE49-F238E27FC236}">
                <a16:creationId xmlns:a16="http://schemas.microsoft.com/office/drawing/2014/main" id="{8027B348-9AD9-455D-A28B-FAD5BF9BA3D4}"/>
              </a:ext>
            </a:extLst>
          </p:cNvPr>
          <p:cNvSpPr/>
          <p:nvPr/>
        </p:nvSpPr>
        <p:spPr>
          <a:xfrm>
            <a:off x="6817219" y="3527714"/>
            <a:ext cx="1030779" cy="694274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DB</a:t>
            </a:r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構築</a:t>
            </a:r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2B0FC3B3-1ABA-4971-8D50-1CEF80E1E644}"/>
              </a:ext>
            </a:extLst>
          </p:cNvPr>
          <p:cNvSpPr/>
          <p:nvPr/>
        </p:nvSpPr>
        <p:spPr>
          <a:xfrm>
            <a:off x="4098995" y="4686635"/>
            <a:ext cx="1346662" cy="10058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社内</a:t>
            </a:r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NW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97" name="コネクタ: カギ線 96">
            <a:extLst>
              <a:ext uri="{FF2B5EF4-FFF2-40B4-BE49-F238E27FC236}">
                <a16:creationId xmlns:a16="http://schemas.microsoft.com/office/drawing/2014/main" id="{CCF27E1D-4481-4A64-BF2B-120FCE7FF2B8}"/>
              </a:ext>
            </a:extLst>
          </p:cNvPr>
          <p:cNvCxnSpPr>
            <a:cxnSpLocks/>
            <a:stCxn id="57" idx="6"/>
            <a:endCxn id="37" idx="1"/>
          </p:cNvCxnSpPr>
          <p:nvPr/>
        </p:nvCxnSpPr>
        <p:spPr>
          <a:xfrm flipV="1">
            <a:off x="5445657" y="5034089"/>
            <a:ext cx="1334665" cy="155466"/>
          </a:xfrm>
          <a:prstGeom prst="bentConnector3">
            <a:avLst>
              <a:gd name="adj1" fmla="val 50000"/>
            </a:avLst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4">
            <a:extLst>
              <a:ext uri="{FF2B5EF4-FFF2-40B4-BE49-F238E27FC236}">
                <a16:creationId xmlns:a16="http://schemas.microsoft.com/office/drawing/2014/main" id="{4D326247-815A-4149-A708-DE8D630F8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91273" y="5722252"/>
            <a:ext cx="571414" cy="46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4">
            <a:extLst>
              <a:ext uri="{FF2B5EF4-FFF2-40B4-BE49-F238E27FC236}">
                <a16:creationId xmlns:a16="http://schemas.microsoft.com/office/drawing/2014/main" id="{1F93CAC3-81E6-4272-96E8-E00FE8150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93847" y="5957136"/>
            <a:ext cx="571414" cy="46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4">
            <a:extLst>
              <a:ext uri="{FF2B5EF4-FFF2-40B4-BE49-F238E27FC236}">
                <a16:creationId xmlns:a16="http://schemas.microsoft.com/office/drawing/2014/main" id="{04F5091F-5E95-4CEC-85E2-CDE1E7088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58261" y="5835045"/>
            <a:ext cx="571414" cy="46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D7C5D7F-FDED-4496-9DCE-D4A075B96501}"/>
              </a:ext>
            </a:extLst>
          </p:cNvPr>
          <p:cNvSpPr txBox="1"/>
          <p:nvPr/>
        </p:nvSpPr>
        <p:spPr>
          <a:xfrm>
            <a:off x="811432" y="2137427"/>
            <a:ext cx="1197782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目視検査</a:t>
            </a:r>
            <a:endParaRPr kumimoji="1" lang="ja-JP" altLang="en-US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矢印: 右カーブ 2">
            <a:extLst>
              <a:ext uri="{FF2B5EF4-FFF2-40B4-BE49-F238E27FC236}">
                <a16:creationId xmlns:a16="http://schemas.microsoft.com/office/drawing/2014/main" id="{A3994177-3648-4F1D-A53D-E1417CD4B5BA}"/>
              </a:ext>
            </a:extLst>
          </p:cNvPr>
          <p:cNvSpPr/>
          <p:nvPr/>
        </p:nvSpPr>
        <p:spPr>
          <a:xfrm rot="5400000" flipV="1">
            <a:off x="9610126" y="1779718"/>
            <a:ext cx="516536" cy="2541322"/>
          </a:xfrm>
          <a:prstGeom prst="curv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19940EA-11A2-4EFB-A80E-F65E4F4BDF94}"/>
              </a:ext>
            </a:extLst>
          </p:cNvPr>
          <p:cNvSpPr txBox="1"/>
          <p:nvPr/>
        </p:nvSpPr>
        <p:spPr>
          <a:xfrm>
            <a:off x="10676829" y="3332062"/>
            <a:ext cx="1515171" cy="116955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手動</a:t>
            </a:r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更新</a:t>
            </a:r>
            <a:r>
              <a:rPr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</a:t>
            </a:r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再構築</a:t>
            </a:r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ボタン作成中</a:t>
            </a:r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(ver1.0</a:t>
            </a:r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には</a:t>
            </a:r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含まれません</a:t>
            </a:r>
            <a:r>
              <a:rPr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6CEBDB0-233D-4A95-BD43-4AF7F8173511}"/>
              </a:ext>
            </a:extLst>
          </p:cNvPr>
          <p:cNvSpPr txBox="1"/>
          <p:nvPr/>
        </p:nvSpPr>
        <p:spPr>
          <a:xfrm>
            <a:off x="2881702" y="1373764"/>
            <a:ext cx="3245233" cy="95410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追加分のみ取得を行っている為</a:t>
            </a:r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手動で修正を行った場合</a:t>
            </a:r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DB</a:t>
            </a:r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へ反映されません</a:t>
            </a:r>
            <a:r>
              <a:rPr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pPr algn="ctr"/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↓</a:t>
            </a:r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081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50325-45A7-4300-8030-04A8ED774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745"/>
            <a:ext cx="11057464" cy="615178"/>
          </a:xfrm>
        </p:spPr>
        <p:txBody>
          <a:bodyPr/>
          <a:lstStyle/>
          <a:p>
            <a:r>
              <a:rPr kumimoji="1" lang="ja-JP" altLang="en-US" dirty="0"/>
              <a:t>不良率計算について</a:t>
            </a:r>
          </a:p>
        </p:txBody>
      </p:sp>
      <p:sp>
        <p:nvSpPr>
          <p:cNvPr id="7" name="吹き出し: 下矢印 6">
            <a:extLst>
              <a:ext uri="{FF2B5EF4-FFF2-40B4-BE49-F238E27FC236}">
                <a16:creationId xmlns:a16="http://schemas.microsoft.com/office/drawing/2014/main" id="{7FA93456-5E52-43EF-A7C1-61000C0353E9}"/>
              </a:ext>
            </a:extLst>
          </p:cNvPr>
          <p:cNvSpPr/>
          <p:nvPr/>
        </p:nvSpPr>
        <p:spPr>
          <a:xfrm>
            <a:off x="1254948" y="1290059"/>
            <a:ext cx="1210888" cy="822952"/>
          </a:xfrm>
          <a:prstGeom prst="down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</a:t>
            </a: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E81165F1-1F4F-45DB-8423-9D6AA44B5634}"/>
              </a:ext>
            </a:extLst>
          </p:cNvPr>
          <p:cNvSpPr/>
          <p:nvPr/>
        </p:nvSpPr>
        <p:spPr>
          <a:xfrm rot="16200000">
            <a:off x="5431136" y="-2443593"/>
            <a:ext cx="299258" cy="94124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吹き出し: 下矢印 8">
            <a:extLst>
              <a:ext uri="{FF2B5EF4-FFF2-40B4-BE49-F238E27FC236}">
                <a16:creationId xmlns:a16="http://schemas.microsoft.com/office/drawing/2014/main" id="{EEA81C9D-365B-47DF-8681-C91D685FA556}"/>
              </a:ext>
            </a:extLst>
          </p:cNvPr>
          <p:cNvSpPr/>
          <p:nvPr/>
        </p:nvSpPr>
        <p:spPr>
          <a:xfrm>
            <a:off x="3476260" y="1290059"/>
            <a:ext cx="1210888" cy="822952"/>
          </a:xfrm>
          <a:prstGeom prst="down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目視検査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89EF1DF-A696-42B0-B158-69A2697E688D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096000" y="1474725"/>
            <a:ext cx="0" cy="3054942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63E9942-F2B7-43C3-9677-33CD7275C84C}"/>
              </a:ext>
            </a:extLst>
          </p:cNvPr>
          <p:cNvSpPr txBox="1"/>
          <p:nvPr/>
        </p:nvSpPr>
        <p:spPr>
          <a:xfrm>
            <a:off x="5497109" y="1105393"/>
            <a:ext cx="1197782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AM7:00</a:t>
            </a:r>
            <a:endParaRPr kumimoji="1" lang="ja-JP" altLang="en-US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D07E97B-5C77-4071-BA55-C1DB4D09CF62}"/>
              </a:ext>
            </a:extLst>
          </p:cNvPr>
          <p:cNvSpPr txBox="1"/>
          <p:nvPr/>
        </p:nvSpPr>
        <p:spPr>
          <a:xfrm>
            <a:off x="9307109" y="2478026"/>
            <a:ext cx="2131355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不良率計算</a:t>
            </a:r>
            <a:endParaRPr kumimoji="1"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含まれる</a:t>
            </a:r>
            <a:endParaRPr kumimoji="1" lang="ja-JP" altLang="en-US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129F000-62A3-402D-8DCD-3A086E3E3AEE}"/>
              </a:ext>
            </a:extLst>
          </p:cNvPr>
          <p:cNvSpPr txBox="1"/>
          <p:nvPr/>
        </p:nvSpPr>
        <p:spPr>
          <a:xfrm>
            <a:off x="9307109" y="3968455"/>
            <a:ext cx="2131355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不良率計算</a:t>
            </a:r>
            <a:endParaRPr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b="1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含まれない</a:t>
            </a:r>
            <a:endParaRPr kumimoji="1" lang="ja-JP" altLang="en-US" b="1" dirty="0">
              <a:solidFill>
                <a:srgbClr val="0000FF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62D59541-F581-434C-91E2-6B9736ACD277}"/>
              </a:ext>
            </a:extLst>
          </p:cNvPr>
          <p:cNvSpPr/>
          <p:nvPr/>
        </p:nvSpPr>
        <p:spPr>
          <a:xfrm rot="16200000">
            <a:off x="5431137" y="-922446"/>
            <a:ext cx="299258" cy="94124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" name="吹き出し: 下矢印 16">
            <a:extLst>
              <a:ext uri="{FF2B5EF4-FFF2-40B4-BE49-F238E27FC236}">
                <a16:creationId xmlns:a16="http://schemas.microsoft.com/office/drawing/2014/main" id="{A7DA9E30-6A6B-4B57-BE45-7F612883F720}"/>
              </a:ext>
            </a:extLst>
          </p:cNvPr>
          <p:cNvSpPr/>
          <p:nvPr/>
        </p:nvSpPr>
        <p:spPr>
          <a:xfrm>
            <a:off x="3312349" y="2778211"/>
            <a:ext cx="1210888" cy="822952"/>
          </a:xfrm>
          <a:prstGeom prst="down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</a:t>
            </a:r>
          </a:p>
        </p:txBody>
      </p:sp>
      <p:sp>
        <p:nvSpPr>
          <p:cNvPr id="18" name="吹き出し: 下矢印 17">
            <a:extLst>
              <a:ext uri="{FF2B5EF4-FFF2-40B4-BE49-F238E27FC236}">
                <a16:creationId xmlns:a16="http://schemas.microsoft.com/office/drawing/2014/main" id="{E1B371F1-6139-4DD1-BBFA-079FEF8E1FD9}"/>
              </a:ext>
            </a:extLst>
          </p:cNvPr>
          <p:cNvSpPr/>
          <p:nvPr/>
        </p:nvSpPr>
        <p:spPr>
          <a:xfrm>
            <a:off x="6899410" y="2778211"/>
            <a:ext cx="1210888" cy="822952"/>
          </a:xfrm>
          <a:prstGeom prst="downArrow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目視検査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8662D53-10CE-4F1D-9419-93F145CC12A4}"/>
              </a:ext>
            </a:extLst>
          </p:cNvPr>
          <p:cNvSpPr txBox="1"/>
          <p:nvPr/>
        </p:nvSpPr>
        <p:spPr>
          <a:xfrm>
            <a:off x="433682" y="4832140"/>
            <a:ext cx="7667788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目視検査の入力が行われるまで</a:t>
            </a:r>
            <a:r>
              <a:rPr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､</a:t>
            </a:r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不良集計には反映されません</a:t>
            </a:r>
            <a:r>
              <a:rPr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endParaRPr kumimoji="1"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･既知の問題点</a:t>
            </a:r>
            <a:endParaRPr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実装後</a:t>
            </a:r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､</a:t>
            </a:r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目視検査入力されていない品目が月に数件確認されています</a:t>
            </a:r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対象指図をリストアップし</a:t>
            </a:r>
            <a:r>
              <a:rPr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､</a:t>
            </a:r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原因調査を行う予定です</a:t>
            </a:r>
            <a:r>
              <a:rPr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  <a:endParaRPr kumimoji="1" lang="ja-JP" altLang="en-US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035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41E991-F47D-4915-8277-5C8C5704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52745"/>
            <a:ext cx="11423074" cy="615178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参考</a:t>
            </a:r>
            <a:r>
              <a:rPr kumimoji="1" lang="en-US" altLang="ja-JP" dirty="0"/>
              <a:t>]</a:t>
            </a:r>
            <a:r>
              <a:rPr kumimoji="1" lang="ja-JP" altLang="en-US" dirty="0"/>
              <a:t>現在の既存の目視検査入力システムについて</a:t>
            </a:r>
          </a:p>
        </p:txBody>
      </p:sp>
      <p:pic>
        <p:nvPicPr>
          <p:cNvPr id="11" name="コンテンツ プレースホルダー 10">
            <a:extLst>
              <a:ext uri="{FF2B5EF4-FFF2-40B4-BE49-F238E27FC236}">
                <a16:creationId xmlns:a16="http://schemas.microsoft.com/office/drawing/2014/main" id="{48826DB2-B6B1-464C-9EB0-9BEEC1BFC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253331"/>
            <a:ext cx="6304000" cy="4351338"/>
          </a:xfr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8AB2E3-5294-4D9E-B114-54EA0A27138E}"/>
              </a:ext>
            </a:extLst>
          </p:cNvPr>
          <p:cNvSpPr txBox="1"/>
          <p:nvPr/>
        </p:nvSpPr>
        <p:spPr>
          <a:xfrm>
            <a:off x="7415637" y="4127341"/>
            <a:ext cx="4654785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複数シンボルで不良が起きた場合</a:t>
            </a:r>
            <a:endParaRPr kumimoji="1"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それぞれのシンボルに対しての不良数が</a:t>
            </a:r>
            <a:endParaRPr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入力できていません</a:t>
            </a:r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endParaRPr lang="en-US" altLang="ja-JP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↓の</a:t>
            </a:r>
            <a:r>
              <a:rPr kumimoji="1" lang="ja-JP" altLang="en-US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ような画面へ改修を予定しています</a:t>
            </a:r>
            <a:r>
              <a:rPr kumimoji="1" lang="en-US" altLang="ja-JP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A921CBEA-4FB3-46F9-BD44-FDF339A33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830" y="5604669"/>
            <a:ext cx="2896627" cy="9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18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A7F04-17C2-49B9-B183-E7EA84BAA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追加予定機能一覧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349450-89BF-466F-95BF-18C294CE2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･不良除外登録機能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･自責不良･他責不良情報の付与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･部品情報との紐付け</a:t>
            </a:r>
            <a:r>
              <a:rPr lang="en-US" altLang="ja-JP" dirty="0"/>
              <a:t>(</a:t>
            </a:r>
            <a:r>
              <a:rPr lang="ja-JP" altLang="en-US" dirty="0"/>
              <a:t>目視入力システムの改修が必要</a:t>
            </a:r>
            <a:r>
              <a:rPr lang="en-US" altLang="ja-JP" dirty="0"/>
              <a:t>)</a:t>
            </a:r>
          </a:p>
          <a:p>
            <a:pPr marL="0" indent="0">
              <a:buNone/>
            </a:pPr>
            <a:r>
              <a:rPr lang="ja-JP" altLang="en-US" dirty="0"/>
              <a:t>･</a:t>
            </a:r>
            <a:r>
              <a:rPr lang="en-US" altLang="ja-JP" dirty="0" err="1"/>
              <a:t>etc</a:t>
            </a:r>
            <a:r>
              <a:rPr lang="en-US" altLang="ja-JP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51909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5E4AF-22AA-466B-A9DD-C3A4D3FC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DB</a:t>
            </a:r>
            <a:r>
              <a:rPr kumimoji="1" lang="ja-JP" altLang="en-US" dirty="0"/>
              <a:t>構築プログラムについて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E00BDB4-FDFD-4EBF-B73C-BF484E49A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738076"/>
            <a:ext cx="6182588" cy="3381847"/>
          </a:xfrm>
          <a:ln>
            <a:solidFill>
              <a:schemeClr val="tx1"/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42BD59-D917-4D90-8166-C3381D4FCEBA}"/>
              </a:ext>
            </a:extLst>
          </p:cNvPr>
          <p:cNvSpPr txBox="1"/>
          <p:nvPr/>
        </p:nvSpPr>
        <p:spPr>
          <a:xfrm>
            <a:off x="381000" y="1368744"/>
            <a:ext cx="6105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\\nksv569.ad.nkc.co.jp\WWW\cgi\qcd_DB\Release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C00DFCA-A4C9-489D-A8EF-9377BB176CBC}"/>
              </a:ext>
            </a:extLst>
          </p:cNvPr>
          <p:cNvSpPr txBox="1"/>
          <p:nvPr/>
        </p:nvSpPr>
        <p:spPr>
          <a:xfrm>
            <a:off x="6688633" y="1738076"/>
            <a:ext cx="5398072" cy="397031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･目視入力システムの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DB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形式を本システム用の形式へ変換します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_BOM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取得します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･本システムの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Master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データベースを構築します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BOSS_BOM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から基板図版を取得します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･目視入力システムから不良情報を取り込みます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･サイクルタイム･実装点情報を取り込みます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･定時実行用のファイルです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048E22E-7467-476A-8A4B-39B1762FA717}"/>
              </a:ext>
            </a:extLst>
          </p:cNvPr>
          <p:cNvCxnSpPr>
            <a:cxnSpLocks/>
          </p:cNvCxnSpPr>
          <p:nvPr/>
        </p:nvCxnSpPr>
        <p:spPr>
          <a:xfrm flipH="1">
            <a:off x="1995055" y="1920240"/>
            <a:ext cx="4763194" cy="167085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B641870-520A-4DC9-8BA5-C21BC061FE66}"/>
              </a:ext>
            </a:extLst>
          </p:cNvPr>
          <p:cNvCxnSpPr>
            <a:cxnSpLocks/>
          </p:cNvCxnSpPr>
          <p:nvPr/>
        </p:nvCxnSpPr>
        <p:spPr>
          <a:xfrm flipH="1">
            <a:off x="1632067" y="2755669"/>
            <a:ext cx="5056566" cy="124552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B40708F-5FB0-4E0E-8809-4402BD8B8901}"/>
              </a:ext>
            </a:extLst>
          </p:cNvPr>
          <p:cNvCxnSpPr>
            <a:cxnSpLocks/>
          </p:cNvCxnSpPr>
          <p:nvPr/>
        </p:nvCxnSpPr>
        <p:spPr>
          <a:xfrm flipH="1">
            <a:off x="1662545" y="3378431"/>
            <a:ext cx="5026088" cy="81118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80CE16F-A32D-454F-B153-3ED9BF7218FA}"/>
              </a:ext>
            </a:extLst>
          </p:cNvPr>
          <p:cNvCxnSpPr>
            <a:cxnSpLocks/>
          </p:cNvCxnSpPr>
          <p:nvPr/>
        </p:nvCxnSpPr>
        <p:spPr>
          <a:xfrm flipH="1">
            <a:off x="1995055" y="3875462"/>
            <a:ext cx="4763194" cy="495063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22915FE6-3B58-41B6-9BAF-6214B83DAA03}"/>
              </a:ext>
            </a:extLst>
          </p:cNvPr>
          <p:cNvCxnSpPr>
            <a:cxnSpLocks/>
          </p:cNvCxnSpPr>
          <p:nvPr/>
        </p:nvCxnSpPr>
        <p:spPr>
          <a:xfrm flipH="1">
            <a:off x="1920241" y="4426527"/>
            <a:ext cx="4847178" cy="18216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2A013CCE-44FE-486D-AA27-4902551966FE}"/>
              </a:ext>
            </a:extLst>
          </p:cNvPr>
          <p:cNvCxnSpPr>
            <a:cxnSpLocks/>
          </p:cNvCxnSpPr>
          <p:nvPr/>
        </p:nvCxnSpPr>
        <p:spPr>
          <a:xfrm flipH="1" flipV="1">
            <a:off x="1920241" y="4773225"/>
            <a:ext cx="4838008" cy="19812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9248ADEF-3F41-4EFF-88CD-EA396B732EC1}"/>
              </a:ext>
            </a:extLst>
          </p:cNvPr>
          <p:cNvCxnSpPr>
            <a:cxnSpLocks/>
          </p:cNvCxnSpPr>
          <p:nvPr/>
        </p:nvCxnSpPr>
        <p:spPr>
          <a:xfrm flipH="1" flipV="1">
            <a:off x="1338349" y="5018787"/>
            <a:ext cx="5429070" cy="47046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081F1FE-D570-4927-8E14-82B33164C1DD}"/>
              </a:ext>
            </a:extLst>
          </p:cNvPr>
          <p:cNvSpPr txBox="1"/>
          <p:nvPr/>
        </p:nvSpPr>
        <p:spPr>
          <a:xfrm>
            <a:off x="515048" y="5626285"/>
            <a:ext cx="5971650" cy="92333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git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でバージョン管理を行っており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､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リモートリポジトリは下記アドレスに設置しています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</a:p>
          <a:p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\\nksv569.ad.nkc.co.jp\WWW\gitserver\qcd_DB.git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951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AB9A9A-B2B8-4D19-94D8-B7E1F6241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DB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139478-6050-49AD-958D-507AB7FA4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1058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en-US" altLang="ja-JP" dirty="0">
                <a:hlinkClick r:id="rId2"/>
              </a:rPr>
              <a:t>http://nksv569.ad.nkc.co.jp/phpmyadmin/index.php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上記リンクより閲覧可能です</a:t>
            </a:r>
            <a:r>
              <a:rPr lang="en-US" altLang="ja-JP" dirty="0"/>
              <a:t>｡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ID:</a:t>
            </a:r>
            <a:r>
              <a:rPr kumimoji="1" lang="en-US" altLang="ja-JP" dirty="0"/>
              <a:t>qcd_viewer</a:t>
            </a:r>
          </a:p>
          <a:p>
            <a:pPr marL="0" indent="0">
              <a:buNone/>
            </a:pPr>
            <a:r>
              <a:rPr lang="en-US" altLang="ja-JP" dirty="0"/>
              <a:t>PASS:qcd_viewer</a:t>
            </a:r>
          </a:p>
          <a:p>
            <a:pPr marL="0" indent="0">
              <a:buNone/>
            </a:pPr>
            <a:r>
              <a:rPr kumimoji="1" lang="en-US" altLang="ja-JP" dirty="0"/>
              <a:t>※</a:t>
            </a:r>
            <a:r>
              <a:rPr kumimoji="1" lang="ja-JP" altLang="en-US" dirty="0"/>
              <a:t>閲覧権限のみ付与しているので</a:t>
            </a:r>
            <a:r>
              <a:rPr kumimoji="1" lang="en-US" altLang="ja-JP" dirty="0"/>
              <a:t>､</a:t>
            </a:r>
            <a:r>
              <a:rPr kumimoji="1" lang="ja-JP" altLang="en-US" dirty="0"/>
              <a:t>編集はできません</a:t>
            </a:r>
            <a:r>
              <a:rPr kumimoji="1" lang="en-US" altLang="ja-JP" dirty="0"/>
              <a:t>｡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[AOIMaster_access]		</a:t>
            </a:r>
            <a:r>
              <a:rPr lang="ja-JP" altLang="en-US" dirty="0"/>
              <a:t>目視入力システムから取得したテーブル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[BaseNumber]			</a:t>
            </a:r>
            <a:r>
              <a:rPr lang="ja-JP" altLang="en-US" dirty="0"/>
              <a:t>基板図版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[CycleTime_Points]</a:t>
            </a:r>
            <a:r>
              <a:rPr lang="ja-JP" altLang="en-US" dirty="0"/>
              <a:t>　</a:t>
            </a:r>
            <a:r>
              <a:rPr lang="en-US" altLang="ja-JP" dirty="0"/>
              <a:t>	</a:t>
            </a:r>
            <a:r>
              <a:rPr lang="ja-JP" altLang="en-US" dirty="0"/>
              <a:t>サイクルタイム･実装点数情報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[Defects_AOI]</a:t>
            </a:r>
            <a:r>
              <a:rPr lang="ja-JP" altLang="en-US" dirty="0"/>
              <a:t>　</a:t>
            </a:r>
            <a:r>
              <a:rPr lang="en-US" altLang="ja-JP" dirty="0"/>
              <a:t>		[AOIMaster_access]</a:t>
            </a:r>
            <a:r>
              <a:rPr lang="ja-JP" altLang="en-US" dirty="0"/>
              <a:t>を本システム用に変換したテーブル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[MASTER]			[Defects_AOI]</a:t>
            </a:r>
            <a:r>
              <a:rPr lang="ja-JP" altLang="en-US" dirty="0"/>
              <a:t>以外を合体させ</a:t>
            </a:r>
            <a:r>
              <a:rPr lang="en-US" altLang="ja-JP" dirty="0"/>
              <a:t>､</a:t>
            </a:r>
          </a:p>
          <a:p>
            <a:pPr marL="0" indent="0">
              <a:buNone/>
            </a:pPr>
            <a:r>
              <a:rPr lang="en-US" altLang="ja-JP" dirty="0"/>
              <a:t>				</a:t>
            </a:r>
            <a:r>
              <a:rPr lang="ja-JP" altLang="en-US" dirty="0"/>
              <a:t>実装時間･シート数を追加したテーブル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78937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F909D2-1BAE-4022-ABB1-17E75699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APPENDIX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3BD9FF-0E47-4C1B-A15F-7DC977DA4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367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E71FFE42-0268-44ED-B220-914BF3A010FF}"/>
              </a:ext>
            </a:extLst>
          </p:cNvPr>
          <p:cNvSpPr/>
          <p:nvPr/>
        </p:nvSpPr>
        <p:spPr>
          <a:xfrm>
            <a:off x="4679058" y="2539614"/>
            <a:ext cx="1798696" cy="14603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MySQL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6972280-8F98-43BC-BBC1-C0676FC6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4" y="171138"/>
            <a:ext cx="8297805" cy="682279"/>
          </a:xfrm>
        </p:spPr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生産部で稼働中のシステム概要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43638D5-F964-41CD-B243-8773C8650576}"/>
              </a:ext>
            </a:extLst>
          </p:cNvPr>
          <p:cNvSpPr/>
          <p:nvPr/>
        </p:nvSpPr>
        <p:spPr>
          <a:xfrm>
            <a:off x="382781" y="1174302"/>
            <a:ext cx="1091494" cy="7877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E276FC2-399C-4FFE-B770-15888C240AD1}"/>
              </a:ext>
            </a:extLst>
          </p:cNvPr>
          <p:cNvSpPr/>
          <p:nvPr/>
        </p:nvSpPr>
        <p:spPr>
          <a:xfrm>
            <a:off x="2380606" y="994194"/>
            <a:ext cx="1917074" cy="12585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\\nksvasp23\SMT_RCV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72FFDD0-59A1-4565-9D93-AA3F03A4EA83}"/>
              </a:ext>
            </a:extLst>
          </p:cNvPr>
          <p:cNvSpPr/>
          <p:nvPr/>
        </p:nvSpPr>
        <p:spPr>
          <a:xfrm>
            <a:off x="2535398" y="1364134"/>
            <a:ext cx="1022449" cy="2040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IFID142.csv 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CF6801FA-DB11-4C26-B6BB-C2FDABF6A8A4}"/>
              </a:ext>
            </a:extLst>
          </p:cNvPr>
          <p:cNvCxnSpPr>
            <a:cxnSpLocks/>
            <a:stCxn id="7" idx="0"/>
            <a:endCxn id="45" idx="1"/>
          </p:cNvCxnSpPr>
          <p:nvPr/>
        </p:nvCxnSpPr>
        <p:spPr>
          <a:xfrm flipV="1">
            <a:off x="1290379" y="1623472"/>
            <a:ext cx="1090227" cy="61021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C44770A-CA5D-467F-ACB1-5C603849F74E}"/>
              </a:ext>
            </a:extLst>
          </p:cNvPr>
          <p:cNvSpPr/>
          <p:nvPr/>
        </p:nvSpPr>
        <p:spPr>
          <a:xfrm>
            <a:off x="2535398" y="1634959"/>
            <a:ext cx="1022449" cy="2040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IFID139.csv 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37DC213-0AC4-4FE1-B9B5-2EAA1FEFBB3D}"/>
              </a:ext>
            </a:extLst>
          </p:cNvPr>
          <p:cNvSpPr/>
          <p:nvPr/>
        </p:nvSpPr>
        <p:spPr>
          <a:xfrm>
            <a:off x="2535398" y="1877755"/>
            <a:ext cx="1022449" cy="2040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IFID146.csv 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雲 6">
            <a:extLst>
              <a:ext uri="{FF2B5EF4-FFF2-40B4-BE49-F238E27FC236}">
                <a16:creationId xmlns:a16="http://schemas.microsoft.com/office/drawing/2014/main" id="{CE898E9D-2200-4991-B46D-A1556713BF2F}"/>
              </a:ext>
            </a:extLst>
          </p:cNvPr>
          <p:cNvSpPr/>
          <p:nvPr/>
        </p:nvSpPr>
        <p:spPr>
          <a:xfrm>
            <a:off x="566072" y="1487556"/>
            <a:ext cx="724911" cy="39387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2215FDC8-94CB-4C40-BE88-276AB30ABD37}"/>
              </a:ext>
            </a:extLst>
          </p:cNvPr>
          <p:cNvSpPr/>
          <p:nvPr/>
        </p:nvSpPr>
        <p:spPr>
          <a:xfrm>
            <a:off x="325398" y="2452961"/>
            <a:ext cx="6319241" cy="1873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nksv560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DC1DCFEE-5751-4495-A2A3-0232AA9E5F5E}"/>
              </a:ext>
            </a:extLst>
          </p:cNvPr>
          <p:cNvCxnSpPr>
            <a:cxnSpLocks/>
            <a:stCxn id="49" idx="3"/>
            <a:endCxn id="93" idx="0"/>
          </p:cNvCxnSpPr>
          <p:nvPr/>
        </p:nvCxnSpPr>
        <p:spPr>
          <a:xfrm flipH="1">
            <a:off x="2325637" y="1979776"/>
            <a:ext cx="1232210" cy="768468"/>
          </a:xfrm>
          <a:prstGeom prst="bentConnector4">
            <a:avLst>
              <a:gd name="adj1" fmla="val -18552"/>
              <a:gd name="adj2" fmla="val 46903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コネクタ: カギ線 69">
            <a:extLst>
              <a:ext uri="{FF2B5EF4-FFF2-40B4-BE49-F238E27FC236}">
                <a16:creationId xmlns:a16="http://schemas.microsoft.com/office/drawing/2014/main" id="{A883A79D-ACE0-4037-82BF-7863343C905E}"/>
              </a:ext>
            </a:extLst>
          </p:cNvPr>
          <p:cNvCxnSpPr>
            <a:cxnSpLocks/>
            <a:stCxn id="93" idx="3"/>
          </p:cNvCxnSpPr>
          <p:nvPr/>
        </p:nvCxnSpPr>
        <p:spPr>
          <a:xfrm flipV="1">
            <a:off x="3973627" y="3100776"/>
            <a:ext cx="1173617" cy="77923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0E25E777-7B63-4061-ACEE-C2001B2BD1D5}"/>
              </a:ext>
            </a:extLst>
          </p:cNvPr>
          <p:cNvSpPr/>
          <p:nvPr/>
        </p:nvSpPr>
        <p:spPr>
          <a:xfrm>
            <a:off x="5147245" y="2939229"/>
            <a:ext cx="899709" cy="3230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情報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D4DACDF6-5EED-4651-B2E3-C84309DE8337}"/>
              </a:ext>
            </a:extLst>
          </p:cNvPr>
          <p:cNvSpPr/>
          <p:nvPr/>
        </p:nvSpPr>
        <p:spPr>
          <a:xfrm>
            <a:off x="9505942" y="1152667"/>
            <a:ext cx="1923593" cy="11191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172.25.253.60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0F8B9BB9-7AC4-4736-9F7A-5C47234B337B}"/>
              </a:ext>
            </a:extLst>
          </p:cNvPr>
          <p:cNvSpPr/>
          <p:nvPr/>
        </p:nvSpPr>
        <p:spPr>
          <a:xfrm>
            <a:off x="7991779" y="1023705"/>
            <a:ext cx="4086614" cy="3217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制限エリア</a:t>
            </a:r>
            <a:endParaRPr kumimoji="1"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172.25.253.0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8" name="四角形: メモ 27">
            <a:extLst>
              <a:ext uri="{FF2B5EF4-FFF2-40B4-BE49-F238E27FC236}">
                <a16:creationId xmlns:a16="http://schemas.microsoft.com/office/drawing/2014/main" id="{2968DC73-0674-4B5A-B192-827BD8BB7DC0}"/>
              </a:ext>
            </a:extLst>
          </p:cNvPr>
          <p:cNvSpPr/>
          <p:nvPr/>
        </p:nvSpPr>
        <p:spPr>
          <a:xfrm>
            <a:off x="9898287" y="1564268"/>
            <a:ext cx="1331743" cy="472480"/>
          </a:xfrm>
          <a:prstGeom prst="foldedCorner">
            <a:avLst/>
          </a:prstGeom>
          <a:solidFill>
            <a:srgbClr val="0000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差分</a:t>
            </a:r>
            <a:endParaRPr kumimoji="1" lang="en-US" altLang="ja-JP" sz="1100" dirty="0"/>
          </a:p>
          <a:p>
            <a:pPr algn="ctr"/>
            <a:r>
              <a:rPr kumimoji="1" lang="ja-JP" altLang="en-US" sz="1100" dirty="0"/>
              <a:t>チェックシステム</a:t>
            </a:r>
          </a:p>
        </p:txBody>
      </p: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2F94AA83-7065-4D12-A38D-0F2112FEBC6D}"/>
              </a:ext>
            </a:extLst>
          </p:cNvPr>
          <p:cNvCxnSpPr>
            <a:cxnSpLocks/>
            <a:stCxn id="73" idx="0"/>
            <a:endCxn id="28" idx="1"/>
          </p:cNvCxnSpPr>
          <p:nvPr/>
        </p:nvCxnSpPr>
        <p:spPr>
          <a:xfrm rot="5400000" flipH="1" flipV="1">
            <a:off x="7178333" y="219276"/>
            <a:ext cx="1138721" cy="4301187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19FA1A86-BDE5-4CB0-8840-DE15156DC2E3}"/>
              </a:ext>
            </a:extLst>
          </p:cNvPr>
          <p:cNvSpPr/>
          <p:nvPr/>
        </p:nvSpPr>
        <p:spPr>
          <a:xfrm>
            <a:off x="8193240" y="2444409"/>
            <a:ext cx="2072978" cy="1708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3" name="四角形: メモ 92">
            <a:extLst>
              <a:ext uri="{FF2B5EF4-FFF2-40B4-BE49-F238E27FC236}">
                <a16:creationId xmlns:a16="http://schemas.microsoft.com/office/drawing/2014/main" id="{F8405829-3854-459A-9ABC-55D138A3D588}"/>
              </a:ext>
            </a:extLst>
          </p:cNvPr>
          <p:cNvSpPr/>
          <p:nvPr/>
        </p:nvSpPr>
        <p:spPr>
          <a:xfrm>
            <a:off x="677647" y="2748244"/>
            <a:ext cx="3295980" cy="860909"/>
          </a:xfrm>
          <a:prstGeom prst="foldedCorner">
            <a:avLst/>
          </a:prstGeom>
          <a:solidFill>
            <a:srgbClr val="0000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動作プログラム詳細不明</a:t>
            </a:r>
          </a:p>
          <a:p>
            <a:pPr algn="ctr"/>
            <a:r>
              <a:rPr kumimoji="1" lang="ja-JP" altLang="en-US" sz="1100" dirty="0"/>
              <a:t>恐らく下記フォルダ内プログラムを</a:t>
            </a:r>
          </a:p>
          <a:p>
            <a:pPr algn="ctr"/>
            <a:r>
              <a:rPr kumimoji="1" lang="en-US" altLang="ja-JP" sz="1100" dirty="0"/>
              <a:t>crontab</a:t>
            </a:r>
            <a:r>
              <a:rPr kumimoji="1" lang="ja-JP" altLang="en-US" sz="1100" dirty="0"/>
              <a:t>で実行している</a:t>
            </a:r>
            <a:r>
              <a:rPr lang="ja-JP" altLang="en-US" sz="1100" dirty="0"/>
              <a:t>と思われる</a:t>
            </a:r>
            <a:endParaRPr kumimoji="1" lang="ja-JP" altLang="en-US" sz="1100" dirty="0"/>
          </a:p>
          <a:p>
            <a:pPr algn="ctr"/>
            <a:r>
              <a:rPr kumimoji="1" lang="en-US" altLang="ja-JP" sz="1100" dirty="0"/>
              <a:t>\\nksv560.ad.nkc.co.jp\www\cgi\scheduled</a:t>
            </a:r>
          </a:p>
        </p:txBody>
      </p:sp>
      <p:pic>
        <p:nvPicPr>
          <p:cNvPr id="99" name="Picture 8">
            <a:extLst>
              <a:ext uri="{FF2B5EF4-FFF2-40B4-BE49-F238E27FC236}">
                <a16:creationId xmlns:a16="http://schemas.microsoft.com/office/drawing/2014/main" id="{F9012E75-AC59-4DF8-84E2-BE07F32AE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" t="33803" r="5159" b="35469"/>
          <a:stretch/>
        </p:blipFill>
        <p:spPr bwMode="auto">
          <a:xfrm>
            <a:off x="8778897" y="2472614"/>
            <a:ext cx="1153100" cy="2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12" descr="SQLServerのデータ型一覧、サイズ、数値、日付、小数点、配列型はない | urashita.com 浦下.com (ウラシタドットコム)">
            <a:extLst>
              <a:ext uri="{FF2B5EF4-FFF2-40B4-BE49-F238E27FC236}">
                <a16:creationId xmlns:a16="http://schemas.microsoft.com/office/drawing/2014/main" id="{CC511545-073B-4AAC-A853-109C9BECC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838" y="3035348"/>
            <a:ext cx="529621" cy="43528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07077F1D-0D45-4624-8067-EC3FC5EF8AEA}"/>
              </a:ext>
            </a:extLst>
          </p:cNvPr>
          <p:cNvCxnSpPr>
            <a:cxnSpLocks/>
            <a:stCxn id="175" idx="3"/>
            <a:endCxn id="28" idx="2"/>
          </p:cNvCxnSpPr>
          <p:nvPr/>
        </p:nvCxnSpPr>
        <p:spPr>
          <a:xfrm flipV="1">
            <a:off x="9657169" y="2036748"/>
            <a:ext cx="906990" cy="1691961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コネクタ: カギ線 112">
            <a:extLst>
              <a:ext uri="{FF2B5EF4-FFF2-40B4-BE49-F238E27FC236}">
                <a16:creationId xmlns:a16="http://schemas.microsoft.com/office/drawing/2014/main" id="{7650061E-F482-40EC-ACBB-B24D0C6A60B3}"/>
              </a:ext>
            </a:extLst>
          </p:cNvPr>
          <p:cNvCxnSpPr>
            <a:cxnSpLocks/>
            <a:stCxn id="175" idx="2"/>
            <a:endCxn id="93" idx="2"/>
          </p:cNvCxnSpPr>
          <p:nvPr/>
        </p:nvCxnSpPr>
        <p:spPr>
          <a:xfrm rot="5400000" flipH="1">
            <a:off x="5635239" y="299552"/>
            <a:ext cx="271930" cy="6891133"/>
          </a:xfrm>
          <a:prstGeom prst="bentConnector3">
            <a:avLst>
              <a:gd name="adj1" fmla="val -65725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1462DB05-C031-4EF8-809C-21CCFDF27589}"/>
              </a:ext>
            </a:extLst>
          </p:cNvPr>
          <p:cNvSpPr/>
          <p:nvPr/>
        </p:nvSpPr>
        <p:spPr>
          <a:xfrm>
            <a:off x="5147244" y="3348747"/>
            <a:ext cx="899709" cy="3230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情報</a:t>
            </a:r>
          </a:p>
        </p:txBody>
      </p: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199A87C4-9684-4493-AA20-D9183A51449E}"/>
              </a:ext>
            </a:extLst>
          </p:cNvPr>
          <p:cNvCxnSpPr>
            <a:cxnSpLocks/>
            <a:stCxn id="93" idx="3"/>
            <a:endCxn id="130" idx="1"/>
          </p:cNvCxnSpPr>
          <p:nvPr/>
        </p:nvCxnSpPr>
        <p:spPr>
          <a:xfrm>
            <a:off x="3973627" y="3178699"/>
            <a:ext cx="1173617" cy="331596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4A89B933-2D42-4B8B-8A05-1FAA4555B8A3}"/>
              </a:ext>
            </a:extLst>
          </p:cNvPr>
          <p:cNvSpPr/>
          <p:nvPr/>
        </p:nvSpPr>
        <p:spPr>
          <a:xfrm>
            <a:off x="2083608" y="4442474"/>
            <a:ext cx="4561031" cy="1873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nksv569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A4F5409B-96D3-445F-9A3D-33D2B61229F5}"/>
              </a:ext>
            </a:extLst>
          </p:cNvPr>
          <p:cNvCxnSpPr>
            <a:cxnSpLocks/>
            <a:stCxn id="48" idx="3"/>
            <a:endCxn id="93" idx="0"/>
          </p:cNvCxnSpPr>
          <p:nvPr/>
        </p:nvCxnSpPr>
        <p:spPr>
          <a:xfrm flipH="1">
            <a:off x="2325637" y="1736980"/>
            <a:ext cx="1232210" cy="1011264"/>
          </a:xfrm>
          <a:prstGeom prst="bentConnector4">
            <a:avLst>
              <a:gd name="adj1" fmla="val -18552"/>
              <a:gd name="adj2" fmla="val 59154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コネクタ: カギ線 142">
            <a:extLst>
              <a:ext uri="{FF2B5EF4-FFF2-40B4-BE49-F238E27FC236}">
                <a16:creationId xmlns:a16="http://schemas.microsoft.com/office/drawing/2014/main" id="{FC204113-1286-4B9A-91E2-3D73C07F3A93}"/>
              </a:ext>
            </a:extLst>
          </p:cNvPr>
          <p:cNvCxnSpPr>
            <a:cxnSpLocks/>
            <a:stCxn id="46" idx="3"/>
            <a:endCxn id="93" idx="0"/>
          </p:cNvCxnSpPr>
          <p:nvPr/>
        </p:nvCxnSpPr>
        <p:spPr>
          <a:xfrm flipH="1">
            <a:off x="2325637" y="1466155"/>
            <a:ext cx="1232210" cy="1282089"/>
          </a:xfrm>
          <a:prstGeom prst="bentConnector4">
            <a:avLst>
              <a:gd name="adj1" fmla="val -18552"/>
              <a:gd name="adj2" fmla="val 68892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8826FAFD-1DE6-4B91-822D-BB8C80DA3D2F}"/>
              </a:ext>
            </a:extLst>
          </p:cNvPr>
          <p:cNvSpPr/>
          <p:nvPr/>
        </p:nvSpPr>
        <p:spPr>
          <a:xfrm>
            <a:off x="4679058" y="4593636"/>
            <a:ext cx="1798696" cy="14603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MySQL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FED69D32-67BF-47C2-9BF6-AA8D87A7A180}"/>
              </a:ext>
            </a:extLst>
          </p:cNvPr>
          <p:cNvSpPr/>
          <p:nvPr/>
        </p:nvSpPr>
        <p:spPr>
          <a:xfrm>
            <a:off x="8156940" y="4381299"/>
            <a:ext cx="2407219" cy="1873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nksv523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55" name="Picture 6" descr="Microsoft Access（マイクロソフト・アクセス）とは - IT用語辞典 e-Words">
            <a:extLst>
              <a:ext uri="{FF2B5EF4-FFF2-40B4-BE49-F238E27FC236}">
                <a16:creationId xmlns:a16="http://schemas.microsoft.com/office/drawing/2014/main" id="{E9B443D7-8642-4380-8E19-B492D75AA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634" y="4823111"/>
            <a:ext cx="619758" cy="61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2D79F355-F074-4D3D-8C43-F2FC4F4638D8}"/>
              </a:ext>
            </a:extLst>
          </p:cNvPr>
          <p:cNvSpPr/>
          <p:nvPr/>
        </p:nvSpPr>
        <p:spPr>
          <a:xfrm>
            <a:off x="8421149" y="5267093"/>
            <a:ext cx="880798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不良情報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35FDB519-13EB-417B-92AA-B9D790D70649}"/>
              </a:ext>
            </a:extLst>
          </p:cNvPr>
          <p:cNvSpPr/>
          <p:nvPr/>
        </p:nvSpPr>
        <p:spPr>
          <a:xfrm>
            <a:off x="8420835" y="5597289"/>
            <a:ext cx="881107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実装点数</a:t>
            </a: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782784F2-58D3-4BCE-90DE-CE6C60FD0093}"/>
              </a:ext>
            </a:extLst>
          </p:cNvPr>
          <p:cNvSpPr/>
          <p:nvPr/>
        </p:nvSpPr>
        <p:spPr>
          <a:xfrm>
            <a:off x="8325149" y="4790176"/>
            <a:ext cx="1783243" cy="1278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Access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66" name="コネクタ: カギ線 165">
            <a:extLst>
              <a:ext uri="{FF2B5EF4-FFF2-40B4-BE49-F238E27FC236}">
                <a16:creationId xmlns:a16="http://schemas.microsoft.com/office/drawing/2014/main" id="{54C9AB76-6C4A-4E7D-B417-FBD5F078AD9A}"/>
              </a:ext>
            </a:extLst>
          </p:cNvPr>
          <p:cNvCxnSpPr>
            <a:cxnSpLocks/>
            <a:stCxn id="156" idx="1"/>
            <a:endCxn id="167" idx="3"/>
          </p:cNvCxnSpPr>
          <p:nvPr/>
        </p:nvCxnSpPr>
        <p:spPr>
          <a:xfrm rot="10800000">
            <a:off x="6226583" y="4943151"/>
            <a:ext cx="2194567" cy="476317"/>
          </a:xfrm>
          <a:prstGeom prst="bentConnector3">
            <a:avLst>
              <a:gd name="adj1" fmla="val 4469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244DA416-3F09-42C6-BDE5-DBC98064C1B7}"/>
              </a:ext>
            </a:extLst>
          </p:cNvPr>
          <p:cNvSpPr/>
          <p:nvPr/>
        </p:nvSpPr>
        <p:spPr>
          <a:xfrm>
            <a:off x="5345784" y="4790776"/>
            <a:ext cx="880798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不良情報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0ECB7B8B-C420-43E8-93AC-BE2985C9B35B}"/>
              </a:ext>
            </a:extLst>
          </p:cNvPr>
          <p:cNvSpPr/>
          <p:nvPr/>
        </p:nvSpPr>
        <p:spPr>
          <a:xfrm>
            <a:off x="5345475" y="5141796"/>
            <a:ext cx="881107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実装点数</a:t>
            </a:r>
          </a:p>
        </p:txBody>
      </p: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7B6462F0-D582-4F5B-80A3-17357DBFD7D8}"/>
              </a:ext>
            </a:extLst>
          </p:cNvPr>
          <p:cNvCxnSpPr>
            <a:cxnSpLocks/>
            <a:stCxn id="160" idx="1"/>
            <a:endCxn id="169" idx="3"/>
          </p:cNvCxnSpPr>
          <p:nvPr/>
        </p:nvCxnSpPr>
        <p:spPr>
          <a:xfrm rot="10800000">
            <a:off x="6226583" y="5294171"/>
            <a:ext cx="2194253" cy="455493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6E828CA3-6049-4E4D-92E8-4B5C315CE501}"/>
              </a:ext>
            </a:extLst>
          </p:cNvPr>
          <p:cNvSpPr/>
          <p:nvPr/>
        </p:nvSpPr>
        <p:spPr>
          <a:xfrm>
            <a:off x="8410320" y="2956938"/>
            <a:ext cx="1456043" cy="10367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40962D01-8D3A-42D1-A04A-DD95FC87D5BD}"/>
              </a:ext>
            </a:extLst>
          </p:cNvPr>
          <p:cNvSpPr/>
          <p:nvPr/>
        </p:nvSpPr>
        <p:spPr>
          <a:xfrm>
            <a:off x="8776371" y="3576335"/>
            <a:ext cx="880798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生産情報</a:t>
            </a:r>
          </a:p>
        </p:txBody>
      </p:sp>
      <p:cxnSp>
        <p:nvCxnSpPr>
          <p:cNvPr id="179" name="コネクタ: カギ線 178">
            <a:extLst>
              <a:ext uri="{FF2B5EF4-FFF2-40B4-BE49-F238E27FC236}">
                <a16:creationId xmlns:a16="http://schemas.microsoft.com/office/drawing/2014/main" id="{7D229F65-A3A0-4266-83ED-4058DE7B7B7B}"/>
              </a:ext>
            </a:extLst>
          </p:cNvPr>
          <p:cNvCxnSpPr>
            <a:cxnSpLocks/>
            <a:stCxn id="73" idx="3"/>
            <a:endCxn id="183" idx="0"/>
          </p:cNvCxnSpPr>
          <p:nvPr/>
        </p:nvCxnSpPr>
        <p:spPr>
          <a:xfrm flipH="1">
            <a:off x="3375474" y="3100777"/>
            <a:ext cx="2671480" cy="1692734"/>
          </a:xfrm>
          <a:prstGeom prst="bentConnector4">
            <a:avLst>
              <a:gd name="adj1" fmla="val -8557"/>
              <a:gd name="adj2" fmla="val 4347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四角形: メモ 182">
            <a:extLst>
              <a:ext uri="{FF2B5EF4-FFF2-40B4-BE49-F238E27FC236}">
                <a16:creationId xmlns:a16="http://schemas.microsoft.com/office/drawing/2014/main" id="{94DCDD3C-F0CD-420F-B923-30D77F3043C8}"/>
              </a:ext>
            </a:extLst>
          </p:cNvPr>
          <p:cNvSpPr/>
          <p:nvPr/>
        </p:nvSpPr>
        <p:spPr>
          <a:xfrm>
            <a:off x="2268348" y="4793511"/>
            <a:ext cx="2214251" cy="473582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SMT</a:t>
            </a:r>
            <a:r>
              <a:rPr kumimoji="1" lang="ja-JP" altLang="en-US" sz="1100" dirty="0"/>
              <a:t>実装品質可視化システム</a:t>
            </a:r>
            <a:endParaRPr kumimoji="1" lang="en-US" altLang="ja-JP" sz="1100" dirty="0"/>
          </a:p>
          <a:p>
            <a:pPr algn="ctr"/>
            <a:r>
              <a:rPr lang="en-US" altLang="ja-JP" sz="1100" dirty="0"/>
              <a:t>(python/</a:t>
            </a:r>
            <a:r>
              <a:rPr lang="en-US" altLang="ja-JP" sz="1100" dirty="0" err="1"/>
              <a:t>perl</a:t>
            </a:r>
            <a:r>
              <a:rPr lang="en-US" altLang="ja-JP" sz="1100" dirty="0"/>
              <a:t>/apache2)</a:t>
            </a:r>
            <a:endParaRPr kumimoji="1" lang="en-US" altLang="ja-JP" sz="1100" dirty="0"/>
          </a:p>
        </p:txBody>
      </p:sp>
      <p:cxnSp>
        <p:nvCxnSpPr>
          <p:cNvPr id="195" name="コネクタ: カギ線 194">
            <a:extLst>
              <a:ext uri="{FF2B5EF4-FFF2-40B4-BE49-F238E27FC236}">
                <a16:creationId xmlns:a16="http://schemas.microsoft.com/office/drawing/2014/main" id="{662CA2BF-CC8D-443E-BC00-37912A1EA5FA}"/>
              </a:ext>
            </a:extLst>
          </p:cNvPr>
          <p:cNvCxnSpPr>
            <a:cxnSpLocks/>
            <a:stCxn id="167" idx="1"/>
            <a:endCxn id="183" idx="3"/>
          </p:cNvCxnSpPr>
          <p:nvPr/>
        </p:nvCxnSpPr>
        <p:spPr>
          <a:xfrm rot="10800000" flipV="1">
            <a:off x="4482600" y="4943150"/>
            <a:ext cx="863185" cy="87152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742C2A2D-048B-42DF-9B1C-EA9DBB563298}"/>
              </a:ext>
            </a:extLst>
          </p:cNvPr>
          <p:cNvCxnSpPr>
            <a:cxnSpLocks/>
            <a:stCxn id="169" idx="1"/>
            <a:endCxn id="183" idx="3"/>
          </p:cNvCxnSpPr>
          <p:nvPr/>
        </p:nvCxnSpPr>
        <p:spPr>
          <a:xfrm rot="10800000">
            <a:off x="4482599" y="5030302"/>
            <a:ext cx="862876" cy="263868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波線 211">
            <a:extLst>
              <a:ext uri="{FF2B5EF4-FFF2-40B4-BE49-F238E27FC236}">
                <a16:creationId xmlns:a16="http://schemas.microsoft.com/office/drawing/2014/main" id="{79F3DF39-04FE-473F-BC9A-59E2B8DDE437}"/>
              </a:ext>
            </a:extLst>
          </p:cNvPr>
          <p:cNvSpPr/>
          <p:nvPr/>
        </p:nvSpPr>
        <p:spPr>
          <a:xfrm>
            <a:off x="2561653" y="5491124"/>
            <a:ext cx="1411499" cy="718773"/>
          </a:xfrm>
          <a:prstGeom prst="wav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WEB</a:t>
            </a:r>
            <a:r>
              <a:rPr kumimoji="1" lang="ja-JP" altLang="en-US" sz="16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ページ</a:t>
            </a:r>
          </a:p>
        </p:txBody>
      </p:sp>
      <p:cxnSp>
        <p:nvCxnSpPr>
          <p:cNvPr id="213" name="コネクタ: カギ線 212">
            <a:extLst>
              <a:ext uri="{FF2B5EF4-FFF2-40B4-BE49-F238E27FC236}">
                <a16:creationId xmlns:a16="http://schemas.microsoft.com/office/drawing/2014/main" id="{946268FB-70B9-41CD-951F-14E9AA42710F}"/>
              </a:ext>
            </a:extLst>
          </p:cNvPr>
          <p:cNvCxnSpPr>
            <a:cxnSpLocks/>
            <a:stCxn id="183" idx="2"/>
            <a:endCxn id="212" idx="3"/>
          </p:cNvCxnSpPr>
          <p:nvPr/>
        </p:nvCxnSpPr>
        <p:spPr>
          <a:xfrm rot="16200000" flipH="1">
            <a:off x="3382604" y="5259963"/>
            <a:ext cx="583418" cy="597678"/>
          </a:xfrm>
          <a:prstGeom prst="bentConnector4">
            <a:avLst>
              <a:gd name="adj1" fmla="val 19200"/>
              <a:gd name="adj2" fmla="val 13864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コネクタ: カギ線 220">
            <a:extLst>
              <a:ext uri="{FF2B5EF4-FFF2-40B4-BE49-F238E27FC236}">
                <a16:creationId xmlns:a16="http://schemas.microsoft.com/office/drawing/2014/main" id="{D6B5C94A-9744-4A46-AFB9-BD37E2C5E400}"/>
              </a:ext>
            </a:extLst>
          </p:cNvPr>
          <p:cNvCxnSpPr>
            <a:cxnSpLocks/>
            <a:stCxn id="130" idx="3"/>
            <a:endCxn id="183" idx="0"/>
          </p:cNvCxnSpPr>
          <p:nvPr/>
        </p:nvCxnSpPr>
        <p:spPr>
          <a:xfrm flipH="1">
            <a:off x="3375474" y="3510295"/>
            <a:ext cx="2671479" cy="1283216"/>
          </a:xfrm>
          <a:prstGeom prst="bentConnector4">
            <a:avLst>
              <a:gd name="adj1" fmla="val -8557"/>
              <a:gd name="adj2" fmla="val 2390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" name="Picture 4">
            <a:extLst>
              <a:ext uri="{FF2B5EF4-FFF2-40B4-BE49-F238E27FC236}">
                <a16:creationId xmlns:a16="http://schemas.microsoft.com/office/drawing/2014/main" id="{217E3BCF-4403-418E-A425-AA6968D21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32545" y="6001242"/>
            <a:ext cx="507606" cy="41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>
            <a:extLst>
              <a:ext uri="{FF2B5EF4-FFF2-40B4-BE49-F238E27FC236}">
                <a16:creationId xmlns:a16="http://schemas.microsoft.com/office/drawing/2014/main" id="{3590868C-944D-4EF9-8001-3ABB8430B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5346" y="5939871"/>
            <a:ext cx="507606" cy="41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Picture 4">
            <a:extLst>
              <a:ext uri="{FF2B5EF4-FFF2-40B4-BE49-F238E27FC236}">
                <a16:creationId xmlns:a16="http://schemas.microsoft.com/office/drawing/2014/main" id="{DC897E12-FAB3-426B-AE5F-28304FFB3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7938" y="5534380"/>
            <a:ext cx="507606" cy="41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" name="矢印: 右 237">
            <a:extLst>
              <a:ext uri="{FF2B5EF4-FFF2-40B4-BE49-F238E27FC236}">
                <a16:creationId xmlns:a16="http://schemas.microsoft.com/office/drawing/2014/main" id="{803281CC-E089-4C0E-A1ED-BD40DA5164C0}"/>
              </a:ext>
            </a:extLst>
          </p:cNvPr>
          <p:cNvSpPr/>
          <p:nvPr/>
        </p:nvSpPr>
        <p:spPr>
          <a:xfrm>
            <a:off x="1805771" y="5755478"/>
            <a:ext cx="638621" cy="1523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9" name="テキスト ボックス 238">
            <a:extLst>
              <a:ext uri="{FF2B5EF4-FFF2-40B4-BE49-F238E27FC236}">
                <a16:creationId xmlns:a16="http://schemas.microsoft.com/office/drawing/2014/main" id="{A827E5BA-D2D7-4CC4-9B79-6CC71B2A2F90}"/>
              </a:ext>
            </a:extLst>
          </p:cNvPr>
          <p:cNvSpPr txBox="1"/>
          <p:nvPr/>
        </p:nvSpPr>
        <p:spPr>
          <a:xfrm>
            <a:off x="235364" y="5085722"/>
            <a:ext cx="1514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事務エリア</a:t>
            </a:r>
            <a:r>
              <a:rPr kumimoji="1" lang="en-US" altLang="ja-JP" sz="1400" dirty="0"/>
              <a:t>PC</a:t>
            </a:r>
          </a:p>
          <a:p>
            <a:r>
              <a:rPr kumimoji="1" lang="ja-JP" altLang="en-US" sz="1400" dirty="0"/>
              <a:t>生産現場</a:t>
            </a:r>
            <a:r>
              <a:rPr kumimoji="1" lang="en-US" altLang="ja-JP" sz="1400" dirty="0"/>
              <a:t>PC</a:t>
            </a:r>
            <a:endParaRPr kumimoji="1" lang="ja-JP" altLang="en-US" sz="1400" dirty="0"/>
          </a:p>
        </p:txBody>
      </p:sp>
      <p:sp>
        <p:nvSpPr>
          <p:cNvPr id="250" name="四角形: メモ 249">
            <a:extLst>
              <a:ext uri="{FF2B5EF4-FFF2-40B4-BE49-F238E27FC236}">
                <a16:creationId xmlns:a16="http://schemas.microsoft.com/office/drawing/2014/main" id="{1DC0B55E-FBDC-421E-BC87-AC63C7B1476A}"/>
              </a:ext>
            </a:extLst>
          </p:cNvPr>
          <p:cNvSpPr/>
          <p:nvPr/>
        </p:nvSpPr>
        <p:spPr>
          <a:xfrm>
            <a:off x="9216771" y="32042"/>
            <a:ext cx="1065727" cy="283434"/>
          </a:xfrm>
          <a:prstGeom prst="foldedCorner">
            <a:avLst/>
          </a:prstGeom>
          <a:solidFill>
            <a:srgbClr val="0000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/>
          </a:p>
        </p:txBody>
      </p:sp>
      <p:sp>
        <p:nvSpPr>
          <p:cNvPr id="251" name="テキスト ボックス 250">
            <a:extLst>
              <a:ext uri="{FF2B5EF4-FFF2-40B4-BE49-F238E27FC236}">
                <a16:creationId xmlns:a16="http://schemas.microsoft.com/office/drawing/2014/main" id="{D1EBE5E3-3769-4263-9D8A-2D997A3A432B}"/>
              </a:ext>
            </a:extLst>
          </p:cNvPr>
          <p:cNvSpPr txBox="1"/>
          <p:nvPr/>
        </p:nvSpPr>
        <p:spPr>
          <a:xfrm>
            <a:off x="10282498" y="-6628"/>
            <a:ext cx="151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→五十嵐淳一様</a:t>
            </a:r>
            <a:endParaRPr kumimoji="1" lang="en-US" altLang="ja-JP" sz="1200" b="1" dirty="0"/>
          </a:p>
          <a:p>
            <a:r>
              <a:rPr lang="ja-JP" altLang="en-US" sz="1200" b="1" dirty="0"/>
              <a:t>　</a:t>
            </a:r>
            <a:r>
              <a:rPr kumimoji="1" lang="ja-JP" altLang="en-US" sz="1200" b="1" dirty="0"/>
              <a:t>作成システム</a:t>
            </a:r>
          </a:p>
        </p:txBody>
      </p:sp>
      <p:sp>
        <p:nvSpPr>
          <p:cNvPr id="252" name="四角形: メモ 251">
            <a:extLst>
              <a:ext uri="{FF2B5EF4-FFF2-40B4-BE49-F238E27FC236}">
                <a16:creationId xmlns:a16="http://schemas.microsoft.com/office/drawing/2014/main" id="{A7FCCF2E-5340-40AA-8096-4E31995F9CA7}"/>
              </a:ext>
            </a:extLst>
          </p:cNvPr>
          <p:cNvSpPr/>
          <p:nvPr/>
        </p:nvSpPr>
        <p:spPr>
          <a:xfrm>
            <a:off x="9216771" y="473424"/>
            <a:ext cx="1065727" cy="314532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/>
          </a:p>
        </p:txBody>
      </p:sp>
      <p:sp>
        <p:nvSpPr>
          <p:cNvPr id="253" name="テキスト ボックス 252">
            <a:extLst>
              <a:ext uri="{FF2B5EF4-FFF2-40B4-BE49-F238E27FC236}">
                <a16:creationId xmlns:a16="http://schemas.microsoft.com/office/drawing/2014/main" id="{6FF50D40-9A1D-45D5-9076-8371AC6A4D59}"/>
              </a:ext>
            </a:extLst>
          </p:cNvPr>
          <p:cNvSpPr txBox="1"/>
          <p:nvPr/>
        </p:nvSpPr>
        <p:spPr>
          <a:xfrm>
            <a:off x="10244449" y="436156"/>
            <a:ext cx="151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→佐藤･水尾</a:t>
            </a:r>
            <a:endParaRPr kumimoji="1" lang="en-US" altLang="ja-JP" sz="1200" b="1" dirty="0"/>
          </a:p>
          <a:p>
            <a:r>
              <a:rPr lang="ja-JP" altLang="en-US" sz="1200" b="1" dirty="0"/>
              <a:t>　</a:t>
            </a:r>
            <a:r>
              <a:rPr kumimoji="1" lang="ja-JP" altLang="en-US" sz="1200" b="1" dirty="0"/>
              <a:t>作成システム</a:t>
            </a:r>
          </a:p>
        </p:txBody>
      </p:sp>
    </p:spTree>
    <p:extLst>
      <p:ext uri="{BB962C8B-B14F-4D97-AF65-F5344CB8AC3E}">
        <p14:creationId xmlns:p14="http://schemas.microsoft.com/office/powerpoint/2010/main" val="3564544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E71FFE42-0268-44ED-B220-914BF3A010FF}"/>
              </a:ext>
            </a:extLst>
          </p:cNvPr>
          <p:cNvSpPr/>
          <p:nvPr/>
        </p:nvSpPr>
        <p:spPr>
          <a:xfrm>
            <a:off x="4679058" y="2539614"/>
            <a:ext cx="1798696" cy="14603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MySQL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6972280-8F98-43BC-BBC1-C0676FC6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4" y="171138"/>
            <a:ext cx="8297805" cy="682279"/>
          </a:xfrm>
        </p:spPr>
        <p:txBody>
          <a:bodyPr>
            <a:normAutofit/>
          </a:bodyPr>
          <a:lstStyle/>
          <a:p>
            <a:r>
              <a:rPr lang="ja-JP" altLang="en-US" dirty="0"/>
              <a:t>サーバー移行に関して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43638D5-F964-41CD-B243-8773C8650576}"/>
              </a:ext>
            </a:extLst>
          </p:cNvPr>
          <p:cNvSpPr/>
          <p:nvPr/>
        </p:nvSpPr>
        <p:spPr>
          <a:xfrm>
            <a:off x="382781" y="1174302"/>
            <a:ext cx="1091494" cy="7877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E276FC2-399C-4FFE-B770-15888C240AD1}"/>
              </a:ext>
            </a:extLst>
          </p:cNvPr>
          <p:cNvSpPr/>
          <p:nvPr/>
        </p:nvSpPr>
        <p:spPr>
          <a:xfrm>
            <a:off x="2380606" y="994194"/>
            <a:ext cx="1917074" cy="12585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\\nksvasp23\SMT_RCV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72FFDD0-59A1-4565-9D93-AA3F03A4EA83}"/>
              </a:ext>
            </a:extLst>
          </p:cNvPr>
          <p:cNvSpPr/>
          <p:nvPr/>
        </p:nvSpPr>
        <p:spPr>
          <a:xfrm>
            <a:off x="2535398" y="1364134"/>
            <a:ext cx="1022449" cy="2040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IFID142.csv 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CF6801FA-DB11-4C26-B6BB-C2FDABF6A8A4}"/>
              </a:ext>
            </a:extLst>
          </p:cNvPr>
          <p:cNvCxnSpPr>
            <a:cxnSpLocks/>
            <a:stCxn id="7" idx="0"/>
            <a:endCxn id="45" idx="1"/>
          </p:cNvCxnSpPr>
          <p:nvPr/>
        </p:nvCxnSpPr>
        <p:spPr>
          <a:xfrm flipV="1">
            <a:off x="1290379" y="1623472"/>
            <a:ext cx="1090227" cy="61021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C44770A-CA5D-467F-ACB1-5C603849F74E}"/>
              </a:ext>
            </a:extLst>
          </p:cNvPr>
          <p:cNvSpPr/>
          <p:nvPr/>
        </p:nvSpPr>
        <p:spPr>
          <a:xfrm>
            <a:off x="2535398" y="1634959"/>
            <a:ext cx="1022449" cy="2040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IFID139.csv 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37DC213-0AC4-4FE1-B9B5-2EAA1FEFBB3D}"/>
              </a:ext>
            </a:extLst>
          </p:cNvPr>
          <p:cNvSpPr/>
          <p:nvPr/>
        </p:nvSpPr>
        <p:spPr>
          <a:xfrm>
            <a:off x="2535398" y="1877755"/>
            <a:ext cx="1022449" cy="2040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IFID146.csv 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雲 6">
            <a:extLst>
              <a:ext uri="{FF2B5EF4-FFF2-40B4-BE49-F238E27FC236}">
                <a16:creationId xmlns:a16="http://schemas.microsoft.com/office/drawing/2014/main" id="{CE898E9D-2200-4991-B46D-A1556713BF2F}"/>
              </a:ext>
            </a:extLst>
          </p:cNvPr>
          <p:cNvSpPr/>
          <p:nvPr/>
        </p:nvSpPr>
        <p:spPr>
          <a:xfrm>
            <a:off x="566072" y="1487556"/>
            <a:ext cx="724911" cy="39387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2215FDC8-94CB-4C40-BE88-276AB30ABD37}"/>
              </a:ext>
            </a:extLst>
          </p:cNvPr>
          <p:cNvSpPr/>
          <p:nvPr/>
        </p:nvSpPr>
        <p:spPr>
          <a:xfrm>
            <a:off x="325398" y="2452961"/>
            <a:ext cx="6319241" cy="1873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nksv560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DC1DCFEE-5751-4495-A2A3-0232AA9E5F5E}"/>
              </a:ext>
            </a:extLst>
          </p:cNvPr>
          <p:cNvCxnSpPr>
            <a:cxnSpLocks/>
            <a:stCxn id="49" idx="3"/>
            <a:endCxn id="93" idx="0"/>
          </p:cNvCxnSpPr>
          <p:nvPr/>
        </p:nvCxnSpPr>
        <p:spPr>
          <a:xfrm flipH="1">
            <a:off x="2325637" y="1979776"/>
            <a:ext cx="1232210" cy="768468"/>
          </a:xfrm>
          <a:prstGeom prst="bentConnector4">
            <a:avLst>
              <a:gd name="adj1" fmla="val -18552"/>
              <a:gd name="adj2" fmla="val 46903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コネクタ: カギ線 69">
            <a:extLst>
              <a:ext uri="{FF2B5EF4-FFF2-40B4-BE49-F238E27FC236}">
                <a16:creationId xmlns:a16="http://schemas.microsoft.com/office/drawing/2014/main" id="{A883A79D-ACE0-4037-82BF-7863343C905E}"/>
              </a:ext>
            </a:extLst>
          </p:cNvPr>
          <p:cNvCxnSpPr>
            <a:cxnSpLocks/>
            <a:stCxn id="93" idx="3"/>
          </p:cNvCxnSpPr>
          <p:nvPr/>
        </p:nvCxnSpPr>
        <p:spPr>
          <a:xfrm flipV="1">
            <a:off x="3973627" y="3100776"/>
            <a:ext cx="1173617" cy="77923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0E25E777-7B63-4061-ACEE-C2001B2BD1D5}"/>
              </a:ext>
            </a:extLst>
          </p:cNvPr>
          <p:cNvSpPr/>
          <p:nvPr/>
        </p:nvSpPr>
        <p:spPr>
          <a:xfrm>
            <a:off x="5147245" y="2939229"/>
            <a:ext cx="899709" cy="3230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情報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D4DACDF6-5EED-4651-B2E3-C84309DE8337}"/>
              </a:ext>
            </a:extLst>
          </p:cNvPr>
          <p:cNvSpPr/>
          <p:nvPr/>
        </p:nvSpPr>
        <p:spPr>
          <a:xfrm>
            <a:off x="9505942" y="1152667"/>
            <a:ext cx="1923593" cy="11191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172.25.253.60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0F8B9BB9-7AC4-4736-9F7A-5C47234B337B}"/>
              </a:ext>
            </a:extLst>
          </p:cNvPr>
          <p:cNvSpPr/>
          <p:nvPr/>
        </p:nvSpPr>
        <p:spPr>
          <a:xfrm>
            <a:off x="7991779" y="1023705"/>
            <a:ext cx="4086614" cy="3217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制限エリア</a:t>
            </a:r>
            <a:endParaRPr kumimoji="1"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172.25.253.0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8" name="四角形: メモ 27">
            <a:extLst>
              <a:ext uri="{FF2B5EF4-FFF2-40B4-BE49-F238E27FC236}">
                <a16:creationId xmlns:a16="http://schemas.microsoft.com/office/drawing/2014/main" id="{2968DC73-0674-4B5A-B192-827BD8BB7DC0}"/>
              </a:ext>
            </a:extLst>
          </p:cNvPr>
          <p:cNvSpPr/>
          <p:nvPr/>
        </p:nvSpPr>
        <p:spPr>
          <a:xfrm>
            <a:off x="9898287" y="1564268"/>
            <a:ext cx="1331743" cy="472480"/>
          </a:xfrm>
          <a:prstGeom prst="foldedCorner">
            <a:avLst/>
          </a:prstGeom>
          <a:solidFill>
            <a:srgbClr val="0000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差分</a:t>
            </a:r>
            <a:endParaRPr kumimoji="1" lang="en-US" altLang="ja-JP" sz="1100" dirty="0"/>
          </a:p>
          <a:p>
            <a:pPr algn="ctr"/>
            <a:r>
              <a:rPr kumimoji="1" lang="ja-JP" altLang="en-US" sz="1100" dirty="0"/>
              <a:t>チェックシステム</a:t>
            </a:r>
          </a:p>
        </p:txBody>
      </p: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2F94AA83-7065-4D12-A38D-0F2112FEBC6D}"/>
              </a:ext>
            </a:extLst>
          </p:cNvPr>
          <p:cNvCxnSpPr>
            <a:cxnSpLocks/>
            <a:stCxn id="73" idx="0"/>
            <a:endCxn id="28" idx="1"/>
          </p:cNvCxnSpPr>
          <p:nvPr/>
        </p:nvCxnSpPr>
        <p:spPr>
          <a:xfrm rot="5400000" flipH="1" flipV="1">
            <a:off x="7178333" y="219276"/>
            <a:ext cx="1138721" cy="4301187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19FA1A86-BDE5-4CB0-8840-DE15156DC2E3}"/>
              </a:ext>
            </a:extLst>
          </p:cNvPr>
          <p:cNvSpPr/>
          <p:nvPr/>
        </p:nvSpPr>
        <p:spPr>
          <a:xfrm>
            <a:off x="8193240" y="2444409"/>
            <a:ext cx="2072978" cy="1708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3" name="四角形: メモ 92">
            <a:extLst>
              <a:ext uri="{FF2B5EF4-FFF2-40B4-BE49-F238E27FC236}">
                <a16:creationId xmlns:a16="http://schemas.microsoft.com/office/drawing/2014/main" id="{F8405829-3854-459A-9ABC-55D138A3D588}"/>
              </a:ext>
            </a:extLst>
          </p:cNvPr>
          <p:cNvSpPr/>
          <p:nvPr/>
        </p:nvSpPr>
        <p:spPr>
          <a:xfrm>
            <a:off x="677647" y="2748244"/>
            <a:ext cx="3295980" cy="860909"/>
          </a:xfrm>
          <a:prstGeom prst="foldedCorner">
            <a:avLst/>
          </a:prstGeom>
          <a:solidFill>
            <a:srgbClr val="0000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動作プログラム詳細不明</a:t>
            </a:r>
          </a:p>
          <a:p>
            <a:pPr algn="ctr"/>
            <a:r>
              <a:rPr kumimoji="1" lang="ja-JP" altLang="en-US" sz="1100" dirty="0"/>
              <a:t>恐らく下記フォルダ内プログラムを</a:t>
            </a:r>
          </a:p>
          <a:p>
            <a:pPr algn="ctr"/>
            <a:r>
              <a:rPr kumimoji="1" lang="en-US" altLang="ja-JP" sz="1100" dirty="0"/>
              <a:t>crontab</a:t>
            </a:r>
            <a:r>
              <a:rPr kumimoji="1" lang="ja-JP" altLang="en-US" sz="1100" dirty="0"/>
              <a:t>で実行している</a:t>
            </a:r>
            <a:r>
              <a:rPr lang="ja-JP" altLang="en-US" sz="1100" dirty="0"/>
              <a:t>と思われる</a:t>
            </a:r>
            <a:endParaRPr kumimoji="1" lang="ja-JP" altLang="en-US" sz="1100" dirty="0"/>
          </a:p>
          <a:p>
            <a:pPr algn="ctr"/>
            <a:r>
              <a:rPr kumimoji="1" lang="en-US" altLang="ja-JP" sz="1100" dirty="0"/>
              <a:t>\\nksv560.ad.nkc.co.jp\www\cgi\scheduled</a:t>
            </a:r>
          </a:p>
        </p:txBody>
      </p:sp>
      <p:pic>
        <p:nvPicPr>
          <p:cNvPr id="99" name="Picture 8">
            <a:extLst>
              <a:ext uri="{FF2B5EF4-FFF2-40B4-BE49-F238E27FC236}">
                <a16:creationId xmlns:a16="http://schemas.microsoft.com/office/drawing/2014/main" id="{F9012E75-AC59-4DF8-84E2-BE07F32AE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" t="33803" r="5159" b="35469"/>
          <a:stretch/>
        </p:blipFill>
        <p:spPr bwMode="auto">
          <a:xfrm>
            <a:off x="8778897" y="2472614"/>
            <a:ext cx="1153100" cy="2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12" descr="SQLServerのデータ型一覧、サイズ、数値、日付、小数点、配列型はない | urashita.com 浦下.com (ウラシタドットコム)">
            <a:extLst>
              <a:ext uri="{FF2B5EF4-FFF2-40B4-BE49-F238E27FC236}">
                <a16:creationId xmlns:a16="http://schemas.microsoft.com/office/drawing/2014/main" id="{CC511545-073B-4AAC-A853-109C9BECC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838" y="3035348"/>
            <a:ext cx="529621" cy="43528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07077F1D-0D45-4624-8067-EC3FC5EF8AEA}"/>
              </a:ext>
            </a:extLst>
          </p:cNvPr>
          <p:cNvCxnSpPr>
            <a:cxnSpLocks/>
            <a:stCxn id="175" idx="3"/>
            <a:endCxn id="28" idx="2"/>
          </p:cNvCxnSpPr>
          <p:nvPr/>
        </p:nvCxnSpPr>
        <p:spPr>
          <a:xfrm flipV="1">
            <a:off x="9657169" y="2036748"/>
            <a:ext cx="906990" cy="1691961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コネクタ: カギ線 112">
            <a:extLst>
              <a:ext uri="{FF2B5EF4-FFF2-40B4-BE49-F238E27FC236}">
                <a16:creationId xmlns:a16="http://schemas.microsoft.com/office/drawing/2014/main" id="{7650061E-F482-40EC-ACBB-B24D0C6A60B3}"/>
              </a:ext>
            </a:extLst>
          </p:cNvPr>
          <p:cNvCxnSpPr>
            <a:cxnSpLocks/>
            <a:stCxn id="175" idx="2"/>
            <a:endCxn id="93" idx="2"/>
          </p:cNvCxnSpPr>
          <p:nvPr/>
        </p:nvCxnSpPr>
        <p:spPr>
          <a:xfrm rot="5400000" flipH="1">
            <a:off x="5635239" y="299552"/>
            <a:ext cx="271930" cy="6891133"/>
          </a:xfrm>
          <a:prstGeom prst="bentConnector3">
            <a:avLst>
              <a:gd name="adj1" fmla="val -65725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1462DB05-C031-4EF8-809C-21CCFDF27589}"/>
              </a:ext>
            </a:extLst>
          </p:cNvPr>
          <p:cNvSpPr/>
          <p:nvPr/>
        </p:nvSpPr>
        <p:spPr>
          <a:xfrm>
            <a:off x="5147244" y="3348747"/>
            <a:ext cx="899709" cy="3230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情報</a:t>
            </a:r>
          </a:p>
        </p:txBody>
      </p: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199A87C4-9684-4493-AA20-D9183A51449E}"/>
              </a:ext>
            </a:extLst>
          </p:cNvPr>
          <p:cNvCxnSpPr>
            <a:cxnSpLocks/>
            <a:stCxn id="93" idx="3"/>
            <a:endCxn id="130" idx="1"/>
          </p:cNvCxnSpPr>
          <p:nvPr/>
        </p:nvCxnSpPr>
        <p:spPr>
          <a:xfrm>
            <a:off x="3973627" y="3178699"/>
            <a:ext cx="1173617" cy="331596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4A89B933-2D42-4B8B-8A05-1FAA4555B8A3}"/>
              </a:ext>
            </a:extLst>
          </p:cNvPr>
          <p:cNvSpPr/>
          <p:nvPr/>
        </p:nvSpPr>
        <p:spPr>
          <a:xfrm>
            <a:off x="2083608" y="4442474"/>
            <a:ext cx="4561031" cy="1873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nksv569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A4F5409B-96D3-445F-9A3D-33D2B61229F5}"/>
              </a:ext>
            </a:extLst>
          </p:cNvPr>
          <p:cNvCxnSpPr>
            <a:cxnSpLocks/>
            <a:stCxn id="48" idx="3"/>
            <a:endCxn id="93" idx="0"/>
          </p:cNvCxnSpPr>
          <p:nvPr/>
        </p:nvCxnSpPr>
        <p:spPr>
          <a:xfrm flipH="1">
            <a:off x="2325637" y="1736980"/>
            <a:ext cx="1232210" cy="1011264"/>
          </a:xfrm>
          <a:prstGeom prst="bentConnector4">
            <a:avLst>
              <a:gd name="adj1" fmla="val -18552"/>
              <a:gd name="adj2" fmla="val 59154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コネクタ: カギ線 142">
            <a:extLst>
              <a:ext uri="{FF2B5EF4-FFF2-40B4-BE49-F238E27FC236}">
                <a16:creationId xmlns:a16="http://schemas.microsoft.com/office/drawing/2014/main" id="{FC204113-1286-4B9A-91E2-3D73C07F3A93}"/>
              </a:ext>
            </a:extLst>
          </p:cNvPr>
          <p:cNvCxnSpPr>
            <a:cxnSpLocks/>
            <a:stCxn id="46" idx="3"/>
            <a:endCxn id="93" idx="0"/>
          </p:cNvCxnSpPr>
          <p:nvPr/>
        </p:nvCxnSpPr>
        <p:spPr>
          <a:xfrm flipH="1">
            <a:off x="2325637" y="1466155"/>
            <a:ext cx="1232210" cy="1282089"/>
          </a:xfrm>
          <a:prstGeom prst="bentConnector4">
            <a:avLst>
              <a:gd name="adj1" fmla="val -18552"/>
              <a:gd name="adj2" fmla="val 68892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8826FAFD-1DE6-4B91-822D-BB8C80DA3D2F}"/>
              </a:ext>
            </a:extLst>
          </p:cNvPr>
          <p:cNvSpPr/>
          <p:nvPr/>
        </p:nvSpPr>
        <p:spPr>
          <a:xfrm>
            <a:off x="4679058" y="4593636"/>
            <a:ext cx="1798696" cy="14603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MySQL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FED69D32-67BF-47C2-9BF6-AA8D87A7A180}"/>
              </a:ext>
            </a:extLst>
          </p:cNvPr>
          <p:cNvSpPr/>
          <p:nvPr/>
        </p:nvSpPr>
        <p:spPr>
          <a:xfrm>
            <a:off x="8156940" y="4381299"/>
            <a:ext cx="2407219" cy="1873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nksv523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55" name="Picture 6" descr="Microsoft Access（マイクロソフト・アクセス）とは - IT用語辞典 e-Words">
            <a:extLst>
              <a:ext uri="{FF2B5EF4-FFF2-40B4-BE49-F238E27FC236}">
                <a16:creationId xmlns:a16="http://schemas.microsoft.com/office/drawing/2014/main" id="{E9B443D7-8642-4380-8E19-B492D75AA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634" y="4823111"/>
            <a:ext cx="619758" cy="61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2D79F355-F074-4D3D-8C43-F2FC4F4638D8}"/>
              </a:ext>
            </a:extLst>
          </p:cNvPr>
          <p:cNvSpPr/>
          <p:nvPr/>
        </p:nvSpPr>
        <p:spPr>
          <a:xfrm>
            <a:off x="8421149" y="5267093"/>
            <a:ext cx="880798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不良情報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35FDB519-13EB-417B-92AA-B9D790D70649}"/>
              </a:ext>
            </a:extLst>
          </p:cNvPr>
          <p:cNvSpPr/>
          <p:nvPr/>
        </p:nvSpPr>
        <p:spPr>
          <a:xfrm>
            <a:off x="8420835" y="5597289"/>
            <a:ext cx="881107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実装点数</a:t>
            </a: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782784F2-58D3-4BCE-90DE-CE6C60FD0093}"/>
              </a:ext>
            </a:extLst>
          </p:cNvPr>
          <p:cNvSpPr/>
          <p:nvPr/>
        </p:nvSpPr>
        <p:spPr>
          <a:xfrm>
            <a:off x="8325149" y="4790176"/>
            <a:ext cx="1783243" cy="1278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Access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66" name="コネクタ: カギ線 165">
            <a:extLst>
              <a:ext uri="{FF2B5EF4-FFF2-40B4-BE49-F238E27FC236}">
                <a16:creationId xmlns:a16="http://schemas.microsoft.com/office/drawing/2014/main" id="{54C9AB76-6C4A-4E7D-B417-FBD5F078AD9A}"/>
              </a:ext>
            </a:extLst>
          </p:cNvPr>
          <p:cNvCxnSpPr>
            <a:cxnSpLocks/>
            <a:stCxn id="156" idx="1"/>
            <a:endCxn id="167" idx="3"/>
          </p:cNvCxnSpPr>
          <p:nvPr/>
        </p:nvCxnSpPr>
        <p:spPr>
          <a:xfrm rot="10800000">
            <a:off x="6226583" y="4943151"/>
            <a:ext cx="2194567" cy="476317"/>
          </a:xfrm>
          <a:prstGeom prst="bentConnector3">
            <a:avLst>
              <a:gd name="adj1" fmla="val 4469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244DA416-3F09-42C6-BDE5-DBC98064C1B7}"/>
              </a:ext>
            </a:extLst>
          </p:cNvPr>
          <p:cNvSpPr/>
          <p:nvPr/>
        </p:nvSpPr>
        <p:spPr>
          <a:xfrm>
            <a:off x="5345784" y="4790776"/>
            <a:ext cx="880798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不良情報</a:t>
            </a:r>
            <a:endParaRPr kumimoji="1" lang="ja-JP" altLang="en-US" sz="105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0ECB7B8B-C420-43E8-93AC-BE2985C9B35B}"/>
              </a:ext>
            </a:extLst>
          </p:cNvPr>
          <p:cNvSpPr/>
          <p:nvPr/>
        </p:nvSpPr>
        <p:spPr>
          <a:xfrm>
            <a:off x="5345475" y="5141796"/>
            <a:ext cx="881107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実装点数</a:t>
            </a:r>
          </a:p>
        </p:txBody>
      </p: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7B6462F0-D582-4F5B-80A3-17357DBFD7D8}"/>
              </a:ext>
            </a:extLst>
          </p:cNvPr>
          <p:cNvCxnSpPr>
            <a:cxnSpLocks/>
            <a:stCxn id="160" idx="1"/>
            <a:endCxn id="169" idx="3"/>
          </p:cNvCxnSpPr>
          <p:nvPr/>
        </p:nvCxnSpPr>
        <p:spPr>
          <a:xfrm rot="10800000">
            <a:off x="6226583" y="5294171"/>
            <a:ext cx="2194253" cy="455493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6E828CA3-6049-4E4D-92E8-4B5C315CE501}"/>
              </a:ext>
            </a:extLst>
          </p:cNvPr>
          <p:cNvSpPr/>
          <p:nvPr/>
        </p:nvSpPr>
        <p:spPr>
          <a:xfrm>
            <a:off x="8410320" y="2956938"/>
            <a:ext cx="1456043" cy="10367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40962D01-8D3A-42D1-A04A-DD95FC87D5BD}"/>
              </a:ext>
            </a:extLst>
          </p:cNvPr>
          <p:cNvSpPr/>
          <p:nvPr/>
        </p:nvSpPr>
        <p:spPr>
          <a:xfrm>
            <a:off x="8776371" y="3576335"/>
            <a:ext cx="880798" cy="3047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生産情報</a:t>
            </a:r>
          </a:p>
        </p:txBody>
      </p:sp>
      <p:cxnSp>
        <p:nvCxnSpPr>
          <p:cNvPr id="179" name="コネクタ: カギ線 178">
            <a:extLst>
              <a:ext uri="{FF2B5EF4-FFF2-40B4-BE49-F238E27FC236}">
                <a16:creationId xmlns:a16="http://schemas.microsoft.com/office/drawing/2014/main" id="{7D229F65-A3A0-4266-83ED-4058DE7B7B7B}"/>
              </a:ext>
            </a:extLst>
          </p:cNvPr>
          <p:cNvCxnSpPr>
            <a:cxnSpLocks/>
            <a:stCxn id="73" idx="3"/>
            <a:endCxn id="183" idx="0"/>
          </p:cNvCxnSpPr>
          <p:nvPr/>
        </p:nvCxnSpPr>
        <p:spPr>
          <a:xfrm flipH="1">
            <a:off x="3375474" y="3100777"/>
            <a:ext cx="2671480" cy="1692734"/>
          </a:xfrm>
          <a:prstGeom prst="bentConnector4">
            <a:avLst>
              <a:gd name="adj1" fmla="val -8557"/>
              <a:gd name="adj2" fmla="val 4347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四角形: メモ 182">
            <a:extLst>
              <a:ext uri="{FF2B5EF4-FFF2-40B4-BE49-F238E27FC236}">
                <a16:creationId xmlns:a16="http://schemas.microsoft.com/office/drawing/2014/main" id="{94DCDD3C-F0CD-420F-B923-30D77F3043C8}"/>
              </a:ext>
            </a:extLst>
          </p:cNvPr>
          <p:cNvSpPr/>
          <p:nvPr/>
        </p:nvSpPr>
        <p:spPr>
          <a:xfrm>
            <a:off x="2268348" y="4793511"/>
            <a:ext cx="2214251" cy="473582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SMT</a:t>
            </a:r>
            <a:r>
              <a:rPr kumimoji="1" lang="ja-JP" altLang="en-US" sz="1100" dirty="0"/>
              <a:t>実装品質可視化システム</a:t>
            </a:r>
            <a:endParaRPr kumimoji="1" lang="en-US" altLang="ja-JP" sz="1100" dirty="0"/>
          </a:p>
          <a:p>
            <a:pPr algn="ctr"/>
            <a:r>
              <a:rPr lang="en-US" altLang="ja-JP" sz="1100" dirty="0"/>
              <a:t>(python/</a:t>
            </a:r>
            <a:r>
              <a:rPr lang="en-US" altLang="ja-JP" sz="1100" dirty="0" err="1"/>
              <a:t>perl</a:t>
            </a:r>
            <a:r>
              <a:rPr lang="en-US" altLang="ja-JP" sz="1100" dirty="0"/>
              <a:t>/apache2)</a:t>
            </a:r>
            <a:endParaRPr kumimoji="1" lang="en-US" altLang="ja-JP" sz="1100" dirty="0"/>
          </a:p>
        </p:txBody>
      </p:sp>
      <p:cxnSp>
        <p:nvCxnSpPr>
          <p:cNvPr id="195" name="コネクタ: カギ線 194">
            <a:extLst>
              <a:ext uri="{FF2B5EF4-FFF2-40B4-BE49-F238E27FC236}">
                <a16:creationId xmlns:a16="http://schemas.microsoft.com/office/drawing/2014/main" id="{662CA2BF-CC8D-443E-BC00-37912A1EA5FA}"/>
              </a:ext>
            </a:extLst>
          </p:cNvPr>
          <p:cNvCxnSpPr>
            <a:cxnSpLocks/>
            <a:stCxn id="167" idx="1"/>
            <a:endCxn id="183" idx="3"/>
          </p:cNvCxnSpPr>
          <p:nvPr/>
        </p:nvCxnSpPr>
        <p:spPr>
          <a:xfrm rot="10800000" flipV="1">
            <a:off x="4482600" y="4943150"/>
            <a:ext cx="863185" cy="87152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742C2A2D-048B-42DF-9B1C-EA9DBB563298}"/>
              </a:ext>
            </a:extLst>
          </p:cNvPr>
          <p:cNvCxnSpPr>
            <a:cxnSpLocks/>
            <a:stCxn id="169" idx="1"/>
            <a:endCxn id="183" idx="3"/>
          </p:cNvCxnSpPr>
          <p:nvPr/>
        </p:nvCxnSpPr>
        <p:spPr>
          <a:xfrm rot="10800000">
            <a:off x="4482599" y="5030302"/>
            <a:ext cx="862876" cy="263868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波線 211">
            <a:extLst>
              <a:ext uri="{FF2B5EF4-FFF2-40B4-BE49-F238E27FC236}">
                <a16:creationId xmlns:a16="http://schemas.microsoft.com/office/drawing/2014/main" id="{79F3DF39-04FE-473F-BC9A-59E2B8DDE437}"/>
              </a:ext>
            </a:extLst>
          </p:cNvPr>
          <p:cNvSpPr/>
          <p:nvPr/>
        </p:nvSpPr>
        <p:spPr>
          <a:xfrm>
            <a:off x="2561653" y="5491124"/>
            <a:ext cx="1411499" cy="718773"/>
          </a:xfrm>
          <a:prstGeom prst="wav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WEB</a:t>
            </a:r>
            <a:r>
              <a:rPr kumimoji="1" lang="ja-JP" altLang="en-US" sz="16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ページ</a:t>
            </a:r>
          </a:p>
        </p:txBody>
      </p:sp>
      <p:cxnSp>
        <p:nvCxnSpPr>
          <p:cNvPr id="213" name="コネクタ: カギ線 212">
            <a:extLst>
              <a:ext uri="{FF2B5EF4-FFF2-40B4-BE49-F238E27FC236}">
                <a16:creationId xmlns:a16="http://schemas.microsoft.com/office/drawing/2014/main" id="{946268FB-70B9-41CD-951F-14E9AA42710F}"/>
              </a:ext>
            </a:extLst>
          </p:cNvPr>
          <p:cNvCxnSpPr>
            <a:cxnSpLocks/>
            <a:stCxn id="183" idx="2"/>
            <a:endCxn id="212" idx="3"/>
          </p:cNvCxnSpPr>
          <p:nvPr/>
        </p:nvCxnSpPr>
        <p:spPr>
          <a:xfrm rot="16200000" flipH="1">
            <a:off x="3382604" y="5259963"/>
            <a:ext cx="583418" cy="597678"/>
          </a:xfrm>
          <a:prstGeom prst="bentConnector4">
            <a:avLst>
              <a:gd name="adj1" fmla="val 19200"/>
              <a:gd name="adj2" fmla="val 13864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コネクタ: カギ線 220">
            <a:extLst>
              <a:ext uri="{FF2B5EF4-FFF2-40B4-BE49-F238E27FC236}">
                <a16:creationId xmlns:a16="http://schemas.microsoft.com/office/drawing/2014/main" id="{D6B5C94A-9744-4A46-AFB9-BD37E2C5E400}"/>
              </a:ext>
            </a:extLst>
          </p:cNvPr>
          <p:cNvCxnSpPr>
            <a:cxnSpLocks/>
            <a:stCxn id="130" idx="3"/>
            <a:endCxn id="183" idx="0"/>
          </p:cNvCxnSpPr>
          <p:nvPr/>
        </p:nvCxnSpPr>
        <p:spPr>
          <a:xfrm flipH="1">
            <a:off x="3375474" y="3510295"/>
            <a:ext cx="2671479" cy="1283216"/>
          </a:xfrm>
          <a:prstGeom prst="bentConnector4">
            <a:avLst>
              <a:gd name="adj1" fmla="val -8557"/>
              <a:gd name="adj2" fmla="val 2390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" name="Picture 4">
            <a:extLst>
              <a:ext uri="{FF2B5EF4-FFF2-40B4-BE49-F238E27FC236}">
                <a16:creationId xmlns:a16="http://schemas.microsoft.com/office/drawing/2014/main" id="{217E3BCF-4403-418E-A425-AA6968D21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32545" y="6001242"/>
            <a:ext cx="507606" cy="41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Picture 4">
            <a:extLst>
              <a:ext uri="{FF2B5EF4-FFF2-40B4-BE49-F238E27FC236}">
                <a16:creationId xmlns:a16="http://schemas.microsoft.com/office/drawing/2014/main" id="{3590868C-944D-4EF9-8001-3ABB8430B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5346" y="5939871"/>
            <a:ext cx="507606" cy="41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Picture 4">
            <a:extLst>
              <a:ext uri="{FF2B5EF4-FFF2-40B4-BE49-F238E27FC236}">
                <a16:creationId xmlns:a16="http://schemas.microsoft.com/office/drawing/2014/main" id="{DC897E12-FAB3-426B-AE5F-28304FFB3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7938" y="5534380"/>
            <a:ext cx="507606" cy="41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" name="矢印: 右 237">
            <a:extLst>
              <a:ext uri="{FF2B5EF4-FFF2-40B4-BE49-F238E27FC236}">
                <a16:creationId xmlns:a16="http://schemas.microsoft.com/office/drawing/2014/main" id="{803281CC-E089-4C0E-A1ED-BD40DA5164C0}"/>
              </a:ext>
            </a:extLst>
          </p:cNvPr>
          <p:cNvSpPr/>
          <p:nvPr/>
        </p:nvSpPr>
        <p:spPr>
          <a:xfrm>
            <a:off x="1805771" y="5755478"/>
            <a:ext cx="638621" cy="1523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9" name="テキスト ボックス 238">
            <a:extLst>
              <a:ext uri="{FF2B5EF4-FFF2-40B4-BE49-F238E27FC236}">
                <a16:creationId xmlns:a16="http://schemas.microsoft.com/office/drawing/2014/main" id="{A827E5BA-D2D7-4CC4-9B79-6CC71B2A2F90}"/>
              </a:ext>
            </a:extLst>
          </p:cNvPr>
          <p:cNvSpPr txBox="1"/>
          <p:nvPr/>
        </p:nvSpPr>
        <p:spPr>
          <a:xfrm>
            <a:off x="235364" y="5085722"/>
            <a:ext cx="1514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事務エリア</a:t>
            </a:r>
            <a:r>
              <a:rPr kumimoji="1" lang="en-US" altLang="ja-JP" sz="1400" dirty="0"/>
              <a:t>PC</a:t>
            </a:r>
          </a:p>
          <a:p>
            <a:r>
              <a:rPr kumimoji="1" lang="ja-JP" altLang="en-US" sz="1400" dirty="0"/>
              <a:t>生産現場</a:t>
            </a:r>
            <a:r>
              <a:rPr kumimoji="1" lang="en-US" altLang="ja-JP" sz="1400" dirty="0"/>
              <a:t>PC</a:t>
            </a:r>
            <a:endParaRPr kumimoji="1" lang="ja-JP" altLang="en-US" sz="1400" dirty="0"/>
          </a:p>
        </p:txBody>
      </p:sp>
      <p:sp>
        <p:nvSpPr>
          <p:cNvPr id="250" name="四角形: メモ 249">
            <a:extLst>
              <a:ext uri="{FF2B5EF4-FFF2-40B4-BE49-F238E27FC236}">
                <a16:creationId xmlns:a16="http://schemas.microsoft.com/office/drawing/2014/main" id="{1DC0B55E-FBDC-421E-BC87-AC63C7B1476A}"/>
              </a:ext>
            </a:extLst>
          </p:cNvPr>
          <p:cNvSpPr/>
          <p:nvPr/>
        </p:nvSpPr>
        <p:spPr>
          <a:xfrm>
            <a:off x="9216771" y="32042"/>
            <a:ext cx="1065727" cy="283434"/>
          </a:xfrm>
          <a:prstGeom prst="foldedCorner">
            <a:avLst/>
          </a:prstGeom>
          <a:solidFill>
            <a:srgbClr val="0000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/>
          </a:p>
        </p:txBody>
      </p:sp>
      <p:sp>
        <p:nvSpPr>
          <p:cNvPr id="251" name="テキスト ボックス 250">
            <a:extLst>
              <a:ext uri="{FF2B5EF4-FFF2-40B4-BE49-F238E27FC236}">
                <a16:creationId xmlns:a16="http://schemas.microsoft.com/office/drawing/2014/main" id="{D1EBE5E3-3769-4263-9D8A-2D997A3A432B}"/>
              </a:ext>
            </a:extLst>
          </p:cNvPr>
          <p:cNvSpPr txBox="1"/>
          <p:nvPr/>
        </p:nvSpPr>
        <p:spPr>
          <a:xfrm>
            <a:off x="10282498" y="-6628"/>
            <a:ext cx="151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→五十嵐淳一様</a:t>
            </a:r>
            <a:endParaRPr kumimoji="1" lang="en-US" altLang="ja-JP" sz="1200" b="1" dirty="0"/>
          </a:p>
          <a:p>
            <a:r>
              <a:rPr lang="ja-JP" altLang="en-US" sz="1200" b="1" dirty="0"/>
              <a:t>　</a:t>
            </a:r>
            <a:r>
              <a:rPr kumimoji="1" lang="ja-JP" altLang="en-US" sz="1200" b="1" dirty="0"/>
              <a:t>作成システム</a:t>
            </a:r>
          </a:p>
        </p:txBody>
      </p:sp>
      <p:sp>
        <p:nvSpPr>
          <p:cNvPr id="252" name="四角形: メモ 251">
            <a:extLst>
              <a:ext uri="{FF2B5EF4-FFF2-40B4-BE49-F238E27FC236}">
                <a16:creationId xmlns:a16="http://schemas.microsoft.com/office/drawing/2014/main" id="{A7FCCF2E-5340-40AA-8096-4E31995F9CA7}"/>
              </a:ext>
            </a:extLst>
          </p:cNvPr>
          <p:cNvSpPr/>
          <p:nvPr/>
        </p:nvSpPr>
        <p:spPr>
          <a:xfrm>
            <a:off x="9216771" y="473424"/>
            <a:ext cx="1065727" cy="314532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/>
          </a:p>
        </p:txBody>
      </p:sp>
      <p:sp>
        <p:nvSpPr>
          <p:cNvPr id="253" name="テキスト ボックス 252">
            <a:extLst>
              <a:ext uri="{FF2B5EF4-FFF2-40B4-BE49-F238E27FC236}">
                <a16:creationId xmlns:a16="http://schemas.microsoft.com/office/drawing/2014/main" id="{6FF50D40-9A1D-45D5-9076-8371AC6A4D59}"/>
              </a:ext>
            </a:extLst>
          </p:cNvPr>
          <p:cNvSpPr txBox="1"/>
          <p:nvPr/>
        </p:nvSpPr>
        <p:spPr>
          <a:xfrm>
            <a:off x="10244449" y="436156"/>
            <a:ext cx="151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→佐藤･水尾</a:t>
            </a:r>
            <a:endParaRPr kumimoji="1" lang="en-US" altLang="ja-JP" sz="1200" b="1" dirty="0"/>
          </a:p>
          <a:p>
            <a:r>
              <a:rPr lang="ja-JP" altLang="en-US" sz="1200" b="1" dirty="0"/>
              <a:t>　</a:t>
            </a:r>
            <a:r>
              <a:rPr kumimoji="1" lang="ja-JP" altLang="en-US" sz="1200" b="1" dirty="0"/>
              <a:t>作成システム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3AE7257-9398-4862-994E-5A6EC01DD2AC}"/>
              </a:ext>
            </a:extLst>
          </p:cNvPr>
          <p:cNvSpPr/>
          <p:nvPr/>
        </p:nvSpPr>
        <p:spPr>
          <a:xfrm>
            <a:off x="16741" y="945904"/>
            <a:ext cx="12192123" cy="591408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4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913AFFC-7F67-4D2B-A147-F8EFE330FADC}"/>
              </a:ext>
            </a:extLst>
          </p:cNvPr>
          <p:cNvSpPr/>
          <p:nvPr/>
        </p:nvSpPr>
        <p:spPr>
          <a:xfrm>
            <a:off x="2638122" y="1180843"/>
            <a:ext cx="2820099" cy="9812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①</a:t>
            </a:r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本プログラムに関する情報が引き継がれていない為</a:t>
            </a:r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プログラムを精査する必要あり</a:t>
            </a:r>
            <a:endParaRPr kumimoji="1" lang="ja-JP" altLang="en-US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745E6A4E-261B-481C-9C45-67C1D5A23ED6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 flipH="1">
            <a:off x="2363027" y="2162092"/>
            <a:ext cx="1685145" cy="3849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7ED13EB-32CE-41AC-90EA-803AAAE26593}"/>
              </a:ext>
            </a:extLst>
          </p:cNvPr>
          <p:cNvSpPr/>
          <p:nvPr/>
        </p:nvSpPr>
        <p:spPr>
          <a:xfrm>
            <a:off x="535346" y="2547086"/>
            <a:ext cx="3655361" cy="1333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941234E8-3655-4ACB-86FB-FDE078AA2692}"/>
              </a:ext>
            </a:extLst>
          </p:cNvPr>
          <p:cNvSpPr/>
          <p:nvPr/>
        </p:nvSpPr>
        <p:spPr>
          <a:xfrm>
            <a:off x="8170424" y="1927614"/>
            <a:ext cx="3838073" cy="13516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②通信制限エリア</a:t>
            </a:r>
            <a:r>
              <a:rPr kumimoji="1"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生産設備</a:t>
            </a:r>
            <a:r>
              <a:rPr kumimoji="1"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kumimoji="1"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や</a:t>
            </a:r>
            <a:r>
              <a:rPr kumimoji="1"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､</a:t>
            </a:r>
            <a:r>
              <a:rPr kumimoji="1"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第</a:t>
            </a:r>
            <a:r>
              <a:rPr kumimoji="1"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2</a:t>
            </a:r>
            <a:r>
              <a:rPr kumimoji="1"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生産部で使用している</a:t>
            </a:r>
            <a:r>
              <a:rPr kumimoji="1"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NAS(nksv523)</a:t>
            </a:r>
          </a:p>
          <a:p>
            <a:r>
              <a:rPr kumimoji="1"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との通信経路を設定して頂きたい</a:t>
            </a:r>
            <a:endParaRPr kumimoji="1"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必要に応じて</a:t>
            </a:r>
            <a:r>
              <a:rPr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NAS</a:t>
            </a:r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の移転も検討致します</a:t>
            </a:r>
            <a:r>
              <a:rPr lang="en-US" altLang="ja-JP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｡</a:t>
            </a:r>
            <a:endParaRPr kumimoji="1" lang="en-US" altLang="ja-JP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7976A2CC-F1EB-4C51-A323-E5F1F33CCC76}"/>
              </a:ext>
            </a:extLst>
          </p:cNvPr>
          <p:cNvSpPr/>
          <p:nvPr/>
        </p:nvSpPr>
        <p:spPr>
          <a:xfrm>
            <a:off x="6964196" y="1342291"/>
            <a:ext cx="531805" cy="49121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C711F985-19F0-45A3-A4A9-B2E25D0E6AED}"/>
              </a:ext>
            </a:extLst>
          </p:cNvPr>
          <p:cNvCxnSpPr>
            <a:cxnSpLocks/>
            <a:stCxn id="67" idx="1"/>
            <a:endCxn id="68" idx="3"/>
          </p:cNvCxnSpPr>
          <p:nvPr/>
        </p:nvCxnSpPr>
        <p:spPr>
          <a:xfrm flipH="1">
            <a:off x="7496001" y="2603449"/>
            <a:ext cx="674423" cy="1194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AA9FF1D-46B0-44E6-A87F-DFA6493AE20B}"/>
              </a:ext>
            </a:extLst>
          </p:cNvPr>
          <p:cNvSpPr/>
          <p:nvPr/>
        </p:nvSpPr>
        <p:spPr>
          <a:xfrm>
            <a:off x="2726507" y="4768414"/>
            <a:ext cx="2532612" cy="9812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4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③生産現場エリアのネットワークから閲覧できる経路を設定していただきたい</a:t>
            </a:r>
            <a:endParaRPr kumimoji="1" lang="ja-JP" altLang="en-US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A522329E-8A56-4ADC-B51E-71C98F200C64}"/>
              </a:ext>
            </a:extLst>
          </p:cNvPr>
          <p:cNvSpPr/>
          <p:nvPr/>
        </p:nvSpPr>
        <p:spPr>
          <a:xfrm>
            <a:off x="174647" y="5030302"/>
            <a:ext cx="1822296" cy="14917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400" b="1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3213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D1978-7F1A-4B38-9189-96F4143D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745"/>
            <a:ext cx="9761376" cy="615178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3600" dirty="0"/>
              <a:t>第</a:t>
            </a:r>
            <a:r>
              <a:rPr lang="en-US" altLang="ja-JP" sz="3600" dirty="0"/>
              <a:t>2</a:t>
            </a:r>
            <a:r>
              <a:rPr lang="ja-JP" altLang="en-US" sz="3600" dirty="0"/>
              <a:t>生産部生産</a:t>
            </a:r>
            <a:r>
              <a:rPr lang="en-US" altLang="ja-JP" sz="3600" dirty="0"/>
              <a:t>1</a:t>
            </a:r>
            <a:r>
              <a:rPr lang="ja-JP" altLang="en-US" sz="3600" dirty="0"/>
              <a:t>係として影響するシステム</a:t>
            </a:r>
            <a:endParaRPr lang="en-US" altLang="ja-JP" sz="36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927B7E-E989-4FEF-B80A-F1E156B9F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97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1800" b="1" u="sng" dirty="0">
                <a:solidFill>
                  <a:srgbClr val="0000FF"/>
                </a:solidFill>
              </a:rPr>
              <a:t>差分チェックシステム</a:t>
            </a:r>
            <a:endParaRPr lang="en-US" altLang="ja-JP" sz="1800" b="1" u="sng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kumimoji="1" lang="ja-JP" altLang="en-US" sz="1800" dirty="0"/>
              <a:t>└不具合が生じた場合</a:t>
            </a:r>
            <a:r>
              <a:rPr kumimoji="1" lang="en-US" altLang="ja-JP" sz="1800" dirty="0"/>
              <a:t>､</a:t>
            </a:r>
            <a:r>
              <a:rPr kumimoji="1" lang="ja-JP" altLang="en-US" sz="1800" dirty="0"/>
              <a:t>当日発令された全指図に対して</a:t>
            </a:r>
            <a:endParaRPr kumimoji="1" lang="en-US" altLang="ja-JP" sz="1800" dirty="0"/>
          </a:p>
          <a:p>
            <a:pPr marL="0" indent="0">
              <a:buNone/>
            </a:pPr>
            <a:r>
              <a:rPr lang="ja-JP" altLang="en-US" sz="1800" dirty="0"/>
              <a:t>　前回</a:t>
            </a:r>
            <a:r>
              <a:rPr kumimoji="1" lang="ja-JP" altLang="en-US" sz="1800" dirty="0"/>
              <a:t>生産時の</a:t>
            </a:r>
            <a:r>
              <a:rPr kumimoji="1" lang="en-US" altLang="ja-JP" sz="1800" dirty="0"/>
              <a:t>BOM</a:t>
            </a:r>
            <a:r>
              <a:rPr kumimoji="1" lang="ja-JP" altLang="en-US" sz="1800" dirty="0"/>
              <a:t>と手動で付け合わせる大きな工数が発生</a:t>
            </a:r>
            <a:r>
              <a:rPr kumimoji="1" lang="en-US" altLang="ja-JP" sz="1800" dirty="0"/>
              <a:t>(</a:t>
            </a:r>
            <a:r>
              <a:rPr lang="ja-JP" altLang="en-US" sz="1800" dirty="0"/>
              <a:t>丸一日の</a:t>
            </a:r>
            <a:r>
              <a:rPr kumimoji="1" lang="ja-JP" altLang="en-US" sz="1800" dirty="0"/>
              <a:t>工数が見込まれる</a:t>
            </a:r>
            <a:r>
              <a:rPr kumimoji="1" lang="en-US" altLang="ja-JP" sz="1800" dirty="0"/>
              <a:t>)</a:t>
            </a:r>
          </a:p>
          <a:p>
            <a:pPr marL="0" indent="0">
              <a:buNone/>
            </a:pPr>
            <a:r>
              <a:rPr kumimoji="1" lang="en-US" altLang="ja-JP" sz="1800" b="1" u="sng" dirty="0">
                <a:solidFill>
                  <a:srgbClr val="0000FF"/>
                </a:solidFill>
              </a:rPr>
              <a:t>SMT</a:t>
            </a:r>
            <a:r>
              <a:rPr kumimoji="1" lang="ja-JP" altLang="en-US" sz="1800" b="1" u="sng" dirty="0">
                <a:solidFill>
                  <a:srgbClr val="0000FF"/>
                </a:solidFill>
              </a:rPr>
              <a:t>実装品質可視化システム</a:t>
            </a:r>
            <a:endParaRPr kumimoji="1" lang="en-US" altLang="ja-JP" sz="1800" b="1" u="sng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ja-JP" altLang="en-US" sz="1800" dirty="0"/>
              <a:t>└不具合が生じた場合</a:t>
            </a:r>
            <a:r>
              <a:rPr lang="en-US" altLang="ja-JP" sz="1800" dirty="0"/>
              <a:t>､</a:t>
            </a:r>
            <a:r>
              <a:rPr lang="ja-JP" altLang="en-US" sz="1800" dirty="0"/>
              <a:t>実装品質の集計がリアルタイムで行えなくなり</a:t>
            </a:r>
            <a:r>
              <a:rPr lang="en-US" altLang="ja-JP" sz="1800" dirty="0"/>
              <a:t>､</a:t>
            </a:r>
          </a:p>
          <a:p>
            <a:pPr marL="0" indent="0">
              <a:buNone/>
            </a:pPr>
            <a:r>
              <a:rPr lang="ja-JP" altLang="en-US" sz="1800" dirty="0"/>
              <a:t>　迅速な不具合改善が行えなくなる</a:t>
            </a:r>
            <a:endParaRPr lang="en-US" altLang="ja-JP" sz="1800" dirty="0"/>
          </a:p>
        </p:txBody>
      </p:sp>
    </p:spTree>
    <p:extLst>
      <p:ext uri="{BB962C8B-B14F-4D97-AF65-F5344CB8AC3E}">
        <p14:creationId xmlns:p14="http://schemas.microsoft.com/office/powerpoint/2010/main" val="3522734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2224</TotalTime>
  <Words>904</Words>
  <Application>Microsoft Office PowerPoint</Application>
  <PresentationFormat>ワイド画面</PresentationFormat>
  <Paragraphs>195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Meiryo UI</vt:lpstr>
      <vt:lpstr>ＭＳ Ｐゴシック</vt:lpstr>
      <vt:lpstr>ＭＳ ゴシック</vt:lpstr>
      <vt:lpstr>游ゴシック</vt:lpstr>
      <vt:lpstr>游ゴシック Light</vt:lpstr>
      <vt:lpstr>Arial</vt:lpstr>
      <vt:lpstr>Office テーマ</vt:lpstr>
      <vt:lpstr>SMT実装品質 可視化システム(仮) DB説明</vt:lpstr>
      <vt:lpstr>システム全体図(ver1.00)</vt:lpstr>
      <vt:lpstr>システム全体図(ver1.00)</vt:lpstr>
      <vt:lpstr>不良率計算について</vt:lpstr>
      <vt:lpstr>[参考]現在の既存の目視検査入力システムについて</vt:lpstr>
      <vt:lpstr>追加予定機能一覧</vt:lpstr>
      <vt:lpstr>DB構築プログラムについて</vt:lpstr>
      <vt:lpstr>DBについて</vt:lpstr>
      <vt:lpstr>APPENDIX</vt:lpstr>
      <vt:lpstr>第2生産部で稼働中のシステム概要</vt:lpstr>
      <vt:lpstr>サーバー移行に関して</vt:lpstr>
      <vt:lpstr>第2生産部生産1係として影響するシステム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9</cp:revision>
  <dcterms:created xsi:type="dcterms:W3CDTF">2022-02-16T09:50:12Z</dcterms:created>
  <dcterms:modified xsi:type="dcterms:W3CDTF">2022-03-28T02:35:15Z</dcterms:modified>
</cp:coreProperties>
</file>