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2"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0" d="100"/>
          <a:sy n="80" d="100"/>
        </p:scale>
        <p:origin x="120" y="7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83A8C0-57F0-478E-88D4-5FB3F741218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49166C-56B2-4E6E-8973-A7F987EA6E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7300AC6-2D30-4160-BDC7-28EB21DB4277}"/>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5" name="フッター プレースホルダー 4">
            <a:extLst>
              <a:ext uri="{FF2B5EF4-FFF2-40B4-BE49-F238E27FC236}">
                <a16:creationId xmlns:a16="http://schemas.microsoft.com/office/drawing/2014/main" id="{9BB9D98C-23DC-4783-885C-6E559A95C3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46E1633-21ED-48A4-B006-C50C9F55E452}"/>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2593955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0AAF6D-EA6D-434B-B3A5-B2DEE282F4F6}"/>
              </a:ext>
            </a:extLst>
          </p:cNvPr>
          <p:cNvSpPr>
            <a:spLocks noGrp="1"/>
          </p:cNvSpPr>
          <p:nvPr>
            <p:ph type="title"/>
          </p:nvPr>
        </p:nvSpPr>
        <p:spPr>
          <a:xfrm>
            <a:off x="381000" y="152745"/>
            <a:ext cx="7772400" cy="615178"/>
          </a:xfrm>
        </p:spPr>
        <p:txBody>
          <a:bodyPr>
            <a:noAutofit/>
          </a:bodyPr>
          <a:lstStyle>
            <a:lvl1pPr>
              <a:defRPr sz="3600">
                <a:latin typeface="ＭＳ ゴシック" panose="020B0609070205080204" pitchFamily="49" charset="-128"/>
                <a:ea typeface="ＭＳ ゴシック" panose="020B0609070205080204" pitchFamily="49" charset="-128"/>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BD58DC4B-BC8D-4238-9909-725180CE852B}"/>
              </a:ext>
            </a:extLst>
          </p:cNvPr>
          <p:cNvSpPr>
            <a:spLocks noGrp="1"/>
          </p:cNvSpPr>
          <p:nvPr>
            <p:ph idx="1"/>
          </p:nvPr>
        </p:nvSpPr>
        <p:spPr/>
        <p:txBody>
          <a:bodyPr/>
          <a:lstStyle>
            <a:lvl1pPr>
              <a:defRPr>
                <a:latin typeface="ＭＳ ゴシック" panose="020B0609070205080204" pitchFamily="49" charset="-128"/>
                <a:ea typeface="ＭＳ ゴシック" panose="020B0609070205080204" pitchFamily="49" charset="-128"/>
              </a:defRPr>
            </a:lvl1pPr>
            <a:lvl2pPr>
              <a:defRPr>
                <a:latin typeface="ＭＳ ゴシック" panose="020B0609070205080204" pitchFamily="49" charset="-128"/>
                <a:ea typeface="ＭＳ ゴシック" panose="020B0609070205080204" pitchFamily="49" charset="-128"/>
              </a:defRPr>
            </a:lvl2pPr>
            <a:lvl3pPr>
              <a:defRPr>
                <a:latin typeface="ＭＳ ゴシック" panose="020B0609070205080204" pitchFamily="49" charset="-128"/>
                <a:ea typeface="ＭＳ ゴシック" panose="020B0609070205080204" pitchFamily="49" charset="-128"/>
              </a:defRPr>
            </a:lvl3pPr>
            <a:lvl4pPr>
              <a:defRPr>
                <a:latin typeface="ＭＳ ゴシック" panose="020B0609070205080204" pitchFamily="49" charset="-128"/>
                <a:ea typeface="ＭＳ ゴシック" panose="020B0609070205080204" pitchFamily="49" charset="-128"/>
              </a:defRPr>
            </a:lvl4pPr>
            <a:lvl5pPr>
              <a:defRPr>
                <a:latin typeface="ＭＳ ゴシック" panose="020B0609070205080204" pitchFamily="49" charset="-128"/>
                <a:ea typeface="ＭＳ ゴシック" panose="020B0609070205080204" pitchFamily="49"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C7510C5C-1576-44C4-BB1F-324DB996065B}"/>
              </a:ext>
            </a:extLst>
          </p:cNvPr>
          <p:cNvSpPr>
            <a:spLocks noGrp="1"/>
          </p:cNvSpPr>
          <p:nvPr>
            <p:ph type="dt" sz="half" idx="10"/>
          </p:nvPr>
        </p:nvSpPr>
        <p:spPr/>
        <p:txBody>
          <a:bodyPr/>
          <a:lstStyle>
            <a:lvl1pPr>
              <a:defRPr>
                <a:latin typeface="ＭＳ ゴシック" panose="020B0609070205080204" pitchFamily="49" charset="-128"/>
                <a:ea typeface="ＭＳ ゴシック" panose="020B0609070205080204" pitchFamily="49" charset="-128"/>
              </a:defRPr>
            </a:lvl1pPr>
          </a:lstStyle>
          <a:p>
            <a:fld id="{0CED8E22-53D6-4154-8E3C-6B18391D9624}" type="datetimeFigureOut">
              <a:rPr lang="ja-JP" altLang="en-US" smtClean="0"/>
              <a:pPr/>
              <a:t>2022/3/29</a:t>
            </a:fld>
            <a:endParaRPr lang="ja-JP" altLang="en-US"/>
          </a:p>
        </p:txBody>
      </p:sp>
      <p:sp>
        <p:nvSpPr>
          <p:cNvPr id="5" name="フッター プレースホルダー 4">
            <a:extLst>
              <a:ext uri="{FF2B5EF4-FFF2-40B4-BE49-F238E27FC236}">
                <a16:creationId xmlns:a16="http://schemas.microsoft.com/office/drawing/2014/main" id="{5CFD6988-86A8-4D80-90E0-5E27A6222F67}"/>
              </a:ext>
            </a:extLst>
          </p:cNvPr>
          <p:cNvSpPr>
            <a:spLocks noGrp="1"/>
          </p:cNvSpPr>
          <p:nvPr>
            <p:ph type="ftr" sz="quarter" idx="11"/>
          </p:nvPr>
        </p:nvSpPr>
        <p:spPr/>
        <p:txBody>
          <a:bodyPr/>
          <a:lstStyle>
            <a:lvl1pPr>
              <a:defRPr>
                <a:latin typeface="ＭＳ ゴシック" panose="020B0609070205080204" pitchFamily="49" charset="-128"/>
                <a:ea typeface="ＭＳ ゴシック" panose="020B0609070205080204" pitchFamily="49" charset="-128"/>
              </a:defRPr>
            </a:lvl1pPr>
          </a:lstStyle>
          <a:p>
            <a:r>
              <a:rPr lang="ja-JP" altLang="en-US"/>
              <a:t>第</a:t>
            </a:r>
            <a:r>
              <a:rPr lang="en-US" altLang="ja-JP"/>
              <a:t>2</a:t>
            </a:r>
            <a:r>
              <a:rPr lang="ja-JP" altLang="en-US"/>
              <a:t>生産部生産</a:t>
            </a:r>
            <a:r>
              <a:rPr lang="en-US" altLang="ja-JP"/>
              <a:t>1</a:t>
            </a:r>
            <a:r>
              <a:rPr lang="ja-JP" altLang="en-US"/>
              <a:t>課</a:t>
            </a:r>
            <a:r>
              <a:rPr lang="en-US" altLang="ja-JP"/>
              <a:t>1</a:t>
            </a:r>
            <a:r>
              <a:rPr lang="ja-JP" altLang="en-US"/>
              <a:t>係</a:t>
            </a:r>
            <a:endParaRPr lang="ja-JP" altLang="en-US" dirty="0"/>
          </a:p>
        </p:txBody>
      </p:sp>
      <p:sp>
        <p:nvSpPr>
          <p:cNvPr id="6" name="スライド番号プレースホルダー 5">
            <a:extLst>
              <a:ext uri="{FF2B5EF4-FFF2-40B4-BE49-F238E27FC236}">
                <a16:creationId xmlns:a16="http://schemas.microsoft.com/office/drawing/2014/main" id="{B20C5CCF-1D43-4E41-8713-0ABBB0E32EE5}"/>
              </a:ext>
            </a:extLst>
          </p:cNvPr>
          <p:cNvSpPr>
            <a:spLocks noGrp="1"/>
          </p:cNvSpPr>
          <p:nvPr>
            <p:ph type="sldNum" sz="quarter" idx="12"/>
          </p:nvPr>
        </p:nvSpPr>
        <p:spPr/>
        <p:txBody>
          <a:bodyPr/>
          <a:lstStyle>
            <a:lvl1pPr>
              <a:defRPr>
                <a:latin typeface="ＭＳ ゴシック" panose="020B0609070205080204" pitchFamily="49" charset="-128"/>
                <a:ea typeface="ＭＳ ゴシック" panose="020B0609070205080204" pitchFamily="49" charset="-128"/>
              </a:defRPr>
            </a:lvl1pPr>
          </a:lstStyle>
          <a:p>
            <a:fld id="{320F96E4-6393-485F-BD8D-02C5A2D09C56}" type="slidenum">
              <a:rPr lang="ja-JP" altLang="en-US" smtClean="0"/>
              <a:pPr/>
              <a:t>‹#›</a:t>
            </a:fld>
            <a:endParaRPr lang="ja-JP" altLang="en-US"/>
          </a:p>
        </p:txBody>
      </p:sp>
      <p:cxnSp>
        <p:nvCxnSpPr>
          <p:cNvPr id="10" name="直線コネクタ 9">
            <a:extLst>
              <a:ext uri="{FF2B5EF4-FFF2-40B4-BE49-F238E27FC236}">
                <a16:creationId xmlns:a16="http://schemas.microsoft.com/office/drawing/2014/main" id="{171E6363-C0C0-448C-A31B-63C2CEE74031}"/>
              </a:ext>
            </a:extLst>
          </p:cNvPr>
          <p:cNvCxnSpPr>
            <a:cxnSpLocks/>
          </p:cNvCxnSpPr>
          <p:nvPr userDrawn="1"/>
        </p:nvCxnSpPr>
        <p:spPr>
          <a:xfrm>
            <a:off x="0" y="926757"/>
            <a:ext cx="1219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10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41B70F-2394-43D8-83BB-6E1B566B88C9}"/>
              </a:ext>
            </a:extLst>
          </p:cNvPr>
          <p:cNvSpPr>
            <a:spLocks noGrp="1"/>
          </p:cNvSpPr>
          <p:nvPr>
            <p:ph type="title"/>
          </p:nvPr>
        </p:nvSpPr>
        <p:spPr>
          <a:xfrm>
            <a:off x="831850" y="1709738"/>
            <a:ext cx="10515600" cy="2852737"/>
          </a:xfrm>
        </p:spPr>
        <p:txBody>
          <a:bodyPr anchor="b"/>
          <a:lstStyle>
            <a:lvl1pPr>
              <a:defRPr sz="60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0C4710-ED24-4C3C-9C57-EBFBD1DAC9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ＭＳ ゴシック" panose="020B0609070205080204" pitchFamily="49" charset="-128"/>
                <a:ea typeface="ＭＳ ゴシック" panose="020B0609070205080204" pitchFamily="49"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B57D8F-46F4-40F8-B408-3218D58C9C34}"/>
              </a:ext>
            </a:extLst>
          </p:cNvPr>
          <p:cNvSpPr>
            <a:spLocks noGrp="1"/>
          </p:cNvSpPr>
          <p:nvPr>
            <p:ph type="dt" sz="half" idx="10"/>
          </p:nvPr>
        </p:nvSpPr>
        <p:spPr/>
        <p:txBody>
          <a:bodyPr/>
          <a:lstStyle>
            <a:lvl1pPr>
              <a:defRPr>
                <a:latin typeface="ＭＳ ゴシック" panose="020B0609070205080204" pitchFamily="49" charset="-128"/>
                <a:ea typeface="ＭＳ ゴシック" panose="020B0609070205080204" pitchFamily="49" charset="-128"/>
              </a:defRPr>
            </a:lvl1pPr>
          </a:lstStyle>
          <a:p>
            <a:fld id="{0CED8E22-53D6-4154-8E3C-6B18391D9624}" type="datetimeFigureOut">
              <a:rPr lang="ja-JP" altLang="en-US" smtClean="0"/>
              <a:pPr/>
              <a:t>2022/3/29</a:t>
            </a:fld>
            <a:endParaRPr lang="ja-JP" altLang="en-US"/>
          </a:p>
        </p:txBody>
      </p:sp>
      <p:sp>
        <p:nvSpPr>
          <p:cNvPr id="5" name="フッター プレースホルダー 4">
            <a:extLst>
              <a:ext uri="{FF2B5EF4-FFF2-40B4-BE49-F238E27FC236}">
                <a16:creationId xmlns:a16="http://schemas.microsoft.com/office/drawing/2014/main" id="{DA37B0C6-354E-429C-9E34-E7C42FBF9FB1}"/>
              </a:ext>
            </a:extLst>
          </p:cNvPr>
          <p:cNvSpPr>
            <a:spLocks noGrp="1"/>
          </p:cNvSpPr>
          <p:nvPr>
            <p:ph type="ftr" sz="quarter" idx="11"/>
          </p:nvPr>
        </p:nvSpPr>
        <p:spPr/>
        <p:txBody>
          <a:bodyPr/>
          <a:lstStyle>
            <a:lvl1pPr>
              <a:defRPr>
                <a:latin typeface="ＭＳ ゴシック" panose="020B0609070205080204" pitchFamily="49" charset="-128"/>
                <a:ea typeface="ＭＳ ゴシック" panose="020B0609070205080204" pitchFamily="49"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1C2A3674-0DEF-4573-9204-D63F786F5900}"/>
              </a:ext>
            </a:extLst>
          </p:cNvPr>
          <p:cNvSpPr>
            <a:spLocks noGrp="1"/>
          </p:cNvSpPr>
          <p:nvPr>
            <p:ph type="sldNum" sz="quarter" idx="12"/>
          </p:nvPr>
        </p:nvSpPr>
        <p:spPr/>
        <p:txBody>
          <a:bodyPr/>
          <a:lstStyle>
            <a:lvl1pPr>
              <a:defRPr>
                <a:latin typeface="ＭＳ ゴシック" panose="020B0609070205080204" pitchFamily="49" charset="-128"/>
                <a:ea typeface="ＭＳ ゴシック" panose="020B0609070205080204" pitchFamily="49" charset="-128"/>
              </a:defRPr>
            </a:lvl1pPr>
          </a:lstStyle>
          <a:p>
            <a:fld id="{320F96E4-6393-485F-BD8D-02C5A2D09C56}" type="slidenum">
              <a:rPr lang="ja-JP" altLang="en-US" smtClean="0"/>
              <a:pPr/>
              <a:t>‹#›</a:t>
            </a:fld>
            <a:endParaRPr lang="ja-JP" altLang="en-US"/>
          </a:p>
        </p:txBody>
      </p:sp>
    </p:spTree>
    <p:extLst>
      <p:ext uri="{BB962C8B-B14F-4D97-AF65-F5344CB8AC3E}">
        <p14:creationId xmlns:p14="http://schemas.microsoft.com/office/powerpoint/2010/main" val="4119312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8A6B70-DC1B-4056-9C96-E38BD6B211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8BE7CA8-2EAD-4E33-B771-222EB3F7B38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D8694C4-9DDC-429C-9C1E-B7B25F9188F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571FA17-2F4C-4241-AB28-1D48C7DEE1E2}"/>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6" name="フッター プレースホルダー 5">
            <a:extLst>
              <a:ext uri="{FF2B5EF4-FFF2-40B4-BE49-F238E27FC236}">
                <a16:creationId xmlns:a16="http://schemas.microsoft.com/office/drawing/2014/main" id="{8DCBC12C-4A72-4181-B97A-EC75B8AF6E3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5C958B-DF13-4EFD-BDAA-3030CE0267D3}"/>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3091970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72230C-8207-41F7-B30F-F995C715EEA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2D5522E-2814-4E9A-A2D0-2212C86A0A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5472FB2-BEA2-4F11-BADA-1F94CE2E575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302357-1312-4A4A-AAA9-7ABA156660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E2ABCE4-823D-4B3B-9F72-809381C7759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C64F7F7-488E-46A7-95A5-EE9D9AE48891}"/>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8" name="フッター プレースホルダー 7">
            <a:extLst>
              <a:ext uri="{FF2B5EF4-FFF2-40B4-BE49-F238E27FC236}">
                <a16:creationId xmlns:a16="http://schemas.microsoft.com/office/drawing/2014/main" id="{B9DFEFB0-1F97-486A-8153-B6F47BC9A62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80865DC-CD11-4AD4-B7CA-DD1221B5DBA8}"/>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2957353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FCBE32-3431-4A46-B85C-F4582E3D8BE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AD70E16-1015-4D54-9658-DEB9C6B4CD43}"/>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4" name="フッター プレースホルダー 3">
            <a:extLst>
              <a:ext uri="{FF2B5EF4-FFF2-40B4-BE49-F238E27FC236}">
                <a16:creationId xmlns:a16="http://schemas.microsoft.com/office/drawing/2014/main" id="{970CF965-E1E2-499A-AE18-B87C8C36505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EF6132F-36B7-469B-990D-8D2BDA0F3BC1}"/>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284723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C08557D-2C47-469A-B23E-EB67D934BFDB}"/>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3" name="フッター プレースホルダー 2">
            <a:extLst>
              <a:ext uri="{FF2B5EF4-FFF2-40B4-BE49-F238E27FC236}">
                <a16:creationId xmlns:a16="http://schemas.microsoft.com/office/drawing/2014/main" id="{5D789AFD-4939-4D05-BE3B-3921E74D393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0A9C0F1-AE44-42A4-ADBF-D59E726DCF74}"/>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2907700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15C5BC-7EF2-4EF9-A46A-9A328D0FE0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B394B4-E64D-43C4-9F6B-6B06A66B5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3E1A201-B48F-456C-B887-3BBD03F7B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F1DD2E3-FBBC-4AEF-B289-FB7E864A9228}"/>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6" name="フッター プレースホルダー 5">
            <a:extLst>
              <a:ext uri="{FF2B5EF4-FFF2-40B4-BE49-F238E27FC236}">
                <a16:creationId xmlns:a16="http://schemas.microsoft.com/office/drawing/2014/main" id="{60C8C1B3-2992-4BE1-87B2-D2797377C7C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1F48BD2-6814-44FE-B34A-687188876CDA}"/>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131908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3FEBC2-368F-41D8-BE15-4CF2A340BEF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7AB1FD5-A528-40F1-999A-CAF09FEFAE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1097D0B-B1B4-4579-B2D0-DED13C4F5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01F8D24-F97F-4923-955A-CB81003D4F8A}"/>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6" name="フッター プレースホルダー 5">
            <a:extLst>
              <a:ext uri="{FF2B5EF4-FFF2-40B4-BE49-F238E27FC236}">
                <a16:creationId xmlns:a16="http://schemas.microsoft.com/office/drawing/2014/main" id="{D7D07F4E-3172-40F8-9514-622BB43A34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7C2ADCC-A356-4FA6-9651-7B73408B0C5C}"/>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1607854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133762-F233-48E5-A0AC-C328275025D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D593C8E-0AC3-4C15-96E8-5107FDF6F15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C7C0E9-AFE9-4CC7-8727-CBE8FF950BF4}"/>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5" name="フッター プレースホルダー 4">
            <a:extLst>
              <a:ext uri="{FF2B5EF4-FFF2-40B4-BE49-F238E27FC236}">
                <a16:creationId xmlns:a16="http://schemas.microsoft.com/office/drawing/2014/main" id="{8F1DB021-C6DB-44CC-A817-090A5F3D68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5A2BB8-6467-43BA-9E78-8E6EB767804F}"/>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3545836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B1C1A5F-F806-4C36-8F3B-3859EAC3DE5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6D5A69C-CA3B-4342-8C3C-D7E812749CF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888BF6-F1D7-4A42-954F-914C28949C6C}"/>
              </a:ext>
            </a:extLst>
          </p:cNvPr>
          <p:cNvSpPr>
            <a:spLocks noGrp="1"/>
          </p:cNvSpPr>
          <p:nvPr>
            <p:ph type="dt" sz="half" idx="10"/>
          </p:nvPr>
        </p:nvSpPr>
        <p:spPr/>
        <p:txBody>
          <a:bodyPr/>
          <a:lstStyle/>
          <a:p>
            <a:fld id="{0CED8E22-53D6-4154-8E3C-6B18391D9624}" type="datetimeFigureOut">
              <a:rPr kumimoji="1" lang="ja-JP" altLang="en-US" smtClean="0"/>
              <a:t>2022/3/29</a:t>
            </a:fld>
            <a:endParaRPr kumimoji="1" lang="ja-JP" altLang="en-US"/>
          </a:p>
        </p:txBody>
      </p:sp>
      <p:sp>
        <p:nvSpPr>
          <p:cNvPr id="5" name="フッター プレースホルダー 4">
            <a:extLst>
              <a:ext uri="{FF2B5EF4-FFF2-40B4-BE49-F238E27FC236}">
                <a16:creationId xmlns:a16="http://schemas.microsoft.com/office/drawing/2014/main" id="{679F7C0E-2CFC-4014-83BF-6BAA20591D1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0E0F66-3917-4ED2-8523-247114010D14}"/>
              </a:ext>
            </a:extLst>
          </p:cNvPr>
          <p:cNvSpPr>
            <a:spLocks noGrp="1"/>
          </p:cNvSpPr>
          <p:nvPr>
            <p:ph type="sldNum" sz="quarter" idx="12"/>
          </p:nvPr>
        </p:nvSpPr>
        <p:spPr/>
        <p:txBody>
          <a:body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3987557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D6DA7CB-F089-45B6-AA06-F34D33104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59DCF9A-79EB-4785-8C1B-5B85B28F28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0C953D-6B86-4EA7-9820-FA7E26B1E3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ED8E22-53D6-4154-8E3C-6B18391D9624}" type="datetimeFigureOut">
              <a:rPr kumimoji="1" lang="ja-JP" altLang="en-US" smtClean="0"/>
              <a:t>2022/3/29</a:t>
            </a:fld>
            <a:endParaRPr kumimoji="1" lang="ja-JP" altLang="en-US"/>
          </a:p>
        </p:txBody>
      </p:sp>
      <p:sp>
        <p:nvSpPr>
          <p:cNvPr id="5" name="フッター プレースホルダー 4">
            <a:extLst>
              <a:ext uri="{FF2B5EF4-FFF2-40B4-BE49-F238E27FC236}">
                <a16:creationId xmlns:a16="http://schemas.microsoft.com/office/drawing/2014/main" id="{6824D29D-C401-4265-96CF-07E6934D33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22FDCB5-FBD6-41A1-90BE-FEFA766A78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0F96E4-6393-485F-BD8D-02C5A2D09C56}" type="slidenum">
              <a:rPr kumimoji="1" lang="ja-JP" altLang="en-US" smtClean="0"/>
              <a:t>‹#›</a:t>
            </a:fld>
            <a:endParaRPr kumimoji="1" lang="ja-JP" altLang="en-US"/>
          </a:p>
        </p:txBody>
      </p:sp>
    </p:spTree>
    <p:extLst>
      <p:ext uri="{BB962C8B-B14F-4D97-AF65-F5344CB8AC3E}">
        <p14:creationId xmlns:p14="http://schemas.microsoft.com/office/powerpoint/2010/main" val="3144824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4F4C8-B7DC-4184-804A-C4BD687B4090}"/>
              </a:ext>
            </a:extLst>
          </p:cNvPr>
          <p:cNvSpPr>
            <a:spLocks noGrp="1"/>
          </p:cNvSpPr>
          <p:nvPr>
            <p:ph type="ctrTitle"/>
          </p:nvPr>
        </p:nvSpPr>
        <p:spPr/>
        <p:txBody>
          <a:bodyPr>
            <a:normAutofit/>
          </a:bodyPr>
          <a:lstStyle/>
          <a:p>
            <a:r>
              <a:rPr lang="ja-JP" altLang="en-US" dirty="0">
                <a:latin typeface="ＭＳ Ｐゴシック" panose="020B0600070205080204" pitchFamily="50" charset="-128"/>
                <a:ea typeface="ＭＳ Ｐゴシック" panose="020B0600070205080204" pitchFamily="50" charset="-128"/>
              </a:rPr>
              <a:t>サーバー移行影響調査</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3" name="字幕 2">
            <a:extLst>
              <a:ext uri="{FF2B5EF4-FFF2-40B4-BE49-F238E27FC236}">
                <a16:creationId xmlns:a16="http://schemas.microsoft.com/office/drawing/2014/main" id="{B39147DD-8143-48F7-AC00-83A425F04212}"/>
              </a:ext>
            </a:extLst>
          </p:cNvPr>
          <p:cNvSpPr>
            <a:spLocks noGrp="1"/>
          </p:cNvSpPr>
          <p:nvPr>
            <p:ph type="subTitle" idx="1"/>
          </p:nvPr>
        </p:nvSpPr>
        <p:spPr/>
        <p:txBody>
          <a:bodyPr/>
          <a:lstStyle/>
          <a:p>
            <a:r>
              <a:rPr kumimoji="1" lang="zh-TW" altLang="en-US" dirty="0">
                <a:latin typeface="ＭＳ Ｐゴシック" panose="020B0600070205080204" pitchFamily="50" charset="-128"/>
                <a:ea typeface="ＭＳ Ｐゴシック" panose="020B0600070205080204" pitchFamily="50" charset="-128"/>
              </a:rPr>
              <a:t>第二生産部生産一課一係</a:t>
            </a:r>
            <a:endParaRPr kumimoji="1" lang="en-US" altLang="zh-TW" dirty="0">
              <a:latin typeface="ＭＳ Ｐゴシック" panose="020B0600070205080204" pitchFamily="50" charset="-128"/>
              <a:ea typeface="ＭＳ Ｐゴシック" panose="020B0600070205080204" pitchFamily="50" charset="-128"/>
            </a:endParaRPr>
          </a:p>
          <a:p>
            <a:r>
              <a:rPr kumimoji="1" lang="ja-JP" altLang="en-US" dirty="0">
                <a:latin typeface="ＭＳ Ｐゴシック" panose="020B0600070205080204" pitchFamily="50" charset="-128"/>
                <a:ea typeface="ＭＳ Ｐゴシック" panose="020B0600070205080204" pitchFamily="50" charset="-128"/>
              </a:rPr>
              <a:t>佐藤　勇希</a:t>
            </a:r>
          </a:p>
        </p:txBody>
      </p:sp>
    </p:spTree>
    <p:extLst>
      <p:ext uri="{BB962C8B-B14F-4D97-AF65-F5344CB8AC3E}">
        <p14:creationId xmlns:p14="http://schemas.microsoft.com/office/powerpoint/2010/main" val="3789650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E71FFE42-0268-44ED-B220-914BF3A010FF}"/>
              </a:ext>
            </a:extLst>
          </p:cNvPr>
          <p:cNvSpPr/>
          <p:nvPr/>
        </p:nvSpPr>
        <p:spPr>
          <a:xfrm>
            <a:off x="4679058" y="2539614"/>
            <a:ext cx="1798696" cy="146037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MySQL</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2" name="タイトル 1">
            <a:extLst>
              <a:ext uri="{FF2B5EF4-FFF2-40B4-BE49-F238E27FC236}">
                <a16:creationId xmlns:a16="http://schemas.microsoft.com/office/drawing/2014/main" id="{46972280-8F98-43BC-BBC1-C0676FC6F0AC}"/>
              </a:ext>
            </a:extLst>
          </p:cNvPr>
          <p:cNvSpPr>
            <a:spLocks noGrp="1"/>
          </p:cNvSpPr>
          <p:nvPr>
            <p:ph type="title"/>
          </p:nvPr>
        </p:nvSpPr>
        <p:spPr>
          <a:xfrm>
            <a:off x="571874" y="171138"/>
            <a:ext cx="8297805" cy="682279"/>
          </a:xfrm>
        </p:spPr>
        <p:txBody>
          <a:bodyPr>
            <a:normAutofit/>
          </a:bodyPr>
          <a:lstStyle/>
          <a:p>
            <a:r>
              <a:rPr lang="ja-JP" altLang="en-US" dirty="0"/>
              <a:t>第</a:t>
            </a:r>
            <a:r>
              <a:rPr lang="en-US" altLang="ja-JP" dirty="0"/>
              <a:t>2</a:t>
            </a:r>
            <a:r>
              <a:rPr lang="ja-JP" altLang="en-US" dirty="0"/>
              <a:t>生産部で稼働中のシステム概要</a:t>
            </a:r>
            <a:endParaRPr kumimoji="1" lang="ja-JP" altLang="en-US" dirty="0">
              <a:latin typeface="ＭＳ ゴシック" panose="020B0609070205080204" pitchFamily="49" charset="-128"/>
              <a:ea typeface="ＭＳ ゴシック" panose="020B0609070205080204" pitchFamily="49" charset="-128"/>
            </a:endParaRPr>
          </a:p>
        </p:txBody>
      </p:sp>
      <p:sp>
        <p:nvSpPr>
          <p:cNvPr id="53" name="正方形/長方形 52">
            <a:extLst>
              <a:ext uri="{FF2B5EF4-FFF2-40B4-BE49-F238E27FC236}">
                <a16:creationId xmlns:a16="http://schemas.microsoft.com/office/drawing/2014/main" id="{A43638D5-F964-41CD-B243-8773C8650576}"/>
              </a:ext>
            </a:extLst>
          </p:cNvPr>
          <p:cNvSpPr/>
          <p:nvPr/>
        </p:nvSpPr>
        <p:spPr>
          <a:xfrm>
            <a:off x="382781" y="1174302"/>
            <a:ext cx="1091494" cy="7877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BOSS</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45" name="正方形/長方形 44">
            <a:extLst>
              <a:ext uri="{FF2B5EF4-FFF2-40B4-BE49-F238E27FC236}">
                <a16:creationId xmlns:a16="http://schemas.microsoft.com/office/drawing/2014/main" id="{6E276FC2-399C-4FFE-B770-15888C240AD1}"/>
              </a:ext>
            </a:extLst>
          </p:cNvPr>
          <p:cNvSpPr/>
          <p:nvPr/>
        </p:nvSpPr>
        <p:spPr>
          <a:xfrm>
            <a:off x="2380606" y="994194"/>
            <a:ext cx="1917074" cy="12585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\\nksvasp23\SMT_RCV</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46" name="正方形/長方形 45">
            <a:extLst>
              <a:ext uri="{FF2B5EF4-FFF2-40B4-BE49-F238E27FC236}">
                <a16:creationId xmlns:a16="http://schemas.microsoft.com/office/drawing/2014/main" id="{772FFDD0-59A1-4565-9D93-AA3F03A4EA83}"/>
              </a:ext>
            </a:extLst>
          </p:cNvPr>
          <p:cNvSpPr/>
          <p:nvPr/>
        </p:nvSpPr>
        <p:spPr>
          <a:xfrm>
            <a:off x="2535398" y="1364134"/>
            <a:ext cx="1022449" cy="2040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050" b="1" dirty="0">
                <a:latin typeface="ＭＳ ゴシック" panose="020B0609070205080204" pitchFamily="49" charset="-128"/>
                <a:ea typeface="ＭＳ ゴシック" panose="020B0609070205080204" pitchFamily="49" charset="-128"/>
              </a:rPr>
              <a:t>IFID142.csv </a:t>
            </a:r>
            <a:endParaRPr kumimoji="1" lang="ja-JP" altLang="en-US" sz="1050" b="1" dirty="0">
              <a:latin typeface="ＭＳ ゴシック" panose="020B0609070205080204" pitchFamily="49" charset="-128"/>
              <a:ea typeface="ＭＳ ゴシック" panose="020B0609070205080204" pitchFamily="49" charset="-128"/>
            </a:endParaRPr>
          </a:p>
        </p:txBody>
      </p:sp>
      <p:cxnSp>
        <p:nvCxnSpPr>
          <p:cNvPr id="47" name="コネクタ: カギ線 46">
            <a:extLst>
              <a:ext uri="{FF2B5EF4-FFF2-40B4-BE49-F238E27FC236}">
                <a16:creationId xmlns:a16="http://schemas.microsoft.com/office/drawing/2014/main" id="{CF6801FA-DB11-4C26-B6BB-C2FDABF6A8A4}"/>
              </a:ext>
            </a:extLst>
          </p:cNvPr>
          <p:cNvCxnSpPr>
            <a:cxnSpLocks/>
            <a:stCxn id="7" idx="0"/>
            <a:endCxn id="45" idx="1"/>
          </p:cNvCxnSpPr>
          <p:nvPr/>
        </p:nvCxnSpPr>
        <p:spPr>
          <a:xfrm flipV="1">
            <a:off x="1290379" y="1623472"/>
            <a:ext cx="1090227" cy="61021"/>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C44770A-CA5D-467F-ACB1-5C603849F74E}"/>
              </a:ext>
            </a:extLst>
          </p:cNvPr>
          <p:cNvSpPr/>
          <p:nvPr/>
        </p:nvSpPr>
        <p:spPr>
          <a:xfrm>
            <a:off x="2535398" y="1634959"/>
            <a:ext cx="1022449" cy="2040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050" b="1" dirty="0">
                <a:latin typeface="ＭＳ ゴシック" panose="020B0609070205080204" pitchFamily="49" charset="-128"/>
                <a:ea typeface="ＭＳ ゴシック" panose="020B0609070205080204" pitchFamily="49" charset="-128"/>
              </a:rPr>
              <a:t>IFID139.csv </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49" name="正方形/長方形 48">
            <a:extLst>
              <a:ext uri="{FF2B5EF4-FFF2-40B4-BE49-F238E27FC236}">
                <a16:creationId xmlns:a16="http://schemas.microsoft.com/office/drawing/2014/main" id="{537DC213-0AC4-4FE1-B9B5-2EAA1FEFBB3D}"/>
              </a:ext>
            </a:extLst>
          </p:cNvPr>
          <p:cNvSpPr/>
          <p:nvPr/>
        </p:nvSpPr>
        <p:spPr>
          <a:xfrm>
            <a:off x="2535398" y="1877755"/>
            <a:ext cx="1022449" cy="2040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050" b="1" dirty="0">
                <a:latin typeface="ＭＳ ゴシック" panose="020B0609070205080204" pitchFamily="49" charset="-128"/>
                <a:ea typeface="ＭＳ ゴシック" panose="020B0609070205080204" pitchFamily="49" charset="-128"/>
              </a:rPr>
              <a:t>IFID146.csv </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7" name="雲 6">
            <a:extLst>
              <a:ext uri="{FF2B5EF4-FFF2-40B4-BE49-F238E27FC236}">
                <a16:creationId xmlns:a16="http://schemas.microsoft.com/office/drawing/2014/main" id="{CE898E9D-2200-4991-B46D-A1556713BF2F}"/>
              </a:ext>
            </a:extLst>
          </p:cNvPr>
          <p:cNvSpPr/>
          <p:nvPr/>
        </p:nvSpPr>
        <p:spPr>
          <a:xfrm>
            <a:off x="566072" y="1487556"/>
            <a:ext cx="724911" cy="39387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2215FDC8-94CB-4C40-BE88-276AB30ABD37}"/>
              </a:ext>
            </a:extLst>
          </p:cNvPr>
          <p:cNvSpPr/>
          <p:nvPr/>
        </p:nvSpPr>
        <p:spPr>
          <a:xfrm>
            <a:off x="325398" y="2452961"/>
            <a:ext cx="6319241" cy="187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nksv560</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cxnSp>
        <p:nvCxnSpPr>
          <p:cNvPr id="58" name="コネクタ: カギ線 57">
            <a:extLst>
              <a:ext uri="{FF2B5EF4-FFF2-40B4-BE49-F238E27FC236}">
                <a16:creationId xmlns:a16="http://schemas.microsoft.com/office/drawing/2014/main" id="{DC1DCFEE-5751-4495-A2A3-0232AA9E5F5E}"/>
              </a:ext>
            </a:extLst>
          </p:cNvPr>
          <p:cNvCxnSpPr>
            <a:cxnSpLocks/>
            <a:stCxn id="49" idx="3"/>
            <a:endCxn id="93" idx="0"/>
          </p:cNvCxnSpPr>
          <p:nvPr/>
        </p:nvCxnSpPr>
        <p:spPr>
          <a:xfrm flipH="1">
            <a:off x="2325637" y="1979776"/>
            <a:ext cx="1232210" cy="768468"/>
          </a:xfrm>
          <a:prstGeom prst="bentConnector4">
            <a:avLst>
              <a:gd name="adj1" fmla="val -18552"/>
              <a:gd name="adj2" fmla="val 46903"/>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0" name="コネクタ: カギ線 69">
            <a:extLst>
              <a:ext uri="{FF2B5EF4-FFF2-40B4-BE49-F238E27FC236}">
                <a16:creationId xmlns:a16="http://schemas.microsoft.com/office/drawing/2014/main" id="{A883A79D-ACE0-4037-82BF-7863343C905E}"/>
              </a:ext>
            </a:extLst>
          </p:cNvPr>
          <p:cNvCxnSpPr>
            <a:cxnSpLocks/>
            <a:stCxn id="93" idx="3"/>
          </p:cNvCxnSpPr>
          <p:nvPr/>
        </p:nvCxnSpPr>
        <p:spPr>
          <a:xfrm flipV="1">
            <a:off x="3973627" y="3100776"/>
            <a:ext cx="1173617" cy="77923"/>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3" name="正方形/長方形 72">
            <a:extLst>
              <a:ext uri="{FF2B5EF4-FFF2-40B4-BE49-F238E27FC236}">
                <a16:creationId xmlns:a16="http://schemas.microsoft.com/office/drawing/2014/main" id="{0E25E777-7B63-4061-ACEE-C2001B2BD1D5}"/>
              </a:ext>
            </a:extLst>
          </p:cNvPr>
          <p:cNvSpPr/>
          <p:nvPr/>
        </p:nvSpPr>
        <p:spPr>
          <a:xfrm>
            <a:off x="5147245" y="2939229"/>
            <a:ext cx="899709" cy="3230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50" b="1" dirty="0">
                <a:latin typeface="ＭＳ ゴシック" panose="020B0609070205080204" pitchFamily="49" charset="-128"/>
                <a:ea typeface="ＭＳ ゴシック" panose="020B0609070205080204" pitchFamily="49" charset="-128"/>
              </a:rPr>
              <a:t>BOSS</a:t>
            </a:r>
            <a:r>
              <a:rPr kumimoji="1" lang="ja-JP" altLang="en-US" sz="1050" b="1" dirty="0">
                <a:latin typeface="ＭＳ ゴシック" panose="020B0609070205080204" pitchFamily="49" charset="-128"/>
                <a:ea typeface="ＭＳ ゴシック" panose="020B0609070205080204" pitchFamily="49" charset="-128"/>
              </a:rPr>
              <a:t>情報</a:t>
            </a:r>
          </a:p>
        </p:txBody>
      </p:sp>
      <p:sp>
        <p:nvSpPr>
          <p:cNvPr id="77" name="正方形/長方形 76">
            <a:extLst>
              <a:ext uri="{FF2B5EF4-FFF2-40B4-BE49-F238E27FC236}">
                <a16:creationId xmlns:a16="http://schemas.microsoft.com/office/drawing/2014/main" id="{D4DACDF6-5EED-4651-B2E3-C84309DE8337}"/>
              </a:ext>
            </a:extLst>
          </p:cNvPr>
          <p:cNvSpPr/>
          <p:nvPr/>
        </p:nvSpPr>
        <p:spPr>
          <a:xfrm>
            <a:off x="9505942" y="1152667"/>
            <a:ext cx="1923593" cy="11191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172.25.253.60</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80" name="正方形/長方形 79">
            <a:extLst>
              <a:ext uri="{FF2B5EF4-FFF2-40B4-BE49-F238E27FC236}">
                <a16:creationId xmlns:a16="http://schemas.microsoft.com/office/drawing/2014/main" id="{0F8B9BB9-7AC4-4736-9F7A-5C47234B337B}"/>
              </a:ext>
            </a:extLst>
          </p:cNvPr>
          <p:cNvSpPr/>
          <p:nvPr/>
        </p:nvSpPr>
        <p:spPr>
          <a:xfrm>
            <a:off x="7991779" y="1023705"/>
            <a:ext cx="4086614" cy="3217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400" dirty="0">
                <a:solidFill>
                  <a:schemeClr val="tx1"/>
                </a:solidFill>
                <a:latin typeface="ＭＳ ゴシック" panose="020B0609070205080204" pitchFamily="49" charset="-128"/>
                <a:ea typeface="ＭＳ ゴシック" panose="020B0609070205080204" pitchFamily="49" charset="-128"/>
              </a:rPr>
              <a:t>制限エリア</a:t>
            </a:r>
            <a:endParaRPr kumimoji="1" lang="en-US" altLang="ja-JP" sz="1400" dirty="0">
              <a:solidFill>
                <a:schemeClr val="tx1"/>
              </a:solidFill>
              <a:latin typeface="ＭＳ ゴシック" panose="020B0609070205080204" pitchFamily="49" charset="-128"/>
              <a:ea typeface="ＭＳ ゴシック" panose="020B0609070205080204" pitchFamily="49" charset="-128"/>
            </a:endParaRPr>
          </a:p>
          <a:p>
            <a:r>
              <a:rPr kumimoji="1" lang="en-US" altLang="ja-JP" sz="1400" dirty="0">
                <a:solidFill>
                  <a:schemeClr val="tx1"/>
                </a:solidFill>
                <a:latin typeface="ＭＳ ゴシック" panose="020B0609070205080204" pitchFamily="49" charset="-128"/>
                <a:ea typeface="ＭＳ ゴシック" panose="020B0609070205080204" pitchFamily="49" charset="-128"/>
              </a:rPr>
              <a:t>172.25.253.0</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28" name="四角形: メモ 27">
            <a:extLst>
              <a:ext uri="{FF2B5EF4-FFF2-40B4-BE49-F238E27FC236}">
                <a16:creationId xmlns:a16="http://schemas.microsoft.com/office/drawing/2014/main" id="{2968DC73-0674-4B5A-B192-827BD8BB7DC0}"/>
              </a:ext>
            </a:extLst>
          </p:cNvPr>
          <p:cNvSpPr/>
          <p:nvPr/>
        </p:nvSpPr>
        <p:spPr>
          <a:xfrm>
            <a:off x="9898287" y="1564268"/>
            <a:ext cx="1331743" cy="472480"/>
          </a:xfrm>
          <a:prstGeom prst="foldedCorner">
            <a:avLst/>
          </a:prstGeom>
          <a:solidFill>
            <a:srgbClr val="0000FF"/>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sz="1100" dirty="0"/>
              <a:t>差分</a:t>
            </a:r>
            <a:endParaRPr kumimoji="1" lang="en-US" altLang="ja-JP" sz="1100" dirty="0"/>
          </a:p>
          <a:p>
            <a:pPr algn="ctr"/>
            <a:r>
              <a:rPr kumimoji="1" lang="ja-JP" altLang="en-US" sz="1100" dirty="0"/>
              <a:t>チェックシステム</a:t>
            </a:r>
          </a:p>
        </p:txBody>
      </p:sp>
      <p:cxnSp>
        <p:nvCxnSpPr>
          <p:cNvPr id="82" name="コネクタ: カギ線 81">
            <a:extLst>
              <a:ext uri="{FF2B5EF4-FFF2-40B4-BE49-F238E27FC236}">
                <a16:creationId xmlns:a16="http://schemas.microsoft.com/office/drawing/2014/main" id="{2F94AA83-7065-4D12-A38D-0F2112FEBC6D}"/>
              </a:ext>
            </a:extLst>
          </p:cNvPr>
          <p:cNvCxnSpPr>
            <a:cxnSpLocks/>
            <a:stCxn id="73" idx="0"/>
            <a:endCxn id="28" idx="1"/>
          </p:cNvCxnSpPr>
          <p:nvPr/>
        </p:nvCxnSpPr>
        <p:spPr>
          <a:xfrm rot="5400000" flipH="1" flipV="1">
            <a:off x="7178333" y="219276"/>
            <a:ext cx="1138721" cy="4301187"/>
          </a:xfrm>
          <a:prstGeom prst="bentConnector2">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1" name="正方形/長方形 90">
            <a:extLst>
              <a:ext uri="{FF2B5EF4-FFF2-40B4-BE49-F238E27FC236}">
                <a16:creationId xmlns:a16="http://schemas.microsoft.com/office/drawing/2014/main" id="{19FA1A86-BDE5-4CB0-8840-DE15156DC2E3}"/>
              </a:ext>
            </a:extLst>
          </p:cNvPr>
          <p:cNvSpPr/>
          <p:nvPr/>
        </p:nvSpPr>
        <p:spPr>
          <a:xfrm>
            <a:off x="8193240" y="2444409"/>
            <a:ext cx="2072978" cy="17086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err="1">
                <a:solidFill>
                  <a:schemeClr val="tx1"/>
                </a:solidFill>
                <a:latin typeface="ＭＳ ゴシック" panose="020B0609070205080204" pitchFamily="49" charset="-128"/>
                <a:ea typeface="ＭＳ ゴシック" panose="020B0609070205080204" pitchFamily="49" charset="-128"/>
              </a:rPr>
              <a:t>EGPro</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93" name="四角形: メモ 92">
            <a:extLst>
              <a:ext uri="{FF2B5EF4-FFF2-40B4-BE49-F238E27FC236}">
                <a16:creationId xmlns:a16="http://schemas.microsoft.com/office/drawing/2014/main" id="{F8405829-3854-459A-9ABC-55D138A3D588}"/>
              </a:ext>
            </a:extLst>
          </p:cNvPr>
          <p:cNvSpPr/>
          <p:nvPr/>
        </p:nvSpPr>
        <p:spPr>
          <a:xfrm>
            <a:off x="677647" y="2748244"/>
            <a:ext cx="3295980" cy="860909"/>
          </a:xfrm>
          <a:prstGeom prst="foldedCorner">
            <a:avLst/>
          </a:prstGeom>
          <a:solidFill>
            <a:srgbClr val="0000FF"/>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sz="1100" dirty="0"/>
              <a:t>動作プログラム詳細不明</a:t>
            </a:r>
          </a:p>
          <a:p>
            <a:pPr algn="ctr"/>
            <a:r>
              <a:rPr kumimoji="1" lang="ja-JP" altLang="en-US" sz="1100" dirty="0"/>
              <a:t>恐らく下記フォルダ内プログラムを</a:t>
            </a:r>
          </a:p>
          <a:p>
            <a:pPr algn="ctr"/>
            <a:r>
              <a:rPr kumimoji="1" lang="en-US" altLang="ja-JP" sz="1100" dirty="0"/>
              <a:t>crontab</a:t>
            </a:r>
            <a:r>
              <a:rPr kumimoji="1" lang="ja-JP" altLang="en-US" sz="1100" dirty="0"/>
              <a:t>で実行している</a:t>
            </a:r>
            <a:r>
              <a:rPr lang="ja-JP" altLang="en-US" sz="1100" dirty="0"/>
              <a:t>と思われる</a:t>
            </a:r>
            <a:endParaRPr kumimoji="1" lang="ja-JP" altLang="en-US" sz="1100" dirty="0"/>
          </a:p>
          <a:p>
            <a:pPr algn="ctr"/>
            <a:r>
              <a:rPr kumimoji="1" lang="en-US" altLang="ja-JP" sz="1100" dirty="0"/>
              <a:t>\\nksv560.ad.nkc.co.jp\www\cgi\scheduled</a:t>
            </a:r>
          </a:p>
        </p:txBody>
      </p:sp>
      <p:pic>
        <p:nvPicPr>
          <p:cNvPr id="99" name="Picture 8">
            <a:extLst>
              <a:ext uri="{FF2B5EF4-FFF2-40B4-BE49-F238E27FC236}">
                <a16:creationId xmlns:a16="http://schemas.microsoft.com/office/drawing/2014/main" id="{F9012E75-AC59-4DF8-84E2-BE07F32AEE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56" t="33803" r="5159" b="35469"/>
          <a:stretch/>
        </p:blipFill>
        <p:spPr bwMode="auto">
          <a:xfrm>
            <a:off x="8778897" y="2472614"/>
            <a:ext cx="1153100" cy="295656"/>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12" descr="SQLServerのデータ型一覧、サイズ、数値、日付、小数点、配列型はない | urashita.com 浦下.com (ウラシタドットコム)">
            <a:extLst>
              <a:ext uri="{FF2B5EF4-FFF2-40B4-BE49-F238E27FC236}">
                <a16:creationId xmlns:a16="http://schemas.microsoft.com/office/drawing/2014/main" id="{CC511545-073B-4AAC-A853-109C9BECC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6838" y="3035348"/>
            <a:ext cx="529621" cy="43528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101" name="コネクタ: カギ線 100">
            <a:extLst>
              <a:ext uri="{FF2B5EF4-FFF2-40B4-BE49-F238E27FC236}">
                <a16:creationId xmlns:a16="http://schemas.microsoft.com/office/drawing/2014/main" id="{07077F1D-0D45-4624-8067-EC3FC5EF8AEA}"/>
              </a:ext>
            </a:extLst>
          </p:cNvPr>
          <p:cNvCxnSpPr>
            <a:cxnSpLocks/>
            <a:stCxn id="175" idx="3"/>
            <a:endCxn id="28" idx="2"/>
          </p:cNvCxnSpPr>
          <p:nvPr/>
        </p:nvCxnSpPr>
        <p:spPr>
          <a:xfrm flipV="1">
            <a:off x="9657169" y="2036748"/>
            <a:ext cx="906990" cy="1691961"/>
          </a:xfrm>
          <a:prstGeom prst="bentConnector2">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コネクタ: カギ線 112">
            <a:extLst>
              <a:ext uri="{FF2B5EF4-FFF2-40B4-BE49-F238E27FC236}">
                <a16:creationId xmlns:a16="http://schemas.microsoft.com/office/drawing/2014/main" id="{7650061E-F482-40EC-ACBB-B24D0C6A60B3}"/>
              </a:ext>
            </a:extLst>
          </p:cNvPr>
          <p:cNvCxnSpPr>
            <a:cxnSpLocks/>
            <a:stCxn id="175" idx="2"/>
            <a:endCxn id="93" idx="2"/>
          </p:cNvCxnSpPr>
          <p:nvPr/>
        </p:nvCxnSpPr>
        <p:spPr>
          <a:xfrm rot="5400000" flipH="1">
            <a:off x="5635239" y="299552"/>
            <a:ext cx="271930" cy="6891133"/>
          </a:xfrm>
          <a:prstGeom prst="bentConnector3">
            <a:avLst>
              <a:gd name="adj1" fmla="val -65725"/>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30" name="正方形/長方形 129">
            <a:extLst>
              <a:ext uri="{FF2B5EF4-FFF2-40B4-BE49-F238E27FC236}">
                <a16:creationId xmlns:a16="http://schemas.microsoft.com/office/drawing/2014/main" id="{1462DB05-C031-4EF8-809C-21CCFDF27589}"/>
              </a:ext>
            </a:extLst>
          </p:cNvPr>
          <p:cNvSpPr/>
          <p:nvPr/>
        </p:nvSpPr>
        <p:spPr>
          <a:xfrm>
            <a:off x="5147244" y="3348747"/>
            <a:ext cx="899709" cy="3230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50" b="1" dirty="0" err="1">
                <a:latin typeface="ＭＳ ゴシック" panose="020B0609070205080204" pitchFamily="49" charset="-128"/>
                <a:ea typeface="ＭＳ ゴシック" panose="020B0609070205080204" pitchFamily="49" charset="-128"/>
              </a:rPr>
              <a:t>EGPro</a:t>
            </a:r>
            <a:r>
              <a:rPr kumimoji="1" lang="ja-JP" altLang="en-US" sz="1050" b="1" dirty="0">
                <a:latin typeface="ＭＳ ゴシック" panose="020B0609070205080204" pitchFamily="49" charset="-128"/>
                <a:ea typeface="ＭＳ ゴシック" panose="020B0609070205080204" pitchFamily="49" charset="-128"/>
              </a:rPr>
              <a:t>情報</a:t>
            </a:r>
          </a:p>
        </p:txBody>
      </p:sp>
      <p:cxnSp>
        <p:nvCxnSpPr>
          <p:cNvPr id="131" name="コネクタ: カギ線 130">
            <a:extLst>
              <a:ext uri="{FF2B5EF4-FFF2-40B4-BE49-F238E27FC236}">
                <a16:creationId xmlns:a16="http://schemas.microsoft.com/office/drawing/2014/main" id="{199A87C4-9684-4493-AA20-D9183A51449E}"/>
              </a:ext>
            </a:extLst>
          </p:cNvPr>
          <p:cNvCxnSpPr>
            <a:cxnSpLocks/>
            <a:stCxn id="93" idx="3"/>
            <a:endCxn id="130" idx="1"/>
          </p:cNvCxnSpPr>
          <p:nvPr/>
        </p:nvCxnSpPr>
        <p:spPr>
          <a:xfrm>
            <a:off x="3973627" y="3178699"/>
            <a:ext cx="1173617" cy="331596"/>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36" name="正方形/長方形 135">
            <a:extLst>
              <a:ext uri="{FF2B5EF4-FFF2-40B4-BE49-F238E27FC236}">
                <a16:creationId xmlns:a16="http://schemas.microsoft.com/office/drawing/2014/main" id="{4A89B933-2D42-4B8B-8A05-1FAA4555B8A3}"/>
              </a:ext>
            </a:extLst>
          </p:cNvPr>
          <p:cNvSpPr/>
          <p:nvPr/>
        </p:nvSpPr>
        <p:spPr>
          <a:xfrm>
            <a:off x="2083608" y="4442474"/>
            <a:ext cx="4561031" cy="187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nksv569</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cxnSp>
        <p:nvCxnSpPr>
          <p:cNvPr id="142" name="コネクタ: カギ線 141">
            <a:extLst>
              <a:ext uri="{FF2B5EF4-FFF2-40B4-BE49-F238E27FC236}">
                <a16:creationId xmlns:a16="http://schemas.microsoft.com/office/drawing/2014/main" id="{A4F5409B-96D3-445F-9A3D-33D2B61229F5}"/>
              </a:ext>
            </a:extLst>
          </p:cNvPr>
          <p:cNvCxnSpPr>
            <a:cxnSpLocks/>
            <a:stCxn id="48" idx="3"/>
            <a:endCxn id="93" idx="0"/>
          </p:cNvCxnSpPr>
          <p:nvPr/>
        </p:nvCxnSpPr>
        <p:spPr>
          <a:xfrm flipH="1">
            <a:off x="2325637" y="1736980"/>
            <a:ext cx="1232210" cy="1011264"/>
          </a:xfrm>
          <a:prstGeom prst="bentConnector4">
            <a:avLst>
              <a:gd name="adj1" fmla="val -18552"/>
              <a:gd name="adj2" fmla="val 59154"/>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コネクタ: カギ線 142">
            <a:extLst>
              <a:ext uri="{FF2B5EF4-FFF2-40B4-BE49-F238E27FC236}">
                <a16:creationId xmlns:a16="http://schemas.microsoft.com/office/drawing/2014/main" id="{FC204113-1286-4B9A-91E2-3D73C07F3A93}"/>
              </a:ext>
            </a:extLst>
          </p:cNvPr>
          <p:cNvCxnSpPr>
            <a:cxnSpLocks/>
            <a:stCxn id="46" idx="3"/>
            <a:endCxn id="93" idx="0"/>
          </p:cNvCxnSpPr>
          <p:nvPr/>
        </p:nvCxnSpPr>
        <p:spPr>
          <a:xfrm flipH="1">
            <a:off x="2325637" y="1466155"/>
            <a:ext cx="1232210" cy="1282089"/>
          </a:xfrm>
          <a:prstGeom prst="bentConnector4">
            <a:avLst>
              <a:gd name="adj1" fmla="val -18552"/>
              <a:gd name="adj2" fmla="val 68892"/>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1" name="正方形/長方形 150">
            <a:extLst>
              <a:ext uri="{FF2B5EF4-FFF2-40B4-BE49-F238E27FC236}">
                <a16:creationId xmlns:a16="http://schemas.microsoft.com/office/drawing/2014/main" id="{8826FAFD-1DE6-4B91-822D-BB8C80DA3D2F}"/>
              </a:ext>
            </a:extLst>
          </p:cNvPr>
          <p:cNvSpPr/>
          <p:nvPr/>
        </p:nvSpPr>
        <p:spPr>
          <a:xfrm>
            <a:off x="4679058" y="4593636"/>
            <a:ext cx="1798696" cy="146037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MySQL</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152" name="正方形/長方形 151">
            <a:extLst>
              <a:ext uri="{FF2B5EF4-FFF2-40B4-BE49-F238E27FC236}">
                <a16:creationId xmlns:a16="http://schemas.microsoft.com/office/drawing/2014/main" id="{FED69D32-67BF-47C2-9BF6-AA8D87A7A180}"/>
              </a:ext>
            </a:extLst>
          </p:cNvPr>
          <p:cNvSpPr/>
          <p:nvPr/>
        </p:nvSpPr>
        <p:spPr>
          <a:xfrm>
            <a:off x="8156940" y="4381299"/>
            <a:ext cx="2407219" cy="187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nksv523</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pic>
        <p:nvPicPr>
          <p:cNvPr id="155" name="Picture 6" descr="Microsoft Access（マイクロソフト・アクセス）とは - IT用語辞典 e-Words">
            <a:extLst>
              <a:ext uri="{FF2B5EF4-FFF2-40B4-BE49-F238E27FC236}">
                <a16:creationId xmlns:a16="http://schemas.microsoft.com/office/drawing/2014/main" id="{E9B443D7-8642-4380-8E19-B492D75AAC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8634" y="4823111"/>
            <a:ext cx="619758" cy="619758"/>
          </a:xfrm>
          <a:prstGeom prst="rect">
            <a:avLst/>
          </a:prstGeom>
          <a:noFill/>
          <a:extLst>
            <a:ext uri="{909E8E84-426E-40DD-AFC4-6F175D3DCCD1}">
              <a14:hiddenFill xmlns:a14="http://schemas.microsoft.com/office/drawing/2010/main">
                <a:solidFill>
                  <a:srgbClr val="FFFFFF"/>
                </a:solidFill>
              </a14:hiddenFill>
            </a:ext>
          </a:extLst>
        </p:spPr>
      </p:pic>
      <p:sp>
        <p:nvSpPr>
          <p:cNvPr id="156" name="正方形/長方形 155">
            <a:extLst>
              <a:ext uri="{FF2B5EF4-FFF2-40B4-BE49-F238E27FC236}">
                <a16:creationId xmlns:a16="http://schemas.microsoft.com/office/drawing/2014/main" id="{2D79F355-F074-4D3D-8C43-F2FC4F4638D8}"/>
              </a:ext>
            </a:extLst>
          </p:cNvPr>
          <p:cNvSpPr/>
          <p:nvPr/>
        </p:nvSpPr>
        <p:spPr>
          <a:xfrm>
            <a:off x="8421149" y="5267093"/>
            <a:ext cx="880798"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050" b="1" dirty="0">
                <a:latin typeface="ＭＳ ゴシック" panose="020B0609070205080204" pitchFamily="49" charset="-128"/>
                <a:ea typeface="ＭＳ ゴシック" panose="020B0609070205080204" pitchFamily="49" charset="-128"/>
              </a:rPr>
              <a:t>不良情報</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160" name="正方形/長方形 159">
            <a:extLst>
              <a:ext uri="{FF2B5EF4-FFF2-40B4-BE49-F238E27FC236}">
                <a16:creationId xmlns:a16="http://schemas.microsoft.com/office/drawing/2014/main" id="{35FDB519-13EB-417B-92AA-B9D790D70649}"/>
              </a:ext>
            </a:extLst>
          </p:cNvPr>
          <p:cNvSpPr/>
          <p:nvPr/>
        </p:nvSpPr>
        <p:spPr>
          <a:xfrm>
            <a:off x="8420835" y="5597289"/>
            <a:ext cx="881107"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050" b="1" dirty="0">
                <a:latin typeface="ＭＳ ゴシック" panose="020B0609070205080204" pitchFamily="49" charset="-128"/>
                <a:ea typeface="ＭＳ ゴシック" panose="020B0609070205080204" pitchFamily="49" charset="-128"/>
              </a:rPr>
              <a:t>実装点数</a:t>
            </a:r>
          </a:p>
        </p:txBody>
      </p:sp>
      <p:sp>
        <p:nvSpPr>
          <p:cNvPr id="164" name="正方形/長方形 163">
            <a:extLst>
              <a:ext uri="{FF2B5EF4-FFF2-40B4-BE49-F238E27FC236}">
                <a16:creationId xmlns:a16="http://schemas.microsoft.com/office/drawing/2014/main" id="{782784F2-58D3-4BCE-90DE-CE6C60FD0093}"/>
              </a:ext>
            </a:extLst>
          </p:cNvPr>
          <p:cNvSpPr/>
          <p:nvPr/>
        </p:nvSpPr>
        <p:spPr>
          <a:xfrm>
            <a:off x="8325149" y="4790176"/>
            <a:ext cx="1783243" cy="1278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Access</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cxnSp>
        <p:nvCxnSpPr>
          <p:cNvPr id="166" name="コネクタ: カギ線 165">
            <a:extLst>
              <a:ext uri="{FF2B5EF4-FFF2-40B4-BE49-F238E27FC236}">
                <a16:creationId xmlns:a16="http://schemas.microsoft.com/office/drawing/2014/main" id="{54C9AB76-6C4A-4E7D-B417-FBD5F078AD9A}"/>
              </a:ext>
            </a:extLst>
          </p:cNvPr>
          <p:cNvCxnSpPr>
            <a:cxnSpLocks/>
            <a:stCxn id="156" idx="1"/>
            <a:endCxn id="167" idx="3"/>
          </p:cNvCxnSpPr>
          <p:nvPr/>
        </p:nvCxnSpPr>
        <p:spPr>
          <a:xfrm rot="10800000">
            <a:off x="6226583" y="4943151"/>
            <a:ext cx="2194567" cy="476317"/>
          </a:xfrm>
          <a:prstGeom prst="bentConnector3">
            <a:avLst>
              <a:gd name="adj1" fmla="val 44697"/>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7" name="正方形/長方形 166">
            <a:extLst>
              <a:ext uri="{FF2B5EF4-FFF2-40B4-BE49-F238E27FC236}">
                <a16:creationId xmlns:a16="http://schemas.microsoft.com/office/drawing/2014/main" id="{244DA416-3F09-42C6-BDE5-DBC98064C1B7}"/>
              </a:ext>
            </a:extLst>
          </p:cNvPr>
          <p:cNvSpPr/>
          <p:nvPr/>
        </p:nvSpPr>
        <p:spPr>
          <a:xfrm>
            <a:off x="5345784" y="4790776"/>
            <a:ext cx="880798"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050" b="1" dirty="0">
                <a:latin typeface="ＭＳ ゴシック" panose="020B0609070205080204" pitchFamily="49" charset="-128"/>
                <a:ea typeface="ＭＳ ゴシック" panose="020B0609070205080204" pitchFamily="49" charset="-128"/>
              </a:rPr>
              <a:t>不良情報</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169" name="正方形/長方形 168">
            <a:extLst>
              <a:ext uri="{FF2B5EF4-FFF2-40B4-BE49-F238E27FC236}">
                <a16:creationId xmlns:a16="http://schemas.microsoft.com/office/drawing/2014/main" id="{0ECB7B8B-C420-43E8-93AC-BE2985C9B35B}"/>
              </a:ext>
            </a:extLst>
          </p:cNvPr>
          <p:cNvSpPr/>
          <p:nvPr/>
        </p:nvSpPr>
        <p:spPr>
          <a:xfrm>
            <a:off x="5345475" y="5141796"/>
            <a:ext cx="881107"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050" b="1" dirty="0">
                <a:latin typeface="ＭＳ ゴシック" panose="020B0609070205080204" pitchFamily="49" charset="-128"/>
                <a:ea typeface="ＭＳ ゴシック" panose="020B0609070205080204" pitchFamily="49" charset="-128"/>
              </a:rPr>
              <a:t>実装点数</a:t>
            </a:r>
          </a:p>
        </p:txBody>
      </p:sp>
      <p:cxnSp>
        <p:nvCxnSpPr>
          <p:cNvPr id="171" name="コネクタ: カギ線 170">
            <a:extLst>
              <a:ext uri="{FF2B5EF4-FFF2-40B4-BE49-F238E27FC236}">
                <a16:creationId xmlns:a16="http://schemas.microsoft.com/office/drawing/2014/main" id="{7B6462F0-D582-4F5B-80A3-17357DBFD7D8}"/>
              </a:ext>
            </a:extLst>
          </p:cNvPr>
          <p:cNvCxnSpPr>
            <a:cxnSpLocks/>
            <a:stCxn id="160" idx="1"/>
            <a:endCxn id="169" idx="3"/>
          </p:cNvCxnSpPr>
          <p:nvPr/>
        </p:nvCxnSpPr>
        <p:spPr>
          <a:xfrm rot="10800000">
            <a:off x="6226583" y="5294171"/>
            <a:ext cx="2194253" cy="455493"/>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4" name="正方形/長方形 173">
            <a:extLst>
              <a:ext uri="{FF2B5EF4-FFF2-40B4-BE49-F238E27FC236}">
                <a16:creationId xmlns:a16="http://schemas.microsoft.com/office/drawing/2014/main" id="{6E828CA3-6049-4E4D-92E8-4B5C315CE501}"/>
              </a:ext>
            </a:extLst>
          </p:cNvPr>
          <p:cNvSpPr/>
          <p:nvPr/>
        </p:nvSpPr>
        <p:spPr>
          <a:xfrm>
            <a:off x="8410320" y="2956938"/>
            <a:ext cx="1456043" cy="10367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175" name="正方形/長方形 174">
            <a:extLst>
              <a:ext uri="{FF2B5EF4-FFF2-40B4-BE49-F238E27FC236}">
                <a16:creationId xmlns:a16="http://schemas.microsoft.com/office/drawing/2014/main" id="{40962D01-8D3A-42D1-A04A-DD95FC87D5BD}"/>
              </a:ext>
            </a:extLst>
          </p:cNvPr>
          <p:cNvSpPr/>
          <p:nvPr/>
        </p:nvSpPr>
        <p:spPr>
          <a:xfrm>
            <a:off x="8776371" y="3576335"/>
            <a:ext cx="880798"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50" b="1" dirty="0" err="1">
                <a:latin typeface="ＭＳ ゴシック" panose="020B0609070205080204" pitchFamily="49" charset="-128"/>
                <a:ea typeface="ＭＳ ゴシック" panose="020B0609070205080204" pitchFamily="49" charset="-128"/>
              </a:rPr>
              <a:t>EGPro</a:t>
            </a:r>
            <a:r>
              <a:rPr kumimoji="1" lang="ja-JP" altLang="en-US" sz="1050" b="1" dirty="0">
                <a:latin typeface="ＭＳ ゴシック" panose="020B0609070205080204" pitchFamily="49" charset="-128"/>
                <a:ea typeface="ＭＳ ゴシック" panose="020B0609070205080204" pitchFamily="49" charset="-128"/>
              </a:rPr>
              <a:t>情報</a:t>
            </a:r>
          </a:p>
        </p:txBody>
      </p:sp>
      <p:cxnSp>
        <p:nvCxnSpPr>
          <p:cNvPr id="179" name="コネクタ: カギ線 178">
            <a:extLst>
              <a:ext uri="{FF2B5EF4-FFF2-40B4-BE49-F238E27FC236}">
                <a16:creationId xmlns:a16="http://schemas.microsoft.com/office/drawing/2014/main" id="{7D229F65-A3A0-4266-83ED-4058DE7B7B7B}"/>
              </a:ext>
            </a:extLst>
          </p:cNvPr>
          <p:cNvCxnSpPr>
            <a:cxnSpLocks/>
            <a:stCxn id="73" idx="3"/>
            <a:endCxn id="183" idx="0"/>
          </p:cNvCxnSpPr>
          <p:nvPr/>
        </p:nvCxnSpPr>
        <p:spPr>
          <a:xfrm flipH="1">
            <a:off x="3375474" y="3100777"/>
            <a:ext cx="2671480" cy="1692734"/>
          </a:xfrm>
          <a:prstGeom prst="bentConnector4">
            <a:avLst>
              <a:gd name="adj1" fmla="val -8557"/>
              <a:gd name="adj2" fmla="val 43477"/>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3" name="四角形: メモ 182">
            <a:extLst>
              <a:ext uri="{FF2B5EF4-FFF2-40B4-BE49-F238E27FC236}">
                <a16:creationId xmlns:a16="http://schemas.microsoft.com/office/drawing/2014/main" id="{94DCDD3C-F0CD-420F-B923-30D77F3043C8}"/>
              </a:ext>
            </a:extLst>
          </p:cNvPr>
          <p:cNvSpPr/>
          <p:nvPr/>
        </p:nvSpPr>
        <p:spPr>
          <a:xfrm>
            <a:off x="2268348" y="4793511"/>
            <a:ext cx="2214251" cy="473582"/>
          </a:xfrm>
          <a:prstGeom prst="foldedCorne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ja-JP" sz="1100" dirty="0"/>
              <a:t>SMT</a:t>
            </a:r>
            <a:r>
              <a:rPr kumimoji="1" lang="ja-JP" altLang="en-US" sz="1100" dirty="0"/>
              <a:t>実装品質可視化システム</a:t>
            </a:r>
            <a:endParaRPr kumimoji="1" lang="en-US" altLang="ja-JP" sz="1100" dirty="0"/>
          </a:p>
          <a:p>
            <a:pPr algn="ctr"/>
            <a:r>
              <a:rPr lang="en-US" altLang="ja-JP" sz="1100" dirty="0"/>
              <a:t>(python/</a:t>
            </a:r>
            <a:r>
              <a:rPr lang="en-US" altLang="ja-JP" sz="1100" dirty="0" err="1"/>
              <a:t>perl</a:t>
            </a:r>
            <a:r>
              <a:rPr lang="en-US" altLang="ja-JP" sz="1100" dirty="0"/>
              <a:t>/apache2)</a:t>
            </a:r>
            <a:endParaRPr kumimoji="1" lang="en-US" altLang="ja-JP" sz="1100" dirty="0"/>
          </a:p>
        </p:txBody>
      </p:sp>
      <p:cxnSp>
        <p:nvCxnSpPr>
          <p:cNvPr id="195" name="コネクタ: カギ線 194">
            <a:extLst>
              <a:ext uri="{FF2B5EF4-FFF2-40B4-BE49-F238E27FC236}">
                <a16:creationId xmlns:a16="http://schemas.microsoft.com/office/drawing/2014/main" id="{662CA2BF-CC8D-443E-BC00-37912A1EA5FA}"/>
              </a:ext>
            </a:extLst>
          </p:cNvPr>
          <p:cNvCxnSpPr>
            <a:cxnSpLocks/>
            <a:stCxn id="167" idx="1"/>
            <a:endCxn id="183" idx="3"/>
          </p:cNvCxnSpPr>
          <p:nvPr/>
        </p:nvCxnSpPr>
        <p:spPr>
          <a:xfrm rot="10800000" flipV="1">
            <a:off x="4482600" y="4943150"/>
            <a:ext cx="863185" cy="87152"/>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742C2A2D-048B-42DF-9B1C-EA9DBB563298}"/>
              </a:ext>
            </a:extLst>
          </p:cNvPr>
          <p:cNvCxnSpPr>
            <a:cxnSpLocks/>
            <a:stCxn id="169" idx="1"/>
            <a:endCxn id="183" idx="3"/>
          </p:cNvCxnSpPr>
          <p:nvPr/>
        </p:nvCxnSpPr>
        <p:spPr>
          <a:xfrm rot="10800000">
            <a:off x="4482599" y="5030302"/>
            <a:ext cx="862876" cy="263868"/>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2" name="波線 211">
            <a:extLst>
              <a:ext uri="{FF2B5EF4-FFF2-40B4-BE49-F238E27FC236}">
                <a16:creationId xmlns:a16="http://schemas.microsoft.com/office/drawing/2014/main" id="{79F3DF39-04FE-473F-BC9A-59E2B8DDE437}"/>
              </a:ext>
            </a:extLst>
          </p:cNvPr>
          <p:cNvSpPr/>
          <p:nvPr/>
        </p:nvSpPr>
        <p:spPr>
          <a:xfrm>
            <a:off x="2561653" y="5491124"/>
            <a:ext cx="1411499" cy="718773"/>
          </a:xfrm>
          <a:prstGeom prst="wav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ja-JP" sz="1600" b="1" dirty="0">
                <a:latin typeface="ＭＳ ゴシック" panose="020B0609070205080204" pitchFamily="49" charset="-128"/>
                <a:ea typeface="ＭＳ ゴシック" panose="020B0609070205080204" pitchFamily="49" charset="-128"/>
              </a:rPr>
              <a:t>WEB</a:t>
            </a:r>
            <a:r>
              <a:rPr kumimoji="1" lang="ja-JP" altLang="en-US" sz="1600" b="1" dirty="0">
                <a:latin typeface="ＭＳ ゴシック" panose="020B0609070205080204" pitchFamily="49" charset="-128"/>
                <a:ea typeface="ＭＳ ゴシック" panose="020B0609070205080204" pitchFamily="49" charset="-128"/>
              </a:rPr>
              <a:t>ページ</a:t>
            </a:r>
          </a:p>
        </p:txBody>
      </p:sp>
      <p:cxnSp>
        <p:nvCxnSpPr>
          <p:cNvPr id="213" name="コネクタ: カギ線 212">
            <a:extLst>
              <a:ext uri="{FF2B5EF4-FFF2-40B4-BE49-F238E27FC236}">
                <a16:creationId xmlns:a16="http://schemas.microsoft.com/office/drawing/2014/main" id="{946268FB-70B9-41CD-951F-14E9AA42710F}"/>
              </a:ext>
            </a:extLst>
          </p:cNvPr>
          <p:cNvCxnSpPr>
            <a:cxnSpLocks/>
            <a:stCxn id="183" idx="2"/>
            <a:endCxn id="212" idx="3"/>
          </p:cNvCxnSpPr>
          <p:nvPr/>
        </p:nvCxnSpPr>
        <p:spPr>
          <a:xfrm rot="16200000" flipH="1">
            <a:off x="3382604" y="5259963"/>
            <a:ext cx="583418" cy="597678"/>
          </a:xfrm>
          <a:prstGeom prst="bentConnector4">
            <a:avLst>
              <a:gd name="adj1" fmla="val 19200"/>
              <a:gd name="adj2" fmla="val 138645"/>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コネクタ: カギ線 220">
            <a:extLst>
              <a:ext uri="{FF2B5EF4-FFF2-40B4-BE49-F238E27FC236}">
                <a16:creationId xmlns:a16="http://schemas.microsoft.com/office/drawing/2014/main" id="{D6B5C94A-9744-4A46-AFB9-BD37E2C5E400}"/>
              </a:ext>
            </a:extLst>
          </p:cNvPr>
          <p:cNvCxnSpPr>
            <a:cxnSpLocks/>
            <a:stCxn id="130" idx="3"/>
            <a:endCxn id="183" idx="0"/>
          </p:cNvCxnSpPr>
          <p:nvPr/>
        </p:nvCxnSpPr>
        <p:spPr>
          <a:xfrm flipH="1">
            <a:off x="3375474" y="3510295"/>
            <a:ext cx="2671479" cy="1283216"/>
          </a:xfrm>
          <a:prstGeom prst="bentConnector4">
            <a:avLst>
              <a:gd name="adj1" fmla="val -8557"/>
              <a:gd name="adj2" fmla="val 23905"/>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45" name="Picture 4">
            <a:extLst>
              <a:ext uri="{FF2B5EF4-FFF2-40B4-BE49-F238E27FC236}">
                <a16:creationId xmlns:a16="http://schemas.microsoft.com/office/drawing/2014/main" id="{217E3BCF-4403-418E-A425-AA6968D212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232545" y="6001242"/>
            <a:ext cx="507606" cy="417310"/>
          </a:xfrm>
          <a:prstGeom prst="rect">
            <a:avLst/>
          </a:prstGeom>
          <a:noFill/>
          <a:extLst>
            <a:ext uri="{909E8E84-426E-40DD-AFC4-6F175D3DCCD1}">
              <a14:hiddenFill xmlns:a14="http://schemas.microsoft.com/office/drawing/2010/main">
                <a:solidFill>
                  <a:srgbClr val="FFFFFF"/>
                </a:solidFill>
              </a14:hiddenFill>
            </a:ext>
          </a:extLst>
        </p:spPr>
      </p:pic>
      <p:pic>
        <p:nvPicPr>
          <p:cNvPr id="246" name="Picture 4">
            <a:extLst>
              <a:ext uri="{FF2B5EF4-FFF2-40B4-BE49-F238E27FC236}">
                <a16:creationId xmlns:a16="http://schemas.microsoft.com/office/drawing/2014/main" id="{3590868C-944D-4EF9-8001-3ABB8430BB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35346" y="5939871"/>
            <a:ext cx="507606" cy="417310"/>
          </a:xfrm>
          <a:prstGeom prst="rect">
            <a:avLst/>
          </a:prstGeom>
          <a:noFill/>
          <a:extLst>
            <a:ext uri="{909E8E84-426E-40DD-AFC4-6F175D3DCCD1}">
              <a14:hiddenFill xmlns:a14="http://schemas.microsoft.com/office/drawing/2010/main">
                <a:solidFill>
                  <a:srgbClr val="FFFFFF"/>
                </a:solidFill>
              </a14:hiddenFill>
            </a:ext>
          </a:extLst>
        </p:spPr>
      </p:pic>
      <p:pic>
        <p:nvPicPr>
          <p:cNvPr id="247" name="Picture 4">
            <a:extLst>
              <a:ext uri="{FF2B5EF4-FFF2-40B4-BE49-F238E27FC236}">
                <a16:creationId xmlns:a16="http://schemas.microsoft.com/office/drawing/2014/main" id="{DC897E12-FAB3-426B-AE5F-28304FFB3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997938" y="5534380"/>
            <a:ext cx="507606" cy="417310"/>
          </a:xfrm>
          <a:prstGeom prst="rect">
            <a:avLst/>
          </a:prstGeom>
          <a:noFill/>
          <a:extLst>
            <a:ext uri="{909E8E84-426E-40DD-AFC4-6F175D3DCCD1}">
              <a14:hiddenFill xmlns:a14="http://schemas.microsoft.com/office/drawing/2010/main">
                <a:solidFill>
                  <a:srgbClr val="FFFFFF"/>
                </a:solidFill>
              </a14:hiddenFill>
            </a:ext>
          </a:extLst>
        </p:spPr>
      </p:pic>
      <p:sp>
        <p:nvSpPr>
          <p:cNvPr id="238" name="矢印: 右 237">
            <a:extLst>
              <a:ext uri="{FF2B5EF4-FFF2-40B4-BE49-F238E27FC236}">
                <a16:creationId xmlns:a16="http://schemas.microsoft.com/office/drawing/2014/main" id="{803281CC-E089-4C0E-A1ED-BD40DA5164C0}"/>
              </a:ext>
            </a:extLst>
          </p:cNvPr>
          <p:cNvSpPr/>
          <p:nvPr/>
        </p:nvSpPr>
        <p:spPr>
          <a:xfrm>
            <a:off x="1805771" y="5755478"/>
            <a:ext cx="638621" cy="152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9" name="テキスト ボックス 238">
            <a:extLst>
              <a:ext uri="{FF2B5EF4-FFF2-40B4-BE49-F238E27FC236}">
                <a16:creationId xmlns:a16="http://schemas.microsoft.com/office/drawing/2014/main" id="{A827E5BA-D2D7-4CC4-9B79-6CC71B2A2F90}"/>
              </a:ext>
            </a:extLst>
          </p:cNvPr>
          <p:cNvSpPr txBox="1"/>
          <p:nvPr/>
        </p:nvSpPr>
        <p:spPr>
          <a:xfrm>
            <a:off x="235364" y="5085722"/>
            <a:ext cx="1514881" cy="523220"/>
          </a:xfrm>
          <a:prstGeom prst="rect">
            <a:avLst/>
          </a:prstGeom>
          <a:noFill/>
        </p:spPr>
        <p:txBody>
          <a:bodyPr wrap="square" rtlCol="0">
            <a:spAutoFit/>
          </a:bodyPr>
          <a:lstStyle/>
          <a:p>
            <a:r>
              <a:rPr kumimoji="1" lang="ja-JP" altLang="en-US" sz="1400" dirty="0"/>
              <a:t>事務エリア</a:t>
            </a:r>
            <a:r>
              <a:rPr kumimoji="1" lang="en-US" altLang="ja-JP" sz="1400" dirty="0"/>
              <a:t>PC</a:t>
            </a:r>
          </a:p>
          <a:p>
            <a:r>
              <a:rPr kumimoji="1" lang="ja-JP" altLang="en-US" sz="1400" dirty="0"/>
              <a:t>生産現場</a:t>
            </a:r>
            <a:r>
              <a:rPr kumimoji="1" lang="en-US" altLang="ja-JP" sz="1400" dirty="0"/>
              <a:t>PC</a:t>
            </a:r>
            <a:endParaRPr kumimoji="1" lang="ja-JP" altLang="en-US" sz="1400" dirty="0"/>
          </a:p>
        </p:txBody>
      </p:sp>
      <p:sp>
        <p:nvSpPr>
          <p:cNvPr id="250" name="四角形: メモ 249">
            <a:extLst>
              <a:ext uri="{FF2B5EF4-FFF2-40B4-BE49-F238E27FC236}">
                <a16:creationId xmlns:a16="http://schemas.microsoft.com/office/drawing/2014/main" id="{1DC0B55E-FBDC-421E-BC87-AC63C7B1476A}"/>
              </a:ext>
            </a:extLst>
          </p:cNvPr>
          <p:cNvSpPr/>
          <p:nvPr/>
        </p:nvSpPr>
        <p:spPr>
          <a:xfrm>
            <a:off x="9216771" y="32042"/>
            <a:ext cx="1065727" cy="283434"/>
          </a:xfrm>
          <a:prstGeom prst="foldedCorner">
            <a:avLst/>
          </a:prstGeom>
          <a:solidFill>
            <a:srgbClr val="0000FF"/>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ja-JP" altLang="en-US" sz="1100" dirty="0"/>
          </a:p>
        </p:txBody>
      </p:sp>
      <p:sp>
        <p:nvSpPr>
          <p:cNvPr id="251" name="テキスト ボックス 250">
            <a:extLst>
              <a:ext uri="{FF2B5EF4-FFF2-40B4-BE49-F238E27FC236}">
                <a16:creationId xmlns:a16="http://schemas.microsoft.com/office/drawing/2014/main" id="{D1EBE5E3-3769-4263-9D8A-2D997A3A432B}"/>
              </a:ext>
            </a:extLst>
          </p:cNvPr>
          <p:cNvSpPr txBox="1"/>
          <p:nvPr/>
        </p:nvSpPr>
        <p:spPr>
          <a:xfrm>
            <a:off x="10282498" y="-6628"/>
            <a:ext cx="1514881" cy="461665"/>
          </a:xfrm>
          <a:prstGeom prst="rect">
            <a:avLst/>
          </a:prstGeom>
          <a:noFill/>
        </p:spPr>
        <p:txBody>
          <a:bodyPr wrap="square" rtlCol="0">
            <a:spAutoFit/>
          </a:bodyPr>
          <a:lstStyle/>
          <a:p>
            <a:r>
              <a:rPr kumimoji="1" lang="ja-JP" altLang="en-US" sz="1200" b="1" dirty="0"/>
              <a:t>→五十嵐淳一様</a:t>
            </a:r>
            <a:endParaRPr kumimoji="1" lang="en-US" altLang="ja-JP" sz="1200" b="1" dirty="0"/>
          </a:p>
          <a:p>
            <a:r>
              <a:rPr lang="ja-JP" altLang="en-US" sz="1200" b="1" dirty="0"/>
              <a:t>　</a:t>
            </a:r>
            <a:r>
              <a:rPr kumimoji="1" lang="ja-JP" altLang="en-US" sz="1200" b="1" dirty="0"/>
              <a:t>作成システム</a:t>
            </a:r>
          </a:p>
        </p:txBody>
      </p:sp>
      <p:sp>
        <p:nvSpPr>
          <p:cNvPr id="252" name="四角形: メモ 251">
            <a:extLst>
              <a:ext uri="{FF2B5EF4-FFF2-40B4-BE49-F238E27FC236}">
                <a16:creationId xmlns:a16="http://schemas.microsoft.com/office/drawing/2014/main" id="{A7FCCF2E-5340-40AA-8096-4E31995F9CA7}"/>
              </a:ext>
            </a:extLst>
          </p:cNvPr>
          <p:cNvSpPr/>
          <p:nvPr/>
        </p:nvSpPr>
        <p:spPr>
          <a:xfrm>
            <a:off x="9216771" y="473424"/>
            <a:ext cx="1065727" cy="314532"/>
          </a:xfrm>
          <a:prstGeom prst="foldedCorne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en-US" altLang="ja-JP" sz="1100" dirty="0"/>
          </a:p>
        </p:txBody>
      </p:sp>
      <p:sp>
        <p:nvSpPr>
          <p:cNvPr id="253" name="テキスト ボックス 252">
            <a:extLst>
              <a:ext uri="{FF2B5EF4-FFF2-40B4-BE49-F238E27FC236}">
                <a16:creationId xmlns:a16="http://schemas.microsoft.com/office/drawing/2014/main" id="{6FF50D40-9A1D-45D5-9076-8371AC6A4D59}"/>
              </a:ext>
            </a:extLst>
          </p:cNvPr>
          <p:cNvSpPr txBox="1"/>
          <p:nvPr/>
        </p:nvSpPr>
        <p:spPr>
          <a:xfrm>
            <a:off x="10244449" y="436156"/>
            <a:ext cx="1514881" cy="461665"/>
          </a:xfrm>
          <a:prstGeom prst="rect">
            <a:avLst/>
          </a:prstGeom>
          <a:noFill/>
        </p:spPr>
        <p:txBody>
          <a:bodyPr wrap="square" rtlCol="0">
            <a:spAutoFit/>
          </a:bodyPr>
          <a:lstStyle/>
          <a:p>
            <a:r>
              <a:rPr kumimoji="1" lang="ja-JP" altLang="en-US" sz="1200" b="1" dirty="0"/>
              <a:t>→佐藤･水尾</a:t>
            </a:r>
            <a:endParaRPr kumimoji="1" lang="en-US" altLang="ja-JP" sz="1200" b="1" dirty="0"/>
          </a:p>
          <a:p>
            <a:r>
              <a:rPr lang="ja-JP" altLang="en-US" sz="1200" b="1" dirty="0"/>
              <a:t>　</a:t>
            </a:r>
            <a:r>
              <a:rPr kumimoji="1" lang="ja-JP" altLang="en-US" sz="1200" b="1" dirty="0"/>
              <a:t>作成システム</a:t>
            </a:r>
          </a:p>
        </p:txBody>
      </p:sp>
    </p:spTree>
    <p:extLst>
      <p:ext uri="{BB962C8B-B14F-4D97-AF65-F5344CB8AC3E}">
        <p14:creationId xmlns:p14="http://schemas.microsoft.com/office/powerpoint/2010/main" val="3564544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E71FFE42-0268-44ED-B220-914BF3A010FF}"/>
              </a:ext>
            </a:extLst>
          </p:cNvPr>
          <p:cNvSpPr/>
          <p:nvPr/>
        </p:nvSpPr>
        <p:spPr>
          <a:xfrm>
            <a:off x="4679058" y="2539614"/>
            <a:ext cx="1798696" cy="146037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MySQL</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2" name="タイトル 1">
            <a:extLst>
              <a:ext uri="{FF2B5EF4-FFF2-40B4-BE49-F238E27FC236}">
                <a16:creationId xmlns:a16="http://schemas.microsoft.com/office/drawing/2014/main" id="{46972280-8F98-43BC-BBC1-C0676FC6F0AC}"/>
              </a:ext>
            </a:extLst>
          </p:cNvPr>
          <p:cNvSpPr>
            <a:spLocks noGrp="1"/>
          </p:cNvSpPr>
          <p:nvPr>
            <p:ph type="title"/>
          </p:nvPr>
        </p:nvSpPr>
        <p:spPr>
          <a:xfrm>
            <a:off x="571874" y="171138"/>
            <a:ext cx="8297805" cy="682279"/>
          </a:xfrm>
        </p:spPr>
        <p:txBody>
          <a:bodyPr>
            <a:normAutofit/>
          </a:bodyPr>
          <a:lstStyle/>
          <a:p>
            <a:r>
              <a:rPr lang="ja-JP" altLang="en-US" dirty="0"/>
              <a:t>サーバー移行に関して</a:t>
            </a:r>
            <a:endParaRPr kumimoji="1" lang="ja-JP" altLang="en-US" dirty="0">
              <a:latin typeface="ＭＳ ゴシック" panose="020B0609070205080204" pitchFamily="49" charset="-128"/>
              <a:ea typeface="ＭＳ ゴシック" panose="020B0609070205080204" pitchFamily="49" charset="-128"/>
            </a:endParaRPr>
          </a:p>
        </p:txBody>
      </p:sp>
      <p:sp>
        <p:nvSpPr>
          <p:cNvPr id="53" name="正方形/長方形 52">
            <a:extLst>
              <a:ext uri="{FF2B5EF4-FFF2-40B4-BE49-F238E27FC236}">
                <a16:creationId xmlns:a16="http://schemas.microsoft.com/office/drawing/2014/main" id="{A43638D5-F964-41CD-B243-8773C8650576}"/>
              </a:ext>
            </a:extLst>
          </p:cNvPr>
          <p:cNvSpPr/>
          <p:nvPr/>
        </p:nvSpPr>
        <p:spPr>
          <a:xfrm>
            <a:off x="382781" y="1174302"/>
            <a:ext cx="1091494" cy="7877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BOSS</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45" name="正方形/長方形 44">
            <a:extLst>
              <a:ext uri="{FF2B5EF4-FFF2-40B4-BE49-F238E27FC236}">
                <a16:creationId xmlns:a16="http://schemas.microsoft.com/office/drawing/2014/main" id="{6E276FC2-399C-4FFE-B770-15888C240AD1}"/>
              </a:ext>
            </a:extLst>
          </p:cNvPr>
          <p:cNvSpPr/>
          <p:nvPr/>
        </p:nvSpPr>
        <p:spPr>
          <a:xfrm>
            <a:off x="2380606" y="994194"/>
            <a:ext cx="1917074" cy="12585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a:solidFill>
                  <a:schemeClr val="tx1"/>
                </a:solidFill>
                <a:latin typeface="ＭＳ ゴシック" panose="020B0609070205080204" pitchFamily="49" charset="-128"/>
                <a:ea typeface="ＭＳ ゴシック" panose="020B0609070205080204" pitchFamily="49" charset="-128"/>
              </a:rPr>
              <a:t>\\nksvasp23\SMT_RCV</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46" name="正方形/長方形 45">
            <a:extLst>
              <a:ext uri="{FF2B5EF4-FFF2-40B4-BE49-F238E27FC236}">
                <a16:creationId xmlns:a16="http://schemas.microsoft.com/office/drawing/2014/main" id="{772FFDD0-59A1-4565-9D93-AA3F03A4EA83}"/>
              </a:ext>
            </a:extLst>
          </p:cNvPr>
          <p:cNvSpPr/>
          <p:nvPr/>
        </p:nvSpPr>
        <p:spPr>
          <a:xfrm>
            <a:off x="2535398" y="1364134"/>
            <a:ext cx="1022449" cy="2040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050" b="1" dirty="0">
                <a:latin typeface="ＭＳ ゴシック" panose="020B0609070205080204" pitchFamily="49" charset="-128"/>
                <a:ea typeface="ＭＳ ゴシック" panose="020B0609070205080204" pitchFamily="49" charset="-128"/>
              </a:rPr>
              <a:t>IFID142.csv </a:t>
            </a:r>
            <a:endParaRPr kumimoji="1" lang="ja-JP" altLang="en-US" sz="1050" b="1" dirty="0">
              <a:latin typeface="ＭＳ ゴシック" panose="020B0609070205080204" pitchFamily="49" charset="-128"/>
              <a:ea typeface="ＭＳ ゴシック" panose="020B0609070205080204" pitchFamily="49" charset="-128"/>
            </a:endParaRPr>
          </a:p>
        </p:txBody>
      </p:sp>
      <p:cxnSp>
        <p:nvCxnSpPr>
          <p:cNvPr id="47" name="コネクタ: カギ線 46">
            <a:extLst>
              <a:ext uri="{FF2B5EF4-FFF2-40B4-BE49-F238E27FC236}">
                <a16:creationId xmlns:a16="http://schemas.microsoft.com/office/drawing/2014/main" id="{CF6801FA-DB11-4C26-B6BB-C2FDABF6A8A4}"/>
              </a:ext>
            </a:extLst>
          </p:cNvPr>
          <p:cNvCxnSpPr>
            <a:cxnSpLocks/>
            <a:stCxn id="7" idx="0"/>
            <a:endCxn id="45" idx="1"/>
          </p:cNvCxnSpPr>
          <p:nvPr/>
        </p:nvCxnSpPr>
        <p:spPr>
          <a:xfrm flipV="1">
            <a:off x="1290379" y="1623472"/>
            <a:ext cx="1090227" cy="61021"/>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C44770A-CA5D-467F-ACB1-5C603849F74E}"/>
              </a:ext>
            </a:extLst>
          </p:cNvPr>
          <p:cNvSpPr/>
          <p:nvPr/>
        </p:nvSpPr>
        <p:spPr>
          <a:xfrm>
            <a:off x="2535398" y="1634959"/>
            <a:ext cx="1022449" cy="2040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050" b="1" dirty="0">
                <a:latin typeface="ＭＳ ゴシック" panose="020B0609070205080204" pitchFamily="49" charset="-128"/>
                <a:ea typeface="ＭＳ ゴシック" panose="020B0609070205080204" pitchFamily="49" charset="-128"/>
              </a:rPr>
              <a:t>IFID139.csv </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49" name="正方形/長方形 48">
            <a:extLst>
              <a:ext uri="{FF2B5EF4-FFF2-40B4-BE49-F238E27FC236}">
                <a16:creationId xmlns:a16="http://schemas.microsoft.com/office/drawing/2014/main" id="{537DC213-0AC4-4FE1-B9B5-2EAA1FEFBB3D}"/>
              </a:ext>
            </a:extLst>
          </p:cNvPr>
          <p:cNvSpPr/>
          <p:nvPr/>
        </p:nvSpPr>
        <p:spPr>
          <a:xfrm>
            <a:off x="2535398" y="1877755"/>
            <a:ext cx="1022449" cy="2040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050" b="1" dirty="0">
                <a:latin typeface="ＭＳ ゴシック" panose="020B0609070205080204" pitchFamily="49" charset="-128"/>
                <a:ea typeface="ＭＳ ゴシック" panose="020B0609070205080204" pitchFamily="49" charset="-128"/>
              </a:rPr>
              <a:t>IFID146.csv </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7" name="雲 6">
            <a:extLst>
              <a:ext uri="{FF2B5EF4-FFF2-40B4-BE49-F238E27FC236}">
                <a16:creationId xmlns:a16="http://schemas.microsoft.com/office/drawing/2014/main" id="{CE898E9D-2200-4991-B46D-A1556713BF2F}"/>
              </a:ext>
            </a:extLst>
          </p:cNvPr>
          <p:cNvSpPr/>
          <p:nvPr/>
        </p:nvSpPr>
        <p:spPr>
          <a:xfrm>
            <a:off x="566072" y="1487556"/>
            <a:ext cx="724911" cy="39387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2215FDC8-94CB-4C40-BE88-276AB30ABD37}"/>
              </a:ext>
            </a:extLst>
          </p:cNvPr>
          <p:cNvSpPr/>
          <p:nvPr/>
        </p:nvSpPr>
        <p:spPr>
          <a:xfrm>
            <a:off x="325398" y="2452961"/>
            <a:ext cx="6319241" cy="187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nksv560</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cxnSp>
        <p:nvCxnSpPr>
          <p:cNvPr id="58" name="コネクタ: カギ線 57">
            <a:extLst>
              <a:ext uri="{FF2B5EF4-FFF2-40B4-BE49-F238E27FC236}">
                <a16:creationId xmlns:a16="http://schemas.microsoft.com/office/drawing/2014/main" id="{DC1DCFEE-5751-4495-A2A3-0232AA9E5F5E}"/>
              </a:ext>
            </a:extLst>
          </p:cNvPr>
          <p:cNvCxnSpPr>
            <a:cxnSpLocks/>
            <a:stCxn id="49" idx="3"/>
            <a:endCxn id="93" idx="0"/>
          </p:cNvCxnSpPr>
          <p:nvPr/>
        </p:nvCxnSpPr>
        <p:spPr>
          <a:xfrm flipH="1">
            <a:off x="2325637" y="1979776"/>
            <a:ext cx="1232210" cy="768468"/>
          </a:xfrm>
          <a:prstGeom prst="bentConnector4">
            <a:avLst>
              <a:gd name="adj1" fmla="val -18552"/>
              <a:gd name="adj2" fmla="val 46903"/>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0" name="コネクタ: カギ線 69">
            <a:extLst>
              <a:ext uri="{FF2B5EF4-FFF2-40B4-BE49-F238E27FC236}">
                <a16:creationId xmlns:a16="http://schemas.microsoft.com/office/drawing/2014/main" id="{A883A79D-ACE0-4037-82BF-7863343C905E}"/>
              </a:ext>
            </a:extLst>
          </p:cNvPr>
          <p:cNvCxnSpPr>
            <a:cxnSpLocks/>
            <a:stCxn id="93" idx="3"/>
          </p:cNvCxnSpPr>
          <p:nvPr/>
        </p:nvCxnSpPr>
        <p:spPr>
          <a:xfrm flipV="1">
            <a:off x="3973627" y="3100776"/>
            <a:ext cx="1173617" cy="77923"/>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3" name="正方形/長方形 72">
            <a:extLst>
              <a:ext uri="{FF2B5EF4-FFF2-40B4-BE49-F238E27FC236}">
                <a16:creationId xmlns:a16="http://schemas.microsoft.com/office/drawing/2014/main" id="{0E25E777-7B63-4061-ACEE-C2001B2BD1D5}"/>
              </a:ext>
            </a:extLst>
          </p:cNvPr>
          <p:cNvSpPr/>
          <p:nvPr/>
        </p:nvSpPr>
        <p:spPr>
          <a:xfrm>
            <a:off x="5147245" y="2939229"/>
            <a:ext cx="899709" cy="3230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50" b="1" dirty="0">
                <a:latin typeface="ＭＳ ゴシック" panose="020B0609070205080204" pitchFamily="49" charset="-128"/>
                <a:ea typeface="ＭＳ ゴシック" panose="020B0609070205080204" pitchFamily="49" charset="-128"/>
              </a:rPr>
              <a:t>BOSS</a:t>
            </a:r>
            <a:r>
              <a:rPr kumimoji="1" lang="ja-JP" altLang="en-US" sz="1050" b="1" dirty="0">
                <a:latin typeface="ＭＳ ゴシック" panose="020B0609070205080204" pitchFamily="49" charset="-128"/>
                <a:ea typeface="ＭＳ ゴシック" panose="020B0609070205080204" pitchFamily="49" charset="-128"/>
              </a:rPr>
              <a:t>情報</a:t>
            </a:r>
          </a:p>
        </p:txBody>
      </p:sp>
      <p:sp>
        <p:nvSpPr>
          <p:cNvPr id="77" name="正方形/長方形 76">
            <a:extLst>
              <a:ext uri="{FF2B5EF4-FFF2-40B4-BE49-F238E27FC236}">
                <a16:creationId xmlns:a16="http://schemas.microsoft.com/office/drawing/2014/main" id="{D4DACDF6-5EED-4651-B2E3-C84309DE8337}"/>
              </a:ext>
            </a:extLst>
          </p:cNvPr>
          <p:cNvSpPr/>
          <p:nvPr/>
        </p:nvSpPr>
        <p:spPr>
          <a:xfrm>
            <a:off x="9505942" y="1152667"/>
            <a:ext cx="1923593" cy="11191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172.25.253.60</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80" name="正方形/長方形 79">
            <a:extLst>
              <a:ext uri="{FF2B5EF4-FFF2-40B4-BE49-F238E27FC236}">
                <a16:creationId xmlns:a16="http://schemas.microsoft.com/office/drawing/2014/main" id="{0F8B9BB9-7AC4-4736-9F7A-5C47234B337B}"/>
              </a:ext>
            </a:extLst>
          </p:cNvPr>
          <p:cNvSpPr/>
          <p:nvPr/>
        </p:nvSpPr>
        <p:spPr>
          <a:xfrm>
            <a:off x="7991779" y="1023705"/>
            <a:ext cx="4086614" cy="3217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400" dirty="0">
                <a:solidFill>
                  <a:schemeClr val="tx1"/>
                </a:solidFill>
                <a:latin typeface="ＭＳ ゴシック" panose="020B0609070205080204" pitchFamily="49" charset="-128"/>
                <a:ea typeface="ＭＳ ゴシック" panose="020B0609070205080204" pitchFamily="49" charset="-128"/>
              </a:rPr>
              <a:t>制限エリア</a:t>
            </a:r>
            <a:endParaRPr kumimoji="1" lang="en-US" altLang="ja-JP" sz="1400" dirty="0">
              <a:solidFill>
                <a:schemeClr val="tx1"/>
              </a:solidFill>
              <a:latin typeface="ＭＳ ゴシック" panose="020B0609070205080204" pitchFamily="49" charset="-128"/>
              <a:ea typeface="ＭＳ ゴシック" panose="020B0609070205080204" pitchFamily="49" charset="-128"/>
            </a:endParaRPr>
          </a:p>
          <a:p>
            <a:r>
              <a:rPr kumimoji="1" lang="en-US" altLang="ja-JP" sz="1400" dirty="0">
                <a:solidFill>
                  <a:schemeClr val="tx1"/>
                </a:solidFill>
                <a:latin typeface="ＭＳ ゴシック" panose="020B0609070205080204" pitchFamily="49" charset="-128"/>
                <a:ea typeface="ＭＳ ゴシック" panose="020B0609070205080204" pitchFamily="49" charset="-128"/>
              </a:rPr>
              <a:t>172.25.253.0</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28" name="四角形: メモ 27">
            <a:extLst>
              <a:ext uri="{FF2B5EF4-FFF2-40B4-BE49-F238E27FC236}">
                <a16:creationId xmlns:a16="http://schemas.microsoft.com/office/drawing/2014/main" id="{2968DC73-0674-4B5A-B192-827BD8BB7DC0}"/>
              </a:ext>
            </a:extLst>
          </p:cNvPr>
          <p:cNvSpPr/>
          <p:nvPr/>
        </p:nvSpPr>
        <p:spPr>
          <a:xfrm>
            <a:off x="9898287" y="1564268"/>
            <a:ext cx="1331743" cy="472480"/>
          </a:xfrm>
          <a:prstGeom prst="foldedCorner">
            <a:avLst/>
          </a:prstGeom>
          <a:solidFill>
            <a:srgbClr val="0000FF"/>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sz="1100" dirty="0"/>
              <a:t>差分</a:t>
            </a:r>
            <a:endParaRPr kumimoji="1" lang="en-US" altLang="ja-JP" sz="1100" dirty="0"/>
          </a:p>
          <a:p>
            <a:pPr algn="ctr"/>
            <a:r>
              <a:rPr kumimoji="1" lang="ja-JP" altLang="en-US" sz="1100" dirty="0"/>
              <a:t>チェックシステム</a:t>
            </a:r>
          </a:p>
        </p:txBody>
      </p:sp>
      <p:cxnSp>
        <p:nvCxnSpPr>
          <p:cNvPr id="82" name="コネクタ: カギ線 81">
            <a:extLst>
              <a:ext uri="{FF2B5EF4-FFF2-40B4-BE49-F238E27FC236}">
                <a16:creationId xmlns:a16="http://schemas.microsoft.com/office/drawing/2014/main" id="{2F94AA83-7065-4D12-A38D-0F2112FEBC6D}"/>
              </a:ext>
            </a:extLst>
          </p:cNvPr>
          <p:cNvCxnSpPr>
            <a:cxnSpLocks/>
            <a:stCxn id="73" idx="0"/>
            <a:endCxn id="28" idx="1"/>
          </p:cNvCxnSpPr>
          <p:nvPr/>
        </p:nvCxnSpPr>
        <p:spPr>
          <a:xfrm rot="5400000" flipH="1" flipV="1">
            <a:off x="7178333" y="219276"/>
            <a:ext cx="1138721" cy="4301187"/>
          </a:xfrm>
          <a:prstGeom prst="bentConnector2">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1" name="正方形/長方形 90">
            <a:extLst>
              <a:ext uri="{FF2B5EF4-FFF2-40B4-BE49-F238E27FC236}">
                <a16:creationId xmlns:a16="http://schemas.microsoft.com/office/drawing/2014/main" id="{19FA1A86-BDE5-4CB0-8840-DE15156DC2E3}"/>
              </a:ext>
            </a:extLst>
          </p:cNvPr>
          <p:cNvSpPr/>
          <p:nvPr/>
        </p:nvSpPr>
        <p:spPr>
          <a:xfrm>
            <a:off x="8193240" y="2444409"/>
            <a:ext cx="2072978" cy="17086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err="1">
                <a:solidFill>
                  <a:schemeClr val="tx1"/>
                </a:solidFill>
                <a:latin typeface="ＭＳ ゴシック" panose="020B0609070205080204" pitchFamily="49" charset="-128"/>
                <a:ea typeface="ＭＳ ゴシック" panose="020B0609070205080204" pitchFamily="49" charset="-128"/>
              </a:rPr>
              <a:t>EGPro</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93" name="四角形: メモ 92">
            <a:extLst>
              <a:ext uri="{FF2B5EF4-FFF2-40B4-BE49-F238E27FC236}">
                <a16:creationId xmlns:a16="http://schemas.microsoft.com/office/drawing/2014/main" id="{F8405829-3854-459A-9ABC-55D138A3D588}"/>
              </a:ext>
            </a:extLst>
          </p:cNvPr>
          <p:cNvSpPr/>
          <p:nvPr/>
        </p:nvSpPr>
        <p:spPr>
          <a:xfrm>
            <a:off x="677647" y="2748244"/>
            <a:ext cx="3295980" cy="860909"/>
          </a:xfrm>
          <a:prstGeom prst="foldedCorner">
            <a:avLst/>
          </a:prstGeom>
          <a:solidFill>
            <a:srgbClr val="0000FF"/>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sz="1100" dirty="0"/>
              <a:t>動作プログラム詳細不明</a:t>
            </a:r>
          </a:p>
          <a:p>
            <a:pPr algn="ctr"/>
            <a:r>
              <a:rPr kumimoji="1" lang="ja-JP" altLang="en-US" sz="1100" dirty="0"/>
              <a:t>恐らく下記フォルダ内プログラムを</a:t>
            </a:r>
          </a:p>
          <a:p>
            <a:pPr algn="ctr"/>
            <a:r>
              <a:rPr kumimoji="1" lang="en-US" altLang="ja-JP" sz="1100" dirty="0"/>
              <a:t>crontab</a:t>
            </a:r>
            <a:r>
              <a:rPr kumimoji="1" lang="ja-JP" altLang="en-US" sz="1100" dirty="0"/>
              <a:t>で実行している</a:t>
            </a:r>
            <a:r>
              <a:rPr lang="ja-JP" altLang="en-US" sz="1100" dirty="0"/>
              <a:t>と思われる</a:t>
            </a:r>
            <a:endParaRPr kumimoji="1" lang="ja-JP" altLang="en-US" sz="1100" dirty="0"/>
          </a:p>
          <a:p>
            <a:pPr algn="ctr"/>
            <a:r>
              <a:rPr kumimoji="1" lang="en-US" altLang="ja-JP" sz="1100" dirty="0"/>
              <a:t>\\nksv560.ad.nkc.co.jp\www\cgi\scheduled</a:t>
            </a:r>
          </a:p>
        </p:txBody>
      </p:sp>
      <p:pic>
        <p:nvPicPr>
          <p:cNvPr id="99" name="Picture 8">
            <a:extLst>
              <a:ext uri="{FF2B5EF4-FFF2-40B4-BE49-F238E27FC236}">
                <a16:creationId xmlns:a16="http://schemas.microsoft.com/office/drawing/2014/main" id="{F9012E75-AC59-4DF8-84E2-BE07F32AEE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56" t="33803" r="5159" b="35469"/>
          <a:stretch/>
        </p:blipFill>
        <p:spPr bwMode="auto">
          <a:xfrm>
            <a:off x="8778897" y="2472614"/>
            <a:ext cx="1153100" cy="295656"/>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12" descr="SQLServerのデータ型一覧、サイズ、数値、日付、小数点、配列型はない | urashita.com 浦下.com (ウラシタドットコム)">
            <a:extLst>
              <a:ext uri="{FF2B5EF4-FFF2-40B4-BE49-F238E27FC236}">
                <a16:creationId xmlns:a16="http://schemas.microsoft.com/office/drawing/2014/main" id="{CC511545-073B-4AAC-A853-109C9BECC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6838" y="3035348"/>
            <a:ext cx="529621" cy="43528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101" name="コネクタ: カギ線 100">
            <a:extLst>
              <a:ext uri="{FF2B5EF4-FFF2-40B4-BE49-F238E27FC236}">
                <a16:creationId xmlns:a16="http://schemas.microsoft.com/office/drawing/2014/main" id="{07077F1D-0D45-4624-8067-EC3FC5EF8AEA}"/>
              </a:ext>
            </a:extLst>
          </p:cNvPr>
          <p:cNvCxnSpPr>
            <a:cxnSpLocks/>
            <a:stCxn id="175" idx="3"/>
            <a:endCxn id="28" idx="2"/>
          </p:cNvCxnSpPr>
          <p:nvPr/>
        </p:nvCxnSpPr>
        <p:spPr>
          <a:xfrm flipV="1">
            <a:off x="9657169" y="2036748"/>
            <a:ext cx="906990" cy="1691961"/>
          </a:xfrm>
          <a:prstGeom prst="bentConnector2">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コネクタ: カギ線 112">
            <a:extLst>
              <a:ext uri="{FF2B5EF4-FFF2-40B4-BE49-F238E27FC236}">
                <a16:creationId xmlns:a16="http://schemas.microsoft.com/office/drawing/2014/main" id="{7650061E-F482-40EC-ACBB-B24D0C6A60B3}"/>
              </a:ext>
            </a:extLst>
          </p:cNvPr>
          <p:cNvCxnSpPr>
            <a:cxnSpLocks/>
            <a:stCxn id="175" idx="2"/>
            <a:endCxn id="93" idx="2"/>
          </p:cNvCxnSpPr>
          <p:nvPr/>
        </p:nvCxnSpPr>
        <p:spPr>
          <a:xfrm rot="5400000" flipH="1">
            <a:off x="5635239" y="299552"/>
            <a:ext cx="271930" cy="6891133"/>
          </a:xfrm>
          <a:prstGeom prst="bentConnector3">
            <a:avLst>
              <a:gd name="adj1" fmla="val -65725"/>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30" name="正方形/長方形 129">
            <a:extLst>
              <a:ext uri="{FF2B5EF4-FFF2-40B4-BE49-F238E27FC236}">
                <a16:creationId xmlns:a16="http://schemas.microsoft.com/office/drawing/2014/main" id="{1462DB05-C031-4EF8-809C-21CCFDF27589}"/>
              </a:ext>
            </a:extLst>
          </p:cNvPr>
          <p:cNvSpPr/>
          <p:nvPr/>
        </p:nvSpPr>
        <p:spPr>
          <a:xfrm>
            <a:off x="5147244" y="3348747"/>
            <a:ext cx="899709" cy="3230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50" b="1" dirty="0" err="1">
                <a:latin typeface="ＭＳ ゴシック" panose="020B0609070205080204" pitchFamily="49" charset="-128"/>
                <a:ea typeface="ＭＳ ゴシック" panose="020B0609070205080204" pitchFamily="49" charset="-128"/>
              </a:rPr>
              <a:t>EGPro</a:t>
            </a:r>
            <a:r>
              <a:rPr kumimoji="1" lang="ja-JP" altLang="en-US" sz="1050" b="1" dirty="0">
                <a:latin typeface="ＭＳ ゴシック" panose="020B0609070205080204" pitchFamily="49" charset="-128"/>
                <a:ea typeface="ＭＳ ゴシック" panose="020B0609070205080204" pitchFamily="49" charset="-128"/>
              </a:rPr>
              <a:t>情報</a:t>
            </a:r>
          </a:p>
        </p:txBody>
      </p:sp>
      <p:cxnSp>
        <p:nvCxnSpPr>
          <p:cNvPr id="131" name="コネクタ: カギ線 130">
            <a:extLst>
              <a:ext uri="{FF2B5EF4-FFF2-40B4-BE49-F238E27FC236}">
                <a16:creationId xmlns:a16="http://schemas.microsoft.com/office/drawing/2014/main" id="{199A87C4-9684-4493-AA20-D9183A51449E}"/>
              </a:ext>
            </a:extLst>
          </p:cNvPr>
          <p:cNvCxnSpPr>
            <a:cxnSpLocks/>
            <a:stCxn id="93" idx="3"/>
            <a:endCxn id="130" idx="1"/>
          </p:cNvCxnSpPr>
          <p:nvPr/>
        </p:nvCxnSpPr>
        <p:spPr>
          <a:xfrm>
            <a:off x="3973627" y="3178699"/>
            <a:ext cx="1173617" cy="331596"/>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36" name="正方形/長方形 135">
            <a:extLst>
              <a:ext uri="{FF2B5EF4-FFF2-40B4-BE49-F238E27FC236}">
                <a16:creationId xmlns:a16="http://schemas.microsoft.com/office/drawing/2014/main" id="{4A89B933-2D42-4B8B-8A05-1FAA4555B8A3}"/>
              </a:ext>
            </a:extLst>
          </p:cNvPr>
          <p:cNvSpPr/>
          <p:nvPr/>
        </p:nvSpPr>
        <p:spPr>
          <a:xfrm>
            <a:off x="2083608" y="4442474"/>
            <a:ext cx="4561031" cy="187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nksv569</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cxnSp>
        <p:nvCxnSpPr>
          <p:cNvPr id="142" name="コネクタ: カギ線 141">
            <a:extLst>
              <a:ext uri="{FF2B5EF4-FFF2-40B4-BE49-F238E27FC236}">
                <a16:creationId xmlns:a16="http://schemas.microsoft.com/office/drawing/2014/main" id="{A4F5409B-96D3-445F-9A3D-33D2B61229F5}"/>
              </a:ext>
            </a:extLst>
          </p:cNvPr>
          <p:cNvCxnSpPr>
            <a:cxnSpLocks/>
            <a:stCxn id="48" idx="3"/>
            <a:endCxn id="93" idx="0"/>
          </p:cNvCxnSpPr>
          <p:nvPr/>
        </p:nvCxnSpPr>
        <p:spPr>
          <a:xfrm flipH="1">
            <a:off x="2325637" y="1736980"/>
            <a:ext cx="1232210" cy="1011264"/>
          </a:xfrm>
          <a:prstGeom prst="bentConnector4">
            <a:avLst>
              <a:gd name="adj1" fmla="val -18552"/>
              <a:gd name="adj2" fmla="val 59154"/>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コネクタ: カギ線 142">
            <a:extLst>
              <a:ext uri="{FF2B5EF4-FFF2-40B4-BE49-F238E27FC236}">
                <a16:creationId xmlns:a16="http://schemas.microsoft.com/office/drawing/2014/main" id="{FC204113-1286-4B9A-91E2-3D73C07F3A93}"/>
              </a:ext>
            </a:extLst>
          </p:cNvPr>
          <p:cNvCxnSpPr>
            <a:cxnSpLocks/>
            <a:stCxn id="46" idx="3"/>
            <a:endCxn id="93" idx="0"/>
          </p:cNvCxnSpPr>
          <p:nvPr/>
        </p:nvCxnSpPr>
        <p:spPr>
          <a:xfrm flipH="1">
            <a:off x="2325637" y="1466155"/>
            <a:ext cx="1232210" cy="1282089"/>
          </a:xfrm>
          <a:prstGeom prst="bentConnector4">
            <a:avLst>
              <a:gd name="adj1" fmla="val -18552"/>
              <a:gd name="adj2" fmla="val 68892"/>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1" name="正方形/長方形 150">
            <a:extLst>
              <a:ext uri="{FF2B5EF4-FFF2-40B4-BE49-F238E27FC236}">
                <a16:creationId xmlns:a16="http://schemas.microsoft.com/office/drawing/2014/main" id="{8826FAFD-1DE6-4B91-822D-BB8C80DA3D2F}"/>
              </a:ext>
            </a:extLst>
          </p:cNvPr>
          <p:cNvSpPr/>
          <p:nvPr/>
        </p:nvSpPr>
        <p:spPr>
          <a:xfrm>
            <a:off x="4679058" y="4593636"/>
            <a:ext cx="1798696" cy="146037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MySQL</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152" name="正方形/長方形 151">
            <a:extLst>
              <a:ext uri="{FF2B5EF4-FFF2-40B4-BE49-F238E27FC236}">
                <a16:creationId xmlns:a16="http://schemas.microsoft.com/office/drawing/2014/main" id="{FED69D32-67BF-47C2-9BF6-AA8D87A7A180}"/>
              </a:ext>
            </a:extLst>
          </p:cNvPr>
          <p:cNvSpPr/>
          <p:nvPr/>
        </p:nvSpPr>
        <p:spPr>
          <a:xfrm>
            <a:off x="8156940" y="4381299"/>
            <a:ext cx="2407219" cy="18731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nksv523</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pic>
        <p:nvPicPr>
          <p:cNvPr id="155" name="Picture 6" descr="Microsoft Access（マイクロソフト・アクセス）とは - IT用語辞典 e-Words">
            <a:extLst>
              <a:ext uri="{FF2B5EF4-FFF2-40B4-BE49-F238E27FC236}">
                <a16:creationId xmlns:a16="http://schemas.microsoft.com/office/drawing/2014/main" id="{E9B443D7-8642-4380-8E19-B492D75AAC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8634" y="4823111"/>
            <a:ext cx="619758" cy="619758"/>
          </a:xfrm>
          <a:prstGeom prst="rect">
            <a:avLst/>
          </a:prstGeom>
          <a:noFill/>
          <a:extLst>
            <a:ext uri="{909E8E84-426E-40DD-AFC4-6F175D3DCCD1}">
              <a14:hiddenFill xmlns:a14="http://schemas.microsoft.com/office/drawing/2010/main">
                <a:solidFill>
                  <a:srgbClr val="FFFFFF"/>
                </a:solidFill>
              </a14:hiddenFill>
            </a:ext>
          </a:extLst>
        </p:spPr>
      </p:pic>
      <p:sp>
        <p:nvSpPr>
          <p:cNvPr id="156" name="正方形/長方形 155">
            <a:extLst>
              <a:ext uri="{FF2B5EF4-FFF2-40B4-BE49-F238E27FC236}">
                <a16:creationId xmlns:a16="http://schemas.microsoft.com/office/drawing/2014/main" id="{2D79F355-F074-4D3D-8C43-F2FC4F4638D8}"/>
              </a:ext>
            </a:extLst>
          </p:cNvPr>
          <p:cNvSpPr/>
          <p:nvPr/>
        </p:nvSpPr>
        <p:spPr>
          <a:xfrm>
            <a:off x="8421149" y="5267093"/>
            <a:ext cx="880798"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050" b="1" dirty="0">
                <a:latin typeface="ＭＳ ゴシック" panose="020B0609070205080204" pitchFamily="49" charset="-128"/>
                <a:ea typeface="ＭＳ ゴシック" panose="020B0609070205080204" pitchFamily="49" charset="-128"/>
              </a:rPr>
              <a:t>不良情報</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160" name="正方形/長方形 159">
            <a:extLst>
              <a:ext uri="{FF2B5EF4-FFF2-40B4-BE49-F238E27FC236}">
                <a16:creationId xmlns:a16="http://schemas.microsoft.com/office/drawing/2014/main" id="{35FDB519-13EB-417B-92AA-B9D790D70649}"/>
              </a:ext>
            </a:extLst>
          </p:cNvPr>
          <p:cNvSpPr/>
          <p:nvPr/>
        </p:nvSpPr>
        <p:spPr>
          <a:xfrm>
            <a:off x="8420835" y="5597289"/>
            <a:ext cx="881107"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050" b="1" dirty="0">
                <a:latin typeface="ＭＳ ゴシック" panose="020B0609070205080204" pitchFamily="49" charset="-128"/>
                <a:ea typeface="ＭＳ ゴシック" panose="020B0609070205080204" pitchFamily="49" charset="-128"/>
              </a:rPr>
              <a:t>実装点数</a:t>
            </a:r>
          </a:p>
        </p:txBody>
      </p:sp>
      <p:sp>
        <p:nvSpPr>
          <p:cNvPr id="164" name="正方形/長方形 163">
            <a:extLst>
              <a:ext uri="{FF2B5EF4-FFF2-40B4-BE49-F238E27FC236}">
                <a16:creationId xmlns:a16="http://schemas.microsoft.com/office/drawing/2014/main" id="{782784F2-58D3-4BCE-90DE-CE6C60FD0093}"/>
              </a:ext>
            </a:extLst>
          </p:cNvPr>
          <p:cNvSpPr/>
          <p:nvPr/>
        </p:nvSpPr>
        <p:spPr>
          <a:xfrm>
            <a:off x="8325149" y="4790176"/>
            <a:ext cx="1783243" cy="1278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400" dirty="0">
                <a:solidFill>
                  <a:schemeClr val="tx1"/>
                </a:solidFill>
                <a:latin typeface="ＭＳ ゴシック" panose="020B0609070205080204" pitchFamily="49" charset="-128"/>
                <a:ea typeface="ＭＳ ゴシック" panose="020B0609070205080204" pitchFamily="49" charset="-128"/>
              </a:rPr>
              <a:t>Access</a:t>
            </a:r>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cxnSp>
        <p:nvCxnSpPr>
          <p:cNvPr id="166" name="コネクタ: カギ線 165">
            <a:extLst>
              <a:ext uri="{FF2B5EF4-FFF2-40B4-BE49-F238E27FC236}">
                <a16:creationId xmlns:a16="http://schemas.microsoft.com/office/drawing/2014/main" id="{54C9AB76-6C4A-4E7D-B417-FBD5F078AD9A}"/>
              </a:ext>
            </a:extLst>
          </p:cNvPr>
          <p:cNvCxnSpPr>
            <a:cxnSpLocks/>
            <a:stCxn id="156" idx="1"/>
            <a:endCxn id="167" idx="3"/>
          </p:cNvCxnSpPr>
          <p:nvPr/>
        </p:nvCxnSpPr>
        <p:spPr>
          <a:xfrm rot="10800000">
            <a:off x="6226583" y="4943151"/>
            <a:ext cx="2194567" cy="476317"/>
          </a:xfrm>
          <a:prstGeom prst="bentConnector3">
            <a:avLst>
              <a:gd name="adj1" fmla="val 44697"/>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7" name="正方形/長方形 166">
            <a:extLst>
              <a:ext uri="{FF2B5EF4-FFF2-40B4-BE49-F238E27FC236}">
                <a16:creationId xmlns:a16="http://schemas.microsoft.com/office/drawing/2014/main" id="{244DA416-3F09-42C6-BDE5-DBC98064C1B7}"/>
              </a:ext>
            </a:extLst>
          </p:cNvPr>
          <p:cNvSpPr/>
          <p:nvPr/>
        </p:nvSpPr>
        <p:spPr>
          <a:xfrm>
            <a:off x="5345784" y="4790776"/>
            <a:ext cx="880798"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050" b="1" dirty="0">
                <a:latin typeface="ＭＳ ゴシック" panose="020B0609070205080204" pitchFamily="49" charset="-128"/>
                <a:ea typeface="ＭＳ ゴシック" panose="020B0609070205080204" pitchFamily="49" charset="-128"/>
              </a:rPr>
              <a:t>不良情報</a:t>
            </a:r>
            <a:endParaRPr kumimoji="1" lang="ja-JP" altLang="en-US" sz="1050" b="1" dirty="0">
              <a:latin typeface="ＭＳ ゴシック" panose="020B0609070205080204" pitchFamily="49" charset="-128"/>
              <a:ea typeface="ＭＳ ゴシック" panose="020B0609070205080204" pitchFamily="49" charset="-128"/>
            </a:endParaRPr>
          </a:p>
        </p:txBody>
      </p:sp>
      <p:sp>
        <p:nvSpPr>
          <p:cNvPr id="169" name="正方形/長方形 168">
            <a:extLst>
              <a:ext uri="{FF2B5EF4-FFF2-40B4-BE49-F238E27FC236}">
                <a16:creationId xmlns:a16="http://schemas.microsoft.com/office/drawing/2014/main" id="{0ECB7B8B-C420-43E8-93AC-BE2985C9B35B}"/>
              </a:ext>
            </a:extLst>
          </p:cNvPr>
          <p:cNvSpPr/>
          <p:nvPr/>
        </p:nvSpPr>
        <p:spPr>
          <a:xfrm>
            <a:off x="5345475" y="5141796"/>
            <a:ext cx="881107"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050" b="1" dirty="0">
                <a:latin typeface="ＭＳ ゴシック" panose="020B0609070205080204" pitchFamily="49" charset="-128"/>
                <a:ea typeface="ＭＳ ゴシック" panose="020B0609070205080204" pitchFamily="49" charset="-128"/>
              </a:rPr>
              <a:t>実装点数</a:t>
            </a:r>
          </a:p>
        </p:txBody>
      </p:sp>
      <p:cxnSp>
        <p:nvCxnSpPr>
          <p:cNvPr id="171" name="コネクタ: カギ線 170">
            <a:extLst>
              <a:ext uri="{FF2B5EF4-FFF2-40B4-BE49-F238E27FC236}">
                <a16:creationId xmlns:a16="http://schemas.microsoft.com/office/drawing/2014/main" id="{7B6462F0-D582-4F5B-80A3-17357DBFD7D8}"/>
              </a:ext>
            </a:extLst>
          </p:cNvPr>
          <p:cNvCxnSpPr>
            <a:cxnSpLocks/>
            <a:stCxn id="160" idx="1"/>
            <a:endCxn id="169" idx="3"/>
          </p:cNvCxnSpPr>
          <p:nvPr/>
        </p:nvCxnSpPr>
        <p:spPr>
          <a:xfrm rot="10800000">
            <a:off x="6226583" y="5294171"/>
            <a:ext cx="2194253" cy="455493"/>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4" name="正方形/長方形 173">
            <a:extLst>
              <a:ext uri="{FF2B5EF4-FFF2-40B4-BE49-F238E27FC236}">
                <a16:creationId xmlns:a16="http://schemas.microsoft.com/office/drawing/2014/main" id="{6E828CA3-6049-4E4D-92E8-4B5C315CE501}"/>
              </a:ext>
            </a:extLst>
          </p:cNvPr>
          <p:cNvSpPr/>
          <p:nvPr/>
        </p:nvSpPr>
        <p:spPr>
          <a:xfrm>
            <a:off x="8410320" y="2956938"/>
            <a:ext cx="1456043" cy="10367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sz="1400" dirty="0">
              <a:solidFill>
                <a:schemeClr val="tx1"/>
              </a:solidFill>
              <a:latin typeface="ＭＳ ゴシック" panose="020B0609070205080204" pitchFamily="49" charset="-128"/>
              <a:ea typeface="ＭＳ ゴシック" panose="020B0609070205080204" pitchFamily="49" charset="-128"/>
            </a:endParaRPr>
          </a:p>
        </p:txBody>
      </p:sp>
      <p:sp>
        <p:nvSpPr>
          <p:cNvPr id="175" name="正方形/長方形 174">
            <a:extLst>
              <a:ext uri="{FF2B5EF4-FFF2-40B4-BE49-F238E27FC236}">
                <a16:creationId xmlns:a16="http://schemas.microsoft.com/office/drawing/2014/main" id="{40962D01-8D3A-42D1-A04A-DD95FC87D5BD}"/>
              </a:ext>
            </a:extLst>
          </p:cNvPr>
          <p:cNvSpPr/>
          <p:nvPr/>
        </p:nvSpPr>
        <p:spPr>
          <a:xfrm>
            <a:off x="8776371" y="3576335"/>
            <a:ext cx="880798" cy="3047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50" b="1" dirty="0" err="1">
                <a:latin typeface="ＭＳ ゴシック" panose="020B0609070205080204" pitchFamily="49" charset="-128"/>
                <a:ea typeface="ＭＳ ゴシック" panose="020B0609070205080204" pitchFamily="49" charset="-128"/>
              </a:rPr>
              <a:t>EGPro</a:t>
            </a:r>
            <a:r>
              <a:rPr kumimoji="1" lang="ja-JP" altLang="en-US" sz="1050" b="1" dirty="0">
                <a:latin typeface="ＭＳ ゴシック" panose="020B0609070205080204" pitchFamily="49" charset="-128"/>
                <a:ea typeface="ＭＳ ゴシック" panose="020B0609070205080204" pitchFamily="49" charset="-128"/>
              </a:rPr>
              <a:t>情報</a:t>
            </a:r>
          </a:p>
        </p:txBody>
      </p:sp>
      <p:cxnSp>
        <p:nvCxnSpPr>
          <p:cNvPr id="179" name="コネクタ: カギ線 178">
            <a:extLst>
              <a:ext uri="{FF2B5EF4-FFF2-40B4-BE49-F238E27FC236}">
                <a16:creationId xmlns:a16="http://schemas.microsoft.com/office/drawing/2014/main" id="{7D229F65-A3A0-4266-83ED-4058DE7B7B7B}"/>
              </a:ext>
            </a:extLst>
          </p:cNvPr>
          <p:cNvCxnSpPr>
            <a:cxnSpLocks/>
            <a:stCxn id="73" idx="3"/>
            <a:endCxn id="183" idx="0"/>
          </p:cNvCxnSpPr>
          <p:nvPr/>
        </p:nvCxnSpPr>
        <p:spPr>
          <a:xfrm flipH="1">
            <a:off x="3375474" y="3100777"/>
            <a:ext cx="2671480" cy="1692734"/>
          </a:xfrm>
          <a:prstGeom prst="bentConnector4">
            <a:avLst>
              <a:gd name="adj1" fmla="val -8557"/>
              <a:gd name="adj2" fmla="val 43477"/>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3" name="四角形: メモ 182">
            <a:extLst>
              <a:ext uri="{FF2B5EF4-FFF2-40B4-BE49-F238E27FC236}">
                <a16:creationId xmlns:a16="http://schemas.microsoft.com/office/drawing/2014/main" id="{94DCDD3C-F0CD-420F-B923-30D77F3043C8}"/>
              </a:ext>
            </a:extLst>
          </p:cNvPr>
          <p:cNvSpPr/>
          <p:nvPr/>
        </p:nvSpPr>
        <p:spPr>
          <a:xfrm>
            <a:off x="2268348" y="4793511"/>
            <a:ext cx="2214251" cy="473582"/>
          </a:xfrm>
          <a:prstGeom prst="foldedCorne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ja-JP" sz="1100" dirty="0"/>
              <a:t>SMT</a:t>
            </a:r>
            <a:r>
              <a:rPr kumimoji="1" lang="ja-JP" altLang="en-US" sz="1100" dirty="0"/>
              <a:t>実装品質可視化システム</a:t>
            </a:r>
            <a:endParaRPr kumimoji="1" lang="en-US" altLang="ja-JP" sz="1100" dirty="0"/>
          </a:p>
          <a:p>
            <a:pPr algn="ctr"/>
            <a:r>
              <a:rPr lang="en-US" altLang="ja-JP" sz="1100" dirty="0"/>
              <a:t>(python/</a:t>
            </a:r>
            <a:r>
              <a:rPr lang="en-US" altLang="ja-JP" sz="1100" dirty="0" err="1"/>
              <a:t>perl</a:t>
            </a:r>
            <a:r>
              <a:rPr lang="en-US" altLang="ja-JP" sz="1100" dirty="0"/>
              <a:t>/apache2)</a:t>
            </a:r>
            <a:endParaRPr kumimoji="1" lang="en-US" altLang="ja-JP" sz="1100" dirty="0"/>
          </a:p>
        </p:txBody>
      </p:sp>
      <p:cxnSp>
        <p:nvCxnSpPr>
          <p:cNvPr id="195" name="コネクタ: カギ線 194">
            <a:extLst>
              <a:ext uri="{FF2B5EF4-FFF2-40B4-BE49-F238E27FC236}">
                <a16:creationId xmlns:a16="http://schemas.microsoft.com/office/drawing/2014/main" id="{662CA2BF-CC8D-443E-BC00-37912A1EA5FA}"/>
              </a:ext>
            </a:extLst>
          </p:cNvPr>
          <p:cNvCxnSpPr>
            <a:cxnSpLocks/>
            <a:stCxn id="167" idx="1"/>
            <a:endCxn id="183" idx="3"/>
          </p:cNvCxnSpPr>
          <p:nvPr/>
        </p:nvCxnSpPr>
        <p:spPr>
          <a:xfrm rot="10800000" flipV="1">
            <a:off x="4482600" y="4943150"/>
            <a:ext cx="863185" cy="87152"/>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742C2A2D-048B-42DF-9B1C-EA9DBB563298}"/>
              </a:ext>
            </a:extLst>
          </p:cNvPr>
          <p:cNvCxnSpPr>
            <a:cxnSpLocks/>
            <a:stCxn id="169" idx="1"/>
            <a:endCxn id="183" idx="3"/>
          </p:cNvCxnSpPr>
          <p:nvPr/>
        </p:nvCxnSpPr>
        <p:spPr>
          <a:xfrm rot="10800000">
            <a:off x="4482599" y="5030302"/>
            <a:ext cx="862876" cy="263868"/>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2" name="波線 211">
            <a:extLst>
              <a:ext uri="{FF2B5EF4-FFF2-40B4-BE49-F238E27FC236}">
                <a16:creationId xmlns:a16="http://schemas.microsoft.com/office/drawing/2014/main" id="{79F3DF39-04FE-473F-BC9A-59E2B8DDE437}"/>
              </a:ext>
            </a:extLst>
          </p:cNvPr>
          <p:cNvSpPr/>
          <p:nvPr/>
        </p:nvSpPr>
        <p:spPr>
          <a:xfrm>
            <a:off x="2561653" y="5491124"/>
            <a:ext cx="1411499" cy="718773"/>
          </a:xfrm>
          <a:prstGeom prst="wav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ja-JP" sz="1600" b="1" dirty="0">
                <a:latin typeface="ＭＳ ゴシック" panose="020B0609070205080204" pitchFamily="49" charset="-128"/>
                <a:ea typeface="ＭＳ ゴシック" panose="020B0609070205080204" pitchFamily="49" charset="-128"/>
              </a:rPr>
              <a:t>WEB</a:t>
            </a:r>
            <a:r>
              <a:rPr kumimoji="1" lang="ja-JP" altLang="en-US" sz="1600" b="1" dirty="0">
                <a:latin typeface="ＭＳ ゴシック" panose="020B0609070205080204" pitchFamily="49" charset="-128"/>
                <a:ea typeface="ＭＳ ゴシック" panose="020B0609070205080204" pitchFamily="49" charset="-128"/>
              </a:rPr>
              <a:t>ページ</a:t>
            </a:r>
          </a:p>
        </p:txBody>
      </p:sp>
      <p:cxnSp>
        <p:nvCxnSpPr>
          <p:cNvPr id="213" name="コネクタ: カギ線 212">
            <a:extLst>
              <a:ext uri="{FF2B5EF4-FFF2-40B4-BE49-F238E27FC236}">
                <a16:creationId xmlns:a16="http://schemas.microsoft.com/office/drawing/2014/main" id="{946268FB-70B9-41CD-951F-14E9AA42710F}"/>
              </a:ext>
            </a:extLst>
          </p:cNvPr>
          <p:cNvCxnSpPr>
            <a:cxnSpLocks/>
            <a:stCxn id="183" idx="2"/>
            <a:endCxn id="212" idx="3"/>
          </p:cNvCxnSpPr>
          <p:nvPr/>
        </p:nvCxnSpPr>
        <p:spPr>
          <a:xfrm rot="16200000" flipH="1">
            <a:off x="3382604" y="5259963"/>
            <a:ext cx="583418" cy="597678"/>
          </a:xfrm>
          <a:prstGeom prst="bentConnector4">
            <a:avLst>
              <a:gd name="adj1" fmla="val 19200"/>
              <a:gd name="adj2" fmla="val 138645"/>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コネクタ: カギ線 220">
            <a:extLst>
              <a:ext uri="{FF2B5EF4-FFF2-40B4-BE49-F238E27FC236}">
                <a16:creationId xmlns:a16="http://schemas.microsoft.com/office/drawing/2014/main" id="{D6B5C94A-9744-4A46-AFB9-BD37E2C5E400}"/>
              </a:ext>
            </a:extLst>
          </p:cNvPr>
          <p:cNvCxnSpPr>
            <a:cxnSpLocks/>
            <a:stCxn id="130" idx="3"/>
            <a:endCxn id="183" idx="0"/>
          </p:cNvCxnSpPr>
          <p:nvPr/>
        </p:nvCxnSpPr>
        <p:spPr>
          <a:xfrm flipH="1">
            <a:off x="3375474" y="3510295"/>
            <a:ext cx="2671479" cy="1283216"/>
          </a:xfrm>
          <a:prstGeom prst="bentConnector4">
            <a:avLst>
              <a:gd name="adj1" fmla="val -8557"/>
              <a:gd name="adj2" fmla="val 23905"/>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45" name="Picture 4">
            <a:extLst>
              <a:ext uri="{FF2B5EF4-FFF2-40B4-BE49-F238E27FC236}">
                <a16:creationId xmlns:a16="http://schemas.microsoft.com/office/drawing/2014/main" id="{217E3BCF-4403-418E-A425-AA6968D212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232545" y="6001242"/>
            <a:ext cx="507606" cy="417310"/>
          </a:xfrm>
          <a:prstGeom prst="rect">
            <a:avLst/>
          </a:prstGeom>
          <a:noFill/>
          <a:extLst>
            <a:ext uri="{909E8E84-426E-40DD-AFC4-6F175D3DCCD1}">
              <a14:hiddenFill xmlns:a14="http://schemas.microsoft.com/office/drawing/2010/main">
                <a:solidFill>
                  <a:srgbClr val="FFFFFF"/>
                </a:solidFill>
              </a14:hiddenFill>
            </a:ext>
          </a:extLst>
        </p:spPr>
      </p:pic>
      <p:pic>
        <p:nvPicPr>
          <p:cNvPr id="246" name="Picture 4">
            <a:extLst>
              <a:ext uri="{FF2B5EF4-FFF2-40B4-BE49-F238E27FC236}">
                <a16:creationId xmlns:a16="http://schemas.microsoft.com/office/drawing/2014/main" id="{3590868C-944D-4EF9-8001-3ABB8430BB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35346" y="5939871"/>
            <a:ext cx="507606" cy="417310"/>
          </a:xfrm>
          <a:prstGeom prst="rect">
            <a:avLst/>
          </a:prstGeom>
          <a:noFill/>
          <a:extLst>
            <a:ext uri="{909E8E84-426E-40DD-AFC4-6F175D3DCCD1}">
              <a14:hiddenFill xmlns:a14="http://schemas.microsoft.com/office/drawing/2010/main">
                <a:solidFill>
                  <a:srgbClr val="FFFFFF"/>
                </a:solidFill>
              </a14:hiddenFill>
            </a:ext>
          </a:extLst>
        </p:spPr>
      </p:pic>
      <p:pic>
        <p:nvPicPr>
          <p:cNvPr id="247" name="Picture 4">
            <a:extLst>
              <a:ext uri="{FF2B5EF4-FFF2-40B4-BE49-F238E27FC236}">
                <a16:creationId xmlns:a16="http://schemas.microsoft.com/office/drawing/2014/main" id="{DC897E12-FAB3-426B-AE5F-28304FFB3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997938" y="5534380"/>
            <a:ext cx="507606" cy="417310"/>
          </a:xfrm>
          <a:prstGeom prst="rect">
            <a:avLst/>
          </a:prstGeom>
          <a:noFill/>
          <a:extLst>
            <a:ext uri="{909E8E84-426E-40DD-AFC4-6F175D3DCCD1}">
              <a14:hiddenFill xmlns:a14="http://schemas.microsoft.com/office/drawing/2010/main">
                <a:solidFill>
                  <a:srgbClr val="FFFFFF"/>
                </a:solidFill>
              </a14:hiddenFill>
            </a:ext>
          </a:extLst>
        </p:spPr>
      </p:pic>
      <p:sp>
        <p:nvSpPr>
          <p:cNvPr id="238" name="矢印: 右 237">
            <a:extLst>
              <a:ext uri="{FF2B5EF4-FFF2-40B4-BE49-F238E27FC236}">
                <a16:creationId xmlns:a16="http://schemas.microsoft.com/office/drawing/2014/main" id="{803281CC-E089-4C0E-A1ED-BD40DA5164C0}"/>
              </a:ext>
            </a:extLst>
          </p:cNvPr>
          <p:cNvSpPr/>
          <p:nvPr/>
        </p:nvSpPr>
        <p:spPr>
          <a:xfrm>
            <a:off x="1805771" y="5755478"/>
            <a:ext cx="638621" cy="152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9" name="テキスト ボックス 238">
            <a:extLst>
              <a:ext uri="{FF2B5EF4-FFF2-40B4-BE49-F238E27FC236}">
                <a16:creationId xmlns:a16="http://schemas.microsoft.com/office/drawing/2014/main" id="{A827E5BA-D2D7-4CC4-9B79-6CC71B2A2F90}"/>
              </a:ext>
            </a:extLst>
          </p:cNvPr>
          <p:cNvSpPr txBox="1"/>
          <p:nvPr/>
        </p:nvSpPr>
        <p:spPr>
          <a:xfrm>
            <a:off x="235364" y="5085722"/>
            <a:ext cx="1514881" cy="523220"/>
          </a:xfrm>
          <a:prstGeom prst="rect">
            <a:avLst/>
          </a:prstGeom>
          <a:noFill/>
        </p:spPr>
        <p:txBody>
          <a:bodyPr wrap="square" rtlCol="0">
            <a:spAutoFit/>
          </a:bodyPr>
          <a:lstStyle/>
          <a:p>
            <a:r>
              <a:rPr kumimoji="1" lang="ja-JP" altLang="en-US" sz="1400" dirty="0"/>
              <a:t>事務エリア</a:t>
            </a:r>
            <a:r>
              <a:rPr kumimoji="1" lang="en-US" altLang="ja-JP" sz="1400" dirty="0"/>
              <a:t>PC</a:t>
            </a:r>
          </a:p>
          <a:p>
            <a:r>
              <a:rPr kumimoji="1" lang="ja-JP" altLang="en-US" sz="1400" dirty="0"/>
              <a:t>生産現場</a:t>
            </a:r>
            <a:r>
              <a:rPr kumimoji="1" lang="en-US" altLang="ja-JP" sz="1400" dirty="0"/>
              <a:t>PC</a:t>
            </a:r>
            <a:endParaRPr kumimoji="1" lang="ja-JP" altLang="en-US" sz="1400" dirty="0"/>
          </a:p>
        </p:txBody>
      </p:sp>
      <p:sp>
        <p:nvSpPr>
          <p:cNvPr id="250" name="四角形: メモ 249">
            <a:extLst>
              <a:ext uri="{FF2B5EF4-FFF2-40B4-BE49-F238E27FC236}">
                <a16:creationId xmlns:a16="http://schemas.microsoft.com/office/drawing/2014/main" id="{1DC0B55E-FBDC-421E-BC87-AC63C7B1476A}"/>
              </a:ext>
            </a:extLst>
          </p:cNvPr>
          <p:cNvSpPr/>
          <p:nvPr/>
        </p:nvSpPr>
        <p:spPr>
          <a:xfrm>
            <a:off x="9216771" y="32042"/>
            <a:ext cx="1065727" cy="283434"/>
          </a:xfrm>
          <a:prstGeom prst="foldedCorner">
            <a:avLst/>
          </a:prstGeom>
          <a:solidFill>
            <a:srgbClr val="0000FF"/>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ja-JP" altLang="en-US" sz="1100" dirty="0"/>
          </a:p>
        </p:txBody>
      </p:sp>
      <p:sp>
        <p:nvSpPr>
          <p:cNvPr id="251" name="テキスト ボックス 250">
            <a:extLst>
              <a:ext uri="{FF2B5EF4-FFF2-40B4-BE49-F238E27FC236}">
                <a16:creationId xmlns:a16="http://schemas.microsoft.com/office/drawing/2014/main" id="{D1EBE5E3-3769-4263-9D8A-2D997A3A432B}"/>
              </a:ext>
            </a:extLst>
          </p:cNvPr>
          <p:cNvSpPr txBox="1"/>
          <p:nvPr/>
        </p:nvSpPr>
        <p:spPr>
          <a:xfrm>
            <a:off x="10282498" y="-6628"/>
            <a:ext cx="1514881" cy="461665"/>
          </a:xfrm>
          <a:prstGeom prst="rect">
            <a:avLst/>
          </a:prstGeom>
          <a:noFill/>
        </p:spPr>
        <p:txBody>
          <a:bodyPr wrap="square" rtlCol="0">
            <a:spAutoFit/>
          </a:bodyPr>
          <a:lstStyle/>
          <a:p>
            <a:r>
              <a:rPr kumimoji="1" lang="ja-JP" altLang="en-US" sz="1200" b="1" dirty="0"/>
              <a:t>→五十嵐淳一様</a:t>
            </a:r>
            <a:endParaRPr kumimoji="1" lang="en-US" altLang="ja-JP" sz="1200" b="1" dirty="0"/>
          </a:p>
          <a:p>
            <a:r>
              <a:rPr lang="ja-JP" altLang="en-US" sz="1200" b="1" dirty="0"/>
              <a:t>　</a:t>
            </a:r>
            <a:r>
              <a:rPr kumimoji="1" lang="ja-JP" altLang="en-US" sz="1200" b="1" dirty="0"/>
              <a:t>作成システム</a:t>
            </a:r>
          </a:p>
        </p:txBody>
      </p:sp>
      <p:sp>
        <p:nvSpPr>
          <p:cNvPr id="252" name="四角形: メモ 251">
            <a:extLst>
              <a:ext uri="{FF2B5EF4-FFF2-40B4-BE49-F238E27FC236}">
                <a16:creationId xmlns:a16="http://schemas.microsoft.com/office/drawing/2014/main" id="{A7FCCF2E-5340-40AA-8096-4E31995F9CA7}"/>
              </a:ext>
            </a:extLst>
          </p:cNvPr>
          <p:cNvSpPr/>
          <p:nvPr/>
        </p:nvSpPr>
        <p:spPr>
          <a:xfrm>
            <a:off x="9216771" y="473424"/>
            <a:ext cx="1065727" cy="314532"/>
          </a:xfrm>
          <a:prstGeom prst="foldedCorne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en-US" altLang="ja-JP" sz="1100" dirty="0"/>
          </a:p>
        </p:txBody>
      </p:sp>
      <p:sp>
        <p:nvSpPr>
          <p:cNvPr id="253" name="テキスト ボックス 252">
            <a:extLst>
              <a:ext uri="{FF2B5EF4-FFF2-40B4-BE49-F238E27FC236}">
                <a16:creationId xmlns:a16="http://schemas.microsoft.com/office/drawing/2014/main" id="{6FF50D40-9A1D-45D5-9076-8371AC6A4D59}"/>
              </a:ext>
            </a:extLst>
          </p:cNvPr>
          <p:cNvSpPr txBox="1"/>
          <p:nvPr/>
        </p:nvSpPr>
        <p:spPr>
          <a:xfrm>
            <a:off x="10244449" y="436156"/>
            <a:ext cx="1514881" cy="461665"/>
          </a:xfrm>
          <a:prstGeom prst="rect">
            <a:avLst/>
          </a:prstGeom>
          <a:noFill/>
        </p:spPr>
        <p:txBody>
          <a:bodyPr wrap="square" rtlCol="0">
            <a:spAutoFit/>
          </a:bodyPr>
          <a:lstStyle/>
          <a:p>
            <a:r>
              <a:rPr kumimoji="1" lang="ja-JP" altLang="en-US" sz="1200" b="1" dirty="0"/>
              <a:t>→佐藤･水尾</a:t>
            </a:r>
            <a:endParaRPr kumimoji="1" lang="en-US" altLang="ja-JP" sz="1200" b="1" dirty="0"/>
          </a:p>
          <a:p>
            <a:r>
              <a:rPr lang="ja-JP" altLang="en-US" sz="1200" b="1" dirty="0"/>
              <a:t>　</a:t>
            </a:r>
            <a:r>
              <a:rPr kumimoji="1" lang="ja-JP" altLang="en-US" sz="1200" b="1" dirty="0"/>
              <a:t>作成システム</a:t>
            </a:r>
          </a:p>
        </p:txBody>
      </p:sp>
      <p:sp>
        <p:nvSpPr>
          <p:cNvPr id="60" name="正方形/長方形 59">
            <a:extLst>
              <a:ext uri="{FF2B5EF4-FFF2-40B4-BE49-F238E27FC236}">
                <a16:creationId xmlns:a16="http://schemas.microsoft.com/office/drawing/2014/main" id="{C3AE7257-9398-4862-994E-5A6EC01DD2AC}"/>
              </a:ext>
            </a:extLst>
          </p:cNvPr>
          <p:cNvSpPr/>
          <p:nvPr/>
        </p:nvSpPr>
        <p:spPr>
          <a:xfrm>
            <a:off x="0" y="934677"/>
            <a:ext cx="12192123" cy="5914089"/>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sz="1400" dirty="0">
              <a:solidFill>
                <a:srgbClr val="FF0000"/>
              </a:solidFill>
              <a:latin typeface="ＭＳ ゴシック" panose="020B0609070205080204" pitchFamily="49" charset="-128"/>
              <a:ea typeface="ＭＳ ゴシック" panose="020B0609070205080204" pitchFamily="49" charset="-128"/>
            </a:endParaRPr>
          </a:p>
        </p:txBody>
      </p:sp>
      <p:sp>
        <p:nvSpPr>
          <p:cNvPr id="59" name="正方形/長方形 58">
            <a:extLst>
              <a:ext uri="{FF2B5EF4-FFF2-40B4-BE49-F238E27FC236}">
                <a16:creationId xmlns:a16="http://schemas.microsoft.com/office/drawing/2014/main" id="{3913AFFC-7F67-4D2B-A147-F8EFE330FADC}"/>
              </a:ext>
            </a:extLst>
          </p:cNvPr>
          <p:cNvSpPr/>
          <p:nvPr/>
        </p:nvSpPr>
        <p:spPr>
          <a:xfrm>
            <a:off x="2638122" y="1180843"/>
            <a:ext cx="2820099" cy="981249"/>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400" b="1" dirty="0">
                <a:solidFill>
                  <a:srgbClr val="FF0000"/>
                </a:solidFill>
                <a:latin typeface="ＭＳ ゴシック" panose="020B0609070205080204" pitchFamily="49" charset="-128"/>
                <a:ea typeface="ＭＳ ゴシック" panose="020B0609070205080204" pitchFamily="49" charset="-128"/>
              </a:rPr>
              <a:t>①</a:t>
            </a:r>
            <a:r>
              <a:rPr lang="ja-JP" altLang="en-US" sz="1400" b="1" dirty="0">
                <a:solidFill>
                  <a:srgbClr val="FF0000"/>
                </a:solidFill>
                <a:latin typeface="ＭＳ ゴシック" panose="020B0609070205080204" pitchFamily="49" charset="-128"/>
                <a:ea typeface="ＭＳ ゴシック" panose="020B0609070205080204" pitchFamily="49" charset="-128"/>
              </a:rPr>
              <a:t>本プログラムに関する情報が引き継がれていない為</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ja-JP" altLang="en-US" sz="1400" b="1" dirty="0">
                <a:solidFill>
                  <a:srgbClr val="FF0000"/>
                </a:solidFill>
                <a:latin typeface="ＭＳ ゴシック" panose="020B0609070205080204" pitchFamily="49" charset="-128"/>
                <a:ea typeface="ＭＳ ゴシック" panose="020B0609070205080204" pitchFamily="49" charset="-128"/>
              </a:rPr>
              <a:t>プログラムを精査する必要あり</a:t>
            </a:r>
            <a:endParaRPr kumimoji="1" lang="ja-JP" altLang="en-US" sz="1400" b="1" dirty="0">
              <a:solidFill>
                <a:srgbClr val="FF0000"/>
              </a:solidFill>
              <a:latin typeface="ＭＳ ゴシック" panose="020B0609070205080204" pitchFamily="49" charset="-128"/>
              <a:ea typeface="ＭＳ ゴシック" panose="020B0609070205080204" pitchFamily="49" charset="-128"/>
            </a:endParaRPr>
          </a:p>
        </p:txBody>
      </p:sp>
      <p:cxnSp>
        <p:nvCxnSpPr>
          <p:cNvPr id="4" name="直線矢印コネクタ 3">
            <a:extLst>
              <a:ext uri="{FF2B5EF4-FFF2-40B4-BE49-F238E27FC236}">
                <a16:creationId xmlns:a16="http://schemas.microsoft.com/office/drawing/2014/main" id="{745E6A4E-261B-481C-9C45-67C1D5A23ED6}"/>
              </a:ext>
            </a:extLst>
          </p:cNvPr>
          <p:cNvCxnSpPr>
            <a:cxnSpLocks/>
            <a:stCxn id="59" idx="2"/>
            <a:endCxn id="62" idx="0"/>
          </p:cNvCxnSpPr>
          <p:nvPr/>
        </p:nvCxnSpPr>
        <p:spPr>
          <a:xfrm flipH="1">
            <a:off x="2363027" y="2162092"/>
            <a:ext cx="1685145" cy="3849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B7ED13EB-32CE-41AC-90EA-803AAAE26593}"/>
              </a:ext>
            </a:extLst>
          </p:cNvPr>
          <p:cNvSpPr/>
          <p:nvPr/>
        </p:nvSpPr>
        <p:spPr>
          <a:xfrm>
            <a:off x="535346" y="2547086"/>
            <a:ext cx="3655361" cy="13339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
        <p:nvSpPr>
          <p:cNvPr id="67" name="正方形/長方形 66">
            <a:extLst>
              <a:ext uri="{FF2B5EF4-FFF2-40B4-BE49-F238E27FC236}">
                <a16:creationId xmlns:a16="http://schemas.microsoft.com/office/drawing/2014/main" id="{941234E8-3655-4ACB-86FB-FDE078AA2692}"/>
              </a:ext>
            </a:extLst>
          </p:cNvPr>
          <p:cNvSpPr/>
          <p:nvPr/>
        </p:nvSpPr>
        <p:spPr>
          <a:xfrm>
            <a:off x="8170424" y="1927614"/>
            <a:ext cx="3838073" cy="135167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400" b="1" dirty="0">
                <a:solidFill>
                  <a:srgbClr val="FF0000"/>
                </a:solidFill>
                <a:latin typeface="ＭＳ ゴシック" panose="020B0609070205080204" pitchFamily="49" charset="-128"/>
                <a:ea typeface="ＭＳ ゴシック" panose="020B0609070205080204" pitchFamily="49" charset="-128"/>
              </a:rPr>
              <a:t>②通信制限エリア</a:t>
            </a:r>
            <a:r>
              <a:rPr kumimoji="1" lang="en-US" altLang="ja-JP" sz="1400" b="1" dirty="0">
                <a:solidFill>
                  <a:srgbClr val="FF0000"/>
                </a:solidFill>
                <a:latin typeface="ＭＳ ゴシック" panose="020B0609070205080204" pitchFamily="49" charset="-128"/>
                <a:ea typeface="ＭＳ ゴシック" panose="020B0609070205080204" pitchFamily="49" charset="-128"/>
              </a:rPr>
              <a:t>(</a:t>
            </a:r>
            <a:r>
              <a:rPr kumimoji="1" lang="ja-JP" altLang="en-US" sz="1400" b="1" dirty="0">
                <a:solidFill>
                  <a:srgbClr val="FF0000"/>
                </a:solidFill>
                <a:latin typeface="ＭＳ ゴシック" panose="020B0609070205080204" pitchFamily="49" charset="-128"/>
                <a:ea typeface="ＭＳ ゴシック" panose="020B0609070205080204" pitchFamily="49" charset="-128"/>
              </a:rPr>
              <a:t>生産設備</a:t>
            </a:r>
            <a:r>
              <a:rPr kumimoji="1" lang="en-US" altLang="ja-JP" sz="1400" b="1" dirty="0">
                <a:solidFill>
                  <a:srgbClr val="FF0000"/>
                </a:solidFill>
                <a:latin typeface="ＭＳ ゴシック" panose="020B0609070205080204" pitchFamily="49" charset="-128"/>
                <a:ea typeface="ＭＳ ゴシック" panose="020B0609070205080204" pitchFamily="49" charset="-128"/>
              </a:rPr>
              <a:t>)</a:t>
            </a:r>
            <a:r>
              <a:rPr kumimoji="1" lang="ja-JP" altLang="en-US" sz="1400" b="1" dirty="0">
                <a:solidFill>
                  <a:srgbClr val="FF0000"/>
                </a:solidFill>
                <a:latin typeface="ＭＳ ゴシック" panose="020B0609070205080204" pitchFamily="49" charset="-128"/>
                <a:ea typeface="ＭＳ ゴシック" panose="020B0609070205080204" pitchFamily="49" charset="-128"/>
              </a:rPr>
              <a:t>や</a:t>
            </a:r>
            <a:r>
              <a:rPr kumimoji="1" lang="en-US" altLang="ja-JP" sz="1400" b="1" dirty="0">
                <a:solidFill>
                  <a:srgbClr val="FF0000"/>
                </a:solidFill>
                <a:latin typeface="ＭＳ ゴシック" panose="020B0609070205080204" pitchFamily="49" charset="-128"/>
                <a:ea typeface="ＭＳ ゴシック" panose="020B0609070205080204" pitchFamily="49" charset="-128"/>
              </a:rPr>
              <a:t>､</a:t>
            </a:r>
            <a:r>
              <a:rPr kumimoji="1" lang="ja-JP" altLang="en-US" sz="1400" b="1" dirty="0">
                <a:solidFill>
                  <a:srgbClr val="FF0000"/>
                </a:solidFill>
                <a:latin typeface="ＭＳ ゴシック" panose="020B0609070205080204" pitchFamily="49" charset="-128"/>
                <a:ea typeface="ＭＳ ゴシック" panose="020B0609070205080204" pitchFamily="49" charset="-128"/>
              </a:rPr>
              <a:t>第</a:t>
            </a:r>
            <a:r>
              <a:rPr kumimoji="1" lang="en-US" altLang="ja-JP" sz="1400" b="1" dirty="0">
                <a:solidFill>
                  <a:srgbClr val="FF0000"/>
                </a:solidFill>
                <a:latin typeface="ＭＳ ゴシック" panose="020B0609070205080204" pitchFamily="49" charset="-128"/>
                <a:ea typeface="ＭＳ ゴシック" panose="020B0609070205080204" pitchFamily="49" charset="-128"/>
              </a:rPr>
              <a:t>2</a:t>
            </a:r>
            <a:r>
              <a:rPr kumimoji="1" lang="ja-JP" altLang="en-US" sz="1400" b="1" dirty="0">
                <a:solidFill>
                  <a:srgbClr val="FF0000"/>
                </a:solidFill>
                <a:latin typeface="ＭＳ ゴシック" panose="020B0609070205080204" pitchFamily="49" charset="-128"/>
                <a:ea typeface="ＭＳ ゴシック" panose="020B0609070205080204" pitchFamily="49" charset="-128"/>
              </a:rPr>
              <a:t>生産部で使用している</a:t>
            </a:r>
            <a:r>
              <a:rPr kumimoji="1" lang="en-US" altLang="ja-JP" sz="1400" b="1" dirty="0">
                <a:solidFill>
                  <a:srgbClr val="FF0000"/>
                </a:solidFill>
                <a:latin typeface="ＭＳ ゴシック" panose="020B0609070205080204" pitchFamily="49" charset="-128"/>
                <a:ea typeface="ＭＳ ゴシック" panose="020B0609070205080204" pitchFamily="49" charset="-128"/>
              </a:rPr>
              <a:t>NAS(nksv523)</a:t>
            </a:r>
          </a:p>
          <a:p>
            <a:r>
              <a:rPr kumimoji="1" lang="ja-JP" altLang="en-US" sz="1400" b="1" dirty="0">
                <a:solidFill>
                  <a:srgbClr val="FF0000"/>
                </a:solidFill>
                <a:latin typeface="ＭＳ ゴシック" panose="020B0609070205080204" pitchFamily="49" charset="-128"/>
                <a:ea typeface="ＭＳ ゴシック" panose="020B0609070205080204" pitchFamily="49" charset="-128"/>
              </a:rPr>
              <a:t>との通信経路を設定して頂きたいです</a:t>
            </a:r>
            <a:r>
              <a:rPr kumimoji="1" lang="en-US" altLang="ja-JP" sz="1400" b="1" dirty="0">
                <a:solidFill>
                  <a:srgbClr val="FF0000"/>
                </a:solidFill>
                <a:latin typeface="ＭＳ ゴシック" panose="020B0609070205080204" pitchFamily="49" charset="-128"/>
                <a:ea typeface="ＭＳ ゴシック" panose="020B0609070205080204" pitchFamily="49" charset="-128"/>
              </a:rPr>
              <a:t>｡</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ja-JP" altLang="en-US" sz="1400" b="1" dirty="0">
                <a:solidFill>
                  <a:srgbClr val="FF0000"/>
                </a:solidFill>
                <a:latin typeface="ＭＳ ゴシック" panose="020B0609070205080204" pitchFamily="49" charset="-128"/>
                <a:ea typeface="ＭＳ ゴシック" panose="020B0609070205080204" pitchFamily="49" charset="-128"/>
              </a:rPr>
              <a:t>必要に応じて</a:t>
            </a:r>
            <a:r>
              <a:rPr lang="en-US" altLang="ja-JP" sz="1400" b="1" dirty="0">
                <a:solidFill>
                  <a:srgbClr val="FF0000"/>
                </a:solidFill>
                <a:latin typeface="ＭＳ ゴシック" panose="020B0609070205080204" pitchFamily="49" charset="-128"/>
                <a:ea typeface="ＭＳ ゴシック" panose="020B0609070205080204" pitchFamily="49" charset="-128"/>
              </a:rPr>
              <a:t>NAS</a:t>
            </a:r>
            <a:r>
              <a:rPr lang="ja-JP" altLang="en-US" sz="1400" b="1" dirty="0">
                <a:solidFill>
                  <a:srgbClr val="FF0000"/>
                </a:solidFill>
                <a:latin typeface="ＭＳ ゴシック" panose="020B0609070205080204" pitchFamily="49" charset="-128"/>
                <a:ea typeface="ＭＳ ゴシック" panose="020B0609070205080204" pitchFamily="49" charset="-128"/>
              </a:rPr>
              <a:t>の移転も検討致します</a:t>
            </a:r>
            <a:r>
              <a:rPr lang="en-US" altLang="ja-JP" sz="1400" b="1" dirty="0">
                <a:solidFill>
                  <a:srgbClr val="FF0000"/>
                </a:solidFill>
                <a:latin typeface="ＭＳ ゴシック" panose="020B0609070205080204" pitchFamily="49" charset="-128"/>
                <a:ea typeface="ＭＳ ゴシック" panose="020B0609070205080204" pitchFamily="49" charset="-128"/>
              </a:rPr>
              <a:t>｡</a:t>
            </a:r>
            <a:endParaRPr kumimoji="1" lang="en-US" altLang="ja-JP" sz="1400" b="1" dirty="0">
              <a:solidFill>
                <a:srgbClr val="FF0000"/>
              </a:solidFill>
              <a:latin typeface="ＭＳ ゴシック" panose="020B0609070205080204" pitchFamily="49" charset="-128"/>
              <a:ea typeface="ＭＳ ゴシック" panose="020B0609070205080204" pitchFamily="49" charset="-128"/>
            </a:endParaRPr>
          </a:p>
        </p:txBody>
      </p:sp>
      <p:sp>
        <p:nvSpPr>
          <p:cNvPr id="68" name="正方形/長方形 67">
            <a:extLst>
              <a:ext uri="{FF2B5EF4-FFF2-40B4-BE49-F238E27FC236}">
                <a16:creationId xmlns:a16="http://schemas.microsoft.com/office/drawing/2014/main" id="{7976A2CC-F1EB-4C51-A323-E5F1F33CCC76}"/>
              </a:ext>
            </a:extLst>
          </p:cNvPr>
          <p:cNvSpPr/>
          <p:nvPr/>
        </p:nvSpPr>
        <p:spPr>
          <a:xfrm>
            <a:off x="6964196" y="1342291"/>
            <a:ext cx="531805" cy="49121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sz="1400" b="1" dirty="0">
              <a:solidFill>
                <a:srgbClr val="FF0000"/>
              </a:solidFill>
              <a:latin typeface="ＭＳ ゴシック" panose="020B0609070205080204" pitchFamily="49" charset="-128"/>
              <a:ea typeface="ＭＳ ゴシック" panose="020B0609070205080204" pitchFamily="49" charset="-128"/>
            </a:endParaRPr>
          </a:p>
        </p:txBody>
      </p:sp>
      <p:cxnSp>
        <p:nvCxnSpPr>
          <p:cNvPr id="69" name="直線矢印コネクタ 68">
            <a:extLst>
              <a:ext uri="{FF2B5EF4-FFF2-40B4-BE49-F238E27FC236}">
                <a16:creationId xmlns:a16="http://schemas.microsoft.com/office/drawing/2014/main" id="{C711F985-19F0-45A3-A4A9-B2E25D0E6AED}"/>
              </a:ext>
            </a:extLst>
          </p:cNvPr>
          <p:cNvCxnSpPr>
            <a:cxnSpLocks/>
            <a:stCxn id="67" idx="1"/>
            <a:endCxn id="68" idx="3"/>
          </p:cNvCxnSpPr>
          <p:nvPr/>
        </p:nvCxnSpPr>
        <p:spPr>
          <a:xfrm flipH="1">
            <a:off x="7496001" y="2603449"/>
            <a:ext cx="674423" cy="11949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2" name="正方形/長方形 71">
            <a:extLst>
              <a:ext uri="{FF2B5EF4-FFF2-40B4-BE49-F238E27FC236}">
                <a16:creationId xmlns:a16="http://schemas.microsoft.com/office/drawing/2014/main" id="{2AA9FF1D-46B0-44E6-A87F-DFA6493AE20B}"/>
              </a:ext>
            </a:extLst>
          </p:cNvPr>
          <p:cNvSpPr/>
          <p:nvPr/>
        </p:nvSpPr>
        <p:spPr>
          <a:xfrm>
            <a:off x="2726507" y="4768414"/>
            <a:ext cx="2532612" cy="981249"/>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400" b="1" dirty="0">
                <a:solidFill>
                  <a:srgbClr val="FF0000"/>
                </a:solidFill>
                <a:latin typeface="ＭＳ ゴシック" panose="020B0609070205080204" pitchFamily="49" charset="-128"/>
                <a:ea typeface="ＭＳ ゴシック" panose="020B0609070205080204" pitchFamily="49" charset="-128"/>
              </a:rPr>
              <a:t>③生産現場エリアのネットワークから閲覧できる経路を設定していただきたいです</a:t>
            </a:r>
            <a:r>
              <a:rPr lang="en-US" altLang="ja-JP" sz="1400" b="1" dirty="0">
                <a:solidFill>
                  <a:srgbClr val="FF0000"/>
                </a:solidFill>
                <a:latin typeface="ＭＳ ゴシック" panose="020B0609070205080204" pitchFamily="49" charset="-128"/>
                <a:ea typeface="ＭＳ ゴシック" panose="020B0609070205080204" pitchFamily="49" charset="-128"/>
              </a:rPr>
              <a:t>｡</a:t>
            </a:r>
            <a:endParaRPr kumimoji="1"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
        <p:nvSpPr>
          <p:cNvPr id="78" name="正方形/長方形 77">
            <a:extLst>
              <a:ext uri="{FF2B5EF4-FFF2-40B4-BE49-F238E27FC236}">
                <a16:creationId xmlns:a16="http://schemas.microsoft.com/office/drawing/2014/main" id="{A522329E-8A56-4ADC-B51E-71C98F200C64}"/>
              </a:ext>
            </a:extLst>
          </p:cNvPr>
          <p:cNvSpPr/>
          <p:nvPr/>
        </p:nvSpPr>
        <p:spPr>
          <a:xfrm>
            <a:off x="174647" y="5030302"/>
            <a:ext cx="1822296" cy="14917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633213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1D1978-7F1A-4B38-9189-96F4143DE673}"/>
              </a:ext>
            </a:extLst>
          </p:cNvPr>
          <p:cNvSpPr>
            <a:spLocks noGrp="1"/>
          </p:cNvSpPr>
          <p:nvPr>
            <p:ph type="title"/>
          </p:nvPr>
        </p:nvSpPr>
        <p:spPr>
          <a:xfrm>
            <a:off x="381000" y="152745"/>
            <a:ext cx="9761376" cy="615178"/>
          </a:xfrm>
        </p:spPr>
        <p:txBody>
          <a:bodyPr/>
          <a:lstStyle/>
          <a:p>
            <a:pPr marL="0" indent="0">
              <a:buNone/>
            </a:pPr>
            <a:r>
              <a:rPr lang="ja-JP" altLang="en-US" sz="3600" dirty="0"/>
              <a:t>第</a:t>
            </a:r>
            <a:r>
              <a:rPr lang="en-US" altLang="ja-JP" sz="3600" dirty="0"/>
              <a:t>2</a:t>
            </a:r>
            <a:r>
              <a:rPr lang="ja-JP" altLang="en-US" sz="3600" dirty="0"/>
              <a:t>生産部生産</a:t>
            </a:r>
            <a:r>
              <a:rPr lang="en-US" altLang="ja-JP" sz="3600" dirty="0"/>
              <a:t>1</a:t>
            </a:r>
            <a:r>
              <a:rPr lang="ja-JP" altLang="en-US" sz="3600" dirty="0"/>
              <a:t>係として影響するシステム</a:t>
            </a:r>
            <a:endParaRPr lang="en-US" altLang="ja-JP" sz="3600" dirty="0"/>
          </a:p>
        </p:txBody>
      </p:sp>
      <p:sp>
        <p:nvSpPr>
          <p:cNvPr id="3" name="コンテンツ プレースホルダー 2">
            <a:extLst>
              <a:ext uri="{FF2B5EF4-FFF2-40B4-BE49-F238E27FC236}">
                <a16:creationId xmlns:a16="http://schemas.microsoft.com/office/drawing/2014/main" id="{A4927B7E-E989-4FEF-B80A-F1E156B9F33F}"/>
              </a:ext>
            </a:extLst>
          </p:cNvPr>
          <p:cNvSpPr>
            <a:spLocks noGrp="1"/>
          </p:cNvSpPr>
          <p:nvPr>
            <p:ph idx="1"/>
          </p:nvPr>
        </p:nvSpPr>
        <p:spPr>
          <a:xfrm>
            <a:off x="838200" y="1825625"/>
            <a:ext cx="10899710" cy="4351338"/>
          </a:xfrm>
        </p:spPr>
        <p:txBody>
          <a:bodyPr>
            <a:normAutofit fontScale="85000" lnSpcReduction="10000"/>
          </a:bodyPr>
          <a:lstStyle/>
          <a:p>
            <a:pPr marL="0" indent="0">
              <a:lnSpc>
                <a:spcPct val="120000"/>
              </a:lnSpc>
              <a:buNone/>
            </a:pPr>
            <a:r>
              <a:rPr lang="en-US" altLang="ja-JP" sz="1800" b="1" u="sng" dirty="0">
                <a:solidFill>
                  <a:srgbClr val="0000FF"/>
                </a:solidFill>
              </a:rPr>
              <a:t>BOSS</a:t>
            </a:r>
            <a:r>
              <a:rPr lang="ja-JP" altLang="en-US" sz="1800" b="1" u="sng" dirty="0">
                <a:solidFill>
                  <a:srgbClr val="0000FF"/>
                </a:solidFill>
              </a:rPr>
              <a:t>･</a:t>
            </a:r>
            <a:r>
              <a:rPr lang="en-US" altLang="ja-JP" sz="1800" b="1" u="sng" dirty="0" err="1">
                <a:solidFill>
                  <a:srgbClr val="0000FF"/>
                </a:solidFill>
              </a:rPr>
              <a:t>EGPro</a:t>
            </a:r>
            <a:r>
              <a:rPr lang="ja-JP" altLang="en-US" sz="1800" b="1" u="sng" dirty="0">
                <a:solidFill>
                  <a:srgbClr val="0000FF"/>
                </a:solidFill>
              </a:rPr>
              <a:t>情報取得関連プログラム</a:t>
            </a:r>
            <a:r>
              <a:rPr lang="en-US" altLang="ja-JP" sz="1800" b="1" u="sng" dirty="0">
                <a:solidFill>
                  <a:srgbClr val="0000FF"/>
                </a:solidFill>
              </a:rPr>
              <a:t>(</a:t>
            </a:r>
            <a:r>
              <a:rPr lang="ja-JP" altLang="en-US" sz="1800" b="1" u="sng" dirty="0">
                <a:solidFill>
                  <a:srgbClr val="0000FF"/>
                </a:solidFill>
              </a:rPr>
              <a:t>詳細不明</a:t>
            </a:r>
            <a:r>
              <a:rPr lang="en-US" altLang="ja-JP" sz="1800" b="1" u="sng" dirty="0">
                <a:solidFill>
                  <a:srgbClr val="0000FF"/>
                </a:solidFill>
              </a:rPr>
              <a:t>､</a:t>
            </a:r>
            <a:r>
              <a:rPr lang="ja-JP" altLang="en-US" sz="1800" b="1" u="sng" dirty="0">
                <a:solidFill>
                  <a:srgbClr val="0000FF"/>
                </a:solidFill>
              </a:rPr>
              <a:t>五十嵐淳一様作成</a:t>
            </a:r>
            <a:r>
              <a:rPr lang="en-US" altLang="ja-JP" sz="1800" b="1" u="sng" dirty="0">
                <a:solidFill>
                  <a:srgbClr val="0000FF"/>
                </a:solidFill>
              </a:rPr>
              <a:t>)</a:t>
            </a:r>
          </a:p>
          <a:p>
            <a:pPr marL="0" indent="0">
              <a:lnSpc>
                <a:spcPct val="120000"/>
              </a:lnSpc>
              <a:buNone/>
            </a:pPr>
            <a:r>
              <a:rPr lang="en-US" altLang="ja-JP" sz="1800" dirty="0"/>
              <a:t>└</a:t>
            </a:r>
            <a:r>
              <a:rPr lang="ja-JP" altLang="en-US" sz="1800" dirty="0"/>
              <a:t>詳細仕様が不明な為</a:t>
            </a:r>
            <a:r>
              <a:rPr lang="en-US" altLang="ja-JP" sz="1800" dirty="0"/>
              <a:t>､</a:t>
            </a:r>
            <a:r>
              <a:rPr lang="ja-JP" altLang="en-US" sz="1800" dirty="0"/>
              <a:t>移行難易度が高いです</a:t>
            </a:r>
            <a:r>
              <a:rPr lang="en-US" altLang="ja-JP" sz="1800" dirty="0"/>
              <a:t>｡</a:t>
            </a:r>
            <a:r>
              <a:rPr lang="ja-JP" altLang="en-US" sz="1800" dirty="0"/>
              <a:t>本システムで構築された</a:t>
            </a:r>
            <a:r>
              <a:rPr lang="en-US" altLang="ja-JP" sz="1800" dirty="0"/>
              <a:t>DB</a:t>
            </a:r>
            <a:r>
              <a:rPr lang="ja-JP" altLang="en-US" sz="1800" dirty="0"/>
              <a:t>は</a:t>
            </a:r>
            <a:r>
              <a:rPr lang="en-US" altLang="ja-JP" sz="1800" dirty="0"/>
              <a:t>､</a:t>
            </a:r>
            <a:r>
              <a:rPr lang="ja-JP" altLang="en-US" sz="1800" dirty="0"/>
              <a:t>多数のシステムで用いられていると考えています</a:t>
            </a:r>
            <a:r>
              <a:rPr lang="en-US" altLang="ja-JP" sz="1800" dirty="0"/>
              <a:t>(</a:t>
            </a:r>
            <a:r>
              <a:rPr lang="ja-JP" altLang="en-US" sz="1800" dirty="0"/>
              <a:t>精査が必要</a:t>
            </a:r>
            <a:r>
              <a:rPr lang="en-US" altLang="ja-JP" sz="1800" dirty="0"/>
              <a:t>)｡</a:t>
            </a:r>
          </a:p>
          <a:p>
            <a:pPr marL="0" indent="0">
              <a:lnSpc>
                <a:spcPct val="120000"/>
              </a:lnSpc>
              <a:buNone/>
            </a:pPr>
            <a:r>
              <a:rPr lang="ja-JP" altLang="en-US" sz="1800" dirty="0"/>
              <a:t>　 また</a:t>
            </a:r>
            <a:r>
              <a:rPr lang="en-US" altLang="ja-JP" sz="1800" dirty="0"/>
              <a:t>､</a:t>
            </a:r>
            <a:r>
              <a:rPr lang="ja-JP" altLang="en-US" sz="1800" dirty="0"/>
              <a:t>詳細仕様について開発者へ問い合わせる必要があると考えています</a:t>
            </a:r>
            <a:r>
              <a:rPr lang="en-US" altLang="ja-JP" sz="1800" dirty="0"/>
              <a:t>｡</a:t>
            </a:r>
          </a:p>
          <a:p>
            <a:pPr marL="0" indent="0">
              <a:lnSpc>
                <a:spcPct val="120000"/>
              </a:lnSpc>
              <a:buNone/>
            </a:pPr>
            <a:r>
              <a:rPr lang="en-US" altLang="ja-JP" sz="1800" dirty="0"/>
              <a:t> </a:t>
            </a:r>
            <a:r>
              <a:rPr lang="ja-JP" altLang="en-US" sz="1800" dirty="0"/>
              <a:t>　第</a:t>
            </a:r>
            <a:r>
              <a:rPr lang="en-US" altLang="ja-JP" sz="1800" dirty="0"/>
              <a:t>2</a:t>
            </a:r>
            <a:r>
              <a:rPr lang="ja-JP" altLang="en-US" sz="1800" dirty="0"/>
              <a:t>生産部生産</a:t>
            </a:r>
            <a:r>
              <a:rPr lang="en-US" altLang="ja-JP" sz="1800" dirty="0"/>
              <a:t>1</a:t>
            </a:r>
            <a:r>
              <a:rPr lang="ja-JP" altLang="en-US" sz="1800" dirty="0"/>
              <a:t>係としては</a:t>
            </a:r>
            <a:r>
              <a:rPr lang="en-US" altLang="ja-JP" sz="1800" dirty="0"/>
              <a:t>､</a:t>
            </a:r>
            <a:r>
              <a:rPr lang="ja-JP" altLang="en-US" sz="1800" dirty="0"/>
              <a:t>下記システム両方に影響します</a:t>
            </a:r>
            <a:r>
              <a:rPr lang="en-US" altLang="ja-JP" sz="1800" dirty="0"/>
              <a:t>｡</a:t>
            </a:r>
          </a:p>
          <a:p>
            <a:pPr marL="0" indent="0">
              <a:lnSpc>
                <a:spcPct val="120000"/>
              </a:lnSpc>
              <a:buNone/>
            </a:pPr>
            <a:r>
              <a:rPr lang="ja-JP" altLang="en-US" sz="1800" b="1" u="sng" dirty="0">
                <a:solidFill>
                  <a:srgbClr val="0000FF"/>
                </a:solidFill>
              </a:rPr>
              <a:t>差分チェックシステム</a:t>
            </a:r>
          </a:p>
          <a:p>
            <a:pPr marL="0" indent="0">
              <a:lnSpc>
                <a:spcPct val="120000"/>
              </a:lnSpc>
              <a:buNone/>
            </a:pPr>
            <a:r>
              <a:rPr lang="ja-JP" altLang="en-US" sz="1800" dirty="0"/>
              <a:t>└システム自体は第</a:t>
            </a:r>
            <a:r>
              <a:rPr lang="en-US" altLang="ja-JP" sz="1800" dirty="0"/>
              <a:t>2</a:t>
            </a:r>
            <a:r>
              <a:rPr lang="ja-JP" altLang="en-US" sz="1800" dirty="0"/>
              <a:t>生産部</a:t>
            </a:r>
            <a:r>
              <a:rPr lang="en-US" altLang="ja-JP" sz="1800" dirty="0"/>
              <a:t>1</a:t>
            </a:r>
            <a:r>
              <a:rPr lang="ja-JP" altLang="en-US" sz="1800" dirty="0"/>
              <a:t>係で管理しているサーバーで稼働していますが</a:t>
            </a:r>
            <a:r>
              <a:rPr lang="en-US" altLang="ja-JP" sz="1800" dirty="0"/>
              <a:t>､</a:t>
            </a:r>
            <a:r>
              <a:rPr lang="ja-JP" altLang="en-US" sz="1800" dirty="0"/>
              <a:t>前述システムの</a:t>
            </a:r>
            <a:r>
              <a:rPr lang="en-US" altLang="ja-JP" sz="1800" dirty="0"/>
              <a:t>DB</a:t>
            </a:r>
            <a:r>
              <a:rPr lang="ja-JP" altLang="en-US" sz="1800" dirty="0"/>
              <a:t>を使用しています</a:t>
            </a:r>
            <a:r>
              <a:rPr lang="en-US" altLang="ja-JP" sz="1800" dirty="0"/>
              <a:t>｡</a:t>
            </a:r>
          </a:p>
          <a:p>
            <a:pPr marL="0" indent="0">
              <a:lnSpc>
                <a:spcPct val="120000"/>
              </a:lnSpc>
              <a:buNone/>
            </a:pPr>
            <a:r>
              <a:rPr lang="en-US" altLang="ja-JP" sz="1800" dirty="0"/>
              <a:t>  </a:t>
            </a:r>
            <a:r>
              <a:rPr lang="ja-JP" altLang="en-US" sz="1800" dirty="0"/>
              <a:t>不具合が生じた場合</a:t>
            </a:r>
            <a:r>
              <a:rPr lang="en-US" altLang="ja-JP" sz="1800" dirty="0"/>
              <a:t>､</a:t>
            </a:r>
            <a:r>
              <a:rPr lang="ja-JP" altLang="en-US" sz="1800" dirty="0"/>
              <a:t>当日発令された全指図に対して</a:t>
            </a:r>
            <a:r>
              <a:rPr lang="en-US" altLang="ja-JP" sz="1800" dirty="0"/>
              <a:t>､</a:t>
            </a:r>
            <a:r>
              <a:rPr lang="ja-JP" altLang="en-US" sz="1800" dirty="0"/>
              <a:t>前回生産時の</a:t>
            </a:r>
            <a:r>
              <a:rPr lang="en-US" altLang="ja-JP" sz="1800" dirty="0"/>
              <a:t>BOM</a:t>
            </a:r>
            <a:r>
              <a:rPr lang="ja-JP" altLang="en-US" sz="1800" dirty="0"/>
              <a:t>と手動で付け合わせる大きな工数が発生します</a:t>
            </a:r>
            <a:r>
              <a:rPr lang="en-US" altLang="ja-JP" sz="1800" dirty="0"/>
              <a:t>｡</a:t>
            </a:r>
          </a:p>
          <a:p>
            <a:pPr marL="0" indent="0">
              <a:lnSpc>
                <a:spcPct val="120000"/>
              </a:lnSpc>
              <a:buNone/>
            </a:pPr>
            <a:r>
              <a:rPr lang="en-US" altLang="ja-JP" sz="1800" dirty="0"/>
              <a:t>  (</a:t>
            </a:r>
            <a:r>
              <a:rPr lang="ja-JP" altLang="en-US" sz="1800" dirty="0"/>
              <a:t>丸一日の工数が見込まれます</a:t>
            </a:r>
            <a:r>
              <a:rPr lang="en-US" altLang="ja-JP" sz="1800" dirty="0"/>
              <a:t>｡)</a:t>
            </a:r>
          </a:p>
          <a:p>
            <a:pPr marL="0" indent="0">
              <a:lnSpc>
                <a:spcPct val="120000"/>
              </a:lnSpc>
              <a:buNone/>
            </a:pPr>
            <a:r>
              <a:rPr lang="en-US" altLang="ja-JP" sz="1800" b="1" u="sng" dirty="0">
                <a:solidFill>
                  <a:srgbClr val="0000FF"/>
                </a:solidFill>
              </a:rPr>
              <a:t>SMT</a:t>
            </a:r>
            <a:r>
              <a:rPr lang="ja-JP" altLang="en-US" sz="1800" b="1" u="sng" dirty="0">
                <a:solidFill>
                  <a:srgbClr val="0000FF"/>
                </a:solidFill>
              </a:rPr>
              <a:t>で実装品質可視化システム</a:t>
            </a:r>
            <a:r>
              <a:rPr lang="en-US" altLang="ja-JP" sz="1800" b="1" u="sng" dirty="0">
                <a:solidFill>
                  <a:srgbClr val="0000FF"/>
                </a:solidFill>
              </a:rPr>
              <a:t>(</a:t>
            </a:r>
            <a:r>
              <a:rPr lang="ja-JP" altLang="en-US" sz="1800" b="1" u="sng" dirty="0">
                <a:solidFill>
                  <a:srgbClr val="0000FF"/>
                </a:solidFill>
              </a:rPr>
              <a:t>開発中</a:t>
            </a:r>
            <a:r>
              <a:rPr lang="en-US" altLang="ja-JP" sz="1800" b="1" u="sng" dirty="0">
                <a:solidFill>
                  <a:srgbClr val="0000FF"/>
                </a:solidFill>
              </a:rPr>
              <a:t>)</a:t>
            </a:r>
          </a:p>
          <a:p>
            <a:pPr marL="0" indent="0">
              <a:lnSpc>
                <a:spcPct val="120000"/>
              </a:lnSpc>
              <a:buNone/>
            </a:pPr>
            <a:r>
              <a:rPr lang="en-US" altLang="ja-JP" sz="1800" dirty="0"/>
              <a:t>└</a:t>
            </a:r>
            <a:r>
              <a:rPr lang="ja-JP" altLang="en-US" sz="1800" dirty="0"/>
              <a:t>システム仕様は把握しているため</a:t>
            </a:r>
            <a:r>
              <a:rPr lang="en-US" altLang="ja-JP" sz="1800" dirty="0"/>
              <a:t>､</a:t>
            </a:r>
            <a:r>
              <a:rPr lang="ja-JP" altLang="en-US" sz="1800" dirty="0"/>
              <a:t>移行対応可能です</a:t>
            </a:r>
            <a:r>
              <a:rPr lang="en-US" altLang="ja-JP" sz="1800" dirty="0"/>
              <a:t>｡</a:t>
            </a:r>
          </a:p>
          <a:p>
            <a:pPr marL="0" indent="0">
              <a:lnSpc>
                <a:spcPct val="120000"/>
              </a:lnSpc>
              <a:buNone/>
            </a:pPr>
            <a:r>
              <a:rPr lang="en-US" altLang="ja-JP" sz="1800" dirty="0"/>
              <a:t>   </a:t>
            </a:r>
            <a:r>
              <a:rPr lang="ja-JP" altLang="en-US" sz="1800" dirty="0"/>
              <a:t>が</a:t>
            </a:r>
            <a:r>
              <a:rPr lang="en-US" altLang="ja-JP" sz="1800" dirty="0"/>
              <a:t>､BOSS</a:t>
            </a:r>
            <a:r>
              <a:rPr lang="ja-JP" altLang="en-US" sz="1800" dirty="0"/>
              <a:t>と</a:t>
            </a:r>
            <a:r>
              <a:rPr lang="en-US" altLang="ja-JP" sz="1800" dirty="0" err="1"/>
              <a:t>EGPro</a:t>
            </a:r>
            <a:r>
              <a:rPr lang="ja-JP" altLang="en-US" sz="1800" dirty="0"/>
              <a:t>の情報取得の為に五十嵐淳一様作成の</a:t>
            </a:r>
            <a:r>
              <a:rPr lang="en-US" altLang="ja-JP" sz="1800" dirty="0"/>
              <a:t>DB</a:t>
            </a:r>
            <a:r>
              <a:rPr lang="ja-JP" altLang="en-US" sz="1800" dirty="0"/>
              <a:t>へアクセスしています</a:t>
            </a:r>
            <a:r>
              <a:rPr lang="en-US" altLang="ja-JP" sz="1800" dirty="0"/>
              <a:t>｡</a:t>
            </a:r>
            <a:r>
              <a:rPr lang="ja-JP" altLang="en-US" sz="1800" dirty="0"/>
              <a:t>最悪</a:t>
            </a:r>
            <a:r>
              <a:rPr lang="en-US" altLang="ja-JP" sz="1800" dirty="0"/>
              <a:t>､</a:t>
            </a:r>
            <a:r>
              <a:rPr lang="ja-JP" altLang="en-US" sz="1800" dirty="0"/>
              <a:t>新規で作成対応します</a:t>
            </a:r>
            <a:r>
              <a:rPr lang="en-US" altLang="ja-JP" sz="1800"/>
              <a:t>､､､</a:t>
            </a:r>
            <a:endParaRPr lang="en-US" altLang="ja-JP" sz="1800" dirty="0"/>
          </a:p>
        </p:txBody>
      </p:sp>
    </p:spTree>
    <p:extLst>
      <p:ext uri="{BB962C8B-B14F-4D97-AF65-F5344CB8AC3E}">
        <p14:creationId xmlns:p14="http://schemas.microsoft.com/office/powerpoint/2010/main" val="3522734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1D1978-7F1A-4B38-9189-96F4143DE673}"/>
              </a:ext>
            </a:extLst>
          </p:cNvPr>
          <p:cNvSpPr>
            <a:spLocks noGrp="1"/>
          </p:cNvSpPr>
          <p:nvPr>
            <p:ph type="title"/>
          </p:nvPr>
        </p:nvSpPr>
        <p:spPr>
          <a:xfrm>
            <a:off x="381000" y="152745"/>
            <a:ext cx="9761376" cy="615178"/>
          </a:xfrm>
        </p:spPr>
        <p:txBody>
          <a:bodyPr/>
          <a:lstStyle/>
          <a:p>
            <a:pPr marL="0" indent="0">
              <a:buNone/>
            </a:pPr>
            <a:r>
              <a:rPr lang="ja-JP" altLang="en-US" dirty="0"/>
              <a:t>その他懸念事項</a:t>
            </a:r>
            <a:endParaRPr lang="en-US" altLang="ja-JP" sz="3600" dirty="0"/>
          </a:p>
        </p:txBody>
      </p:sp>
      <p:sp>
        <p:nvSpPr>
          <p:cNvPr id="3" name="コンテンツ プレースホルダー 2">
            <a:extLst>
              <a:ext uri="{FF2B5EF4-FFF2-40B4-BE49-F238E27FC236}">
                <a16:creationId xmlns:a16="http://schemas.microsoft.com/office/drawing/2014/main" id="{A4927B7E-E989-4FEF-B80A-F1E156B9F33F}"/>
              </a:ext>
            </a:extLst>
          </p:cNvPr>
          <p:cNvSpPr>
            <a:spLocks noGrp="1"/>
          </p:cNvSpPr>
          <p:nvPr>
            <p:ph idx="1"/>
          </p:nvPr>
        </p:nvSpPr>
        <p:spPr>
          <a:xfrm>
            <a:off x="838200" y="1825625"/>
            <a:ext cx="10899710" cy="4351338"/>
          </a:xfrm>
        </p:spPr>
        <p:txBody>
          <a:bodyPr>
            <a:normAutofit/>
          </a:bodyPr>
          <a:lstStyle/>
          <a:p>
            <a:pPr marL="0" indent="0">
              <a:buNone/>
            </a:pPr>
            <a:r>
              <a:rPr lang="ja-JP" altLang="en-US" sz="1800" dirty="0"/>
              <a:t>第</a:t>
            </a:r>
            <a:r>
              <a:rPr lang="en-US" altLang="ja-JP" sz="1800" dirty="0"/>
              <a:t>2</a:t>
            </a:r>
            <a:r>
              <a:rPr lang="ja-JP" altLang="en-US" sz="1800" dirty="0"/>
              <a:t>生産部生産</a:t>
            </a:r>
            <a:r>
              <a:rPr lang="en-US" altLang="ja-JP" sz="1800" dirty="0"/>
              <a:t>1</a:t>
            </a:r>
            <a:r>
              <a:rPr lang="ja-JP" altLang="en-US" sz="1800" dirty="0"/>
              <a:t>係としては</a:t>
            </a:r>
            <a:r>
              <a:rPr lang="en-US" altLang="ja-JP" sz="1800" dirty="0"/>
              <a:t>｢</a:t>
            </a:r>
            <a:r>
              <a:rPr lang="ja-JP" altLang="en-US" sz="1800" dirty="0"/>
              <a:t>差分チェックシステム</a:t>
            </a:r>
            <a:r>
              <a:rPr lang="en-US" altLang="ja-JP" sz="1800" dirty="0"/>
              <a:t>｣</a:t>
            </a:r>
            <a:r>
              <a:rPr lang="ja-JP" altLang="en-US" sz="1800" dirty="0"/>
              <a:t>と</a:t>
            </a:r>
            <a:r>
              <a:rPr lang="en-US" altLang="ja-JP" sz="1800" dirty="0"/>
              <a:t>｢SMT</a:t>
            </a:r>
            <a:r>
              <a:rPr lang="ja-JP" altLang="en-US" sz="1800" dirty="0"/>
              <a:t>実装品質可視化システム</a:t>
            </a:r>
            <a:r>
              <a:rPr lang="en-US" altLang="ja-JP" sz="1800" dirty="0"/>
              <a:t>｣</a:t>
            </a:r>
            <a:r>
              <a:rPr lang="ja-JP" altLang="en-US" sz="1800" dirty="0"/>
              <a:t>と</a:t>
            </a:r>
            <a:r>
              <a:rPr lang="en-US" altLang="ja-JP" sz="1800" dirty="0"/>
              <a:t>｢BOSS</a:t>
            </a:r>
            <a:r>
              <a:rPr lang="ja-JP" altLang="en-US" sz="1800" dirty="0"/>
              <a:t>関連情報取得プログラム</a:t>
            </a:r>
            <a:r>
              <a:rPr lang="en-US" altLang="ja-JP" sz="1800" dirty="0"/>
              <a:t>(</a:t>
            </a:r>
            <a:r>
              <a:rPr lang="ja-JP" altLang="en-US" sz="1800" dirty="0"/>
              <a:t>詳細不明</a:t>
            </a:r>
            <a:r>
              <a:rPr lang="en-US" altLang="ja-JP" sz="1800" dirty="0"/>
              <a:t>)｣</a:t>
            </a:r>
            <a:r>
              <a:rPr lang="ja-JP" altLang="en-US" sz="1800" dirty="0"/>
              <a:t>の移行対応となります</a:t>
            </a:r>
            <a:r>
              <a:rPr lang="en-US" altLang="ja-JP" sz="1800" dirty="0"/>
              <a:t>｡</a:t>
            </a:r>
          </a:p>
          <a:p>
            <a:pPr marL="0" indent="0">
              <a:buNone/>
            </a:pPr>
            <a:r>
              <a:rPr lang="en-US" altLang="ja-JP" sz="1800" dirty="0"/>
              <a:t>n</a:t>
            </a:r>
            <a:r>
              <a:rPr kumimoji="1" lang="en-US" altLang="ja-JP" sz="1800" dirty="0"/>
              <a:t>ksv560/nksv569</a:t>
            </a:r>
            <a:r>
              <a:rPr kumimoji="1" lang="ja-JP" altLang="en-US" sz="1800" dirty="0"/>
              <a:t>で動作しているシステムの全容が引き継がれていない為</a:t>
            </a:r>
            <a:r>
              <a:rPr kumimoji="1" lang="en-US" altLang="ja-JP" sz="1800" dirty="0"/>
              <a:t>､</a:t>
            </a:r>
            <a:r>
              <a:rPr lang="ja-JP" altLang="en-US" sz="1800" dirty="0"/>
              <a:t>他の係までの</a:t>
            </a:r>
            <a:r>
              <a:rPr kumimoji="1" lang="ja-JP" altLang="en-US" sz="1800" dirty="0"/>
              <a:t>影響範囲は</a:t>
            </a:r>
            <a:r>
              <a:rPr lang="ja-JP" altLang="en-US" sz="1800" dirty="0"/>
              <a:t>不明です</a:t>
            </a:r>
            <a:r>
              <a:rPr lang="en-US" altLang="ja-JP" sz="1800" dirty="0"/>
              <a:t>｡</a:t>
            </a:r>
            <a:endParaRPr kumimoji="1" lang="en-US" altLang="ja-JP" sz="1800" dirty="0"/>
          </a:p>
          <a:p>
            <a:pPr marL="0" indent="0">
              <a:buNone/>
            </a:pPr>
            <a:r>
              <a:rPr kumimoji="1" lang="ja-JP" altLang="en-US" sz="1800" dirty="0"/>
              <a:t>例</a:t>
            </a:r>
            <a:r>
              <a:rPr kumimoji="1" lang="en-US" altLang="ja-JP" sz="1800" dirty="0"/>
              <a:t>)</a:t>
            </a:r>
            <a:r>
              <a:rPr kumimoji="1" lang="ja-JP" altLang="en-US" sz="1800" dirty="0"/>
              <a:t>配膳</a:t>
            </a:r>
            <a:r>
              <a:rPr kumimoji="1" lang="en-US" altLang="ja-JP" sz="1800" dirty="0"/>
              <a:t>2</a:t>
            </a:r>
            <a:r>
              <a:rPr kumimoji="1" lang="ja-JP" altLang="en-US" sz="1800" dirty="0"/>
              <a:t>係では</a:t>
            </a:r>
            <a:r>
              <a:rPr kumimoji="1" lang="ja-JP" altLang="en-US" sz="1800" u="sng" dirty="0"/>
              <a:t>部品倉庫フリーロケーションシステム</a:t>
            </a:r>
            <a:r>
              <a:rPr kumimoji="1" lang="en-US" altLang="ja-JP" sz="1800" u="sng" dirty="0"/>
              <a:t>(</a:t>
            </a:r>
            <a:r>
              <a:rPr kumimoji="1" lang="en-US" altLang="ja-JP" sz="1800" u="sng" dirty="0" err="1"/>
              <a:t>Jsystem</a:t>
            </a:r>
            <a:r>
              <a:rPr kumimoji="1" lang="en-US" altLang="ja-JP" sz="1800" u="sng" dirty="0"/>
              <a:t>)</a:t>
            </a:r>
            <a:r>
              <a:rPr kumimoji="1" lang="ja-JP" altLang="en-US" sz="1800" dirty="0"/>
              <a:t>が稼働しています</a:t>
            </a:r>
            <a:r>
              <a:rPr kumimoji="1" lang="en-US" altLang="ja-JP" sz="1800" dirty="0"/>
              <a:t>｡DB</a:t>
            </a:r>
            <a:r>
              <a:rPr kumimoji="1" lang="ja-JP" altLang="en-US" sz="1800" dirty="0"/>
              <a:t>に</a:t>
            </a:r>
            <a:r>
              <a:rPr kumimoji="1" lang="en-US" altLang="ja-JP" sz="1800" dirty="0"/>
              <a:t>nksv560</a:t>
            </a:r>
            <a:r>
              <a:rPr kumimoji="1" lang="ja-JP" altLang="en-US" sz="1800" dirty="0"/>
              <a:t>を使用しています</a:t>
            </a:r>
            <a:r>
              <a:rPr kumimoji="1" lang="en-US" altLang="ja-JP" sz="1800" dirty="0"/>
              <a:t>｡</a:t>
            </a:r>
          </a:p>
          <a:p>
            <a:pPr marL="0" indent="0">
              <a:buNone/>
            </a:pPr>
            <a:endParaRPr lang="en-US" altLang="ja-JP" sz="1800" dirty="0"/>
          </a:p>
          <a:p>
            <a:pPr marL="0" indent="0">
              <a:buNone/>
            </a:pPr>
            <a:r>
              <a:rPr lang="ja-JP" altLang="en-US" sz="1800" dirty="0"/>
              <a:t>開発者が富岡におらず</a:t>
            </a:r>
            <a:r>
              <a:rPr lang="en-US" altLang="ja-JP" sz="1800" dirty="0"/>
              <a:t>､</a:t>
            </a:r>
            <a:r>
              <a:rPr lang="ja-JP" altLang="en-US" sz="1800" dirty="0"/>
              <a:t>管理が放棄されてしまっている状態なので一度全体を見直してシステムを構築し直すことも検討必要かと思われます</a:t>
            </a:r>
            <a:r>
              <a:rPr lang="en-US" altLang="ja-JP" sz="1800" dirty="0"/>
              <a:t>｡</a:t>
            </a:r>
          </a:p>
        </p:txBody>
      </p:sp>
    </p:spTree>
    <p:extLst>
      <p:ext uri="{BB962C8B-B14F-4D97-AF65-F5344CB8AC3E}">
        <p14:creationId xmlns:p14="http://schemas.microsoft.com/office/powerpoint/2010/main" val="377032384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2566</TotalTime>
  <Words>649</Words>
  <Application>Microsoft Office PowerPoint</Application>
  <PresentationFormat>ワイド画面</PresentationFormat>
  <Paragraphs>104</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ＭＳ Ｐゴシック</vt:lpstr>
      <vt:lpstr>ＭＳ ゴシック</vt:lpstr>
      <vt:lpstr>游ゴシック</vt:lpstr>
      <vt:lpstr>游ゴシック Light</vt:lpstr>
      <vt:lpstr>Arial</vt:lpstr>
      <vt:lpstr>Office テーマ</vt:lpstr>
      <vt:lpstr>サーバー移行影響調査</vt:lpstr>
      <vt:lpstr>第2生産部で稼働中のシステム概要</vt:lpstr>
      <vt:lpstr>サーバー移行に関して</vt:lpstr>
      <vt:lpstr>第2生産部生産1係として影響するシステム</vt:lpstr>
      <vt:lpstr>その他懸念事項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SATO Yuki (佐藤 勇希)</dc:creator>
  <cp:lastModifiedBy>SATO Yuki (佐藤 勇希)</cp:lastModifiedBy>
  <cp:revision>15</cp:revision>
  <dcterms:created xsi:type="dcterms:W3CDTF">2022-02-16T09:50:12Z</dcterms:created>
  <dcterms:modified xsi:type="dcterms:W3CDTF">2022-03-29T09:33:50Z</dcterms:modified>
</cp:coreProperties>
</file>