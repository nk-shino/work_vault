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9" r:id="rId6"/>
    <p:sldId id="260" r:id="rId7"/>
    <p:sldId id="262" r:id="rId8"/>
    <p:sldId id="257" r:id="rId9"/>
    <p:sldId id="264" r:id="rId10"/>
    <p:sldId id="263" r:id="rId11"/>
    <p:sldId id="258" r:id="rId12"/>
  </p:sldIdLst>
  <p:sldSz cx="12195175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9E408-14D7-4343-883A-95EED91A216D}" v="3" dt="2023-03-15T04:25:17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79" autoAdjust="0"/>
  </p:normalViewPr>
  <p:slideViewPr>
    <p:cSldViewPr>
      <p:cViewPr varScale="1">
        <p:scale>
          <a:sx n="77" d="100"/>
          <a:sy n="77" d="100"/>
        </p:scale>
        <p:origin x="132" y="132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 Yuki (佐藤 勇希)" userId="355fd401-9c31-44b5-8919-d33e419f9bed" providerId="ADAL" clId="{9459E408-14D7-4343-883A-95EED91A216D}"/>
    <pc:docChg chg="addSld modSld">
      <pc:chgData name="SATO Yuki (佐藤 勇希)" userId="355fd401-9c31-44b5-8919-d33e419f9bed" providerId="ADAL" clId="{9459E408-14D7-4343-883A-95EED91A216D}" dt="2023-03-15T04:26:08.772" v="48" actId="20577"/>
      <pc:docMkLst>
        <pc:docMk/>
      </pc:docMkLst>
      <pc:sldChg chg="modSp mod">
        <pc:chgData name="SATO Yuki (佐藤 勇希)" userId="355fd401-9c31-44b5-8919-d33e419f9bed" providerId="ADAL" clId="{9459E408-14D7-4343-883A-95EED91A216D}" dt="2023-03-15T04:26:08.772" v="48" actId="20577"/>
        <pc:sldMkLst>
          <pc:docMk/>
          <pc:sldMk cId="0" sldId="256"/>
        </pc:sldMkLst>
        <pc:spChg chg="mod">
          <ac:chgData name="SATO Yuki (佐藤 勇希)" userId="355fd401-9c31-44b5-8919-d33e419f9bed" providerId="ADAL" clId="{9459E408-14D7-4343-883A-95EED91A216D}" dt="2023-03-15T04:26:08.772" v="4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TO Yuki (佐藤 勇希)" userId="355fd401-9c31-44b5-8919-d33e419f9bed" providerId="ADAL" clId="{9459E408-14D7-4343-883A-95EED91A216D}" dt="2023-03-15T04:25:44.597" v="4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TO Yuki (佐藤 勇希)" userId="355fd401-9c31-44b5-8919-d33e419f9bed" providerId="ADAL" clId="{9459E408-14D7-4343-883A-95EED91A216D}" dt="2023-03-15T00:32:20.402" v="17" actId="20577"/>
        <pc:sldMkLst>
          <pc:docMk/>
          <pc:sldMk cId="0" sldId="257"/>
        </pc:sldMkLst>
        <pc:spChg chg="mod">
          <ac:chgData name="SATO Yuki (佐藤 勇希)" userId="355fd401-9c31-44b5-8919-d33e419f9bed" providerId="ADAL" clId="{9459E408-14D7-4343-883A-95EED91A216D}" dt="2023-03-15T00:32:20.402" v="17" actId="20577"/>
          <ac:spMkLst>
            <pc:docMk/>
            <pc:sldMk cId="0" sldId="257"/>
            <ac:spMk id="11" creationId="{485EDA73-344F-E2EB-555E-B88DF2AF6EB9}"/>
          </ac:spMkLst>
        </pc:spChg>
      </pc:sldChg>
      <pc:sldChg chg="modSp mod">
        <pc:chgData name="SATO Yuki (佐藤 勇希)" userId="355fd401-9c31-44b5-8919-d33e419f9bed" providerId="ADAL" clId="{9459E408-14D7-4343-883A-95EED91A216D}" dt="2023-03-15T00:34:15.709" v="34" actId="1076"/>
        <pc:sldMkLst>
          <pc:docMk/>
          <pc:sldMk cId="95232421" sldId="263"/>
        </pc:sldMkLst>
        <pc:spChg chg="mod">
          <ac:chgData name="SATO Yuki (佐藤 勇希)" userId="355fd401-9c31-44b5-8919-d33e419f9bed" providerId="ADAL" clId="{9459E408-14D7-4343-883A-95EED91A216D}" dt="2023-03-15T00:34:06.958" v="32"/>
          <ac:spMkLst>
            <pc:docMk/>
            <pc:sldMk cId="95232421" sldId="263"/>
            <ac:spMk id="2" creationId="{5797C47F-8E5E-96AB-90F6-938B21505230}"/>
          </ac:spMkLst>
        </pc:spChg>
        <pc:graphicFrameChg chg="mod">
          <ac:chgData name="SATO Yuki (佐藤 勇希)" userId="355fd401-9c31-44b5-8919-d33e419f9bed" providerId="ADAL" clId="{9459E408-14D7-4343-883A-95EED91A216D}" dt="2023-03-15T00:34:15.709" v="34" actId="1076"/>
          <ac:graphicFrameMkLst>
            <pc:docMk/>
            <pc:sldMk cId="95232421" sldId="263"/>
            <ac:graphicFrameMk id="4" creationId="{E403CEEA-291C-3337-1F07-40361DD60C1A}"/>
          </ac:graphicFrameMkLst>
        </pc:graphicFrameChg>
      </pc:sldChg>
      <pc:sldChg chg="new">
        <pc:chgData name="SATO Yuki (佐藤 勇希)" userId="355fd401-9c31-44b5-8919-d33e419f9bed" providerId="ADAL" clId="{9459E408-14D7-4343-883A-95EED91A216D}" dt="2023-03-15T00:33:58.837" v="18" actId="680"/>
        <pc:sldMkLst>
          <pc:docMk/>
          <pc:sldMk cId="397308490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2B45C14F-2C3B-454A-9C64-72E4D0040D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45C14F-2C3B-454A-9C64-72E4D0040D58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6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X:\Hirao\日本光電PPTテンプレート\作業\20180621_2018年度\PNG\PPT_07-01タイトル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" y="283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4"/>
          <p:cNvSpPr>
            <a:spLocks noGrp="1" noChangeArrowheads="1"/>
          </p:cNvSpPr>
          <p:nvPr>
            <p:ph type="ctrTitle"/>
          </p:nvPr>
        </p:nvSpPr>
        <p:spPr>
          <a:xfrm>
            <a:off x="914638" y="1484461"/>
            <a:ext cx="10365899" cy="1295400"/>
          </a:xfrm>
        </p:spPr>
        <p:txBody>
          <a:bodyPr/>
          <a:lstStyle>
            <a:lvl1pPr algn="ctr">
              <a:defRPr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436" name="Rectangle 35"/>
          <p:cNvSpPr>
            <a:spLocks noGrp="1" noChangeArrowheads="1"/>
          </p:cNvSpPr>
          <p:nvPr>
            <p:ph type="subTitle" idx="1"/>
          </p:nvPr>
        </p:nvSpPr>
        <p:spPr>
          <a:xfrm>
            <a:off x="1829276" y="2997373"/>
            <a:ext cx="8536623" cy="1655763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9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25344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25344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25344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5590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521" y="1412603"/>
            <a:ext cx="11526134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222B9-45DE-4B6D-9428-0A9195C03EC4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236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336" y="3993108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336" y="2492921"/>
            <a:ext cx="1036589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9A24C-A272-4486-8F9A-69EE51C359AB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332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537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9230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CE1F5-ED16-4AEF-B63E-AAE983240A8D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353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59" y="188640"/>
            <a:ext cx="966429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759" y="1449115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759" y="2088877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4996" y="1449115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4996" y="2088877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677F9-7C58-4F7A-AFDE-56987A05C8C0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668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X:\Hirao\日本光電PPTテンプレート\作業\20180621_2018年度\PNG\PPT_07-03帯あり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" y="283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0"/>
            <a:ext cx="9939530" cy="9087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CAE6F-8457-4CF3-B140-0929F54650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136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3BEFA-5DDA-4D8A-B395-1CF36B342F7F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995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75" y="456182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7974" y="456207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775" y="161823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3D193-01C8-47D4-B4B3-1AC86D9D4942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7735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90341" y="4649688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90341" y="461863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90341" y="5216426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2217-EA11-42EC-986B-B23AF75AD62A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74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9138" y="404837"/>
            <a:ext cx="288153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521" y="404837"/>
            <a:ext cx="8441348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4783D-9110-4ABB-80DE-82E186775B29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060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X:\Hirao\日本光電PPTテンプレート\作業\20180621_2018年度\PNG\PPT_07-02帯なし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" y="283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188913"/>
            <a:ext cx="99390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412875"/>
            <a:ext cx="1152525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25344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25344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25344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1" r:id="rId2"/>
    <p:sldLayoutId id="2147483822" r:id="rId3"/>
    <p:sldLayoutId id="2147483823" r:id="rId4"/>
    <p:sldLayoutId id="2147483824" r:id="rId5"/>
    <p:sldLayoutId id="2147483830" r:id="rId6"/>
    <p:sldLayoutId id="2147483825" r:id="rId7"/>
    <p:sldLayoutId id="2147483826" r:id="rId8"/>
    <p:sldLayoutId id="2147483827" r:id="rId9"/>
    <p:sldLayoutId id="2147483828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b="0" i="0" dirty="0" err="1">
                <a:solidFill>
                  <a:srgbClr val="202124"/>
                </a:solidFill>
                <a:effectLst/>
                <a:latin typeface="Google Sans"/>
              </a:rPr>
              <a:t>NullPointerException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1B74BC-9901-C811-8C3F-43A8EB4F3E80}"/>
              </a:ext>
            </a:extLst>
          </p:cNvPr>
          <p:cNvSpPr/>
          <p:nvPr/>
        </p:nvSpPr>
        <p:spPr>
          <a:xfrm>
            <a:off x="6995410" y="2419686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ACADEC-038E-EA6A-4822-61464AC83B56}"/>
              </a:ext>
            </a:extLst>
          </p:cNvPr>
          <p:cNvSpPr/>
          <p:nvPr/>
        </p:nvSpPr>
        <p:spPr>
          <a:xfrm>
            <a:off x="4280298" y="1988840"/>
            <a:ext cx="1825682" cy="20488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部品外し･取り付け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BACA44-0A94-52D7-F7DF-F58FB5AA3F2B}"/>
              </a:ext>
            </a:extLst>
          </p:cNvPr>
          <p:cNvSpPr/>
          <p:nvPr/>
        </p:nvSpPr>
        <p:spPr>
          <a:xfrm>
            <a:off x="6601643" y="1988840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L1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20AD9E7-B6F2-BA49-E3EB-62E2C4B54976}"/>
              </a:ext>
            </a:extLst>
          </p:cNvPr>
          <p:cNvSpPr/>
          <p:nvPr/>
        </p:nvSpPr>
        <p:spPr>
          <a:xfrm>
            <a:off x="9269429" y="2419686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②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DA0AAF4-7FA1-8971-B7DB-51CCF2D3A048}"/>
              </a:ext>
            </a:extLst>
          </p:cNvPr>
          <p:cNvSpPr/>
          <p:nvPr/>
        </p:nvSpPr>
        <p:spPr>
          <a:xfrm>
            <a:off x="6598484" y="4780256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L3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84E955F-265F-ABE4-E60E-EE34BB09CE30}"/>
              </a:ext>
            </a:extLst>
          </p:cNvPr>
          <p:cNvSpPr/>
          <p:nvPr/>
        </p:nvSpPr>
        <p:spPr>
          <a:xfrm>
            <a:off x="6598484" y="3400853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L2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B417D0B-B22D-A2DF-E4FE-9DF1507D6331}"/>
              </a:ext>
            </a:extLst>
          </p:cNvPr>
          <p:cNvSpPr/>
          <p:nvPr/>
        </p:nvSpPr>
        <p:spPr>
          <a:xfrm>
            <a:off x="6995410" y="3753579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③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0148319-5B93-FE69-4FC4-639A73F9C68D}"/>
              </a:ext>
            </a:extLst>
          </p:cNvPr>
          <p:cNvSpPr/>
          <p:nvPr/>
        </p:nvSpPr>
        <p:spPr>
          <a:xfrm>
            <a:off x="4436758" y="2843833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④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71616F1-5482-95A3-B360-3A951350BBD6}"/>
              </a:ext>
            </a:extLst>
          </p:cNvPr>
          <p:cNvSpPr/>
          <p:nvPr/>
        </p:nvSpPr>
        <p:spPr>
          <a:xfrm>
            <a:off x="7131301" y="5132998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AED</a:t>
            </a:r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08A95C4-00B1-FB77-053D-0A9A65384DDF}"/>
              </a:ext>
            </a:extLst>
          </p:cNvPr>
          <p:cNvSpPr/>
          <p:nvPr/>
        </p:nvSpPr>
        <p:spPr>
          <a:xfrm>
            <a:off x="8732050" y="5132998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TEC</a:t>
            </a:r>
            <a:endParaRPr kumimoji="1" lang="ja-JP" altLang="en-US" dirty="0"/>
          </a:p>
        </p:txBody>
      </p:sp>
      <p:sp>
        <p:nvSpPr>
          <p:cNvPr id="31" name="タイトル 3">
            <a:extLst>
              <a:ext uri="{FF2B5EF4-FFF2-40B4-BE49-F238E27FC236}">
                <a16:creationId xmlns:a16="http://schemas.microsoft.com/office/drawing/2014/main" id="{0EF40522-6B28-0B3D-8BB0-9330C938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lang="ja-JP" altLang="en-US" dirty="0"/>
              <a:t>勤時の生産方式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35BA3AB-17C1-0CD3-BF53-EEAF016105B8}"/>
              </a:ext>
            </a:extLst>
          </p:cNvPr>
          <p:cNvSpPr txBox="1"/>
          <p:nvPr/>
        </p:nvSpPr>
        <p:spPr>
          <a:xfrm>
            <a:off x="156992" y="1988840"/>
            <a:ext cx="38530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1600" dirty="0"/>
              <a:t>多品種小ロット生産の為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フリー品目で常に段取り替えが発生しており</a:t>
            </a:r>
            <a:r>
              <a:rPr lang="en-US" altLang="ja-JP" sz="1600" dirty="0"/>
              <a:t>､</a:t>
            </a:r>
            <a:r>
              <a:rPr lang="ja-JP" altLang="en-US" sz="1600" dirty="0"/>
              <a:t>大きな工数がかかっていた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フリー品目の各グループの生産時間が異なる為</a:t>
            </a:r>
            <a:r>
              <a:rPr lang="en-US" altLang="ja-JP" sz="1600" dirty="0"/>
              <a:t>､1</a:t>
            </a:r>
            <a:r>
              <a:rPr lang="ja-JP" altLang="en-US" sz="1600" dirty="0"/>
              <a:t>日の作業内容がルーチン化できず</a:t>
            </a:r>
            <a:r>
              <a:rPr lang="en-US" altLang="ja-JP" sz="1600" dirty="0"/>
              <a:t>､</a:t>
            </a:r>
            <a:r>
              <a:rPr lang="ja-JP" altLang="en-US" sz="1600" dirty="0"/>
              <a:t>都度作業する状態となっていた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また</a:t>
            </a:r>
            <a:r>
              <a:rPr lang="en-US" altLang="ja-JP" sz="1600" dirty="0"/>
              <a:t>､</a:t>
            </a:r>
            <a:r>
              <a:rPr lang="ja-JP" altLang="en-US" sz="1600" dirty="0"/>
              <a:t>部品外し･取り付けが間に合わず</a:t>
            </a:r>
            <a:r>
              <a:rPr lang="en-US" altLang="ja-JP" sz="1600" dirty="0"/>
              <a:t>､</a:t>
            </a:r>
          </a:p>
          <a:p>
            <a:pPr marL="0" indent="0">
              <a:buNone/>
            </a:pPr>
            <a:r>
              <a:rPr lang="ja-JP" altLang="en-US" sz="1600" dirty="0"/>
              <a:t>ライン停止となることが度々発生していた</a:t>
            </a:r>
            <a:r>
              <a:rPr lang="en-US" altLang="ja-JP" sz="1600" dirty="0"/>
              <a:t>｡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5581001-567C-43E8-99D3-C38331DA1CC4}"/>
              </a:ext>
            </a:extLst>
          </p:cNvPr>
          <p:cNvSpPr/>
          <p:nvPr/>
        </p:nvSpPr>
        <p:spPr>
          <a:xfrm>
            <a:off x="6995410" y="5013192"/>
            <a:ext cx="330935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5388D98-B1CE-E7D7-C9E8-9FAD677C1CDD}"/>
              </a:ext>
            </a:extLst>
          </p:cNvPr>
          <p:cNvSpPr txBox="1"/>
          <p:nvPr/>
        </p:nvSpPr>
        <p:spPr>
          <a:xfrm>
            <a:off x="10296444" y="4991817"/>
            <a:ext cx="66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800" kern="0" dirty="0">
                <a:solidFill>
                  <a:srgbClr val="FF0000"/>
                </a:solidFill>
              </a:rPr>
              <a:t>固定</a:t>
            </a:r>
            <a:endParaRPr lang="en-US" altLang="ja-JP" sz="1800" kern="0" dirty="0">
              <a:solidFill>
                <a:srgbClr val="FF0000"/>
              </a:solidFill>
            </a:endParaRPr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62918C34-F515-C863-96AE-0B602D21E932}"/>
              </a:ext>
            </a:extLst>
          </p:cNvPr>
          <p:cNvSpPr/>
          <p:nvPr/>
        </p:nvSpPr>
        <p:spPr>
          <a:xfrm rot="20837785">
            <a:off x="5969972" y="2776948"/>
            <a:ext cx="1000065" cy="28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FBF3D7B5-E7C2-2A3E-8A24-3440C7CB55A3}"/>
              </a:ext>
            </a:extLst>
          </p:cNvPr>
          <p:cNvSpPr/>
          <p:nvPr/>
        </p:nvSpPr>
        <p:spPr>
          <a:xfrm>
            <a:off x="8457386" y="2555559"/>
            <a:ext cx="664538" cy="28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カーブ 37">
            <a:extLst>
              <a:ext uri="{FF2B5EF4-FFF2-40B4-BE49-F238E27FC236}">
                <a16:creationId xmlns:a16="http://schemas.microsoft.com/office/drawing/2014/main" id="{7CD8E204-4214-90A1-A224-2D1CC072E73A}"/>
              </a:ext>
            </a:extLst>
          </p:cNvPr>
          <p:cNvSpPr/>
          <p:nvPr/>
        </p:nvSpPr>
        <p:spPr>
          <a:xfrm rot="5400000">
            <a:off x="7392270" y="113331"/>
            <a:ext cx="698552" cy="362848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79D302C0-3334-B29C-FFD8-CF9A0D240736}"/>
              </a:ext>
            </a:extLst>
          </p:cNvPr>
          <p:cNvSpPr/>
          <p:nvPr/>
        </p:nvSpPr>
        <p:spPr>
          <a:xfrm rot="2813330">
            <a:off x="5780734" y="3445817"/>
            <a:ext cx="1084850" cy="28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矢印: 右カーブ 39">
            <a:extLst>
              <a:ext uri="{FF2B5EF4-FFF2-40B4-BE49-F238E27FC236}">
                <a16:creationId xmlns:a16="http://schemas.microsoft.com/office/drawing/2014/main" id="{B6A85748-A9E8-051A-3C5F-00A6FDBC7A4D}"/>
              </a:ext>
            </a:extLst>
          </p:cNvPr>
          <p:cNvSpPr/>
          <p:nvPr/>
        </p:nvSpPr>
        <p:spPr>
          <a:xfrm rot="6045797" flipH="1">
            <a:off x="6211282" y="2916651"/>
            <a:ext cx="514480" cy="30028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68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1B74BC-9901-C811-8C3F-43A8EB4F3E80}"/>
              </a:ext>
            </a:extLst>
          </p:cNvPr>
          <p:cNvSpPr/>
          <p:nvPr/>
        </p:nvSpPr>
        <p:spPr>
          <a:xfrm>
            <a:off x="6995410" y="2419686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ACADEC-038E-EA6A-4822-61464AC83B56}"/>
              </a:ext>
            </a:extLst>
          </p:cNvPr>
          <p:cNvSpPr/>
          <p:nvPr/>
        </p:nvSpPr>
        <p:spPr>
          <a:xfrm>
            <a:off x="4280298" y="1988840"/>
            <a:ext cx="1825682" cy="20488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部品外し･取り付け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BACA44-0A94-52D7-F7DF-F58FB5AA3F2B}"/>
              </a:ext>
            </a:extLst>
          </p:cNvPr>
          <p:cNvSpPr/>
          <p:nvPr/>
        </p:nvSpPr>
        <p:spPr>
          <a:xfrm>
            <a:off x="6601643" y="1988840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L1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DA0AAF4-7FA1-8971-B7DB-51CCF2D3A048}"/>
              </a:ext>
            </a:extLst>
          </p:cNvPr>
          <p:cNvSpPr/>
          <p:nvPr/>
        </p:nvSpPr>
        <p:spPr>
          <a:xfrm>
            <a:off x="6598484" y="4780256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L3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84E955F-265F-ABE4-E60E-EE34BB09CE30}"/>
              </a:ext>
            </a:extLst>
          </p:cNvPr>
          <p:cNvSpPr/>
          <p:nvPr/>
        </p:nvSpPr>
        <p:spPr>
          <a:xfrm>
            <a:off x="6598484" y="3400853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L2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0148319-5B93-FE69-4FC4-639A73F9C68D}"/>
              </a:ext>
            </a:extLst>
          </p:cNvPr>
          <p:cNvSpPr/>
          <p:nvPr/>
        </p:nvSpPr>
        <p:spPr>
          <a:xfrm>
            <a:off x="4447323" y="2522982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品目②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71616F1-5482-95A3-B360-3A951350BBD6}"/>
              </a:ext>
            </a:extLst>
          </p:cNvPr>
          <p:cNvSpPr/>
          <p:nvPr/>
        </p:nvSpPr>
        <p:spPr>
          <a:xfrm>
            <a:off x="7131301" y="5132998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AED</a:t>
            </a:r>
            <a:endParaRPr kumimoji="1" lang="ja-JP" altLang="en-US" dirty="0"/>
          </a:p>
        </p:txBody>
      </p:sp>
      <p:sp>
        <p:nvSpPr>
          <p:cNvPr id="31" name="タイトル 3">
            <a:extLst>
              <a:ext uri="{FF2B5EF4-FFF2-40B4-BE49-F238E27FC236}">
                <a16:creationId xmlns:a16="http://schemas.microsoft.com/office/drawing/2014/main" id="{0EF40522-6B28-0B3D-8BB0-9330C938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3600" kern="0" dirty="0"/>
              <a:t>AED/TEC-5600/TEC-8000/EMS-1000</a:t>
            </a:r>
            <a:r>
              <a:rPr lang="ja-JP" altLang="en-US" sz="3600" kern="0" dirty="0"/>
              <a:t>　固定化</a:t>
            </a:r>
            <a:endParaRPr lang="en-US" altLang="ja-JP" sz="3600" kern="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35BA3AB-17C1-0CD3-BF53-EEAF016105B8}"/>
              </a:ext>
            </a:extLst>
          </p:cNvPr>
          <p:cNvSpPr txBox="1"/>
          <p:nvPr/>
        </p:nvSpPr>
        <p:spPr>
          <a:xfrm>
            <a:off x="156992" y="1988840"/>
            <a:ext cx="38530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1600" dirty="0"/>
              <a:t>親品目でグループを作成し</a:t>
            </a:r>
            <a:r>
              <a:rPr lang="en-US" altLang="ja-JP" sz="1600" dirty="0"/>
              <a:t>､</a:t>
            </a:r>
            <a:r>
              <a:rPr lang="ja-JP" altLang="en-US" sz="1600" dirty="0"/>
              <a:t>固定化を実施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生産頻度の低い品目をフリー品目とした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結果</a:t>
            </a:r>
            <a:r>
              <a:rPr lang="en-US" altLang="ja-JP" sz="1600" dirty="0"/>
              <a:t>､</a:t>
            </a:r>
            <a:r>
              <a:rPr lang="ja-JP" altLang="en-US" sz="1600" dirty="0"/>
              <a:t>部品取り外し･取り付け回数が大きく減少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フリー品目の各グループが</a:t>
            </a:r>
            <a:r>
              <a:rPr lang="en-US" altLang="ja-JP" sz="1600" dirty="0"/>
              <a:t>1</a:t>
            </a:r>
            <a:r>
              <a:rPr lang="ja-JP" altLang="en-US" sz="1600" dirty="0"/>
              <a:t>日の生産量となるよう生産管理と調整することで</a:t>
            </a:r>
            <a:r>
              <a:rPr lang="en-US" altLang="ja-JP" sz="1600" dirty="0"/>
              <a:t>､1</a:t>
            </a:r>
            <a:r>
              <a:rPr lang="ja-JP" altLang="en-US" sz="1600" dirty="0"/>
              <a:t>日の作業内容がある程度ルーチン化できるように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r>
              <a:rPr kumimoji="1" lang="en-US" altLang="ja-JP" sz="1600" dirty="0">
                <a:solidFill>
                  <a:srgbClr val="FF0000"/>
                </a:solidFill>
              </a:rPr>
              <a:t>22’ 12/1</a:t>
            </a:r>
            <a:r>
              <a:rPr kumimoji="1" lang="ja-JP" altLang="en-US" sz="1600" dirty="0">
                <a:solidFill>
                  <a:srgbClr val="FF0000"/>
                </a:solidFill>
              </a:rPr>
              <a:t>～　実施へ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16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5581001-567C-43E8-99D3-C38331DA1CC4}"/>
              </a:ext>
            </a:extLst>
          </p:cNvPr>
          <p:cNvSpPr/>
          <p:nvPr/>
        </p:nvSpPr>
        <p:spPr>
          <a:xfrm>
            <a:off x="6995410" y="5013192"/>
            <a:ext cx="173664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5388D98-B1CE-E7D7-C9E8-9FAD677C1CDD}"/>
              </a:ext>
            </a:extLst>
          </p:cNvPr>
          <p:cNvSpPr txBox="1"/>
          <p:nvPr/>
        </p:nvSpPr>
        <p:spPr>
          <a:xfrm>
            <a:off x="8749028" y="4948332"/>
            <a:ext cx="66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800" kern="0" dirty="0">
                <a:solidFill>
                  <a:srgbClr val="FF0000"/>
                </a:solidFill>
              </a:rPr>
              <a:t>固定</a:t>
            </a:r>
            <a:endParaRPr lang="en-US" altLang="ja-JP" sz="1800" kern="0" dirty="0">
              <a:solidFill>
                <a:srgbClr val="FF0000"/>
              </a:solidFill>
            </a:endParaRPr>
          </a:p>
        </p:txBody>
      </p:sp>
      <p:sp>
        <p:nvSpPr>
          <p:cNvPr id="2" name="矢印: 左右 1">
            <a:extLst>
              <a:ext uri="{FF2B5EF4-FFF2-40B4-BE49-F238E27FC236}">
                <a16:creationId xmlns:a16="http://schemas.microsoft.com/office/drawing/2014/main" id="{D4450053-1D3B-1419-0D86-74C1C40EA944}"/>
              </a:ext>
            </a:extLst>
          </p:cNvPr>
          <p:cNvSpPr/>
          <p:nvPr/>
        </p:nvSpPr>
        <p:spPr>
          <a:xfrm>
            <a:off x="5972382" y="2563253"/>
            <a:ext cx="969831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4D95393-65E8-E109-1DD8-CDEF4F2A022B}"/>
              </a:ext>
            </a:extLst>
          </p:cNvPr>
          <p:cNvSpPr/>
          <p:nvPr/>
        </p:nvSpPr>
        <p:spPr>
          <a:xfrm>
            <a:off x="7131301" y="3846493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TEC-5600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65E614-80DF-5784-67AD-CC4BFD3A2334}"/>
              </a:ext>
            </a:extLst>
          </p:cNvPr>
          <p:cNvSpPr/>
          <p:nvPr/>
        </p:nvSpPr>
        <p:spPr>
          <a:xfrm>
            <a:off x="8732050" y="3846493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TEC-8000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1AC0D6A-D9F8-7642-4A04-CF04A61A212C}"/>
              </a:ext>
            </a:extLst>
          </p:cNvPr>
          <p:cNvSpPr/>
          <p:nvPr/>
        </p:nvSpPr>
        <p:spPr>
          <a:xfrm>
            <a:off x="10332799" y="3850584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EMS-1000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D3DCEA-D833-D8D4-7334-146D86AB4BC9}"/>
              </a:ext>
            </a:extLst>
          </p:cNvPr>
          <p:cNvSpPr/>
          <p:nvPr/>
        </p:nvSpPr>
        <p:spPr>
          <a:xfrm>
            <a:off x="7012387" y="3710607"/>
            <a:ext cx="4837415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DAF22A-1D6E-6F62-C5E6-04AE3E7D4C75}"/>
              </a:ext>
            </a:extLst>
          </p:cNvPr>
          <p:cNvSpPr txBox="1"/>
          <p:nvPr/>
        </p:nvSpPr>
        <p:spPr>
          <a:xfrm>
            <a:off x="11203832" y="3373834"/>
            <a:ext cx="66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800" kern="0" dirty="0">
                <a:solidFill>
                  <a:srgbClr val="FF0000"/>
                </a:solidFill>
              </a:rPr>
              <a:t>固定</a:t>
            </a:r>
            <a:endParaRPr lang="en-US" altLang="ja-JP" sz="1800" kern="0" dirty="0">
              <a:solidFill>
                <a:srgbClr val="FF0000"/>
              </a:solidFill>
            </a:endParaRPr>
          </a:p>
        </p:txBody>
      </p:sp>
      <p:sp>
        <p:nvSpPr>
          <p:cNvPr id="14" name="矢印: 左右 13">
            <a:extLst>
              <a:ext uri="{FF2B5EF4-FFF2-40B4-BE49-F238E27FC236}">
                <a16:creationId xmlns:a16="http://schemas.microsoft.com/office/drawing/2014/main" id="{D7D9EDA5-39CE-0268-BCD8-0B4E310F9226}"/>
              </a:ext>
            </a:extLst>
          </p:cNvPr>
          <p:cNvSpPr/>
          <p:nvPr/>
        </p:nvSpPr>
        <p:spPr>
          <a:xfrm>
            <a:off x="8416876" y="3971956"/>
            <a:ext cx="397276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左右 14">
            <a:extLst>
              <a:ext uri="{FF2B5EF4-FFF2-40B4-BE49-F238E27FC236}">
                <a16:creationId xmlns:a16="http://schemas.microsoft.com/office/drawing/2014/main" id="{8A9831D1-C1D1-5E54-EE9A-F2343952FD40}"/>
              </a:ext>
            </a:extLst>
          </p:cNvPr>
          <p:cNvSpPr/>
          <p:nvPr/>
        </p:nvSpPr>
        <p:spPr>
          <a:xfrm>
            <a:off x="10002199" y="3983307"/>
            <a:ext cx="397276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87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1B74BC-9901-C811-8C3F-43A8EB4F3E80}"/>
              </a:ext>
            </a:extLst>
          </p:cNvPr>
          <p:cNvSpPr/>
          <p:nvPr/>
        </p:nvSpPr>
        <p:spPr>
          <a:xfrm>
            <a:off x="6995410" y="2419686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</a:t>
            </a:r>
            <a:r>
              <a:rPr kumimoji="1" lang="ja-JP" altLang="en-US" dirty="0"/>
              <a:t>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ACADEC-038E-EA6A-4822-61464AC83B56}"/>
              </a:ext>
            </a:extLst>
          </p:cNvPr>
          <p:cNvSpPr/>
          <p:nvPr/>
        </p:nvSpPr>
        <p:spPr>
          <a:xfrm>
            <a:off x="4280298" y="1988840"/>
            <a:ext cx="1825682" cy="20488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部品外し･取り付け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BACA44-0A94-52D7-F7DF-F58FB5AA3F2B}"/>
              </a:ext>
            </a:extLst>
          </p:cNvPr>
          <p:cNvSpPr/>
          <p:nvPr/>
        </p:nvSpPr>
        <p:spPr>
          <a:xfrm>
            <a:off x="6601643" y="1988840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L1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DA0AAF4-7FA1-8971-B7DB-51CCF2D3A048}"/>
              </a:ext>
            </a:extLst>
          </p:cNvPr>
          <p:cNvSpPr/>
          <p:nvPr/>
        </p:nvSpPr>
        <p:spPr>
          <a:xfrm>
            <a:off x="6598484" y="4780256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L3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84E955F-265F-ABE4-E60E-EE34BB09CE30}"/>
              </a:ext>
            </a:extLst>
          </p:cNvPr>
          <p:cNvSpPr/>
          <p:nvPr/>
        </p:nvSpPr>
        <p:spPr>
          <a:xfrm>
            <a:off x="6598484" y="3400853"/>
            <a:ext cx="5383280" cy="12596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L2</a:t>
            </a:r>
            <a:endParaRPr 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0148319-5B93-FE69-4FC4-639A73F9C68D}"/>
              </a:ext>
            </a:extLst>
          </p:cNvPr>
          <p:cNvSpPr/>
          <p:nvPr/>
        </p:nvSpPr>
        <p:spPr>
          <a:xfrm>
            <a:off x="4447323" y="2522982"/>
            <a:ext cx="1358034" cy="554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フリー</a:t>
            </a:r>
            <a:r>
              <a:rPr lang="ja-JP" altLang="en-US" dirty="0"/>
              <a:t>品目②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71616F1-5482-95A3-B360-3A951350BBD6}"/>
              </a:ext>
            </a:extLst>
          </p:cNvPr>
          <p:cNvSpPr/>
          <p:nvPr/>
        </p:nvSpPr>
        <p:spPr>
          <a:xfrm>
            <a:off x="7131301" y="5132998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AED</a:t>
            </a:r>
            <a:endParaRPr kumimoji="1" lang="ja-JP" altLang="en-US" dirty="0"/>
          </a:p>
        </p:txBody>
      </p:sp>
      <p:sp>
        <p:nvSpPr>
          <p:cNvPr id="31" name="タイトル 3">
            <a:extLst>
              <a:ext uri="{FF2B5EF4-FFF2-40B4-BE49-F238E27FC236}">
                <a16:creationId xmlns:a16="http://schemas.microsoft.com/office/drawing/2014/main" id="{0EF40522-6B28-0B3D-8BB0-9330C938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ja-JP" altLang="en-US" sz="3600" kern="0" dirty="0"/>
              <a:t>送信機　固定化</a:t>
            </a:r>
            <a:endParaRPr lang="en-US" altLang="ja-JP" sz="3600" kern="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35BA3AB-17C1-0CD3-BF53-EEAF016105B8}"/>
              </a:ext>
            </a:extLst>
          </p:cNvPr>
          <p:cNvSpPr txBox="1"/>
          <p:nvPr/>
        </p:nvSpPr>
        <p:spPr>
          <a:xfrm>
            <a:off x="156992" y="1461224"/>
            <a:ext cx="38515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1600" dirty="0"/>
              <a:t>当初送信機の固定化も予定していたが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カートが不足しており実施できなかった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･送信機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  生産量</a:t>
            </a:r>
            <a:r>
              <a:rPr lang="en-US" altLang="ja-JP" sz="1600" dirty="0"/>
              <a:t>:		4h/</a:t>
            </a:r>
            <a:r>
              <a:rPr lang="ja-JP" altLang="en-US" sz="1600" dirty="0"/>
              <a:t>日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  生産頻度</a:t>
            </a:r>
            <a:r>
              <a:rPr lang="en-US" altLang="ja-JP" sz="1600" dirty="0"/>
              <a:t>:	4</a:t>
            </a:r>
            <a:r>
              <a:rPr lang="ja-JP" altLang="en-US" sz="1600" dirty="0"/>
              <a:t>回</a:t>
            </a:r>
            <a:r>
              <a:rPr lang="en-US" altLang="ja-JP" sz="1600" dirty="0"/>
              <a:t>/</a:t>
            </a:r>
            <a:r>
              <a:rPr lang="ja-JP" altLang="en-US" sz="1600" dirty="0"/>
              <a:t>週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  フィーダー使用数</a:t>
            </a:r>
            <a:r>
              <a:rPr lang="en-US" altLang="ja-JP" sz="1600" dirty="0"/>
              <a:t>:	570</a:t>
            </a:r>
            <a:r>
              <a:rPr lang="ja-JP" altLang="en-US" sz="1600" dirty="0"/>
              <a:t>ヶ</a:t>
            </a: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･</a:t>
            </a:r>
            <a:r>
              <a:rPr lang="en-US" altLang="ja-JP" sz="1600" dirty="0"/>
              <a:t>TEC-8000</a:t>
            </a:r>
          </a:p>
          <a:p>
            <a:pPr marL="0" indent="0">
              <a:buNone/>
            </a:pPr>
            <a:r>
              <a:rPr lang="ja-JP" altLang="en-US" sz="1600" dirty="0"/>
              <a:t>  生産量</a:t>
            </a:r>
            <a:r>
              <a:rPr lang="en-US" altLang="ja-JP" sz="1600" dirty="0"/>
              <a:t>:		0.8h/day</a:t>
            </a:r>
          </a:p>
          <a:p>
            <a:pPr marL="0" indent="0">
              <a:buNone/>
            </a:pPr>
            <a:r>
              <a:rPr lang="ja-JP" altLang="en-US" sz="1600" dirty="0"/>
              <a:t>  生産頻度</a:t>
            </a:r>
            <a:r>
              <a:rPr lang="en-US" altLang="ja-JP" sz="1600" dirty="0"/>
              <a:t>:	1</a:t>
            </a:r>
            <a:r>
              <a:rPr lang="ja-JP" altLang="en-US" sz="1600" dirty="0"/>
              <a:t>回</a:t>
            </a:r>
            <a:r>
              <a:rPr lang="en-US" altLang="ja-JP" sz="1600" dirty="0"/>
              <a:t>/</a:t>
            </a:r>
            <a:r>
              <a:rPr lang="ja-JP" altLang="en-US" sz="1600" dirty="0"/>
              <a:t>週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  フィーダー使用数</a:t>
            </a:r>
            <a:r>
              <a:rPr lang="en-US" altLang="ja-JP" sz="1600" dirty="0"/>
              <a:t>:	604</a:t>
            </a:r>
            <a:r>
              <a:rPr lang="ja-JP" altLang="en-US" sz="1600" dirty="0"/>
              <a:t>ヶ</a:t>
            </a: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一番生産頻度が低かった</a:t>
            </a: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TEC-8000</a:t>
            </a:r>
            <a:r>
              <a:rPr lang="ja-JP" altLang="en-US" sz="1600" dirty="0"/>
              <a:t>と送信機のグループを比較</a:t>
            </a: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生産効率が上がると判断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r>
              <a:rPr lang="en-US" altLang="ja-JP" sz="1600" dirty="0"/>
              <a:t>TEC-8000</a:t>
            </a:r>
            <a:r>
              <a:rPr lang="ja-JP" altLang="en-US" sz="1600" dirty="0"/>
              <a:t>をフリー品目化し</a:t>
            </a:r>
            <a:r>
              <a:rPr lang="en-US" altLang="ja-JP" sz="1600" dirty="0"/>
              <a:t>､</a:t>
            </a:r>
          </a:p>
          <a:p>
            <a:pPr marL="0" indent="0">
              <a:buNone/>
            </a:pPr>
            <a:r>
              <a:rPr lang="ja-JP" altLang="en-US" sz="1600" dirty="0"/>
              <a:t>送信機を固定とする</a:t>
            </a:r>
            <a:r>
              <a:rPr lang="en-US" altLang="ja-JP" sz="1600" dirty="0"/>
              <a:t>｡</a:t>
            </a:r>
          </a:p>
          <a:p>
            <a:pPr marL="0" indent="0">
              <a:buNone/>
            </a:pPr>
            <a:endParaRPr lang="en-US" altLang="ja-JP" sz="1600" dirty="0"/>
          </a:p>
          <a:p>
            <a:r>
              <a:rPr kumimoji="1" lang="en-US" altLang="ja-JP" sz="1600" dirty="0">
                <a:solidFill>
                  <a:srgbClr val="FF0000"/>
                </a:solidFill>
              </a:rPr>
              <a:t>23’ 2/9</a:t>
            </a:r>
            <a:r>
              <a:rPr kumimoji="1" lang="ja-JP" altLang="en-US" sz="1600" dirty="0">
                <a:solidFill>
                  <a:srgbClr val="FF0000"/>
                </a:solidFill>
              </a:rPr>
              <a:t>～　実施へ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5581001-567C-43E8-99D3-C38331DA1CC4}"/>
              </a:ext>
            </a:extLst>
          </p:cNvPr>
          <p:cNvSpPr/>
          <p:nvPr/>
        </p:nvSpPr>
        <p:spPr>
          <a:xfrm>
            <a:off x="6995410" y="5013192"/>
            <a:ext cx="173664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5388D98-B1CE-E7D7-C9E8-9FAD677C1CDD}"/>
              </a:ext>
            </a:extLst>
          </p:cNvPr>
          <p:cNvSpPr txBox="1"/>
          <p:nvPr/>
        </p:nvSpPr>
        <p:spPr>
          <a:xfrm>
            <a:off x="8749028" y="4948332"/>
            <a:ext cx="66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800" kern="0" dirty="0">
                <a:solidFill>
                  <a:srgbClr val="FF0000"/>
                </a:solidFill>
              </a:rPr>
              <a:t>固定</a:t>
            </a:r>
            <a:endParaRPr lang="en-US" altLang="ja-JP" sz="1800" kern="0" dirty="0">
              <a:solidFill>
                <a:srgbClr val="FF0000"/>
              </a:solidFill>
            </a:endParaRPr>
          </a:p>
        </p:txBody>
      </p:sp>
      <p:sp>
        <p:nvSpPr>
          <p:cNvPr id="2" name="矢印: 左右 1">
            <a:extLst>
              <a:ext uri="{FF2B5EF4-FFF2-40B4-BE49-F238E27FC236}">
                <a16:creationId xmlns:a16="http://schemas.microsoft.com/office/drawing/2014/main" id="{D4450053-1D3B-1419-0D86-74C1C40EA944}"/>
              </a:ext>
            </a:extLst>
          </p:cNvPr>
          <p:cNvSpPr/>
          <p:nvPr/>
        </p:nvSpPr>
        <p:spPr>
          <a:xfrm>
            <a:off x="5972382" y="2563253"/>
            <a:ext cx="969831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4D95393-65E8-E109-1DD8-CDEF4F2A022B}"/>
              </a:ext>
            </a:extLst>
          </p:cNvPr>
          <p:cNvSpPr/>
          <p:nvPr/>
        </p:nvSpPr>
        <p:spPr>
          <a:xfrm>
            <a:off x="7131301" y="3846493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TEC-5600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65E614-80DF-5784-67AD-CC4BFD3A2334}"/>
              </a:ext>
            </a:extLst>
          </p:cNvPr>
          <p:cNvSpPr/>
          <p:nvPr/>
        </p:nvSpPr>
        <p:spPr>
          <a:xfrm>
            <a:off x="8732050" y="3846493"/>
            <a:ext cx="1358034" cy="55416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TEC-8000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1AC0D6A-D9F8-7642-4A04-CF04A61A212C}"/>
              </a:ext>
            </a:extLst>
          </p:cNvPr>
          <p:cNvSpPr/>
          <p:nvPr/>
        </p:nvSpPr>
        <p:spPr>
          <a:xfrm>
            <a:off x="10332799" y="3850584"/>
            <a:ext cx="1358034" cy="554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EMS-1000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D3DCEA-D833-D8D4-7334-146D86AB4BC9}"/>
              </a:ext>
            </a:extLst>
          </p:cNvPr>
          <p:cNvSpPr/>
          <p:nvPr/>
        </p:nvSpPr>
        <p:spPr>
          <a:xfrm>
            <a:off x="7012387" y="3710607"/>
            <a:ext cx="4837415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DAF22A-1D6E-6F62-C5E6-04AE3E7D4C75}"/>
              </a:ext>
            </a:extLst>
          </p:cNvPr>
          <p:cNvSpPr txBox="1"/>
          <p:nvPr/>
        </p:nvSpPr>
        <p:spPr>
          <a:xfrm>
            <a:off x="11203832" y="3373834"/>
            <a:ext cx="66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800" kern="0" dirty="0">
                <a:solidFill>
                  <a:srgbClr val="FF0000"/>
                </a:solidFill>
              </a:rPr>
              <a:t>固定</a:t>
            </a:r>
            <a:endParaRPr lang="en-US" altLang="ja-JP" sz="1800" kern="0" dirty="0">
              <a:solidFill>
                <a:srgbClr val="FF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A60E06C-53F2-9D01-19D1-B9BBAC6FDD51}"/>
              </a:ext>
            </a:extLst>
          </p:cNvPr>
          <p:cNvSpPr/>
          <p:nvPr/>
        </p:nvSpPr>
        <p:spPr>
          <a:xfrm>
            <a:off x="8811149" y="2419686"/>
            <a:ext cx="1358034" cy="554160"/>
          </a:xfrm>
          <a:prstGeom prst="rect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送信機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FAC7E8C-FCCA-F944-C089-B88A6983384E}"/>
              </a:ext>
            </a:extLst>
          </p:cNvPr>
          <p:cNvSpPr txBox="1"/>
          <p:nvPr/>
        </p:nvSpPr>
        <p:spPr>
          <a:xfrm>
            <a:off x="10027191" y="2082082"/>
            <a:ext cx="145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1800" dirty="0">
                <a:solidFill>
                  <a:srgbClr val="0000FF"/>
                </a:solidFill>
              </a:rPr>
              <a:t>カートが不足</a:t>
            </a:r>
            <a:endParaRPr lang="en-US" altLang="ja-JP" sz="1800" dirty="0">
              <a:solidFill>
                <a:srgbClr val="0000FF"/>
              </a:solidFill>
            </a:endParaRPr>
          </a:p>
        </p:txBody>
      </p:sp>
      <p:sp>
        <p:nvSpPr>
          <p:cNvPr id="15" name="矢印: 左右 14">
            <a:extLst>
              <a:ext uri="{FF2B5EF4-FFF2-40B4-BE49-F238E27FC236}">
                <a16:creationId xmlns:a16="http://schemas.microsoft.com/office/drawing/2014/main" id="{3F756357-5A54-CDF9-C6FE-2BB5814928EB}"/>
              </a:ext>
            </a:extLst>
          </p:cNvPr>
          <p:cNvSpPr/>
          <p:nvPr/>
        </p:nvSpPr>
        <p:spPr>
          <a:xfrm>
            <a:off x="8416876" y="3971956"/>
            <a:ext cx="397276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左右 15">
            <a:extLst>
              <a:ext uri="{FF2B5EF4-FFF2-40B4-BE49-F238E27FC236}">
                <a16:creationId xmlns:a16="http://schemas.microsoft.com/office/drawing/2014/main" id="{ADFB8CC9-42C6-E7A7-EB30-A16411B73D59}"/>
              </a:ext>
            </a:extLst>
          </p:cNvPr>
          <p:cNvSpPr/>
          <p:nvPr/>
        </p:nvSpPr>
        <p:spPr>
          <a:xfrm>
            <a:off x="10002199" y="3983307"/>
            <a:ext cx="397276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左右 16">
            <a:extLst>
              <a:ext uri="{FF2B5EF4-FFF2-40B4-BE49-F238E27FC236}">
                <a16:creationId xmlns:a16="http://schemas.microsoft.com/office/drawing/2014/main" id="{7136448E-C271-C1EF-ABB4-9E4016518AA8}"/>
              </a:ext>
            </a:extLst>
          </p:cNvPr>
          <p:cNvSpPr/>
          <p:nvPr/>
        </p:nvSpPr>
        <p:spPr>
          <a:xfrm>
            <a:off x="8390894" y="2563253"/>
            <a:ext cx="397276" cy="3186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75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1~3</a:t>
            </a:r>
            <a:r>
              <a:rPr kumimoji="1" lang="ja-JP" altLang="en-US" dirty="0"/>
              <a:t>月生産品目で</a:t>
            </a:r>
            <a:r>
              <a:rPr lang="ja-JP" altLang="en-US" dirty="0"/>
              <a:t>各生産方式を比較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>
          <a:xfrm>
            <a:off x="519976" y="1844824"/>
            <a:ext cx="1961746" cy="33855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ja-JP" altLang="en-US" sz="1600" dirty="0"/>
              <a:t>･</a:t>
            </a:r>
            <a:r>
              <a:rPr lang="en-US" altLang="ja-JP" sz="1600" dirty="0"/>
              <a:t>3</a:t>
            </a:r>
            <a:r>
              <a:rPr lang="ja-JP" altLang="en-US" sz="1600" dirty="0"/>
              <a:t>勤時の生産方式</a:t>
            </a:r>
            <a:endParaRPr lang="en-US" altLang="ja-JP" sz="1600" dirty="0"/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96E91DA3-1402-AA01-81BD-E7C9BD7BF8C2}"/>
              </a:ext>
            </a:extLst>
          </p:cNvPr>
          <p:cNvSpPr txBox="1">
            <a:spLocks/>
          </p:cNvSpPr>
          <p:nvPr/>
        </p:nvSpPr>
        <p:spPr bwMode="auto">
          <a:xfrm>
            <a:off x="4239141" y="1844824"/>
            <a:ext cx="2866558" cy="6506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ja-JP" altLang="en-US" sz="1600" kern="0" dirty="0"/>
              <a:t>･</a:t>
            </a:r>
            <a:r>
              <a:rPr lang="en-US" altLang="ja-JP" sz="1600" kern="0" dirty="0"/>
              <a:t>AED/TEC-5600/TEC-8000/</a:t>
            </a:r>
          </a:p>
          <a:p>
            <a:pPr marL="0" indent="0">
              <a:buFontTx/>
              <a:buNone/>
            </a:pPr>
            <a:r>
              <a:rPr lang="en-US" altLang="ja-JP" sz="1600" kern="0" dirty="0"/>
              <a:t>  EMS-1000</a:t>
            </a:r>
            <a:r>
              <a:rPr lang="ja-JP" altLang="en-US" sz="1600" kern="0" dirty="0"/>
              <a:t>固定化</a:t>
            </a:r>
            <a:endParaRPr lang="en-US" altLang="ja-JP" sz="1600" kern="0" dirty="0"/>
          </a:p>
        </p:txBody>
      </p:sp>
      <p:sp>
        <p:nvSpPr>
          <p:cNvPr id="6" name="コンテンツ プレースホルダー 4">
            <a:extLst>
              <a:ext uri="{FF2B5EF4-FFF2-40B4-BE49-F238E27FC236}">
                <a16:creationId xmlns:a16="http://schemas.microsoft.com/office/drawing/2014/main" id="{B7A6D3D1-0713-9C40-9C49-82DF0306F8D5}"/>
              </a:ext>
            </a:extLst>
          </p:cNvPr>
          <p:cNvSpPr txBox="1">
            <a:spLocks/>
          </p:cNvSpPr>
          <p:nvPr/>
        </p:nvSpPr>
        <p:spPr bwMode="auto">
          <a:xfrm>
            <a:off x="8171904" y="1844824"/>
            <a:ext cx="3503295" cy="6506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ja-JP" altLang="en-US" sz="1600" kern="0" dirty="0"/>
              <a:t>･</a:t>
            </a:r>
            <a:r>
              <a:rPr lang="en-US" altLang="ja-JP" sz="1600" kern="0" dirty="0"/>
              <a:t>TEC-8000</a:t>
            </a:r>
            <a:r>
              <a:rPr lang="ja-JP" altLang="en-US" sz="1600" kern="0" dirty="0"/>
              <a:t>固定を廃止し</a:t>
            </a:r>
            <a:r>
              <a:rPr lang="en-US" altLang="ja-JP" sz="1600" kern="0" dirty="0"/>
              <a:t>､</a:t>
            </a:r>
          </a:p>
          <a:p>
            <a:pPr marL="0" indent="0">
              <a:buFontTx/>
              <a:buNone/>
            </a:pPr>
            <a:r>
              <a:rPr lang="ja-JP" altLang="en-US" sz="1600" kern="0" dirty="0"/>
              <a:t>  送信機を固定化した現在の生産方式</a:t>
            </a:r>
            <a:endParaRPr lang="en-US" altLang="ja-JP" sz="1600" kern="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9AC84B-2896-2639-4B95-BAF9A7FF952B}"/>
              </a:ext>
            </a:extLst>
          </p:cNvPr>
          <p:cNvSpPr txBox="1"/>
          <p:nvPr/>
        </p:nvSpPr>
        <p:spPr>
          <a:xfrm>
            <a:off x="519975" y="2843189"/>
            <a:ext cx="34173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1600" dirty="0"/>
              <a:t>フリー品目取り付け部品数</a:t>
            </a:r>
            <a:r>
              <a:rPr lang="en-US" altLang="ja-JP" sz="1600" dirty="0"/>
              <a:t>:34,302</a:t>
            </a:r>
            <a:r>
              <a:rPr lang="ja-JP" altLang="en-US" sz="1600" dirty="0"/>
              <a:t>ヶ</a:t>
            </a: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フリー品目段取り替え回数</a:t>
            </a:r>
            <a:r>
              <a:rPr lang="en-US" altLang="ja-JP" sz="1600" dirty="0"/>
              <a:t>:79</a:t>
            </a:r>
            <a:r>
              <a:rPr lang="ja-JP" altLang="en-US" sz="1600" dirty="0"/>
              <a:t>回</a:t>
            </a: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sz="1600" dirty="0"/>
              <a:t>固定品目カート入れ替え回数</a:t>
            </a:r>
            <a:r>
              <a:rPr lang="en-US" altLang="ja-JP" sz="1600" dirty="0"/>
              <a:t>:52</a:t>
            </a:r>
            <a:r>
              <a:rPr lang="ja-JP" altLang="en-US" sz="1600" dirty="0"/>
              <a:t>回</a:t>
            </a:r>
            <a:endParaRPr lang="en-US" altLang="ja-JP" sz="16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5EDA73-344F-E2EB-555E-B88DF2AF6EB9}"/>
              </a:ext>
            </a:extLst>
          </p:cNvPr>
          <p:cNvSpPr txBox="1"/>
          <p:nvPr/>
        </p:nvSpPr>
        <p:spPr>
          <a:xfrm>
            <a:off x="4239142" y="2843189"/>
            <a:ext cx="32986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600" dirty="0"/>
              <a:t>フリー品目</a:t>
            </a:r>
            <a:r>
              <a:rPr lang="ja-JP" altLang="en-US" sz="1600" kern="0" dirty="0"/>
              <a:t>取り付け部品数</a:t>
            </a:r>
            <a:r>
              <a:rPr lang="en-US" altLang="ja-JP" sz="1600" kern="0" dirty="0"/>
              <a:t>:21,604</a:t>
            </a:r>
            <a:r>
              <a:rPr lang="ja-JP" altLang="en-US" sz="1600" kern="0" dirty="0"/>
              <a:t>ヶ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37%</a:t>
            </a:r>
            <a:r>
              <a:rPr lang="ja-JP" altLang="en-US" sz="1600" kern="0" dirty="0">
                <a:solidFill>
                  <a:srgbClr val="FF0000"/>
                </a:solidFill>
              </a:rPr>
              <a:t>削減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ja-JP" altLang="en-US" sz="1600" kern="0" dirty="0"/>
              <a:t>フリー品目段取り替え回数</a:t>
            </a:r>
            <a:r>
              <a:rPr lang="en-US" altLang="ja-JP" sz="1600" kern="0" dirty="0"/>
              <a:t>:57</a:t>
            </a:r>
            <a:r>
              <a:rPr lang="ja-JP" altLang="en-US" sz="1600" kern="0" dirty="0"/>
              <a:t>回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22</a:t>
            </a:r>
            <a:r>
              <a:rPr lang="ja-JP" altLang="en-US" sz="1600" kern="0" dirty="0">
                <a:solidFill>
                  <a:srgbClr val="FF0000"/>
                </a:solidFill>
              </a:rPr>
              <a:t>回分削減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lang="ja-JP" altLang="en-US" sz="1600" kern="0" dirty="0">
                <a:solidFill>
                  <a:srgbClr val="00B0F0"/>
                </a:solidFill>
              </a:rPr>
              <a:t>**</a:t>
            </a:r>
            <a:r>
              <a:rPr lang="en-US" altLang="ja-JP" sz="1600" kern="0" dirty="0">
                <a:solidFill>
                  <a:srgbClr val="00B0F0"/>
                </a:solidFill>
              </a:rPr>
              <a:t>h</a:t>
            </a:r>
            <a:r>
              <a:rPr lang="ja-JP" altLang="en-US" sz="1600" kern="0" dirty="0">
                <a:solidFill>
                  <a:srgbClr val="00B0F0"/>
                </a:solidFill>
              </a:rPr>
              <a:t>分</a:t>
            </a:r>
            <a:endParaRPr lang="en-US" altLang="ja-JP" sz="1600" kern="0" dirty="0">
              <a:solidFill>
                <a:srgbClr val="00B0F0"/>
              </a:solidFill>
            </a:endParaRPr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ja-JP" altLang="en-US" sz="1600" kern="0" dirty="0"/>
              <a:t>固定品目カート入れ替え回数</a:t>
            </a:r>
            <a:r>
              <a:rPr lang="en-US" altLang="ja-JP" sz="1600" kern="0" dirty="0"/>
              <a:t>:38</a:t>
            </a:r>
            <a:r>
              <a:rPr lang="ja-JP" altLang="en-US" sz="1600" kern="0" dirty="0"/>
              <a:t>回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14</a:t>
            </a:r>
            <a:r>
              <a:rPr lang="ja-JP" altLang="en-US" sz="1600" kern="0" dirty="0">
                <a:solidFill>
                  <a:srgbClr val="FF0000"/>
                </a:solidFill>
              </a:rPr>
              <a:t>回分削減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r>
              <a:rPr lang="ja-JP" altLang="en-US" sz="1600" kern="0" dirty="0">
                <a:solidFill>
                  <a:srgbClr val="00B0F0"/>
                </a:solidFill>
              </a:rPr>
              <a:t>**</a:t>
            </a:r>
            <a:r>
              <a:rPr lang="en-US" altLang="ja-JP" sz="1600" kern="0" dirty="0">
                <a:solidFill>
                  <a:srgbClr val="00B0F0"/>
                </a:solidFill>
              </a:rPr>
              <a:t>h</a:t>
            </a:r>
            <a:r>
              <a:rPr lang="ja-JP" altLang="en-US" sz="1600" kern="0" dirty="0">
                <a:solidFill>
                  <a:srgbClr val="00B0F0"/>
                </a:solidFill>
              </a:rPr>
              <a:t>分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endParaRPr lang="ja-JP" altLang="en-US" sz="16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D7E634-C29F-EF78-C3BC-90EC94DC95D8}"/>
              </a:ext>
            </a:extLst>
          </p:cNvPr>
          <p:cNvSpPr txBox="1"/>
          <p:nvPr/>
        </p:nvSpPr>
        <p:spPr>
          <a:xfrm>
            <a:off x="8107355" y="2843189"/>
            <a:ext cx="35032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ja-JP" altLang="en-US" sz="1600" dirty="0"/>
              <a:t>フリー品目</a:t>
            </a:r>
            <a:r>
              <a:rPr lang="ja-JP" altLang="en-US" sz="1600" kern="0" dirty="0"/>
              <a:t>取り付け部品数</a:t>
            </a:r>
            <a:r>
              <a:rPr lang="en-US" altLang="ja-JP" sz="1600" kern="0" dirty="0"/>
              <a:t>:17,394</a:t>
            </a:r>
            <a:r>
              <a:rPr lang="ja-JP" altLang="en-US" sz="1600" kern="0" dirty="0"/>
              <a:t>ヶ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20%</a:t>
            </a:r>
            <a:r>
              <a:rPr lang="ja-JP" altLang="en-US" sz="1600" kern="0" dirty="0">
                <a:solidFill>
                  <a:srgbClr val="FF0000"/>
                </a:solidFill>
              </a:rPr>
              <a:t>削減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ja-JP" altLang="en-US" sz="1600" kern="0" dirty="0"/>
              <a:t>フリー品目段取り替え回数</a:t>
            </a:r>
            <a:r>
              <a:rPr lang="en-US" altLang="ja-JP" sz="1600" kern="0" dirty="0"/>
              <a:t>:54</a:t>
            </a:r>
            <a:r>
              <a:rPr lang="ja-JP" altLang="en-US" sz="1600" kern="0" dirty="0"/>
              <a:t>回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3</a:t>
            </a:r>
            <a:r>
              <a:rPr lang="ja-JP" altLang="en-US" sz="1600" kern="0" dirty="0">
                <a:solidFill>
                  <a:srgbClr val="FF0000"/>
                </a:solidFill>
              </a:rPr>
              <a:t>回分削減</a:t>
            </a:r>
            <a:endParaRPr lang="en-US" altLang="ja-JP" sz="1600" kern="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ja-JP" altLang="en-US" sz="1600" kern="0" dirty="0"/>
              <a:t>固定品目カート入れ替え回数</a:t>
            </a:r>
            <a:r>
              <a:rPr lang="en-US" altLang="ja-JP" sz="1600" kern="0" dirty="0"/>
              <a:t>:24</a:t>
            </a:r>
            <a:r>
              <a:rPr lang="ja-JP" altLang="en-US" sz="1600" kern="0" dirty="0"/>
              <a:t>回</a:t>
            </a:r>
            <a:endParaRPr lang="en-US" altLang="ja-JP" sz="1600" kern="0" dirty="0"/>
          </a:p>
          <a:p>
            <a:pPr marL="0" indent="0">
              <a:buFontTx/>
              <a:buNone/>
            </a:pPr>
            <a:r>
              <a:rPr lang="en-US" altLang="ja-JP" sz="1600" kern="0" dirty="0">
                <a:solidFill>
                  <a:srgbClr val="FF0000"/>
                </a:solidFill>
              </a:rPr>
              <a:t>14</a:t>
            </a:r>
            <a:r>
              <a:rPr lang="ja-JP" altLang="en-US" sz="1600" kern="0" dirty="0">
                <a:solidFill>
                  <a:srgbClr val="FF0000"/>
                </a:solidFill>
              </a:rPr>
              <a:t>回分削減</a:t>
            </a:r>
            <a:endParaRPr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A8C6D8A-93E6-2C25-E021-80A2807D0EA6}"/>
              </a:ext>
            </a:extLst>
          </p:cNvPr>
          <p:cNvSpPr txBox="1"/>
          <p:nvPr/>
        </p:nvSpPr>
        <p:spPr>
          <a:xfrm>
            <a:off x="535080" y="1465960"/>
            <a:ext cx="1946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00B050"/>
                </a:solidFill>
              </a:rPr>
              <a:t>～</a:t>
            </a:r>
            <a:r>
              <a:rPr kumimoji="1" lang="en-US" altLang="ja-JP" sz="1600" dirty="0">
                <a:solidFill>
                  <a:srgbClr val="00B050"/>
                </a:solidFill>
              </a:rPr>
              <a:t>22’ 11/31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9C6765-91FE-0F4B-29E5-6FEE2EA7B2BD}"/>
              </a:ext>
            </a:extLst>
          </p:cNvPr>
          <p:cNvSpPr txBox="1"/>
          <p:nvPr/>
        </p:nvSpPr>
        <p:spPr>
          <a:xfrm>
            <a:off x="4239141" y="1469506"/>
            <a:ext cx="171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B050"/>
                </a:solidFill>
              </a:rPr>
              <a:t>22’ 12/1</a:t>
            </a:r>
            <a:r>
              <a:rPr kumimoji="1" lang="ja-JP" altLang="en-US" sz="1600" dirty="0">
                <a:solidFill>
                  <a:srgbClr val="00B050"/>
                </a:solidFill>
              </a:rPr>
              <a:t>～　実施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CA14CF-9F59-8A80-8016-9BEC9952166F}"/>
              </a:ext>
            </a:extLst>
          </p:cNvPr>
          <p:cNvSpPr txBox="1"/>
          <p:nvPr/>
        </p:nvSpPr>
        <p:spPr>
          <a:xfrm>
            <a:off x="8107355" y="1463815"/>
            <a:ext cx="1806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00B050"/>
                </a:solidFill>
              </a:rPr>
              <a:t>23</a:t>
            </a:r>
            <a:r>
              <a:rPr kumimoji="1" lang="en-US" altLang="ja-JP" sz="1600" dirty="0">
                <a:solidFill>
                  <a:srgbClr val="00B050"/>
                </a:solidFill>
              </a:rPr>
              <a:t>’</a:t>
            </a:r>
            <a:r>
              <a:rPr lang="ja-JP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ja-JP" sz="1600" dirty="0">
                <a:solidFill>
                  <a:srgbClr val="00B050"/>
                </a:solidFill>
              </a:rPr>
              <a:t>2</a:t>
            </a:r>
            <a:r>
              <a:rPr lang="en-US" altLang="ja-JP" sz="1600" dirty="0">
                <a:solidFill>
                  <a:srgbClr val="00B050"/>
                </a:solidFill>
              </a:rPr>
              <a:t>/9</a:t>
            </a:r>
            <a:r>
              <a:rPr lang="ja-JP" altLang="en-US" sz="1600" dirty="0">
                <a:solidFill>
                  <a:srgbClr val="00B050"/>
                </a:solidFill>
              </a:rPr>
              <a:t>～　実施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6F601C24-0013-F476-FC5F-A03C670748F7}"/>
              </a:ext>
            </a:extLst>
          </p:cNvPr>
          <p:cNvSpPr/>
          <p:nvPr/>
        </p:nvSpPr>
        <p:spPr>
          <a:xfrm>
            <a:off x="3793331" y="2060848"/>
            <a:ext cx="445810" cy="3240360"/>
          </a:xfrm>
          <a:prstGeom prst="rightArrow">
            <a:avLst>
              <a:gd name="adj1" fmla="val 50000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6C911016-10BA-4C72-CAFA-311606740A3D}"/>
              </a:ext>
            </a:extLst>
          </p:cNvPr>
          <p:cNvSpPr/>
          <p:nvPr/>
        </p:nvSpPr>
        <p:spPr>
          <a:xfrm>
            <a:off x="7599647" y="2060848"/>
            <a:ext cx="445810" cy="3240360"/>
          </a:xfrm>
          <a:prstGeom prst="rightArrow">
            <a:avLst>
              <a:gd name="adj1" fmla="val 50000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8F1B6-F05D-0858-3340-59F45A84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D6248-3E84-B828-7BE2-6CB786908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308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7C47F-8E5E-96AB-90F6-938B2150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フィーダー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403CEEA-291C-3337-1F07-40361DD60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747059"/>
              </p:ext>
            </p:extLst>
          </p:nvPr>
        </p:nvGraphicFramePr>
        <p:xfrm>
          <a:off x="6313611" y="2276872"/>
          <a:ext cx="4320479" cy="208823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262163">
                  <a:extLst>
                    <a:ext uri="{9D8B030D-6E8A-4147-A177-3AD203B41FA5}">
                      <a16:colId xmlns:a16="http://schemas.microsoft.com/office/drawing/2014/main" val="237333629"/>
                    </a:ext>
                  </a:extLst>
                </a:gridCol>
                <a:gridCol w="614899">
                  <a:extLst>
                    <a:ext uri="{9D8B030D-6E8A-4147-A177-3AD203B41FA5}">
                      <a16:colId xmlns:a16="http://schemas.microsoft.com/office/drawing/2014/main" val="581461909"/>
                    </a:ext>
                  </a:extLst>
                </a:gridCol>
                <a:gridCol w="859242">
                  <a:extLst>
                    <a:ext uri="{9D8B030D-6E8A-4147-A177-3AD203B41FA5}">
                      <a16:colId xmlns:a16="http://schemas.microsoft.com/office/drawing/2014/main" val="1939836710"/>
                    </a:ext>
                  </a:extLst>
                </a:gridCol>
                <a:gridCol w="710370">
                  <a:extLst>
                    <a:ext uri="{9D8B030D-6E8A-4147-A177-3AD203B41FA5}">
                      <a16:colId xmlns:a16="http://schemas.microsoft.com/office/drawing/2014/main" val="3054344118"/>
                    </a:ext>
                  </a:extLst>
                </a:gridCol>
                <a:gridCol w="873805">
                  <a:extLst>
                    <a:ext uri="{9D8B030D-6E8A-4147-A177-3AD203B41FA5}">
                      <a16:colId xmlns:a16="http://schemas.microsoft.com/office/drawing/2014/main" val="2869972261"/>
                    </a:ext>
                  </a:extLst>
                </a:gridCol>
              </a:tblGrid>
              <a:tr h="517104">
                <a:tc>
                  <a:txBody>
                    <a:bodyPr/>
                    <a:lstStyle/>
                    <a:p>
                      <a:pPr algn="l" fontAlgn="ctr"/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8mm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16mm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32mm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56mm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639294"/>
                  </a:ext>
                </a:extLst>
              </a:tr>
              <a:tr h="263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255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76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 dirty="0">
                          <a:effectLst/>
                        </a:rPr>
                        <a:t>16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207976"/>
                  </a:ext>
                </a:extLst>
              </a:tr>
              <a:tr h="263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EMS-1000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277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100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25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11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8368746"/>
                  </a:ext>
                </a:extLst>
              </a:tr>
              <a:tr h="263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TEC-5600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301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125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26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9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7917083"/>
                  </a:ext>
                </a:extLst>
              </a:tr>
              <a:tr h="26350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u="none" strike="noStrike">
                          <a:effectLst/>
                        </a:rPr>
                        <a:t>送信機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337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81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13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3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8508498"/>
                  </a:ext>
                </a:extLst>
              </a:tr>
              <a:tr h="517104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u="none" strike="noStrike">
                          <a:effectLst/>
                        </a:rPr>
                        <a:t>フリー品目用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1022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281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>
                          <a:effectLst/>
                        </a:rPr>
                        <a:t>129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u="none" strike="noStrike" dirty="0">
                          <a:effectLst/>
                        </a:rPr>
                        <a:t>22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617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3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7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7" ma:contentTypeDescription="新しいドキュメントを作成します。" ma:contentTypeScope="" ma:versionID="b2fc8d460d5f316e4716b74a62e9c2e9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ffadc4a4f1fccf6c625c91dfd668804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8F0429-DEEA-4BA2-BF6F-B9675A6B2C6F}"/>
</file>

<file path=customXml/itemProps2.xml><?xml version="1.0" encoding="utf-8"?>
<ds:datastoreItem xmlns:ds="http://schemas.openxmlformats.org/officeDocument/2006/customXml" ds:itemID="{7B3824EC-8B56-4B9F-94FF-98E6269B0266}">
  <ds:schemaRefs>
    <ds:schemaRef ds:uri="http://schemas.microsoft.com/office/2006/metadata/properties"/>
    <ds:schemaRef ds:uri="http://schemas.microsoft.com/office/infopath/2007/PartnerControls"/>
    <ds:schemaRef ds:uri="ea180fb7-6417-4417-bcc2-1a1988547c9d"/>
    <ds:schemaRef ds:uri="a7e61ba0-4c47-4710-ac4c-031e401f92bd"/>
  </ds:schemaRefs>
</ds:datastoreItem>
</file>

<file path=customXml/itemProps3.xml><?xml version="1.0" encoding="utf-8"?>
<ds:datastoreItem xmlns:ds="http://schemas.openxmlformats.org/officeDocument/2006/customXml" ds:itemID="{A551AC98-7992-4474-BD0B-2D295FEDF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2018-05</Template>
  <TotalTime>1614</TotalTime>
  <Words>510</Words>
  <Application>Microsoft Office PowerPoint</Application>
  <PresentationFormat>ユーザー設定</PresentationFormat>
  <Paragraphs>147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Google Sans</vt:lpstr>
      <vt:lpstr>Meiryo UI</vt:lpstr>
      <vt:lpstr>游ゴシック</vt:lpstr>
      <vt:lpstr>Arial</vt:lpstr>
      <vt:lpstr>07</vt:lpstr>
      <vt:lpstr>PowerPoint プレゼンテーション</vt:lpstr>
      <vt:lpstr>3勤時の生産方式</vt:lpstr>
      <vt:lpstr>AED/TEC-5600/TEC-8000/EMS-1000　固定化</vt:lpstr>
      <vt:lpstr>送信機　固定化</vt:lpstr>
      <vt:lpstr>1~3月生産品目で各生産方式を比較</vt:lpstr>
      <vt:lpstr>PowerPoint プレゼンテーション</vt:lpstr>
      <vt:lpstr>フィーダー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</cp:revision>
  <dcterms:created xsi:type="dcterms:W3CDTF">2023-03-14T01:02:20Z</dcterms:created>
  <dcterms:modified xsi:type="dcterms:W3CDTF">2023-03-15T04:26:18Z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