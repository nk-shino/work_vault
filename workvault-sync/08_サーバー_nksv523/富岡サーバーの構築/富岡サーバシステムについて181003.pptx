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13" r:id="rId2"/>
    <p:sldId id="314" r:id="rId3"/>
    <p:sldId id="315" r:id="rId4"/>
    <p:sldId id="316" r:id="rId5"/>
    <p:sldId id="310" r:id="rId6"/>
    <p:sldId id="311" r:id="rId7"/>
    <p:sldId id="312" r:id="rId8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A0C8C8"/>
    <a:srgbClr val="BBE0E3"/>
    <a:srgbClr val="FFFFCC"/>
    <a:srgbClr val="0000FF"/>
    <a:srgbClr val="FFCCFF"/>
    <a:srgbClr val="009900"/>
    <a:srgbClr val="FFCC66"/>
    <a:srgbClr val="B280B0"/>
    <a:srgbClr val="C56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2" autoAdjust="0"/>
    <p:restoredTop sz="88484" autoAdjust="0"/>
  </p:normalViewPr>
  <p:slideViewPr>
    <p:cSldViewPr>
      <p:cViewPr>
        <p:scale>
          <a:sx n="100" d="100"/>
          <a:sy n="100" d="100"/>
        </p:scale>
        <p:origin x="-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3B6EC29E-9641-4C37-87C7-08342DA865C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309940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6EC29E-9641-4C37-87C7-08342DA865C6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8414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6EC29E-9641-4C37-87C7-08342DA865C6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84144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6EC29E-9641-4C37-87C7-08342DA865C6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84144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01_NKstandard-A_01-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95288" y="1700213"/>
            <a:ext cx="8353425" cy="1225550"/>
          </a:xfrm>
        </p:spPr>
        <p:txBody>
          <a:bodyPr/>
          <a:lstStyle>
            <a:lvl1pPr algn="ctr">
              <a:defRPr sz="4800">
                <a:solidFill>
                  <a:srgbClr val="3333CC"/>
                </a:solidFill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5288" y="3213100"/>
            <a:ext cx="8316912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FA6B2-72D5-4EFE-BC13-069A5F8F43A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757FE-F7D9-4C4F-856F-1548F21BD0F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8EEC3-EF44-4D68-9CCF-401D1904E61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1773238"/>
            <a:ext cx="4244975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244975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7D51F-66B9-43BF-9D5F-F8D7B25EF5A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AA848-B7AA-42EB-928E-A7E727A9027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AAB38-DB72-4622-B23B-6903E3205F9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3C7E5-FC90-4A3B-87F8-61E130FE96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89332-1F5F-41B7-A0A6-14CA46B01DC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A14E1-6641-428D-A8E0-4F2B2EDBC13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592D6-2CD2-4E74-9E3F-AC57E9799A6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32588" y="549275"/>
            <a:ext cx="2160587" cy="5832475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549275"/>
            <a:ext cx="6329363" cy="5832475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6ADF1-5A5B-4244-8BBA-6A2E87D117D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01_NKstandard-A_02-Contents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549275"/>
            <a:ext cx="86423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773238"/>
            <a:ext cx="864235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948488" y="65088"/>
            <a:ext cx="21336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7950" y="6524625"/>
            <a:ext cx="31686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16388" y="6524625"/>
            <a:ext cx="9096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666C3027-2A3B-4171-ABC0-5EA484D6526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95288" y="1358770"/>
            <a:ext cx="8353425" cy="1566993"/>
          </a:xfrm>
        </p:spPr>
        <p:txBody>
          <a:bodyPr/>
          <a:lstStyle/>
          <a:p>
            <a:r>
              <a:rPr kumimoji="1" lang="ja-JP" altLang="en-US" dirty="0" smtClean="0"/>
              <a:t>日本光電富岡株式会社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サーバシステムについて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smtClean="0"/>
              <a:t>2018/4/27</a:t>
            </a:r>
          </a:p>
          <a:p>
            <a:r>
              <a:rPr lang="en-US" altLang="ja-JP" dirty="0"/>
              <a:t>J. Igarashi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281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0825" y="548680"/>
            <a:ext cx="8642350" cy="580564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 smtClean="0"/>
              <a:t>はじめに</a:t>
            </a:r>
            <a:endParaRPr kumimoji="1" lang="en-US" altLang="ja-JP" dirty="0" smtClean="0"/>
          </a:p>
          <a:p>
            <a:r>
              <a:rPr kumimoji="1" lang="ja-JP" altLang="en-US" sz="1800" dirty="0" smtClean="0"/>
              <a:t>生産における競争は年々その激しさを増し、生産性・品質の悪い生産は急速に淘汰されてきている。一方、近年の</a:t>
            </a:r>
            <a:r>
              <a:rPr kumimoji="1" lang="en-US" altLang="ja-JP" sz="1800" dirty="0" smtClean="0"/>
              <a:t>IT</a:t>
            </a:r>
            <a:r>
              <a:rPr kumimoji="1" lang="ja-JP" altLang="en-US" sz="1800" dirty="0" smtClean="0"/>
              <a:t>技術の進歩や普及によって、生産現場で収集できる情報を容易にネットワーク化することができるようになり、リアルタイムデータとして、またビッグデータの活用で、</a:t>
            </a:r>
            <a:r>
              <a:rPr lang="ja-JP" altLang="en-US" sz="1800" dirty="0" smtClean="0"/>
              <a:t>現場のニーズに即したツールの</a:t>
            </a:r>
            <a:r>
              <a:rPr lang="ja-JP" altLang="en-US" sz="1800" dirty="0"/>
              <a:t>タイムリーな</a:t>
            </a:r>
            <a:r>
              <a:rPr lang="ja-JP" altLang="en-US" sz="1800" dirty="0" smtClean="0"/>
              <a:t>投入、情報のフィードバックをすることで、生産</a:t>
            </a:r>
            <a:r>
              <a:rPr lang="ja-JP" altLang="en-US" sz="1800" dirty="0"/>
              <a:t>改善活動や</a:t>
            </a:r>
            <a:r>
              <a:rPr lang="ja-JP" altLang="en-US" sz="1800" dirty="0" smtClean="0"/>
              <a:t>品質改善活動に</a:t>
            </a:r>
            <a:r>
              <a:rPr lang="ja-JP" altLang="en-US" sz="1800" dirty="0"/>
              <a:t>大きく寄与する可能性がある</a:t>
            </a:r>
            <a:r>
              <a:rPr lang="ja-JP" altLang="en-US" sz="1800" dirty="0" smtClean="0"/>
              <a:t>。そのためには現場自らがこれら情報を処理し、利用できるスキルを持たなければならない。</a:t>
            </a:r>
            <a:endParaRPr lang="en-US" altLang="ja-JP" sz="1800" dirty="0" smtClean="0"/>
          </a:p>
          <a:p>
            <a:r>
              <a:rPr kumimoji="1" lang="ja-JP" altLang="en-US" sz="1800" dirty="0" smtClean="0"/>
              <a:t>そのため、各部門にこれら活動を行う部署を設置し、これらを実行するための環境として、</a:t>
            </a:r>
            <a:r>
              <a:rPr lang="ja-JP" altLang="en-US" sz="1800" dirty="0" smtClean="0"/>
              <a:t>富岡内で独自管理運営を行う</a:t>
            </a:r>
            <a:r>
              <a:rPr kumimoji="1" lang="ja-JP" altLang="en-US" sz="1800" dirty="0" smtClean="0"/>
              <a:t>サーバシステムを設置することとした。</a:t>
            </a:r>
            <a:endParaRPr kumimoji="1" lang="en-US" altLang="ja-JP" sz="1800" dirty="0" smtClean="0"/>
          </a:p>
          <a:p>
            <a:r>
              <a:rPr kumimoji="1" lang="ja-JP" altLang="en-US" sz="1800" dirty="0" smtClean="0"/>
              <a:t>本システムの利用は生産性改善、品質向上を目的とするものであり、汎用の事務処理のためのデータ保存を目的とするものではない。</a:t>
            </a:r>
            <a:r>
              <a:rPr kumimoji="1" lang="en-US" altLang="ja-JP" sz="1800" dirty="0" smtClean="0"/>
              <a:t/>
            </a:r>
            <a:br>
              <a:rPr kumimoji="1" lang="en-US" altLang="ja-JP" sz="1800" dirty="0" smtClean="0"/>
            </a:br>
            <a:r>
              <a:rPr kumimoji="1" lang="ja-JP" altLang="en-US" sz="1800" dirty="0" smtClean="0"/>
              <a:t>また、本サーバは、データの真正性、堅牢性（改ざんされない能力）等の保証はないので、</a:t>
            </a:r>
            <a:r>
              <a:rPr lang="en-US" altLang="ja-JP" sz="1800" dirty="0" smtClean="0"/>
              <a:t>DMR</a:t>
            </a:r>
            <a:r>
              <a:rPr lang="ja-JP" altLang="en-US" sz="1800" dirty="0" smtClean="0"/>
              <a:t>や</a:t>
            </a:r>
            <a:r>
              <a:rPr lang="en-US" altLang="ja-JP" sz="1800" dirty="0" smtClean="0"/>
              <a:t>DHR</a:t>
            </a:r>
            <a:r>
              <a:rPr lang="ja-JP" altLang="en-US" sz="1800" dirty="0" smtClean="0"/>
              <a:t>等の原本を保存する</a:t>
            </a:r>
            <a:r>
              <a:rPr lang="ja-JP" altLang="en-US" sz="1800" dirty="0"/>
              <a:t>目的</a:t>
            </a:r>
            <a:r>
              <a:rPr lang="ja-JP" altLang="en-US" sz="1800" dirty="0" smtClean="0"/>
              <a:t>で使用してはいけない。（同内容のデータを保存し、利用することは妨げない。）</a:t>
            </a:r>
            <a:endParaRPr lang="en-US" altLang="ja-JP" sz="1800" dirty="0" smtClean="0"/>
          </a:p>
          <a:p>
            <a:r>
              <a:rPr lang="ja-JP" altLang="en-US" sz="1800" dirty="0" smtClean="0"/>
              <a:t>本システムの環境は“善良なる市民”の利用を前提にしているが、悪意や故意、過失に関わらず、万一本システムに障害が発生した場合、</a:t>
            </a:r>
            <a:r>
              <a:rPr lang="en-US" altLang="ja-JP" sz="1800" dirty="0" smtClean="0"/>
              <a:t>NK</a:t>
            </a:r>
            <a:r>
              <a:rPr lang="ja-JP" altLang="en-US" sz="1800" dirty="0" smtClean="0"/>
              <a:t>の全システムに波及しないような対策を講ずることは必須である。</a:t>
            </a:r>
            <a:endParaRPr lang="en-US" altLang="ja-JP" sz="1800" dirty="0" smtClean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84394" y="23664"/>
            <a:ext cx="5307886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ctr" hangingPunct="0"/>
            <a:r>
              <a:rPr lang="ja-JP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サーバシステムの設置コンセプト</a:t>
            </a:r>
            <a:endParaRPr lang="ja-JP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950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0825" y="548680"/>
            <a:ext cx="8642350" cy="580564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 smtClean="0"/>
              <a:t>基本構成</a:t>
            </a:r>
            <a:endParaRPr kumimoji="1" lang="en-US" altLang="ja-JP" dirty="0" smtClean="0"/>
          </a:p>
          <a:p>
            <a:r>
              <a:rPr lang="ja-JP" altLang="en-US" sz="1800" dirty="0" smtClean="0"/>
              <a:t>サーバのハードウエアは、業統が除却処分するシステム</a:t>
            </a:r>
            <a:r>
              <a:rPr lang="ja-JP" altLang="en-US" sz="1800" dirty="0"/>
              <a:t>製品</a:t>
            </a:r>
            <a:r>
              <a:rPr lang="ja-JP" altLang="en-US" sz="1800" dirty="0" smtClean="0"/>
              <a:t>のうちで利用できるもの（サーバ本体</a:t>
            </a:r>
            <a:r>
              <a:rPr lang="en-US" altLang="ja-JP" sz="1800" dirty="0" smtClean="0"/>
              <a:t>…</a:t>
            </a:r>
            <a:r>
              <a:rPr lang="en-US" altLang="ja-JP" sz="1800" dirty="0"/>
              <a:t> WindowsOS </a:t>
            </a:r>
            <a:r>
              <a:rPr lang="ja-JP" altLang="en-US" sz="1800" dirty="0" smtClean="0"/>
              <a:t>付き、</a:t>
            </a:r>
            <a:r>
              <a:rPr lang="en-US" altLang="ja-JP" sz="1800" dirty="0" smtClean="0"/>
              <a:t>UPS</a:t>
            </a:r>
            <a:r>
              <a:rPr lang="ja-JP" altLang="en-US" sz="1800" dirty="0" smtClean="0"/>
              <a:t>等）を購入し構築している。また、サーバラックは“みらい”移転時に残置されていたものに特注金具を製作し、サーバのラックレールを取り付けられるよう改造した。</a:t>
            </a:r>
            <a:r>
              <a:rPr lang="en-US" altLang="ja-JP" sz="1800" dirty="0" smtClean="0"/>
              <a:t>KVM</a:t>
            </a:r>
            <a:r>
              <a:rPr lang="ja-JP" altLang="en-US" sz="1800" dirty="0" smtClean="0"/>
              <a:t>スイッチは市販品を購入した。</a:t>
            </a:r>
            <a:endParaRPr lang="en-US" altLang="ja-JP" sz="1800" dirty="0" smtClean="0"/>
          </a:p>
          <a:p>
            <a:r>
              <a:rPr lang="ja-JP" altLang="en-US" sz="1800" dirty="0" smtClean="0"/>
              <a:t>ソフトウエア環境は、維持費用や堅牢性、動作環境の軽さなどから</a:t>
            </a:r>
            <a:r>
              <a:rPr lang="en-US" altLang="ja-JP" sz="1800" dirty="0" smtClean="0"/>
              <a:t>Linux</a:t>
            </a:r>
            <a:r>
              <a:rPr lang="ja-JP" altLang="en-US" sz="1800" dirty="0" smtClean="0"/>
              <a:t> （</a:t>
            </a:r>
            <a:r>
              <a:rPr lang="en-US" altLang="ja-JP" sz="1800" dirty="0" smtClean="0"/>
              <a:t>Ubuntu</a:t>
            </a:r>
            <a:r>
              <a:rPr lang="ja-JP" altLang="en-US" sz="1800" dirty="0" smtClean="0"/>
              <a:t> </a:t>
            </a:r>
            <a:r>
              <a:rPr lang="en-US" altLang="ja-JP" sz="1800" dirty="0" smtClean="0"/>
              <a:t>16.04LTS</a:t>
            </a:r>
            <a:r>
              <a:rPr lang="ja-JP" altLang="en-US" sz="1800" dirty="0" smtClean="0"/>
              <a:t> ）による</a:t>
            </a:r>
            <a:r>
              <a:rPr lang="en-US" altLang="ja-JP" sz="1800" dirty="0" smtClean="0"/>
              <a:t>LAMP</a:t>
            </a:r>
            <a:r>
              <a:rPr lang="ja-JP" altLang="en-US" sz="1800" dirty="0" smtClean="0"/>
              <a:t>（</a:t>
            </a:r>
            <a:r>
              <a:rPr lang="en-US" altLang="ja-JP" sz="1800" dirty="0" smtClean="0"/>
              <a:t>Linux-Apache-MySQL-Perl/</a:t>
            </a:r>
            <a:r>
              <a:rPr lang="en-US" altLang="ja-JP" sz="1800" dirty="0" err="1" smtClean="0"/>
              <a:t>php</a:t>
            </a:r>
            <a:r>
              <a:rPr lang="ja-JP" altLang="en-US" sz="1800" dirty="0" smtClean="0"/>
              <a:t>）環境で行うこととし、一部ソフトウエアの動作利便性も考えて</a:t>
            </a:r>
            <a:r>
              <a:rPr lang="en-US" altLang="ja-JP" sz="1800" dirty="0" smtClean="0"/>
              <a:t>Windows</a:t>
            </a:r>
            <a:r>
              <a:rPr lang="ja-JP" altLang="en-US" sz="1800" dirty="0" smtClean="0"/>
              <a:t>環境も残す。ただし、サーバ購入時に付属した</a:t>
            </a:r>
            <a:r>
              <a:rPr lang="en-US" altLang="ja-JP" sz="1800" dirty="0" smtClean="0"/>
              <a:t>OS</a:t>
            </a:r>
            <a:r>
              <a:rPr lang="ja-JP" altLang="en-US" sz="1800" dirty="0" smtClean="0"/>
              <a:t>は</a:t>
            </a:r>
            <a:r>
              <a:rPr lang="en-US" altLang="ja-JP" sz="1800" dirty="0" smtClean="0"/>
              <a:t>WindowsServer2008R2</a:t>
            </a:r>
            <a:r>
              <a:rPr lang="ja-JP" altLang="en-US" sz="1800" dirty="0"/>
              <a:t>なので</a:t>
            </a:r>
            <a:r>
              <a:rPr lang="ja-JP" altLang="en-US" sz="1800" dirty="0" smtClean="0"/>
              <a:t>、間もなくサポート期間が終了する。</a:t>
            </a:r>
            <a:r>
              <a:rPr lang="en-US" altLang="ja-JP" sz="1800" dirty="0" smtClean="0"/>
              <a:t/>
            </a:r>
            <a:br>
              <a:rPr lang="en-US" altLang="ja-JP" sz="1800" dirty="0" smtClean="0"/>
            </a:br>
            <a:r>
              <a:rPr lang="en-US" altLang="ja-JP" sz="1800" dirty="0" smtClean="0"/>
              <a:t>Windows</a:t>
            </a:r>
            <a:r>
              <a:rPr lang="ja-JP" altLang="en-US" sz="1800" dirty="0" smtClean="0"/>
              <a:t>環境は主にアプリや仮想リモートプリンタとしての実行であり、</a:t>
            </a:r>
            <a:r>
              <a:rPr lang="en-US" altLang="ja-JP" sz="1800" dirty="0" smtClean="0"/>
              <a:t>IIS</a:t>
            </a:r>
            <a:r>
              <a:rPr lang="ja-JP" altLang="en-US" sz="1800" dirty="0" smtClean="0"/>
              <a:t>サーバ、</a:t>
            </a:r>
            <a:r>
              <a:rPr lang="en-US" altLang="ja-JP" sz="1800" dirty="0" smtClean="0"/>
              <a:t>DB</a:t>
            </a:r>
            <a:r>
              <a:rPr lang="ja-JP" altLang="en-US" sz="1800" dirty="0" err="1" smtClean="0"/>
              <a:t>、</a:t>
            </a:r>
            <a:r>
              <a:rPr lang="ja-JP" altLang="en-US" sz="1800" dirty="0" smtClean="0"/>
              <a:t>仮想マシンの利用ではないので、サポート期間終了を機に</a:t>
            </a:r>
            <a:r>
              <a:rPr lang="en-US" altLang="ja-JP" sz="1800" dirty="0" smtClean="0"/>
              <a:t>Windows</a:t>
            </a:r>
            <a:r>
              <a:rPr lang="ja-JP" altLang="en-US" sz="1800" dirty="0" smtClean="0"/>
              <a:t> </a:t>
            </a:r>
            <a:r>
              <a:rPr lang="en-US" altLang="ja-JP" sz="1800" dirty="0" smtClean="0"/>
              <a:t>10</a:t>
            </a:r>
            <a:r>
              <a:rPr lang="ja-JP" altLang="en-US" sz="1800" dirty="0" smtClean="0"/>
              <a:t> </a:t>
            </a:r>
            <a:r>
              <a:rPr lang="en-US" altLang="ja-JP" sz="1800" dirty="0" smtClean="0"/>
              <a:t>Pro</a:t>
            </a:r>
            <a:r>
              <a:rPr lang="ja-JP" altLang="en-US" sz="1800" dirty="0" smtClean="0"/>
              <a:t> への移行も１つの選択肢として考える。</a:t>
            </a:r>
            <a:endParaRPr lang="en-US" altLang="ja-JP" sz="1800" dirty="0" smtClean="0"/>
          </a:p>
          <a:p>
            <a:r>
              <a:rPr lang="ja-JP" altLang="en-US" sz="1800" dirty="0" smtClean="0"/>
              <a:t>クライアントとのインタフェースは、</a:t>
            </a:r>
            <a:r>
              <a:rPr lang="en-US" altLang="ja-JP" sz="1800" dirty="0" smtClean="0"/>
              <a:t>web</a:t>
            </a:r>
            <a:r>
              <a:rPr lang="ja-JP" altLang="en-US" sz="1800" dirty="0" smtClean="0"/>
              <a:t>サービスを窓口として、共有フォルダによるデータ交換、仮想リモートプリンタによる印刷イメージ、</a:t>
            </a:r>
            <a:r>
              <a:rPr lang="en-US" altLang="ja-JP" sz="1800" dirty="0" smtClean="0"/>
              <a:t>pdf</a:t>
            </a:r>
            <a:r>
              <a:rPr lang="ja-JP" altLang="en-US" sz="1800" dirty="0" smtClean="0"/>
              <a:t>によるテキスト抽出等によるものを第一選択とする。</a:t>
            </a:r>
            <a:r>
              <a:rPr lang="en-US" altLang="ja-JP" sz="1800" dirty="0" smtClean="0"/>
              <a:t/>
            </a:r>
            <a:br>
              <a:rPr lang="en-US" altLang="ja-JP" sz="1800" dirty="0" smtClean="0"/>
            </a:br>
            <a:r>
              <a:rPr lang="en-US" altLang="ja-JP" sz="1800" dirty="0" smtClean="0"/>
              <a:t>Windows</a:t>
            </a:r>
            <a:r>
              <a:rPr lang="ja-JP" altLang="en-US" sz="1800" dirty="0" smtClean="0"/>
              <a:t>環境で動作するアプリケーションは、これらに対する処理のみを行い、直接クライアントとインタフェースすることは想定しない。</a:t>
            </a:r>
            <a:endParaRPr lang="en-US" altLang="ja-JP" sz="1800" dirty="0" smtClean="0"/>
          </a:p>
          <a:p>
            <a:endParaRPr lang="en-US" altLang="ja-JP" sz="1800" dirty="0" smtClean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84394" y="23664"/>
            <a:ext cx="5307886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ctr" hangingPunct="0"/>
            <a:r>
              <a:rPr lang="ja-JP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サーバシステムの設置コンセプト</a:t>
            </a:r>
            <a:endParaRPr lang="ja-JP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3272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2872864" y="23664"/>
            <a:ext cx="3130946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ctr" hangingPunct="0"/>
            <a:r>
              <a:rPr lang="ja-JP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サーバラックの構成</a:t>
            </a:r>
            <a:endParaRPr lang="ja-JP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0824" y="548681"/>
            <a:ext cx="8641655" cy="810090"/>
          </a:xfrm>
        </p:spPr>
        <p:txBody>
          <a:bodyPr/>
          <a:lstStyle/>
          <a:p>
            <a:r>
              <a:rPr lang="ja-JP" altLang="en-US" sz="1800" dirty="0"/>
              <a:t>計</a:t>
            </a:r>
            <a:r>
              <a:rPr lang="en-US" altLang="ja-JP" sz="1800" dirty="0"/>
              <a:t>6</a:t>
            </a:r>
            <a:r>
              <a:rPr lang="ja-JP" altLang="en-US" sz="1800" dirty="0"/>
              <a:t>台の</a:t>
            </a:r>
            <a:r>
              <a:rPr lang="ja-JP" altLang="en-US" sz="1800" dirty="0" smtClean="0"/>
              <a:t>サーバがサーバラックに収容されていて、いずれも</a:t>
            </a:r>
            <a:r>
              <a:rPr lang="en-US" altLang="ja-JP" sz="1800" dirty="0" smtClean="0"/>
              <a:t>NK</a:t>
            </a:r>
            <a:r>
              <a:rPr lang="ja-JP" altLang="en-US" sz="1800" dirty="0"/>
              <a:t>ネットワーク</a:t>
            </a:r>
            <a:r>
              <a:rPr lang="ja-JP" altLang="en-US" sz="1800" dirty="0" smtClean="0"/>
              <a:t>の富岡側の基幹スイッチに接続されている。</a:t>
            </a:r>
            <a:endParaRPr lang="en-US" altLang="ja-JP" sz="1800" dirty="0" smtClean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919867" y="1350550"/>
            <a:ext cx="6939451" cy="4848720"/>
            <a:chOff x="1682999" y="1460600"/>
            <a:chExt cx="6939451" cy="4848720"/>
          </a:xfrm>
        </p:grpSpPr>
        <p:sp>
          <p:nvSpPr>
            <p:cNvPr id="2" name="正方形/長方形 1"/>
            <p:cNvSpPr/>
            <p:nvPr/>
          </p:nvSpPr>
          <p:spPr>
            <a:xfrm>
              <a:off x="1682999" y="1460600"/>
              <a:ext cx="2250250" cy="4848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1761955" y="6072495"/>
              <a:ext cx="2089965" cy="1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UPS</a:t>
              </a:r>
              <a:endParaRPr kumimoji="1" lang="ja-JP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1761955" y="5859290"/>
              <a:ext cx="2089965" cy="1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UPS</a:t>
              </a:r>
              <a:endParaRPr kumimoji="1" lang="ja-JP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1761955" y="5634265"/>
              <a:ext cx="2089965" cy="1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UPS</a:t>
              </a:r>
              <a:endParaRPr kumimoji="1" lang="ja-JP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4" name="グループ化 3"/>
            <p:cNvGrpSpPr/>
            <p:nvPr/>
          </p:nvGrpSpPr>
          <p:grpSpPr>
            <a:xfrm>
              <a:off x="1761955" y="2078851"/>
              <a:ext cx="6860495" cy="270030"/>
              <a:chOff x="681835" y="2078851"/>
              <a:chExt cx="6860495" cy="270030"/>
            </a:xfrm>
          </p:grpSpPr>
          <p:sp>
            <p:nvSpPr>
              <p:cNvPr id="14" name="正方形/長方形 13"/>
              <p:cNvSpPr/>
              <p:nvPr/>
            </p:nvSpPr>
            <p:spPr>
              <a:xfrm>
                <a:off x="681835" y="2078851"/>
                <a:ext cx="2089965" cy="270030"/>
              </a:xfrm>
              <a:prstGeom prst="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nksv559</a:t>
                </a:r>
                <a:endParaRPr kumimoji="1" lang="ja-JP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" name="線吹き出し 1 2"/>
              <p:cNvSpPr/>
              <p:nvPr/>
            </p:nvSpPr>
            <p:spPr>
              <a:xfrm>
                <a:off x="3162320" y="2101352"/>
                <a:ext cx="4380010" cy="247528"/>
              </a:xfrm>
              <a:prstGeom prst="callout1">
                <a:avLst>
                  <a:gd name="adj1" fmla="val 52612"/>
                  <a:gd name="adj2" fmla="val -290"/>
                  <a:gd name="adj3" fmla="val 52342"/>
                  <a:gd name="adj4" fmla="val -8915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172.25.201.11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（川本 </a:t>
                </a:r>
                <a:r>
                  <a:rPr kumimoji="1" lang="en-US" altLang="ja-JP" sz="12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-Reporter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用、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Windows Server 2008R2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）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グループ化 4"/>
            <p:cNvGrpSpPr/>
            <p:nvPr/>
          </p:nvGrpSpPr>
          <p:grpSpPr>
            <a:xfrm>
              <a:off x="1761955" y="2438889"/>
              <a:ext cx="6860495" cy="576000"/>
              <a:chOff x="1761955" y="2438889"/>
              <a:chExt cx="6860495" cy="576000"/>
            </a:xfrm>
          </p:grpSpPr>
          <p:sp>
            <p:nvSpPr>
              <p:cNvPr id="15" name="正方形/長方形 14"/>
              <p:cNvSpPr/>
              <p:nvPr/>
            </p:nvSpPr>
            <p:spPr>
              <a:xfrm>
                <a:off x="1761955" y="2438889"/>
                <a:ext cx="2089965" cy="576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nksv560</a:t>
                </a:r>
                <a:endParaRPr kumimoji="1" lang="ja-JP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線吹き出し 1 25"/>
              <p:cNvSpPr/>
              <p:nvPr/>
            </p:nvSpPr>
            <p:spPr>
              <a:xfrm>
                <a:off x="4242440" y="2494978"/>
                <a:ext cx="4380010" cy="393961"/>
              </a:xfrm>
              <a:prstGeom prst="callout1">
                <a:avLst>
                  <a:gd name="adj1" fmla="val 52612"/>
                  <a:gd name="adj2" fmla="val -290"/>
                  <a:gd name="adj3" fmla="val 53290"/>
                  <a:gd name="adj4" fmla="val -9004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172.25.201.12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（富岡共通用、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Ubuntu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16.04LTS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）／</a:t>
                </a:r>
                <a:endParaRPr kumimoji="1" lang="en-US" altLang="ja-JP" sz="12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ja-JP" sz="1200" dirty="0" smtClean="0">
                    <a:solidFill>
                      <a:schemeClr val="tx1"/>
                    </a:solidFill>
                  </a:rPr>
                  <a:t>210.233.120.151  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nktomioka.nkc.co.jp (https</a:t>
                </a:r>
                <a:r>
                  <a:rPr lang="ja-JP" altLang="en-US" sz="1200" dirty="0" smtClean="0">
                    <a:solidFill>
                      <a:schemeClr val="tx1"/>
                    </a:solidFill>
                  </a:rPr>
                  <a:t>で社外公開）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グループ化 5"/>
            <p:cNvGrpSpPr/>
            <p:nvPr/>
          </p:nvGrpSpPr>
          <p:grpSpPr>
            <a:xfrm>
              <a:off x="1761955" y="3080210"/>
              <a:ext cx="6860495" cy="576000"/>
              <a:chOff x="1761955" y="3080210"/>
              <a:chExt cx="6860495" cy="576000"/>
            </a:xfrm>
          </p:grpSpPr>
          <p:sp>
            <p:nvSpPr>
              <p:cNvPr id="16" name="正方形/長方形 15"/>
              <p:cNvSpPr/>
              <p:nvPr/>
            </p:nvSpPr>
            <p:spPr>
              <a:xfrm>
                <a:off x="1761955" y="3080210"/>
                <a:ext cx="2089965" cy="576000"/>
              </a:xfrm>
              <a:prstGeom prst="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nksv561</a:t>
                </a:r>
                <a:endParaRPr kumimoji="1" lang="ja-JP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線吹き出し 1 27"/>
              <p:cNvSpPr/>
              <p:nvPr/>
            </p:nvSpPr>
            <p:spPr>
              <a:xfrm>
                <a:off x="4242440" y="3171229"/>
                <a:ext cx="4380010" cy="393961"/>
              </a:xfrm>
              <a:prstGeom prst="callout1">
                <a:avLst>
                  <a:gd name="adj1" fmla="val 52612"/>
                  <a:gd name="adj2" fmla="val -290"/>
                  <a:gd name="adj3" fmla="val 53290"/>
                  <a:gd name="adj4" fmla="val -9004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172.25.201.13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（富岡アプリ用、</a:t>
                </a:r>
                <a:r>
                  <a:rPr lang="en-US" altLang="ja-JP" sz="1200" dirty="0">
                    <a:solidFill>
                      <a:schemeClr val="tx1"/>
                    </a:solidFill>
                  </a:rPr>
                  <a:t> Windows Server 2008R2 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）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グループ化 6"/>
            <p:cNvGrpSpPr/>
            <p:nvPr/>
          </p:nvGrpSpPr>
          <p:grpSpPr>
            <a:xfrm>
              <a:off x="1761955" y="3721531"/>
              <a:ext cx="6860495" cy="576000"/>
              <a:chOff x="1761955" y="3721531"/>
              <a:chExt cx="6860495" cy="576000"/>
            </a:xfrm>
          </p:grpSpPr>
          <p:sp>
            <p:nvSpPr>
              <p:cNvPr id="17" name="正方形/長方形 16"/>
              <p:cNvSpPr/>
              <p:nvPr/>
            </p:nvSpPr>
            <p:spPr>
              <a:xfrm>
                <a:off x="1761955" y="3721531"/>
                <a:ext cx="2089965" cy="576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nksv567</a:t>
                </a:r>
                <a:endParaRPr kumimoji="1" lang="ja-JP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線吹き出し 1 28"/>
              <p:cNvSpPr/>
              <p:nvPr/>
            </p:nvSpPr>
            <p:spPr>
              <a:xfrm>
                <a:off x="4242440" y="3812550"/>
                <a:ext cx="4380010" cy="393961"/>
              </a:xfrm>
              <a:prstGeom prst="callout1">
                <a:avLst>
                  <a:gd name="adj1" fmla="val 52612"/>
                  <a:gd name="adj2" fmla="val -290"/>
                  <a:gd name="adj3" fmla="val 53290"/>
                  <a:gd name="adj4" fmla="val -9004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172.25.201.14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（富岡</a:t>
                </a:r>
                <a:r>
                  <a:rPr lang="ja-JP" altLang="en-US" sz="1200" dirty="0">
                    <a:solidFill>
                      <a:schemeClr val="tx1"/>
                    </a:solidFill>
                  </a:rPr>
                  <a:t>生産</a:t>
                </a:r>
                <a:r>
                  <a:rPr lang="ja-JP" altLang="en-US" sz="1200" dirty="0" smtClean="0">
                    <a:solidFill>
                      <a:schemeClr val="tx1"/>
                    </a:solidFill>
                  </a:rPr>
                  <a:t>技術用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、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Ubuntu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16.04LTS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）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1761955" y="4362852"/>
              <a:ext cx="6860495" cy="576000"/>
              <a:chOff x="1761955" y="4362852"/>
              <a:chExt cx="6860495" cy="576000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761955" y="4362852"/>
                <a:ext cx="2089965" cy="576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nksv568</a:t>
                </a:r>
                <a:endParaRPr kumimoji="1" lang="ja-JP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線吹き出し 1 29"/>
              <p:cNvSpPr/>
              <p:nvPr/>
            </p:nvSpPr>
            <p:spPr>
              <a:xfrm>
                <a:off x="4242440" y="4453871"/>
                <a:ext cx="4380010" cy="393961"/>
              </a:xfrm>
              <a:prstGeom prst="callout1">
                <a:avLst>
                  <a:gd name="adj1" fmla="val 52612"/>
                  <a:gd name="adj2" fmla="val -290"/>
                  <a:gd name="adj3" fmla="val 53290"/>
                  <a:gd name="adj4" fmla="val -9004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172.25.201.15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（川本共通用、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Ubuntu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16.04LTS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）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グループ化 8"/>
            <p:cNvGrpSpPr/>
            <p:nvPr/>
          </p:nvGrpSpPr>
          <p:grpSpPr>
            <a:xfrm>
              <a:off x="1761955" y="5004175"/>
              <a:ext cx="6860495" cy="576000"/>
              <a:chOff x="1761955" y="5004175"/>
              <a:chExt cx="6860495" cy="576000"/>
            </a:xfrm>
          </p:grpSpPr>
          <p:sp>
            <p:nvSpPr>
              <p:cNvPr id="22" name="正方形/長方形 21"/>
              <p:cNvSpPr/>
              <p:nvPr/>
            </p:nvSpPr>
            <p:spPr>
              <a:xfrm>
                <a:off x="1761955" y="5004175"/>
                <a:ext cx="2089965" cy="576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nksv569</a:t>
                </a:r>
                <a:endParaRPr kumimoji="1" lang="ja-JP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線吹き出し 1 30"/>
              <p:cNvSpPr/>
              <p:nvPr/>
            </p:nvSpPr>
            <p:spPr>
              <a:xfrm>
                <a:off x="4242440" y="5095194"/>
                <a:ext cx="4380010" cy="393961"/>
              </a:xfrm>
              <a:prstGeom prst="callout1">
                <a:avLst>
                  <a:gd name="adj1" fmla="val 52612"/>
                  <a:gd name="adj2" fmla="val -290"/>
                  <a:gd name="adj3" fmla="val 53290"/>
                  <a:gd name="adj4" fmla="val -9004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172.25.201.16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（富岡</a:t>
                </a:r>
                <a:r>
                  <a:rPr lang="ja-JP" altLang="en-US" sz="1200" dirty="0" smtClean="0">
                    <a:solidFill>
                      <a:schemeClr val="tx1"/>
                    </a:solidFill>
                  </a:rPr>
                  <a:t>テスト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用、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Ubuntu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sz="1200" dirty="0" smtClean="0">
                    <a:solidFill>
                      <a:schemeClr val="tx1"/>
                    </a:solidFill>
                  </a:rPr>
                  <a:t>16.04LTS</a:t>
                </a:r>
                <a:r>
                  <a:rPr kumimoji="1" lang="ja-JP" altLang="en-US" sz="1200" dirty="0" smtClean="0">
                    <a:solidFill>
                      <a:schemeClr val="tx1"/>
                    </a:solidFill>
                  </a:rPr>
                  <a:t>）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066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2872864" y="23664"/>
            <a:ext cx="3130946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ctr" hangingPunct="0"/>
            <a:r>
              <a:rPr lang="ja-JP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サーバシステム構造</a:t>
            </a:r>
            <a:endParaRPr lang="ja-JP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8" name="正方形/長方形 67"/>
          <p:cNvSpPr/>
          <p:nvPr/>
        </p:nvSpPr>
        <p:spPr>
          <a:xfrm>
            <a:off x="5071095" y="818711"/>
            <a:ext cx="3645405" cy="4185463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　　　　　　</a:t>
            </a:r>
            <a:r>
              <a:rPr lang="en-US" altLang="ja-JP" dirty="0" smtClean="0"/>
              <a:t>&lt;</a:t>
            </a:r>
            <a:r>
              <a:rPr lang="ja-JP" altLang="en-US" dirty="0" smtClean="0"/>
              <a:t>ｻｰﾊﾞｰ</a:t>
            </a:r>
            <a:r>
              <a:rPr lang="en-US" altLang="ja-JP" dirty="0" smtClean="0"/>
              <a:t>&gt;</a:t>
            </a:r>
          </a:p>
          <a:p>
            <a:pPr algn="l"/>
            <a:r>
              <a:rPr lang="en-US" altLang="ja-JP" dirty="0" err="1" smtClean="0"/>
              <a:t>DataBase</a:t>
            </a:r>
            <a:r>
              <a:rPr lang="ja-JP" altLang="en-US" dirty="0" smtClean="0"/>
              <a:t>ｻｰﾊﾞｰ（ｻｰﾊﾞ本体）</a:t>
            </a:r>
            <a:endParaRPr lang="en-US" altLang="ja-JP" dirty="0" smtClean="0"/>
          </a:p>
          <a:p>
            <a:pPr algn="l"/>
            <a:r>
              <a:rPr lang="ja-JP" altLang="en-US" dirty="0" smtClean="0"/>
              <a:t>事務棟</a:t>
            </a:r>
            <a:r>
              <a:rPr lang="en-US" altLang="ja-JP" dirty="0" smtClean="0"/>
              <a:t>2</a:t>
            </a:r>
            <a:r>
              <a:rPr lang="ja-JP" altLang="en-US" dirty="0" smtClean="0"/>
              <a:t>階</a:t>
            </a:r>
            <a:r>
              <a:rPr lang="ja-JP" altLang="en-US" dirty="0" smtClean="0"/>
              <a:t>に</a:t>
            </a:r>
            <a:r>
              <a:rPr lang="en-US" altLang="ja-JP" dirty="0" smtClean="0"/>
              <a:t>6</a:t>
            </a:r>
            <a:r>
              <a:rPr lang="ja-JP" altLang="en-US" dirty="0" smtClean="0"/>
              <a:t>台</a:t>
            </a:r>
            <a:r>
              <a:rPr lang="ja-JP" altLang="en-US" dirty="0" smtClean="0"/>
              <a:t>設置されている。</a:t>
            </a:r>
            <a:r>
              <a:rPr lang="en-US" altLang="ja-JP" dirty="0" smtClean="0"/>
              <a:t>nksv559</a:t>
            </a:r>
            <a:r>
              <a:rPr lang="ja-JP" altLang="en-US" dirty="0" smtClean="0"/>
              <a:t>～</a:t>
            </a:r>
            <a:r>
              <a:rPr lang="en-US" altLang="ja-JP" dirty="0" smtClean="0"/>
              <a:t>nksv569</a:t>
            </a:r>
          </a:p>
          <a:p>
            <a:pPr algn="l"/>
            <a:r>
              <a:rPr lang="en-US" altLang="ja-JP" dirty="0" smtClean="0"/>
              <a:t>Windows:nksv559,561</a:t>
            </a:r>
          </a:p>
          <a:p>
            <a:pPr algn="l"/>
            <a:r>
              <a:rPr lang="en-US" altLang="ja-JP" dirty="0" smtClean="0"/>
              <a:t>Linux</a:t>
            </a:r>
            <a:r>
              <a:rPr lang="ja-JP" altLang="en-US" dirty="0" smtClean="0"/>
              <a:t>：</a:t>
            </a:r>
            <a:r>
              <a:rPr lang="en-US" altLang="ja-JP" dirty="0" smtClean="0"/>
              <a:t>nksv560,567,568,569</a:t>
            </a:r>
          </a:p>
          <a:p>
            <a:pPr algn="l"/>
            <a:endParaRPr lang="en-US" altLang="ja-JP" dirty="0" smtClean="0"/>
          </a:p>
          <a:p>
            <a:pPr algn="l"/>
            <a:endParaRPr lang="en-US" altLang="ja-JP" dirty="0"/>
          </a:p>
          <a:p>
            <a:pPr algn="l"/>
            <a:endParaRPr lang="en-US" altLang="ja-JP" dirty="0"/>
          </a:p>
          <a:p>
            <a:r>
              <a:rPr lang="en-US" altLang="ja-JP" dirty="0" smtClean="0"/>
              <a:t>Web</a:t>
            </a:r>
            <a:r>
              <a:rPr lang="ja-JP" altLang="en-US" dirty="0" smtClean="0"/>
              <a:t>ｻｰﾊﾞｰ</a:t>
            </a:r>
            <a:endParaRPr lang="en-US" altLang="ja-JP" dirty="0" smtClean="0"/>
          </a:p>
          <a:p>
            <a:r>
              <a:rPr lang="ja-JP" altLang="en-US" dirty="0" smtClean="0"/>
              <a:t>ﾈｯﾄﾜｰｸ上から、上記ﾃﾞｰﾀﾍﾞｰｽｻｰﾊﾞｰにアクセス可能。</a:t>
            </a:r>
            <a:endParaRPr lang="en-US" altLang="ja-JP" dirty="0" smtClean="0"/>
          </a:p>
          <a:p>
            <a:r>
              <a:rPr lang="ja-JP" altLang="en-US" dirty="0" smtClean="0"/>
              <a:t>・</a:t>
            </a:r>
            <a:r>
              <a:rPr lang="en-US" altLang="ja-JP" dirty="0" smtClean="0"/>
              <a:t>nksv567</a:t>
            </a:r>
            <a:r>
              <a:rPr lang="ja-JP" altLang="en-US" dirty="0" smtClean="0"/>
              <a:t>の場合、「</a:t>
            </a:r>
            <a:r>
              <a:rPr lang="en-US" altLang="ja-JP" dirty="0" smtClean="0"/>
              <a:t>nksv567.ad.nkc.co.jp</a:t>
            </a:r>
            <a:r>
              <a:rPr lang="ja-JP" altLang="en-US" dirty="0" smtClean="0"/>
              <a:t>」にアクセス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すれば</a:t>
            </a:r>
            <a:r>
              <a:rPr lang="ja-JP" altLang="en-US" dirty="0"/>
              <a:t>、</a:t>
            </a:r>
            <a:r>
              <a:rPr lang="en-US" altLang="ja-JP" dirty="0" smtClean="0"/>
              <a:t>GUI</a:t>
            </a:r>
            <a:r>
              <a:rPr lang="ja-JP" altLang="en-US" dirty="0" smtClean="0"/>
              <a:t>ﾍﾞｰｽで閲覧可能な状態になっている。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生技に解放した。</a:t>
            </a:r>
            <a:endParaRPr lang="en-US" altLang="ja-JP" dirty="0" smtClean="0"/>
          </a:p>
          <a:p>
            <a:r>
              <a:rPr lang="ja-JP" altLang="en-US" dirty="0" smtClean="0"/>
              <a:t>・</a:t>
            </a:r>
            <a:r>
              <a:rPr lang="en-US" altLang="ja-JP" dirty="0" err="1" smtClean="0"/>
              <a:t>nksv</a:t>
            </a:r>
            <a:r>
              <a:rPr lang="en-US" altLang="ja-JP" dirty="0" smtClean="0"/>
              <a:t>???</a:t>
            </a:r>
            <a:r>
              <a:rPr lang="ja-JP" altLang="en-US" dirty="0" smtClean="0"/>
              <a:t>の場合、</a:t>
            </a:r>
            <a:r>
              <a:rPr lang="en-US" altLang="ja-JP" dirty="0" smtClean="0"/>
              <a:t>MySQL</a:t>
            </a:r>
            <a:r>
              <a:rPr lang="ja-JP" altLang="en-US" dirty="0" smtClean="0"/>
              <a:t>にて、「</a:t>
            </a:r>
            <a:r>
              <a:rPr lang="en-US" altLang="ja-JP" dirty="0" smtClean="0"/>
              <a:t>BOSS</a:t>
            </a:r>
            <a:r>
              <a:rPr lang="ja-JP" altLang="en-US" dirty="0" smtClean="0"/>
              <a:t>から抽出された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生きている指図の情報」</a:t>
            </a:r>
            <a:r>
              <a:rPr lang="ja-JP" altLang="en-US" dirty="0" smtClean="0">
                <a:solidFill>
                  <a:schemeClr val="tx1"/>
                </a:solidFill>
              </a:rPr>
              <a:t>等が閲覧</a:t>
            </a:r>
            <a:r>
              <a:rPr lang="en-US" altLang="ja-JP" dirty="0" smtClean="0">
                <a:solidFill>
                  <a:schemeClr val="tx1"/>
                </a:solidFill>
              </a:rPr>
              <a:t>/</a:t>
            </a:r>
            <a:r>
              <a:rPr lang="ja-JP" altLang="en-US" dirty="0" smtClean="0">
                <a:solidFill>
                  <a:schemeClr val="tx1"/>
                </a:solidFill>
              </a:rPr>
              <a:t>利用な可能な</a:t>
            </a:r>
            <a:endParaRPr lang="en-US" altLang="ja-JP" dirty="0" smtClean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ja-JP" altLang="en-US" dirty="0" smtClean="0">
                <a:solidFill>
                  <a:schemeClr val="tx1"/>
                </a:solidFill>
              </a:rPr>
              <a:t>状態になっている。</a:t>
            </a:r>
            <a:endParaRPr lang="en-US" altLang="ja-JP" dirty="0" smtClean="0">
              <a:solidFill>
                <a:schemeClr val="tx1"/>
              </a:solidFill>
            </a:endParaRPr>
          </a:p>
          <a:p>
            <a:r>
              <a:rPr lang="ja-JP" altLang="en-US" dirty="0" smtClean="0">
                <a:solidFill>
                  <a:schemeClr val="tx1"/>
                </a:solidFill>
              </a:rPr>
              <a:t>　</a:t>
            </a:r>
            <a:r>
              <a:rPr lang="en-US" altLang="ja-JP" dirty="0"/>
              <a:t> </a:t>
            </a:r>
            <a:r>
              <a:rPr lang="ja-JP" altLang="en-US" dirty="0" smtClean="0"/>
              <a:t>また、</a:t>
            </a:r>
            <a:r>
              <a:rPr lang="en-US" altLang="ja-JP" dirty="0" smtClean="0"/>
              <a:t>HTML,CSS</a:t>
            </a:r>
            <a:r>
              <a:rPr lang="en-US" altLang="ja-JP" dirty="0"/>
              <a:t>, JavaScript</a:t>
            </a:r>
            <a:r>
              <a:rPr lang="ja-JP" altLang="en-US" dirty="0" smtClean="0"/>
              <a:t>等を利用し、外部</a:t>
            </a:r>
            <a:r>
              <a:rPr lang="en-US" altLang="ja-JP" dirty="0" smtClean="0"/>
              <a:t>PC</a:t>
            </a:r>
          </a:p>
          <a:p>
            <a:r>
              <a:rPr lang="ja-JP" altLang="en-US" dirty="0"/>
              <a:t>　</a:t>
            </a:r>
            <a:r>
              <a:rPr lang="ja-JP" altLang="en-US" dirty="0" smtClean="0"/>
              <a:t> から、サーバ内のデータを閲覧できるようになって</a:t>
            </a:r>
            <a:endParaRPr lang="en-US" altLang="ja-JP" dirty="0" smtClean="0"/>
          </a:p>
          <a:p>
            <a:r>
              <a:rPr lang="ja-JP" altLang="en-US" dirty="0" smtClean="0"/>
              <a:t> </a:t>
            </a:r>
            <a:r>
              <a:rPr lang="ja-JP" altLang="en-US" dirty="0"/>
              <a:t>　</a:t>
            </a:r>
            <a:r>
              <a:rPr lang="ja-JP" altLang="en-US" dirty="0" smtClean="0"/>
              <a:t>いる</a:t>
            </a:r>
            <a:r>
              <a:rPr lang="en-US" altLang="ja-JP" dirty="0" smtClean="0"/>
              <a:t> </a:t>
            </a:r>
            <a:r>
              <a:rPr lang="ja-JP" altLang="en-US" dirty="0" smtClean="0"/>
              <a:t>ものもある。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（</a:t>
            </a:r>
            <a:r>
              <a:rPr lang="en-US" altLang="ja-JP" dirty="0" smtClean="0"/>
              <a:t>SpO2</a:t>
            </a:r>
            <a:r>
              <a:rPr lang="ja-JP" altLang="en-US" dirty="0" smtClean="0"/>
              <a:t>ｹｰﾌﾞﾙ生産状況確認ｼｽﾃﾑ、ﾀﾞﾝﾎﾞｰﾙ組立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着手ｼｽﾃﾑ、半製品検査結果閲覧ｼｽﾃﾑ等）</a:t>
            </a:r>
            <a:endParaRPr lang="en-US" altLang="ja-JP" dirty="0" smtClean="0"/>
          </a:p>
          <a:p>
            <a:endParaRPr lang="en-US" altLang="ja-JP" dirty="0"/>
          </a:p>
        </p:txBody>
      </p:sp>
      <p:sp>
        <p:nvSpPr>
          <p:cNvPr id="69" name="正方形/長方形 68"/>
          <p:cNvSpPr/>
          <p:nvPr/>
        </p:nvSpPr>
        <p:spPr>
          <a:xfrm>
            <a:off x="395609" y="1810126"/>
            <a:ext cx="2641252" cy="1101315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dirty="0"/>
              <a:t>　</a:t>
            </a:r>
            <a:r>
              <a:rPr lang="ja-JP" altLang="en-US" dirty="0" smtClean="0"/>
              <a:t>　　　　　</a:t>
            </a:r>
            <a:r>
              <a:rPr lang="en-US" altLang="ja-JP" dirty="0" smtClean="0"/>
              <a:t>&lt;PC&gt;</a:t>
            </a:r>
          </a:p>
          <a:p>
            <a:pPr algn="l"/>
            <a:r>
              <a:rPr kumimoji="1" lang="en-US" altLang="ja-JP" sz="1100" dirty="0" smtClean="0"/>
              <a:t>Web</a:t>
            </a:r>
            <a:r>
              <a:rPr kumimoji="1" lang="ja-JP" altLang="en-US" sz="1100" dirty="0" smtClean="0"/>
              <a:t>ブラウザがｲﾝｽﾄｰﾙされており、</a:t>
            </a:r>
            <a:endParaRPr kumimoji="1" lang="en-US" altLang="ja-JP" sz="1100" dirty="0" smtClean="0"/>
          </a:p>
          <a:p>
            <a:pPr algn="l"/>
            <a:r>
              <a:rPr lang="ja-JP" altLang="en-US" dirty="0" smtClean="0"/>
              <a:t>ｻｰﾊﾞｰ上の特定の</a:t>
            </a:r>
            <a:r>
              <a:rPr lang="en-US" altLang="ja-JP" dirty="0" smtClean="0"/>
              <a:t>HTML</a:t>
            </a:r>
            <a:r>
              <a:rPr lang="ja-JP" altLang="en-US" dirty="0" smtClean="0"/>
              <a:t>ﾌｧｲﾙ等</a:t>
            </a:r>
            <a:r>
              <a:rPr lang="en-US" altLang="ja-JP" dirty="0" smtClean="0"/>
              <a:t>?</a:t>
            </a:r>
            <a:endParaRPr lang="en-US" altLang="ja-JP" dirty="0"/>
          </a:p>
          <a:p>
            <a:pPr algn="l"/>
            <a:r>
              <a:rPr lang="ja-JP" altLang="en-US" dirty="0" smtClean="0"/>
              <a:t>にアクセスすることで、ﾌﾞﾗｳｻﾞ上で</a:t>
            </a:r>
            <a:endParaRPr lang="en-US" altLang="ja-JP" dirty="0" smtClean="0"/>
          </a:p>
          <a:p>
            <a:pPr algn="l"/>
            <a:r>
              <a:rPr lang="ja-JP" altLang="en-US" dirty="0" smtClean="0"/>
              <a:t>ｻｰﾊﾞｰ内のﾃﾞｰﾀを閲覧することが</a:t>
            </a:r>
            <a:endParaRPr lang="en-US" altLang="ja-JP" dirty="0" smtClean="0"/>
          </a:p>
          <a:p>
            <a:pPr algn="l"/>
            <a:r>
              <a:rPr lang="ja-JP" altLang="en-US" dirty="0"/>
              <a:t>できる</a:t>
            </a:r>
            <a:endParaRPr lang="en-US" altLang="ja-JP" dirty="0" smtClean="0"/>
          </a:p>
        </p:txBody>
      </p:sp>
      <p:cxnSp>
        <p:nvCxnSpPr>
          <p:cNvPr id="80" name="直線矢印コネクタ 79"/>
          <p:cNvCxnSpPr/>
          <p:nvPr/>
        </p:nvCxnSpPr>
        <p:spPr>
          <a:xfrm>
            <a:off x="3106239" y="2056348"/>
            <a:ext cx="187080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/>
          <p:cNvSpPr txBox="1"/>
          <p:nvPr/>
        </p:nvSpPr>
        <p:spPr>
          <a:xfrm>
            <a:off x="3697251" y="1810127"/>
            <a:ext cx="719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 smtClean="0"/>
              <a:t>ﾘｸｴｽﾄ</a:t>
            </a:r>
            <a:endParaRPr lang="en-US" altLang="ja-JP" sz="1000" dirty="0"/>
          </a:p>
        </p:txBody>
      </p:sp>
      <p:cxnSp>
        <p:nvCxnSpPr>
          <p:cNvPr id="82" name="直線矢印コネクタ 81"/>
          <p:cNvCxnSpPr/>
          <p:nvPr/>
        </p:nvCxnSpPr>
        <p:spPr>
          <a:xfrm>
            <a:off x="6237185" y="1786315"/>
            <a:ext cx="0" cy="38254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/>
          <p:cNvCxnSpPr/>
          <p:nvPr/>
        </p:nvCxnSpPr>
        <p:spPr>
          <a:xfrm flipV="1">
            <a:off x="6057165" y="1786315"/>
            <a:ext cx="0" cy="3825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 flipH="1">
            <a:off x="3106239" y="2653929"/>
            <a:ext cx="187080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/>
          <p:cNvSpPr txBox="1"/>
          <p:nvPr/>
        </p:nvSpPr>
        <p:spPr>
          <a:xfrm>
            <a:off x="3697251" y="2392945"/>
            <a:ext cx="719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 smtClean="0"/>
              <a:t>ﾚｽﾎﾟﾝｽ</a:t>
            </a:r>
            <a:endParaRPr lang="en-US" altLang="ja-JP" sz="10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282190" y="1853825"/>
            <a:ext cx="1215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 smtClean="0"/>
              <a:t>Apache</a:t>
            </a:r>
            <a:r>
              <a:rPr lang="ja-JP" altLang="en-US" sz="1000" dirty="0" smtClean="0"/>
              <a:t>等を利用</a:t>
            </a:r>
            <a:r>
              <a:rPr lang="en-US" altLang="ja-JP" sz="1000" dirty="0" smtClean="0"/>
              <a:t>?</a:t>
            </a:r>
            <a:endParaRPr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168915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72864" y="23664"/>
            <a:ext cx="3130946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ctr" hangingPunct="0"/>
            <a:r>
              <a:rPr lang="ja-JP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サーバシステム構造</a:t>
            </a:r>
            <a:endParaRPr lang="ja-JP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1560" y="2528900"/>
            <a:ext cx="2160240" cy="2418405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 smtClean="0"/>
              <a:t>&lt;</a:t>
            </a:r>
            <a:r>
              <a:rPr lang="ja-JP" altLang="en-US" dirty="0" smtClean="0"/>
              <a:t>クライアント</a:t>
            </a:r>
            <a:r>
              <a:rPr lang="en-US" altLang="ja-JP" dirty="0" smtClean="0"/>
              <a:t>PC&gt;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7" y="2937151"/>
            <a:ext cx="35580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16" y="2937152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05" y="2937151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7" descr="data:image/jpeg;base64,/9j/4AAQSkZJRgABAQAAAQABAAD/2wCEAAkGBwgHBgkIBwgKCgkLDRYPDQwMDRsUFRAWIB0iIiAdHx8kKDQsJCYxJx8fLT0tMTU3Ojo6Iys/RD84QzQ5OjcBCgoKDQwNGg8PGjclHyU3Nzc3Nzc3Nzc3Nzc3Nzc3Nzc3Nzc3Nzc3Nzc3Nzc3Nzc3Nzc3Nzc3Nzc3Nzc3Nzc3N//AABEIAHgAeAMBEQACEQEDEQH/xAAbAAEAAgMBAQAAAAAAAAAAAAAABQYBAwQCB//EAD0QAAEDAwMBBgMDCAsAAAAAAAEAAgMEBRESITEGEyJBUWFxFDKBB0KRFSMzUnJ1ssEWJDZDYoKDobG00f/EABoBAQACAwEAAAAAAAAAAAAAAAAEBQECAwb/xAAwEQACAQIDBAkEAwEAAAAAAAAAAQIDEQQhMRJBUfAFIjJhcZGxwdETgaHhFELxUv/aAAwDAQACEQMRAD8A+4oAgCAIAgCAIAgCAIAgCAIAgCAIAgCAIAgCAxkIBlAMhAZQBAEAQBAEAQBAEAQBARt2vFJa4e0qX4zs1rfmcfT/AN4C7UaE60rRRzqVY01dlXq+pLjUCUsLaRjRuxgDpByNyeO8GjYfe5VnTwVKNk+t6c2uQamIm752scjrjKXvL6qpIa0Pz2x3BLCBzzguC6qirK0V5eP6I7q55yfn3o2RXm4QF3Z1b3aI2vc2UB7TkE8n1LG8+JWrwtKWsVrbLLnezpCvNaS9+eBP2nqaKpmbTVjWwTuJDCHZZLg47p9weefDKgVsHKC24Zr8om08QpPZlkywNcHDIUIknpAEAQBAEAQBAEBwXm4R26ikqJThrGknHJ8gPUnZdKVKVWahHVms5KMW2fNqmsmqKh1ZWh5kkyxzmf3G2zMHBHJBaRg8gr0EIRjFU6ei/Pff0azWjKirN32pf5z+TVG58hBcd9IaSOSBxnz8PwC6dVaEKc2zeIx5LG2crmuYaWEZwDz4ZWHVhBbUskjrSjUqzUKau2R/xctfXCmjDnxAgy9m0ANwMANztsPPYcqFhsV9eblTyhHe9W37cd7yReYnB/w6ahVd6kty0ivd8NyzeZfukb0+djqOrfqliALZckiVmcA5IGojgng8qLjsOoNVIaPdwftfgZw9RyWzLUtigEkIAgCAIAgCAICh9fVmuSnpNQDHvc92S3GG4AHe2O54PkrPo2Gcp8Mt+/wzIeLl2YffyKgSDKPzbGEDB0P1A+WNzj2zhW98tSpq66HfT42UeUiOzdLUMhb3t3EZDQoOIxlOgutm+BYdH9FYjHytTVo729P2+4r9fXS1c/wtOcvdy4cNVE6tbH1VB/4e4hQwnQuFlVWb472+Hd9vE6GwR00DY2jLRz6r1uGpxpQVOGiPAV8RPEVnVqZtknaan4W50dQBHGBIGFjZGuJY4ad9y48jyAxwtK8fqUpRzeX5Wfh6slUZbMoyXhzq/Q+rUz9cLXHnC88W5tQBAEAQBAEAQHzTrQyC6QhoJJikGBr37wz8pHmOdla4C2xK/FcPcg4tNzVu/j7FXYdEpaY2xnbuNdqA+uSrNu61uVdRWeasTVmppbhVx08O2d3Ox8oHJUKvUUI3ZilRdWaiiX6uhoZKEUdMWxSwN0/Efq+hPj6qhrU/ru+89ZgMV/Bsl2N653lPtlJ8LFrlwZXc+gzwrDo/C/Qhn2nr8FP0z0m8dW6vYjp395tqJBg7q5plQkbKRsjRGGwhjXyx95jnkOOobnDtOfcLWo073d8nw4d6uTIRdllvXH5t5n1+3HNMD5k/8rzZdHUgCAIAgCAIAgKB9olEQwVTWajC/tMBrT3Ts75sjbY/RWHR1TZquD/t67tOJGxULxUuBRtB1s7GJoDyGsDXlxkJ8RsM7+IABVxfJ7T/AFz434lXOHBFqdcKfpm3/BROElzmAM/ZnOnyaD4Aefvj0pKm3iqnV7JPpqGFh1tWV+WrlqH6p3A+IaOB7D+alU6CgsiBWrzqvM8umUiMDhY0GTtJA0FuTxqdgH6qTFbKuzaMbuyJTp2lFTeYWsha1sB7WVuM4dw1uSNQOfAkggbKNjKuxQbbu3kvffb0J9CClNWVks+d/wCT69Sx9lTsYeQN1QFmbUAQBAEAQBAEBxXWiFbTluAXtBwDwfMLKdncHyO6UNVYKp0lK0iLJEc+jU6nJGMftcNaTsBnxV5SrRxcNlu0t/f3r33sr6lN0pbS+3PoQ5g7PW5ry/u6pJXHPaOzgkHk7g4z+qSpEIxSUUrd3z7kSpFtuTZ61PaXAjdrQ848AcYP+4WdhPQ5OLMnXh24yGB+PMHH8jn2W0VHLyM7DOmGKR8/wtLGZJXO1MjcBmI8HUeMAjByMEEYWrlFR25uy9ed1s077iRGm77KR9I6NsIoKZrnd451Ocfvu9P8I8AqLFYh4ie1u3c8WWVKn9ONi2qMdQgCAIAgCAIAgCAjrlaoa1pJAa8jBOMhw8iEWTug8yj3LogxOc6lElPnP6Pvs4I+U8bE8easKfSNRWVRbXrrf2I08NF9l2Io9N1rZC4SwOJ843DxaRt/lH4rr/Pp2tZ83+Tk8LO97rm3wdNH0hUTOAlnkcBgaYYtOwDh8x9HEfgsS6R/5j5/Z+qubRwr/tLy+/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+6A9XS/2i0PZHdLlSUsknyMllDXO9m8lAbrbdKC60/xFsrIKuHONcEgeAfI44KAplw6isMv2hUhrLxbRR2+glLXyVMYYyqdIGkZJwHhodtzhxQFtqb5aaW3suNTc6OOikGY6h87Qx48NLs4P0QGLXf7Rd3yMtdypaqSPGtkUoLm+45CA7JquCCWGKaaOOSdxbCxzwDIQMkNHicAn2CAjJbhZ+oLdc6OnukMkLI3Q1UtNOMwhwIPeHBAz7YQHVYKalpLJQ09BUuqqSOBohndIJDI3GztQ2OfMICQQBAEAQBAV27dOTvuT7tYa8264va1s2qPtIagDjtGZG/hqBBQGbLfquS5vs19o2UlyEZlidFJriqowcFzDyCMjLTuM+IQG+73OxWarE9wdAyunZpaGQmSeVrckANaC5wGT4ICu2u40kv2ixOtlLU0zK+3SuqRNSvg7V0b2aHYcBkgPcM+yA7uxiP2olpiZpNjzjSOe35QE3eJ7PbYIq27GkhjgdiKSZo7rnbYb45PkOUBTeob1bqy69PV9spq2KqjucUHxEtBLAHwyZa9hc9oyDkHHmAgJLr+lNZcel6USPjE1xex7mHB0GCTWM+rcj6oCdulLT0fTdfDSQRQRMo5GtjiYGhoDDgYCA8dF/2Psf7vg/gCAmUAQBAEBgnCAho+q7C+eamddqSGohc5kkNRKInjScE6XYOPXgoCIZW0/UvV9rqrQ5tRRWpkz5a2PeJ75G6BGx3DvEnB2wEBz2Cvobb1V1KL5U09Nc5asOp31LwzXSBjQzQTy0O15A8UBiO7092+0i0y0J7WiZbqpkdUP0cztURdoP3gO7uNsnHgUB3BwP2qYyNX5Bzp8cdugNF5qKOi+0Ghqb5JHFS/AuZQTTnEbJy/vjUdg4t048TvhAcnWd9o7hLZqa2TMrGQ3mkfUzwOD44fzgAaXDbUSR3ecZKAlOrCP6QdI/vOT/ryoCav+PyFccnH9Vl/gKA5eiiHdHWIg5Bt8G/+m1ATSAIAgCAIDnqaGjq8fFUsE+OO1jDsfigNzGMjYGMY1rRwAMAIDVVUVJVhoq6WCcN3b2sYdj8UBtEbBpwxo0jDcDgeiAzpbq1aRqxjON8IDxUU8NTEYqiGOWN3LJGhwP0KAxFTU8ETYoYIo4m7tYxgAH0QGwtaSCWgkcEjhACARgjI8igDQGgBoAA4AQGUAQ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749" y="2937151"/>
            <a:ext cx="342901" cy="342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69" y="2937153"/>
            <a:ext cx="32077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テキスト ボックス 13"/>
          <p:cNvSpPr txBox="1"/>
          <p:nvPr/>
        </p:nvSpPr>
        <p:spPr>
          <a:xfrm>
            <a:off x="3527459" y="2808744"/>
            <a:ext cx="428536" cy="22659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algn="ctr"/>
            <a:r>
              <a:rPr lang="ja-JP" altLang="en-US" sz="1000" dirty="0" smtClean="0"/>
              <a:t>ﾘｸｴｽﾄ</a:t>
            </a:r>
            <a:endParaRPr lang="en-US" altLang="ja-JP" sz="10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489627" y="3113965"/>
            <a:ext cx="491087" cy="22659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ja-JP" altLang="en-US" sz="1000" dirty="0" smtClean="0"/>
              <a:t>ﾚｽﾎﾟﾝｽ</a:t>
            </a:r>
            <a:endParaRPr lang="en-US" altLang="ja-JP" sz="1000" dirty="0"/>
          </a:p>
        </p:txBody>
      </p:sp>
      <p:sp>
        <p:nvSpPr>
          <p:cNvPr id="17" name="正方形/長方形 16"/>
          <p:cNvSpPr/>
          <p:nvPr/>
        </p:nvSpPr>
        <p:spPr>
          <a:xfrm>
            <a:off x="4655501" y="638689"/>
            <a:ext cx="4191974" cy="5445605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dirty="0" smtClean="0"/>
              <a:t>富岡サーバ（サーバハードウエア本体）</a:t>
            </a:r>
            <a:endParaRPr lang="en-US" altLang="ja-JP" dirty="0" smtClean="0"/>
          </a:p>
          <a:p>
            <a:pPr algn="l"/>
            <a:r>
              <a:rPr lang="ja-JP" altLang="en-US" dirty="0" smtClean="0"/>
              <a:t>事務棟</a:t>
            </a:r>
            <a:r>
              <a:rPr lang="en-US" altLang="ja-JP" dirty="0" smtClean="0"/>
              <a:t>2</a:t>
            </a:r>
            <a:r>
              <a:rPr lang="ja-JP" altLang="en-US" dirty="0" smtClean="0"/>
              <a:t>階のサーバ室に</a:t>
            </a:r>
            <a:r>
              <a:rPr lang="en-US" altLang="ja-JP" dirty="0" smtClean="0"/>
              <a:t>8</a:t>
            </a:r>
            <a:r>
              <a:rPr lang="ja-JP" altLang="en-US" dirty="0" smtClean="0"/>
              <a:t>台設置されている。</a:t>
            </a:r>
            <a:endParaRPr lang="en-US" altLang="ja-JP" dirty="0" smtClean="0"/>
          </a:p>
        </p:txBody>
      </p:sp>
      <p:cxnSp>
        <p:nvCxnSpPr>
          <p:cNvPr id="13" name="直線矢印コネクタ 12"/>
          <p:cNvCxnSpPr/>
          <p:nvPr/>
        </p:nvCxnSpPr>
        <p:spPr>
          <a:xfrm>
            <a:off x="2771800" y="3045151"/>
            <a:ext cx="211523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 flipH="1">
            <a:off x="2771800" y="3342684"/>
            <a:ext cx="211523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フローチャート : 磁気ディスク 31"/>
          <p:cNvSpPr/>
          <p:nvPr/>
        </p:nvSpPr>
        <p:spPr>
          <a:xfrm>
            <a:off x="1781690" y="5077279"/>
            <a:ext cx="1035115" cy="84461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12000" rIns="0" bIns="36000" rtlCol="0" anchor="b" anchorCtr="1"/>
          <a:lstStyle/>
          <a:p>
            <a:pPr algn="ctr">
              <a:lnSpc>
                <a:spcPts val="1800"/>
              </a:lnSpc>
            </a:pPr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BOSS</a:t>
            </a:r>
            <a:r>
              <a:rPr lang="en-US" altLang="ja-JP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ja-JP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/DWH</a:t>
            </a:r>
          </a:p>
        </p:txBody>
      </p:sp>
      <p:sp>
        <p:nvSpPr>
          <p:cNvPr id="40" name="正方形/長方形 39"/>
          <p:cNvSpPr/>
          <p:nvPr/>
        </p:nvSpPr>
        <p:spPr>
          <a:xfrm>
            <a:off x="6912260" y="2879178"/>
            <a:ext cx="1665185" cy="922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cgi</a:t>
            </a:r>
            <a:b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プログラム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5039434" y="4281580"/>
            <a:ext cx="3529639" cy="630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MySQL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</a:t>
            </a:r>
            <a:r>
              <a:rPr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サーバ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フローチャート : 磁気ディスク 42"/>
          <p:cNvSpPr/>
          <p:nvPr/>
        </p:nvSpPr>
        <p:spPr>
          <a:xfrm>
            <a:off x="5202510" y="1631519"/>
            <a:ext cx="1035115" cy="84461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bIns="36000" rtlCol="0" anchor="ctr" anchorCtr="0"/>
          <a:lstStyle/>
          <a:p>
            <a:pPr algn="ctr"/>
            <a:r>
              <a:rPr lang="en-US" altLang="ja-JP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</a:t>
            </a:r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ja-JP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フローチャート : 磁気ディスク 19"/>
          <p:cNvSpPr/>
          <p:nvPr/>
        </p:nvSpPr>
        <p:spPr>
          <a:xfrm>
            <a:off x="5067054" y="1448780"/>
            <a:ext cx="1035115" cy="84461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bIns="36000" rtlCol="0" anchor="ctr" anchorCtr="0"/>
          <a:lstStyle/>
          <a:p>
            <a:pPr algn="ctr"/>
            <a:r>
              <a:rPr lang="en-US" altLang="ja-JP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tml</a:t>
            </a:r>
            <a:b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ja-JP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3" name="直線矢印コネクタ 32"/>
          <p:cNvCxnSpPr>
            <a:stCxn id="39" idx="0"/>
            <a:endCxn id="43" idx="3"/>
          </p:cNvCxnSpPr>
          <p:nvPr/>
        </p:nvCxnSpPr>
        <p:spPr>
          <a:xfrm flipH="1" flipV="1">
            <a:off x="5720068" y="2476134"/>
            <a:ext cx="1471" cy="332685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/>
          <p:cNvSpPr/>
          <p:nvPr/>
        </p:nvSpPr>
        <p:spPr>
          <a:xfrm>
            <a:off x="5023961" y="2808819"/>
            <a:ext cx="1395155" cy="922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Apache2</a:t>
            </a:r>
          </a:p>
          <a:p>
            <a:pPr algn="ctr"/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サーバ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887035" y="2658874"/>
            <a:ext cx="1395155" cy="922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Apache2</a:t>
            </a:r>
          </a:p>
          <a:p>
            <a:pPr algn="ctr"/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サーバ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7" name="直線矢印コネクタ 46"/>
          <p:cNvCxnSpPr>
            <a:stCxn id="7" idx="0"/>
            <a:endCxn id="20" idx="3"/>
          </p:cNvCxnSpPr>
          <p:nvPr/>
        </p:nvCxnSpPr>
        <p:spPr>
          <a:xfrm flipH="1" flipV="1">
            <a:off x="5584612" y="2293395"/>
            <a:ext cx="1" cy="365479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>
            <a:stCxn id="7" idx="3"/>
            <a:endCxn id="24" idx="1"/>
          </p:cNvCxnSpPr>
          <p:nvPr/>
        </p:nvCxnSpPr>
        <p:spPr>
          <a:xfrm>
            <a:off x="6282190" y="3120175"/>
            <a:ext cx="469298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>
            <a:endCxn id="24" idx="2"/>
          </p:cNvCxnSpPr>
          <p:nvPr/>
        </p:nvCxnSpPr>
        <p:spPr>
          <a:xfrm flipV="1">
            <a:off x="7584080" y="3581476"/>
            <a:ext cx="1" cy="44533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/>
          <p:cNvCxnSpPr>
            <a:endCxn id="40" idx="2"/>
          </p:cNvCxnSpPr>
          <p:nvPr/>
        </p:nvCxnSpPr>
        <p:spPr>
          <a:xfrm flipH="1" flipV="1">
            <a:off x="7744853" y="3801780"/>
            <a:ext cx="2961" cy="44533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/>
          <p:cNvSpPr/>
          <p:nvPr/>
        </p:nvSpPr>
        <p:spPr>
          <a:xfrm>
            <a:off x="4887033" y="4026805"/>
            <a:ext cx="3529639" cy="630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MySQL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</a:t>
            </a:r>
            <a:r>
              <a:rPr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サーバ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2" name="直線矢印コネクタ 61"/>
          <p:cNvCxnSpPr>
            <a:endCxn id="39" idx="3"/>
          </p:cNvCxnSpPr>
          <p:nvPr/>
        </p:nvCxnSpPr>
        <p:spPr>
          <a:xfrm flipH="1">
            <a:off x="6419116" y="3257562"/>
            <a:ext cx="477671" cy="1255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6751488" y="2658874"/>
            <a:ext cx="1665185" cy="922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perl/</a:t>
            </a:r>
            <a:r>
              <a:rPr kumimoji="1" lang="en-US" altLang="ja-JP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</a:t>
            </a:r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cgi</a:t>
            </a:r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kumimoji="1" lang="en-US" altLang="ja-JP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プログラム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9" name="直線矢印コネクタ 68"/>
          <p:cNvCxnSpPr/>
          <p:nvPr/>
        </p:nvCxnSpPr>
        <p:spPr>
          <a:xfrm flipV="1">
            <a:off x="5606626" y="4653765"/>
            <a:ext cx="0" cy="542574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/>
          <p:cNvCxnSpPr>
            <a:stCxn id="32" idx="4"/>
            <a:endCxn id="49" idx="1"/>
          </p:cNvCxnSpPr>
          <p:nvPr/>
        </p:nvCxnSpPr>
        <p:spPr>
          <a:xfrm flipV="1">
            <a:off x="2816805" y="5499586"/>
            <a:ext cx="260042" cy="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/>
          <p:cNvCxnSpPr/>
          <p:nvPr/>
        </p:nvCxnSpPr>
        <p:spPr>
          <a:xfrm flipV="1">
            <a:off x="6234026" y="4911650"/>
            <a:ext cx="0" cy="542574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正方形/長方形 67"/>
          <p:cNvSpPr/>
          <p:nvPr/>
        </p:nvSpPr>
        <p:spPr>
          <a:xfrm>
            <a:off x="5023962" y="5139189"/>
            <a:ext cx="1660750" cy="72079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アプリケーションプログラム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4709985" y="1088740"/>
            <a:ext cx="1702958" cy="169277"/>
          </a:xfrm>
          <a:prstGeom prst="rect">
            <a:avLst/>
          </a:prstGeom>
          <a:solidFill>
            <a:srgbClr val="FFFF99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kumimoji="1" lang="en-US" altLang="ja-JP" sz="1100" dirty="0" smtClean="0"/>
              <a:t>Windows</a:t>
            </a:r>
            <a:r>
              <a:rPr kumimoji="1" lang="ja-JP" altLang="en-US" sz="1100" dirty="0" smtClean="0"/>
              <a:t>：</a:t>
            </a:r>
            <a:r>
              <a:rPr lang="ja-JP" altLang="en-US" sz="1100" dirty="0"/>
              <a:t>　</a:t>
            </a:r>
            <a:r>
              <a:rPr lang="en-US" altLang="ja-JP" sz="1100" dirty="0"/>
              <a:t>(nksv</a:t>
            </a:r>
            <a:r>
              <a:rPr lang="en-US" altLang="ja-JP" sz="1100" dirty="0">
                <a:solidFill>
                  <a:schemeClr val="bg1">
                    <a:lumMod val="50000"/>
                  </a:schemeClr>
                </a:solidFill>
              </a:rPr>
              <a:t>559,</a:t>
            </a:r>
            <a:r>
              <a:rPr lang="en-US" altLang="ja-JP" sz="1100" dirty="0"/>
              <a:t>561)</a:t>
            </a:r>
            <a:endParaRPr kumimoji="1" lang="ja-JP" altLang="en-US" sz="1100" dirty="0"/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516897" y="1088740"/>
            <a:ext cx="2015543" cy="169277"/>
          </a:xfrm>
          <a:prstGeom prst="rect">
            <a:avLst/>
          </a:prstGeom>
          <a:solidFill>
            <a:schemeClr val="accent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kumimoji="1" lang="en-US" altLang="ja-JP" sz="1100" dirty="0" smtClean="0"/>
              <a:t>Linux</a:t>
            </a:r>
            <a:r>
              <a:rPr kumimoji="1" lang="ja-JP" altLang="en-US" sz="1100" dirty="0" smtClean="0"/>
              <a:t>：</a:t>
            </a:r>
            <a:r>
              <a:rPr lang="ja-JP" altLang="en-US" sz="1100" dirty="0"/>
              <a:t>　</a:t>
            </a:r>
            <a:r>
              <a:rPr lang="en-US" altLang="ja-JP" sz="1100" dirty="0"/>
              <a:t>(nksv560,567,568,569</a:t>
            </a:r>
            <a:r>
              <a:rPr lang="en-US" altLang="ja-JP" sz="1100" dirty="0" smtClean="0"/>
              <a:t>)</a:t>
            </a:r>
            <a:endParaRPr lang="en-US" altLang="ja-JP" sz="1100" dirty="0"/>
          </a:p>
        </p:txBody>
      </p:sp>
      <p:sp>
        <p:nvSpPr>
          <p:cNvPr id="70" name="四角形吹き出し 69"/>
          <p:cNvSpPr/>
          <p:nvPr/>
        </p:nvSpPr>
        <p:spPr>
          <a:xfrm>
            <a:off x="2088155" y="3564015"/>
            <a:ext cx="2417650" cy="1202396"/>
          </a:xfrm>
          <a:prstGeom prst="wedgeRectCallout">
            <a:avLst>
              <a:gd name="adj1" fmla="val -77847"/>
              <a:gd name="adj2" fmla="val -716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-88900"/>
            <a:r>
              <a:rPr lang="en-US" altLang="ja-JP" sz="1000" dirty="0" smtClean="0">
                <a:solidFill>
                  <a:schemeClr val="tx1"/>
                </a:solidFill>
              </a:rPr>
              <a:t>nksv560.ad.nkc.co.jp</a:t>
            </a:r>
            <a:r>
              <a:rPr lang="ja-JP" altLang="en-US" sz="1000" dirty="0" smtClean="0">
                <a:solidFill>
                  <a:schemeClr val="tx1"/>
                </a:solidFill>
              </a:rPr>
              <a:t>：</a:t>
            </a:r>
            <a:endParaRPr lang="en-US" altLang="ja-JP" sz="1000" dirty="0" smtClean="0">
              <a:solidFill>
                <a:schemeClr val="tx1"/>
              </a:solidFill>
            </a:endParaRPr>
          </a:p>
          <a:p>
            <a:pPr marL="177800" indent="-88900">
              <a:buFont typeface="Arial" panose="020B0604020202020204" pitchFamily="34" charset="0"/>
              <a:buChar char="•"/>
            </a:pPr>
            <a:r>
              <a:rPr lang="en-US" altLang="ja-JP" sz="1000" dirty="0" smtClean="0">
                <a:solidFill>
                  <a:schemeClr val="tx1"/>
                </a:solidFill>
              </a:rPr>
              <a:t>SpO2</a:t>
            </a:r>
            <a:r>
              <a:rPr lang="ja-JP" altLang="en-US" sz="1000" dirty="0" smtClean="0">
                <a:solidFill>
                  <a:schemeClr val="tx1"/>
                </a:solidFill>
              </a:rPr>
              <a:t>ケーブル生産</a:t>
            </a:r>
            <a:r>
              <a:rPr lang="ja-JP" altLang="en-US" sz="1000" dirty="0">
                <a:solidFill>
                  <a:schemeClr val="tx1"/>
                </a:solidFill>
              </a:rPr>
              <a:t>状況</a:t>
            </a:r>
            <a:r>
              <a:rPr lang="ja-JP" altLang="en-US" sz="1000" dirty="0" smtClean="0">
                <a:solidFill>
                  <a:schemeClr val="tx1"/>
                </a:solidFill>
              </a:rPr>
              <a:t>確認システム</a:t>
            </a:r>
            <a:endParaRPr lang="en-US" altLang="ja-JP" sz="1000" dirty="0" smtClean="0">
              <a:solidFill>
                <a:schemeClr val="tx1"/>
              </a:solidFill>
            </a:endParaRPr>
          </a:p>
          <a:p>
            <a:pPr marL="177800" indent="-88900">
              <a:buFont typeface="Arial" panose="020B0604020202020204" pitchFamily="34" charset="0"/>
              <a:buChar char="•"/>
            </a:pPr>
            <a:r>
              <a:rPr lang="ja-JP" altLang="en-US" sz="1000" dirty="0" smtClean="0">
                <a:solidFill>
                  <a:schemeClr val="tx1"/>
                </a:solidFill>
              </a:rPr>
              <a:t>ダンボール組立着手</a:t>
            </a:r>
            <a:r>
              <a:rPr lang="ja-JP" altLang="en-US" sz="1000" dirty="0">
                <a:solidFill>
                  <a:schemeClr val="tx1"/>
                </a:solidFill>
              </a:rPr>
              <a:t>システム</a:t>
            </a:r>
            <a:endParaRPr lang="en-US" altLang="ja-JP" sz="1000" dirty="0" smtClean="0">
              <a:solidFill>
                <a:schemeClr val="tx1"/>
              </a:solidFill>
            </a:endParaRPr>
          </a:p>
          <a:p>
            <a:pPr marL="177800" indent="-88900">
              <a:buFont typeface="Arial" panose="020B0604020202020204" pitchFamily="34" charset="0"/>
              <a:buChar char="•"/>
            </a:pPr>
            <a:r>
              <a:rPr lang="ja-JP" altLang="en-US" sz="1000" dirty="0" smtClean="0">
                <a:solidFill>
                  <a:schemeClr val="tx1"/>
                </a:solidFill>
              </a:rPr>
              <a:t>半製品</a:t>
            </a:r>
            <a:r>
              <a:rPr lang="ja-JP" altLang="en-US" sz="1000" dirty="0">
                <a:solidFill>
                  <a:schemeClr val="tx1"/>
                </a:solidFill>
              </a:rPr>
              <a:t>検査結果</a:t>
            </a:r>
            <a:r>
              <a:rPr lang="ja-JP" altLang="en-US" sz="1000" dirty="0" smtClean="0">
                <a:solidFill>
                  <a:schemeClr val="tx1"/>
                </a:solidFill>
              </a:rPr>
              <a:t>閲覧</a:t>
            </a:r>
            <a:r>
              <a:rPr lang="ja-JP" altLang="en-US" sz="1000" dirty="0">
                <a:solidFill>
                  <a:schemeClr val="tx1"/>
                </a:solidFill>
              </a:rPr>
              <a:t>システム</a:t>
            </a:r>
            <a:endParaRPr lang="en-US" altLang="ja-JP" sz="1000" dirty="0" smtClean="0">
              <a:solidFill>
                <a:schemeClr val="tx1"/>
              </a:solidFill>
            </a:endParaRPr>
          </a:p>
          <a:p>
            <a:pPr marL="177800" indent="-88900">
              <a:buFont typeface="Arial" panose="020B0604020202020204" pitchFamily="34" charset="0"/>
              <a:buChar char="•"/>
            </a:pPr>
            <a:r>
              <a:rPr kumimoji="1" lang="en-US" altLang="ja-JP" sz="1000" dirty="0" smtClean="0">
                <a:solidFill>
                  <a:schemeClr val="tx1"/>
                </a:solidFill>
              </a:rPr>
              <a:t>MySQL</a:t>
            </a:r>
            <a:r>
              <a:rPr kumimoji="1" lang="ja-JP" altLang="en-US" sz="1000" dirty="0" smtClean="0">
                <a:solidFill>
                  <a:schemeClr val="tx1"/>
                </a:solidFill>
              </a:rPr>
              <a:t>管理</a:t>
            </a:r>
            <a:r>
              <a:rPr lang="ja-JP" altLang="en-US" sz="1000" dirty="0" smtClean="0">
                <a:solidFill>
                  <a:schemeClr val="tx1"/>
                </a:solidFill>
              </a:rPr>
              <a:t>ツール </a:t>
            </a:r>
            <a:r>
              <a:rPr lang="en-US" altLang="ja-JP" sz="1000" dirty="0" smtClean="0">
                <a:solidFill>
                  <a:schemeClr val="tx1"/>
                </a:solidFill>
              </a:rPr>
              <a:t>(phpMyAdmin)</a:t>
            </a:r>
          </a:p>
          <a:p>
            <a:pPr marL="88900" indent="-88900"/>
            <a:r>
              <a:rPr lang="en-US" altLang="ja-JP" sz="1000" dirty="0" smtClean="0">
                <a:solidFill>
                  <a:schemeClr val="tx1"/>
                </a:solidFill>
              </a:rPr>
              <a:t>nksv567.ad.nkc.co.jp</a:t>
            </a:r>
            <a:r>
              <a:rPr lang="ja-JP" altLang="en-US" sz="1000" dirty="0" smtClean="0">
                <a:solidFill>
                  <a:schemeClr val="tx1"/>
                </a:solidFill>
              </a:rPr>
              <a:t>：</a:t>
            </a:r>
            <a:endParaRPr lang="en-US" altLang="ja-JP" sz="1000" dirty="0" smtClean="0">
              <a:solidFill>
                <a:schemeClr val="tx1"/>
              </a:solidFill>
            </a:endParaRPr>
          </a:p>
          <a:p>
            <a:pPr marL="177800" indent="-88900">
              <a:buFont typeface="Arial" panose="020B0604020202020204" pitchFamily="34" charset="0"/>
              <a:buChar char="•"/>
            </a:pPr>
            <a:r>
              <a:rPr kumimoji="1" lang="ja-JP" altLang="en-US" sz="1000" dirty="0" smtClean="0">
                <a:solidFill>
                  <a:schemeClr val="tx1"/>
                </a:solidFill>
              </a:rPr>
              <a:t>進捗管理システム</a:t>
            </a:r>
            <a:r>
              <a:rPr kumimoji="1" lang="en-US" altLang="ja-JP" sz="1000" dirty="0" smtClean="0">
                <a:solidFill>
                  <a:schemeClr val="tx1"/>
                </a:solidFill>
              </a:rPr>
              <a:t>(Redmine)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511" y="971463"/>
            <a:ext cx="1274484" cy="95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69" y="1094380"/>
            <a:ext cx="747970" cy="74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3" name="直線矢印コネクタ 82"/>
          <p:cNvCxnSpPr/>
          <p:nvPr/>
        </p:nvCxnSpPr>
        <p:spPr>
          <a:xfrm>
            <a:off x="1481465" y="1468365"/>
            <a:ext cx="1560365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フリーフォーム 72"/>
          <p:cNvSpPr/>
          <p:nvPr/>
        </p:nvSpPr>
        <p:spPr>
          <a:xfrm>
            <a:off x="3446875" y="1459390"/>
            <a:ext cx="1440158" cy="1339540"/>
          </a:xfrm>
          <a:custGeom>
            <a:avLst/>
            <a:gdLst>
              <a:gd name="connsiteX0" fmla="*/ 0 w 2755900"/>
              <a:gd name="connsiteY0" fmla="*/ 0 h 1212850"/>
              <a:gd name="connsiteX1" fmla="*/ 1346200 w 2755900"/>
              <a:gd name="connsiteY1" fmla="*/ 0 h 1212850"/>
              <a:gd name="connsiteX2" fmla="*/ 1346200 w 2755900"/>
              <a:gd name="connsiteY2" fmla="*/ 1212850 h 1212850"/>
              <a:gd name="connsiteX3" fmla="*/ 2755900 w 2755900"/>
              <a:gd name="connsiteY3" fmla="*/ 1212850 h 121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5900" h="1212850">
                <a:moveTo>
                  <a:pt x="0" y="0"/>
                </a:moveTo>
                <a:lnTo>
                  <a:pt x="1346200" y="0"/>
                </a:lnTo>
                <a:lnTo>
                  <a:pt x="1346200" y="1212850"/>
                </a:lnTo>
                <a:lnTo>
                  <a:pt x="2755900" y="1212850"/>
                </a:lnTo>
              </a:path>
            </a:pathLst>
          </a:custGeom>
          <a:noFill/>
          <a:ln w="381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1522716" y="1221609"/>
            <a:ext cx="1554131" cy="246221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lang="en-US" altLang="ja-JP" sz="1000" dirty="0" smtClean="0"/>
              <a:t>https://nktomioka.nkc.co.jp</a:t>
            </a:r>
            <a:endParaRPr lang="en-US" altLang="ja-JP" sz="1000" dirty="0"/>
          </a:p>
        </p:txBody>
      </p:sp>
      <p:pic>
        <p:nvPicPr>
          <p:cNvPr id="1039" name="Picture 15" descr="C:\Users\ji2525.AD\Desktop\ネットワークフォルダ.gif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12" y="3904422"/>
            <a:ext cx="744910" cy="74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フローチャート : カード 98"/>
          <p:cNvSpPr/>
          <p:nvPr/>
        </p:nvSpPr>
        <p:spPr>
          <a:xfrm>
            <a:off x="7523083" y="5318493"/>
            <a:ext cx="1279387" cy="720797"/>
          </a:xfrm>
          <a:prstGeom prst="flowChartPunchedCard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共有フォルダ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0" name="フローチャート : カード 79"/>
          <p:cNvSpPr/>
          <p:nvPr/>
        </p:nvSpPr>
        <p:spPr>
          <a:xfrm>
            <a:off x="7118038" y="5004175"/>
            <a:ext cx="1279387" cy="720797"/>
          </a:xfrm>
          <a:prstGeom prst="flowChartPunchedCa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共有フォルダ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フリーフォーム 84"/>
          <p:cNvSpPr/>
          <p:nvPr/>
        </p:nvSpPr>
        <p:spPr>
          <a:xfrm>
            <a:off x="1266825" y="4649332"/>
            <a:ext cx="6572250" cy="1627643"/>
          </a:xfrm>
          <a:custGeom>
            <a:avLst/>
            <a:gdLst>
              <a:gd name="connsiteX0" fmla="*/ 0 w 6572250"/>
              <a:gd name="connsiteY0" fmla="*/ 0 h 1495425"/>
              <a:gd name="connsiteX1" fmla="*/ 0 w 6572250"/>
              <a:gd name="connsiteY1" fmla="*/ 1495425 h 1495425"/>
              <a:gd name="connsiteX2" fmla="*/ 6572250 w 6572250"/>
              <a:gd name="connsiteY2" fmla="*/ 1495425 h 1495425"/>
              <a:gd name="connsiteX3" fmla="*/ 6572250 w 6572250"/>
              <a:gd name="connsiteY3" fmla="*/ 1057275 h 149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72250" h="1495425">
                <a:moveTo>
                  <a:pt x="0" y="0"/>
                </a:moveTo>
                <a:lnTo>
                  <a:pt x="0" y="1495425"/>
                </a:lnTo>
                <a:lnTo>
                  <a:pt x="6572250" y="1495425"/>
                </a:lnTo>
                <a:lnTo>
                  <a:pt x="6572250" y="1057275"/>
                </a:lnTo>
              </a:path>
            </a:pathLst>
          </a:custGeom>
          <a:noFill/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6353393" y="2726719"/>
            <a:ext cx="367656" cy="349702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algn="ctr"/>
            <a:r>
              <a:rPr lang="en-US" altLang="ja-JP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cgi</a:t>
            </a:r>
            <a:endParaRPr lang="en-US" altLang="ja-JP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フローチャート : カード 48"/>
          <p:cNvSpPr/>
          <p:nvPr/>
        </p:nvSpPr>
        <p:spPr>
          <a:xfrm>
            <a:off x="3076847" y="5139187"/>
            <a:ext cx="1279387" cy="720797"/>
          </a:xfrm>
          <a:prstGeom prst="flowChartPunchedCa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共有フォルダ</a:t>
            </a:r>
            <a:endParaRPr kumimoji="1" lang="ja-JP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1" name="直線矢印コネクタ 50"/>
          <p:cNvCxnSpPr>
            <a:stCxn id="49" idx="3"/>
            <a:endCxn id="68" idx="1"/>
          </p:cNvCxnSpPr>
          <p:nvPr/>
        </p:nvCxnSpPr>
        <p:spPr>
          <a:xfrm>
            <a:off x="4356234" y="5499586"/>
            <a:ext cx="667728" cy="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>
            <a:stCxn id="68" idx="3"/>
          </p:cNvCxnSpPr>
          <p:nvPr/>
        </p:nvCxnSpPr>
        <p:spPr>
          <a:xfrm>
            <a:off x="6684712" y="5499588"/>
            <a:ext cx="433326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69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72864" y="23664"/>
            <a:ext cx="3130946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ctr" hangingPunct="0"/>
            <a:r>
              <a:rPr lang="ja-JP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サーバシステム諸元</a:t>
            </a:r>
            <a:endParaRPr lang="ja-JP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AutoShape 7" descr="data:image/jpeg;base64,/9j/4AAQSkZJRgABAQAAAQABAAD/2wCEAAkGBwgHBgkIBwgKCgkLDRYPDQwMDRsUFRAWIB0iIiAdHx8kKDQsJCYxJx8fLT0tMTU3Ojo6Iys/RD84QzQ5OjcBCgoKDQwNGg8PGjclHyU3Nzc3Nzc3Nzc3Nzc3Nzc3Nzc3Nzc3Nzc3Nzc3Nzc3Nzc3Nzc3Nzc3Nzc3Nzc3Nzc3N//AABEIAHgAeAMBEQACEQEDEQH/xAAbAAEAAgMBAQAAAAAAAAAAAAAABQYBAwQCB//EAD0QAAEDAwMBBgMDCAsAAAAAAAEAAgMEBRESITEGEyJBUWFxFDKBB0KRFSMzUnJ1ssEWJDZDYoKDobG00f/EABoBAQACAwEAAAAAAAAAAAAAAAAEBQECAwb/xAAwEQACAQIDBAkEAwEAAAAAAAAAAQIDEQQhMRJBUfAFIjJhcZGxwdETgaHhFELxUv/aAAwDAQACEQMRAD8A+4oAgCAIAgCAIAgCAIAgCAIAgCAIAgCAIAgCAxkIBlAMhAZQBAEAQBAEAQBAEAQBARt2vFJa4e0qX4zs1rfmcfT/AN4C7UaE60rRRzqVY01dlXq+pLjUCUsLaRjRuxgDpByNyeO8GjYfe5VnTwVKNk+t6c2uQamIm752scjrjKXvL6qpIa0Pz2x3BLCBzzguC6qirK0V5eP6I7q55yfn3o2RXm4QF3Z1b3aI2vc2UB7TkE8n1LG8+JWrwtKWsVrbLLnezpCvNaS9+eBP2nqaKpmbTVjWwTuJDCHZZLg47p9weefDKgVsHKC24Zr8om08QpPZlkywNcHDIUIknpAEAQBAEAQBAEBwXm4R26ikqJThrGknHJ8gPUnZdKVKVWahHVms5KMW2fNqmsmqKh1ZWh5kkyxzmf3G2zMHBHJBaRg8gr0EIRjFU6ei/Pff0azWjKirN32pf5z+TVG58hBcd9IaSOSBxnz8PwC6dVaEKc2zeIx5LG2crmuYaWEZwDz4ZWHVhBbUskjrSjUqzUKau2R/xctfXCmjDnxAgy9m0ANwMANztsPPYcqFhsV9eblTyhHe9W37cd7yReYnB/w6ahVd6kty0ivd8NyzeZfukb0+djqOrfqliALZckiVmcA5IGojgng8qLjsOoNVIaPdwftfgZw9RyWzLUtigEkIAgCAIAgCAICh9fVmuSnpNQDHvc92S3GG4AHe2O54PkrPo2Gcp8Mt+/wzIeLl2YffyKgSDKPzbGEDB0P1A+WNzj2zhW98tSpq66HfT42UeUiOzdLUMhb3t3EZDQoOIxlOgutm+BYdH9FYjHytTVo729P2+4r9fXS1c/wtOcvdy4cNVE6tbH1VB/4e4hQwnQuFlVWb472+Hd9vE6GwR00DY2jLRz6r1uGpxpQVOGiPAV8RPEVnVqZtknaan4W50dQBHGBIGFjZGuJY4ad9y48jyAxwtK8fqUpRzeX5Wfh6slUZbMoyXhzq/Q+rUz9cLXHnC88W5tQBAEAQBAEAQHzTrQyC6QhoJJikGBr37wz8pHmOdla4C2xK/FcPcg4tNzVu/j7FXYdEpaY2xnbuNdqA+uSrNu61uVdRWeasTVmppbhVx08O2d3Ox8oHJUKvUUI3ZilRdWaiiX6uhoZKEUdMWxSwN0/Efq+hPj6qhrU/ru+89ZgMV/Bsl2N653lPtlJ8LFrlwZXc+gzwrDo/C/Qhn2nr8FP0z0m8dW6vYjp395tqJBg7q5plQkbKRsjRGGwhjXyx95jnkOOobnDtOfcLWo073d8nw4d6uTIRdllvXH5t5n1+3HNMD5k/8rzZdHUgCAIAgCAIAgKB9olEQwVTWajC/tMBrT3Ts75sjbY/RWHR1TZquD/t67tOJGxULxUuBRtB1s7GJoDyGsDXlxkJ8RsM7+IABVxfJ7T/AFz434lXOHBFqdcKfpm3/BROElzmAM/ZnOnyaD4Aefvj0pKm3iqnV7JPpqGFh1tWV+WrlqH6p3A+IaOB7D+alU6CgsiBWrzqvM8umUiMDhY0GTtJA0FuTxqdgH6qTFbKuzaMbuyJTp2lFTeYWsha1sB7WVuM4dw1uSNQOfAkggbKNjKuxQbbu3kvffb0J9CClNWVks+d/wCT69Sx9lTsYeQN1QFmbUAQBAEAQBAEBxXWiFbTluAXtBwDwfMLKdncHyO6UNVYKp0lK0iLJEc+jU6nJGMftcNaTsBnxV5SrRxcNlu0t/f3r33sr6lN0pbS+3PoQ5g7PW5ry/u6pJXHPaOzgkHk7g4z+qSpEIxSUUrd3z7kSpFtuTZ61PaXAjdrQ848AcYP+4WdhPQ5OLMnXh24yGB+PMHH8jn2W0VHLyM7DOmGKR8/wtLGZJXO1MjcBmI8HUeMAjByMEEYWrlFR25uy9ed1s077iRGm77KR9I6NsIoKZrnd451Ocfvu9P8I8AqLFYh4ie1u3c8WWVKn9ONi2qMdQgCAIAgCAIAgCAjrlaoa1pJAa8jBOMhw8iEWTug8yj3LogxOc6lElPnP6Pvs4I+U8bE8easKfSNRWVRbXrrf2I08NF9l2Io9N1rZC4SwOJ843DxaRt/lH4rr/Pp2tZ83+Tk8LO97rm3wdNH0hUTOAlnkcBgaYYtOwDh8x9HEfgsS6R/5j5/Z+qubRwr/tLy+/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+6A9XS/2i0PZHdLlSUsknyMllDXO9m8lAbrbdKC60/xFsrIKuHONcEgeAfI44KAplw6isMv2hUhrLxbRR2+glLXyVMYYyqdIGkZJwHhodtzhxQFtqb5aaW3suNTc6OOikGY6h87Qx48NLs4P0QGLXf7Rd3yMtdypaqSPGtkUoLm+45CA7JquCCWGKaaOOSdxbCxzwDIQMkNHicAn2CAjJbhZ+oLdc6OnukMkLI3Q1UtNOMwhwIPeHBAz7YQHVYKalpLJQ09BUuqqSOBohndIJDI3GztQ2OfMICQQBAEAQBAV27dOTvuT7tYa8264va1s2qPtIagDjtGZG/hqBBQGbLfquS5vs19o2UlyEZlidFJriqowcFzDyCMjLTuM+IQG+73OxWarE9wdAyunZpaGQmSeVrckANaC5wGT4ICu2u40kv2ixOtlLU0zK+3SuqRNSvg7V0b2aHYcBkgPcM+yA7uxiP2olpiZpNjzjSOe35QE3eJ7PbYIq27GkhjgdiKSZo7rnbYb45PkOUBTeob1bqy69PV9spq2KqjucUHxEtBLAHwyZa9hc9oyDkHHmAgJLr+lNZcel6USPjE1xex7mHB0GCTWM+rcj6oCdulLT0fTdfDSQRQRMo5GtjiYGhoDDgYCA8dF/2Psf7vg/gCAmUAQBAEBgnCAho+q7C+eamddqSGohc5kkNRKInjScE6XYOPXgoCIZW0/UvV9rqrQ5tRRWpkz5a2PeJ75G6BGx3DvEnB2wEBz2Cvobb1V1KL5U09Nc5asOp31LwzXSBjQzQTy0O15A8UBiO7092+0i0y0J7WiZbqpkdUP0cztURdoP3gO7uNsnHgUB3BwP2qYyNX5Bzp8cdugNF5qKOi+0Ghqb5JHFS/AuZQTTnEbJy/vjUdg4t048TvhAcnWd9o7hLZqa2TMrGQ3mkfUzwOD44fzgAaXDbUSR3ecZKAlOrCP6QdI/vOT/ryoCav+PyFccnH9Vl/gKA5eiiHdHWIg5Bt8G/+m1ATSAIAgCAIDnqaGjq8fFUsE+OO1jDsfigNzGMjYGMY1rRwAMAIDVVUVJVhoq6WCcN3b2sYdj8UBtEbBpwxo0jDcDgeiAzpbq1aRqxjON8IDxUU8NTEYqiGOWN3LJGhwP0KAxFTU8ETYoYIo4m7tYxgAH0QGwtaSCWgkcEjhACARgjI8igDQGgBoAA4AQGUAQ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aphicFrame>
        <p:nvGraphicFramePr>
          <p:cNvPr id="49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610318"/>
              </p:ext>
            </p:extLst>
          </p:nvPr>
        </p:nvGraphicFramePr>
        <p:xfrm>
          <a:off x="250825" y="728700"/>
          <a:ext cx="8642350" cy="518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870"/>
                <a:gridCol w="1575175"/>
                <a:gridCol w="2205245"/>
                <a:gridCol w="3286060"/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</a:rPr>
                        <a:t>サーバ名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A0C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>
                          <a:solidFill>
                            <a:schemeClr val="tx1"/>
                          </a:solidFill>
                        </a:rPr>
                        <a:t>OS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A0C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</a:rPr>
                        <a:t>ハード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A0C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</a:rPr>
                        <a:t>用途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A0C8C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nksv559</a:t>
                      </a:r>
                    </a:p>
                    <a:p>
                      <a:r>
                        <a:rPr kumimoji="1" lang="en-US" altLang="ja-JP" sz="1400" dirty="0" smtClean="0"/>
                        <a:t>(172.25.201.11)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Windows Server</a:t>
                      </a:r>
                    </a:p>
                    <a:p>
                      <a:r>
                        <a:rPr kumimoji="1" lang="en-US" altLang="ja-JP" sz="1400" dirty="0" smtClean="0"/>
                        <a:t>2008</a:t>
                      </a:r>
                      <a:r>
                        <a:rPr kumimoji="1" lang="en-US" altLang="ja-JP" sz="1400" baseline="0" dirty="0" smtClean="0"/>
                        <a:t> R2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Fujitsu </a:t>
                      </a:r>
                    </a:p>
                    <a:p>
                      <a:r>
                        <a:rPr kumimoji="1" lang="en-US" altLang="ja-JP" sz="1400" dirty="0" smtClean="0"/>
                        <a:t>PRIMERGY</a:t>
                      </a:r>
                      <a:r>
                        <a:rPr kumimoji="1" lang="en-US" altLang="ja-JP" sz="1400" baseline="0" dirty="0" smtClean="0"/>
                        <a:t> RX100S7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川本 </a:t>
                      </a:r>
                      <a:r>
                        <a:rPr kumimoji="1" lang="en-US" altLang="ja-JP" sz="1400" dirty="0" err="1" smtClean="0">
                          <a:effectLst/>
                        </a:rPr>
                        <a:t>i</a:t>
                      </a:r>
                      <a:r>
                        <a:rPr kumimoji="1" lang="en-US" altLang="ja-JP" sz="1400" dirty="0" smtClean="0">
                          <a:effectLst/>
                        </a:rPr>
                        <a:t>-Reporter</a:t>
                      </a:r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用サーバ</a:t>
                      </a:r>
                      <a:endParaRPr kumimoji="1" lang="ja-JP" alt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nksv560</a:t>
                      </a:r>
                    </a:p>
                    <a:p>
                      <a:r>
                        <a:rPr kumimoji="1" lang="en-US" altLang="ja-JP" sz="1400" dirty="0" smtClean="0"/>
                        <a:t>(172.25.201.12)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Ubuntu16.04LTS + LAMP</a:t>
                      </a:r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Fujitsu</a:t>
                      </a:r>
                    </a:p>
                    <a:p>
                      <a:r>
                        <a:rPr kumimoji="1" lang="en-US" altLang="ja-JP" sz="1400" dirty="0" smtClean="0"/>
                        <a:t>PRIMERGY TX200S7</a:t>
                      </a:r>
                    </a:p>
                    <a:p>
                      <a:r>
                        <a:rPr kumimoji="1" lang="en-US" altLang="ja-JP" sz="1400" dirty="0" smtClean="0"/>
                        <a:t>Xeon E5-2403 x1</a:t>
                      </a:r>
                    </a:p>
                    <a:p>
                      <a:r>
                        <a:rPr kumimoji="1" lang="en-US" altLang="ja-JP" sz="1400" dirty="0" smtClean="0"/>
                        <a:t>12GB +</a:t>
                      </a:r>
                      <a:r>
                        <a:rPr kumimoji="1" lang="en-US" altLang="ja-JP" sz="1400" baseline="0" dirty="0" smtClean="0"/>
                        <a:t> 300GB RAID6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富岡生産系</a:t>
                      </a:r>
                      <a:r>
                        <a:rPr kumimoji="1" lang="en-US" altLang="ja-JP" sz="1400" dirty="0" smtClean="0">
                          <a:effectLst/>
                        </a:rPr>
                        <a:t>Web</a:t>
                      </a:r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サーバ</a:t>
                      </a:r>
                      <a:endParaRPr kumimoji="1" lang="en-US" altLang="ja-JP" sz="14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富岡生産系</a:t>
                      </a:r>
                      <a:r>
                        <a:rPr kumimoji="1" lang="en-US" altLang="ja-JP" sz="1400" dirty="0" smtClean="0">
                          <a:effectLst/>
                        </a:rPr>
                        <a:t>SQL</a:t>
                      </a:r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サーバ</a:t>
                      </a:r>
                      <a:endParaRPr kumimoji="1" lang="ja-JP" alt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BBE0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nksv561</a:t>
                      </a:r>
                    </a:p>
                    <a:p>
                      <a:r>
                        <a:rPr kumimoji="1" lang="en-US" altLang="ja-JP" sz="1400" dirty="0" smtClean="0"/>
                        <a:t>(172.25.201.13)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Windows Server</a:t>
                      </a:r>
                    </a:p>
                    <a:p>
                      <a:r>
                        <a:rPr kumimoji="1" lang="en-US" altLang="ja-JP" sz="1400" dirty="0" smtClean="0"/>
                        <a:t>2008</a:t>
                      </a:r>
                      <a:r>
                        <a:rPr kumimoji="1" lang="en-US" altLang="ja-JP" sz="1400" baseline="0" dirty="0" smtClean="0"/>
                        <a:t> R2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Fujitsu</a:t>
                      </a:r>
                    </a:p>
                    <a:p>
                      <a:r>
                        <a:rPr kumimoji="1" lang="en-US" altLang="ja-JP" sz="1400" dirty="0" smtClean="0"/>
                        <a:t>PRIMERGY TX200S7</a:t>
                      </a:r>
                    </a:p>
                    <a:p>
                      <a:r>
                        <a:rPr kumimoji="1" lang="en-US" altLang="ja-JP" sz="1400" dirty="0" smtClean="0"/>
                        <a:t>Xeon E5-2403 x1</a:t>
                      </a:r>
                    </a:p>
                    <a:p>
                      <a:r>
                        <a:rPr kumimoji="1" lang="en-US" altLang="ja-JP" sz="1400" dirty="0" smtClean="0"/>
                        <a:t>32GB +</a:t>
                      </a:r>
                      <a:r>
                        <a:rPr kumimoji="1" lang="en-US" altLang="ja-JP" sz="1400" baseline="0" dirty="0" smtClean="0"/>
                        <a:t> 300GB RAID6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富岡アプリケーションサーバ</a:t>
                      </a:r>
                      <a:endParaRPr kumimoji="1" lang="ja-JP" alt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nksv567</a:t>
                      </a:r>
                    </a:p>
                    <a:p>
                      <a:r>
                        <a:rPr kumimoji="1" lang="en-US" altLang="ja-JP" sz="1400" dirty="0" smtClean="0"/>
                        <a:t>(172.25.201.14)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 smtClean="0"/>
                        <a:t>Ubuntu16.04LTS + LAMP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Fujitsu</a:t>
                      </a:r>
                    </a:p>
                    <a:p>
                      <a:r>
                        <a:rPr kumimoji="1" lang="en-US" altLang="ja-JP" sz="1400" dirty="0" smtClean="0"/>
                        <a:t>PRIMERGY TX350S7</a:t>
                      </a:r>
                    </a:p>
                    <a:p>
                      <a:r>
                        <a:rPr kumimoji="1" lang="en-US" altLang="ja-JP" sz="1400" dirty="0" smtClean="0"/>
                        <a:t>Xeon E5-2403 x1</a:t>
                      </a:r>
                    </a:p>
                    <a:p>
                      <a:r>
                        <a:rPr kumimoji="1" lang="en-US" altLang="ja-JP" sz="1400" dirty="0" smtClean="0"/>
                        <a:t>32GB +</a:t>
                      </a:r>
                      <a:r>
                        <a:rPr kumimoji="1" lang="en-US" altLang="ja-JP" sz="1400" baseline="0" dirty="0" smtClean="0"/>
                        <a:t> 8.5TB RAID6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生産技術用サーバ</a:t>
                      </a:r>
                      <a:endParaRPr kumimoji="1" lang="en-US" altLang="ja-JP" sz="14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r>
                        <a:rPr kumimoji="1" lang="en-US" altLang="ja-JP" sz="1400" dirty="0" smtClean="0">
                          <a:effectLst/>
                        </a:rPr>
                        <a:t>Redmine</a:t>
                      </a:r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サーバ</a:t>
                      </a:r>
                      <a:endParaRPr kumimoji="1" lang="en-US" altLang="ja-JP" sz="14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BBE0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nksv568</a:t>
                      </a:r>
                    </a:p>
                    <a:p>
                      <a:r>
                        <a:rPr kumimoji="1" lang="en-US" altLang="ja-JP" sz="1400" dirty="0" smtClean="0"/>
                        <a:t>(172.25.201.15)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 smtClean="0"/>
                        <a:t>Ubuntu16.04LTS + LAMP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Fujitsu</a:t>
                      </a:r>
                    </a:p>
                    <a:p>
                      <a:r>
                        <a:rPr kumimoji="1" lang="en-US" altLang="ja-JP" sz="1400" dirty="0" smtClean="0"/>
                        <a:t>PRIMERGY TX350S7</a:t>
                      </a:r>
                    </a:p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（同上）</a:t>
                      </a:r>
                      <a:endParaRPr kumimoji="1" lang="en-US" altLang="ja-JP" sz="14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川本用サーバ</a:t>
                      </a:r>
                      <a:endParaRPr kumimoji="1" lang="ja-JP" alt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BBE0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nksv569</a:t>
                      </a:r>
                    </a:p>
                    <a:p>
                      <a:r>
                        <a:rPr kumimoji="1" lang="en-US" altLang="ja-JP" sz="1400" dirty="0" smtClean="0"/>
                        <a:t>(172.25.201.16)</a:t>
                      </a:r>
                      <a:endParaRPr kumimoji="1" lang="ja-JP" altLang="en-US" sz="1400" dirty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 smtClean="0"/>
                        <a:t>Ubuntu16.04LTS /64bit+ </a:t>
                      </a:r>
                      <a:r>
                        <a:rPr kumimoji="1" lang="en-US" altLang="ja-JP" sz="1400" dirty="0" smtClean="0"/>
                        <a:t>LAMP</a:t>
                      </a:r>
                      <a:endParaRPr kumimoji="1" lang="ja-JP" altLang="en-US" sz="1400" dirty="0" smtClean="0"/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smtClean="0"/>
                        <a:t>Fujitsu</a:t>
                      </a:r>
                    </a:p>
                    <a:p>
                      <a:r>
                        <a:rPr kumimoji="1" lang="en-US" altLang="ja-JP" sz="1400" dirty="0" smtClean="0"/>
                        <a:t>PRIMERGY TX350S7</a:t>
                      </a:r>
                    </a:p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（同上）</a:t>
                      </a:r>
                      <a:endParaRPr kumimoji="1" lang="en-US" altLang="ja-JP" sz="14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富岡テスト用サーバ</a:t>
                      </a:r>
                      <a:endParaRPr kumimoji="1" lang="ja-JP" alt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BBE0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34299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テーマ1</Template>
  <TotalTime>28284</TotalTime>
  <Words>680</Words>
  <Application>Microsoft Office PowerPoint</Application>
  <PresentationFormat>画面に合わせる (4:3)</PresentationFormat>
  <Paragraphs>153</Paragraphs>
  <Slides>7</Slides>
  <Notes>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8" baseType="lpstr">
      <vt:lpstr>テーマ1</vt:lpstr>
      <vt:lpstr>日本光電富岡株式会社 サーバシステムについて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小松　茂男</dc:creator>
  <cp:lastModifiedBy>IGARASHI, Junichi</cp:lastModifiedBy>
  <cp:revision>1013</cp:revision>
  <dcterms:created xsi:type="dcterms:W3CDTF">2013-10-09T06:30:30Z</dcterms:created>
  <dcterms:modified xsi:type="dcterms:W3CDTF">2019-08-14T00:52:06Z</dcterms:modified>
</cp:coreProperties>
</file>