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313" r:id="rId2"/>
    <p:sldId id="314" r:id="rId3"/>
    <p:sldId id="315" r:id="rId4"/>
    <p:sldId id="322" r:id="rId5"/>
    <p:sldId id="325" r:id="rId6"/>
    <p:sldId id="316" r:id="rId7"/>
    <p:sldId id="311" r:id="rId8"/>
    <p:sldId id="312" r:id="rId9"/>
    <p:sldId id="317" r:id="rId10"/>
    <p:sldId id="318" r:id="rId11"/>
    <p:sldId id="319" r:id="rId12"/>
    <p:sldId id="320" r:id="rId13"/>
    <p:sldId id="321" r:id="rId14"/>
    <p:sldId id="323" r:id="rId15"/>
    <p:sldId id="324" r:id="rId16"/>
  </p:sldIdLst>
  <p:sldSz cx="9144000" cy="6858000" type="screen4x3"/>
  <p:notesSz cx="6858000" cy="9144000"/>
  <p:defaultTex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E0E3"/>
    <a:srgbClr val="FFFF99"/>
    <a:srgbClr val="A0C8C8"/>
    <a:srgbClr val="FFFFCC"/>
    <a:srgbClr val="0000FF"/>
    <a:srgbClr val="FFCCFF"/>
    <a:srgbClr val="009900"/>
    <a:srgbClr val="FFCC66"/>
    <a:srgbClr val="B280B0"/>
    <a:srgbClr val="C56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2" autoAdjust="0"/>
    <p:restoredTop sz="94352" autoAdjust="0"/>
  </p:normalViewPr>
  <p:slideViewPr>
    <p:cSldViewPr>
      <p:cViewPr varScale="1">
        <p:scale>
          <a:sx n="104" d="100"/>
          <a:sy n="104" d="100"/>
        </p:scale>
        <p:origin x="1602" y="11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50" charset="-128"/>
              </a:defRPr>
            </a:lvl1pPr>
          </a:lstStyle>
          <a:p>
            <a:pPr>
              <a:defRPr/>
            </a:pPr>
            <a:endParaRPr lang="en-US" altLang="ja-JP"/>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50" charset="-128"/>
              </a:defRPr>
            </a:lvl1pPr>
          </a:lstStyle>
          <a:p>
            <a:pPr>
              <a:defRPr/>
            </a:pPr>
            <a:endParaRPr lang="en-US" altLang="ja-JP"/>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50" charset="-128"/>
              </a:defRPr>
            </a:lvl1pPr>
          </a:lstStyle>
          <a:p>
            <a:pPr>
              <a:defRPr/>
            </a:pPr>
            <a:endParaRPr lang="en-US" altLang="ja-JP"/>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ＭＳ Ｐゴシック" pitchFamily="50" charset="-128"/>
              </a:defRPr>
            </a:lvl1pPr>
          </a:lstStyle>
          <a:p>
            <a:pPr>
              <a:defRPr/>
            </a:pPr>
            <a:fld id="{3B6EC29E-9641-4C37-87C7-08342DA865C6}" type="slidenum">
              <a:rPr lang="en-US" altLang="ja-JP"/>
              <a:pPr>
                <a:defRPr/>
              </a:pPr>
              <a:t>‹#›</a:t>
            </a:fld>
            <a:endParaRPr lang="en-US" altLang="ja-JP"/>
          </a:p>
        </p:txBody>
      </p:sp>
    </p:spTree>
    <p:extLst>
      <p:ext uri="{BB962C8B-B14F-4D97-AF65-F5344CB8AC3E}">
        <p14:creationId xmlns:p14="http://schemas.microsoft.com/office/powerpoint/2010/main" val="32309940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3B6EC29E-9641-4C37-87C7-08342DA865C6}" type="slidenum">
              <a:rPr lang="en-US" altLang="ja-JP" smtClean="0"/>
              <a:pPr>
                <a:defRPr/>
              </a:pPr>
              <a:t>1</a:t>
            </a:fld>
            <a:endParaRPr lang="en-US" altLang="ja-JP" dirty="0"/>
          </a:p>
        </p:txBody>
      </p:sp>
    </p:spTree>
    <p:extLst>
      <p:ext uri="{BB962C8B-B14F-4D97-AF65-F5344CB8AC3E}">
        <p14:creationId xmlns:p14="http://schemas.microsoft.com/office/powerpoint/2010/main" val="1684144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3B6EC29E-9641-4C37-87C7-08342DA865C6}" type="slidenum">
              <a:rPr lang="en-US" altLang="ja-JP" smtClean="0"/>
              <a:pPr>
                <a:defRPr/>
              </a:pPr>
              <a:t>6</a:t>
            </a:fld>
            <a:endParaRPr lang="en-US" altLang="ja-JP"/>
          </a:p>
        </p:txBody>
      </p:sp>
    </p:spTree>
    <p:extLst>
      <p:ext uri="{BB962C8B-B14F-4D97-AF65-F5344CB8AC3E}">
        <p14:creationId xmlns:p14="http://schemas.microsoft.com/office/powerpoint/2010/main" val="1684144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3B6EC29E-9641-4C37-87C7-08342DA865C6}" type="slidenum">
              <a:rPr lang="en-US" altLang="ja-JP" smtClean="0"/>
              <a:pPr>
                <a:defRPr/>
              </a:pPr>
              <a:t>10</a:t>
            </a:fld>
            <a:endParaRPr lang="en-US" altLang="ja-JP"/>
          </a:p>
        </p:txBody>
      </p:sp>
    </p:spTree>
    <p:extLst>
      <p:ext uri="{BB962C8B-B14F-4D97-AF65-F5344CB8AC3E}">
        <p14:creationId xmlns:p14="http://schemas.microsoft.com/office/powerpoint/2010/main" val="26047768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4" name="Picture 2" descr="01_NKstandard-A_01-Title"/>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9219" name="Rectangle 3"/>
          <p:cNvSpPr>
            <a:spLocks noGrp="1" noChangeArrowheads="1"/>
          </p:cNvSpPr>
          <p:nvPr>
            <p:ph type="ctrTitle"/>
          </p:nvPr>
        </p:nvSpPr>
        <p:spPr>
          <a:xfrm>
            <a:off x="395288" y="1700213"/>
            <a:ext cx="8353425" cy="1225550"/>
          </a:xfrm>
        </p:spPr>
        <p:txBody>
          <a:bodyPr/>
          <a:lstStyle>
            <a:lvl1pPr algn="ctr">
              <a:defRPr sz="4800">
                <a:solidFill>
                  <a:srgbClr val="3333CC"/>
                </a:solidFill>
              </a:defRPr>
            </a:lvl1pPr>
          </a:lstStyle>
          <a:p>
            <a:r>
              <a:rPr lang="ja-JP" altLang="en-US"/>
              <a:t>マスタ タイトルの書式設定</a:t>
            </a:r>
          </a:p>
        </p:txBody>
      </p:sp>
      <p:sp>
        <p:nvSpPr>
          <p:cNvPr id="9220" name="Rectangle 4"/>
          <p:cNvSpPr>
            <a:spLocks noGrp="1" noChangeArrowheads="1"/>
          </p:cNvSpPr>
          <p:nvPr>
            <p:ph type="subTitle" idx="1"/>
          </p:nvPr>
        </p:nvSpPr>
        <p:spPr>
          <a:xfrm>
            <a:off x="395288" y="3213100"/>
            <a:ext cx="8316912" cy="1752600"/>
          </a:xfrm>
        </p:spPr>
        <p:txBody>
          <a:bodyPr/>
          <a:lstStyle>
            <a:lvl1pPr marL="0" indent="0" algn="ctr">
              <a:buFontTx/>
              <a:buNone/>
              <a:defRPr>
                <a:solidFill>
                  <a:schemeClr val="bg2"/>
                </a:solidFill>
              </a:defRPr>
            </a:lvl1pPr>
          </a:lstStyle>
          <a:p>
            <a:r>
              <a:rPr lang="ja-JP" altLang="en-US"/>
              <a:t>マスタ サブタイトルの書式設定</a:t>
            </a:r>
          </a:p>
        </p:txBody>
      </p:sp>
      <p:sp>
        <p:nvSpPr>
          <p:cNvPr id="5" name="Rectangle 5"/>
          <p:cNvSpPr>
            <a:spLocks noGrp="1" noChangeArrowheads="1"/>
          </p:cNvSpPr>
          <p:nvPr>
            <p:ph type="dt" sz="half" idx="10"/>
          </p:nvPr>
        </p:nvSpPr>
        <p:spPr/>
        <p:txBody>
          <a:bodyPr/>
          <a:lstStyle>
            <a:lvl1pPr>
              <a:defRPr/>
            </a:lvl1pPr>
          </a:lstStyle>
          <a:p>
            <a:pPr>
              <a:defRPr/>
            </a:pPr>
            <a:endParaRPr lang="en-US" altLang="ja-JP"/>
          </a:p>
        </p:txBody>
      </p:sp>
      <p:sp>
        <p:nvSpPr>
          <p:cNvPr id="6" name="Rectangle 6"/>
          <p:cNvSpPr>
            <a:spLocks noGrp="1" noChangeArrowheads="1"/>
          </p:cNvSpPr>
          <p:nvPr>
            <p:ph type="ftr" sz="quarter" idx="11"/>
          </p:nvPr>
        </p:nvSpPr>
        <p:spPr/>
        <p:txBody>
          <a:bodyPr/>
          <a:lstStyle>
            <a:lvl1pPr>
              <a:defRPr/>
            </a:lvl1pPr>
          </a:lstStyle>
          <a:p>
            <a:pPr>
              <a:defRPr/>
            </a:pPr>
            <a:endParaRPr lang="en-US" altLang="ja-JP"/>
          </a:p>
        </p:txBody>
      </p:sp>
      <p:sp>
        <p:nvSpPr>
          <p:cNvPr id="7" name="Rectangle 7"/>
          <p:cNvSpPr>
            <a:spLocks noGrp="1" noChangeArrowheads="1"/>
          </p:cNvSpPr>
          <p:nvPr>
            <p:ph type="sldNum" sz="quarter" idx="12"/>
          </p:nvPr>
        </p:nvSpPr>
        <p:spPr/>
        <p:txBody>
          <a:bodyPr/>
          <a:lstStyle>
            <a:lvl1pPr>
              <a:defRPr/>
            </a:lvl1pPr>
          </a:lstStyle>
          <a:p>
            <a:pPr>
              <a:defRPr/>
            </a:pPr>
            <a:fld id="{103FA6B2-72D5-4EFE-BC13-069A5F8F43A4}" type="slidenum">
              <a:rPr lang="en-US" altLang="ja-JP"/>
              <a:pPr>
                <a:defRPr/>
              </a:pPr>
              <a:t>‹#›</a:t>
            </a:fld>
            <a:endParaRPr lang="en-US" altLang="ja-JP"/>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7"/>
          <p:cNvSpPr>
            <a:spLocks noGrp="1" noChangeArrowheads="1"/>
          </p:cNvSpPr>
          <p:nvPr>
            <p:ph type="sldNum" sz="quarter" idx="12"/>
          </p:nvPr>
        </p:nvSpPr>
        <p:spPr>
          <a:ln/>
        </p:spPr>
        <p:txBody>
          <a:bodyPr/>
          <a:lstStyle>
            <a:lvl1pPr>
              <a:defRPr/>
            </a:lvl1pPr>
          </a:lstStyle>
          <a:p>
            <a:pPr>
              <a:defRPr/>
            </a:pPr>
            <a:fld id="{0D9757FE-F7D9-4C4F-856F-1548F21BD0F7}" type="slidenum">
              <a:rPr lang="en-US" altLang="ja-JP"/>
              <a:pPr>
                <a:defRPr/>
              </a:pPr>
              <a:t>‹#›</a:t>
            </a:fld>
            <a:endParaRPr lang="en-US" altLang="ja-JP"/>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7"/>
          <p:cNvSpPr>
            <a:spLocks noGrp="1" noChangeArrowheads="1"/>
          </p:cNvSpPr>
          <p:nvPr>
            <p:ph type="sldNum" sz="quarter" idx="12"/>
          </p:nvPr>
        </p:nvSpPr>
        <p:spPr>
          <a:ln/>
        </p:spPr>
        <p:txBody>
          <a:bodyPr/>
          <a:lstStyle>
            <a:lvl1pPr>
              <a:defRPr/>
            </a:lvl1pPr>
          </a:lstStyle>
          <a:p>
            <a:pPr>
              <a:defRPr/>
            </a:pPr>
            <a:fld id="{5F38EEC3-EF44-4D68-9CCF-401D1904E61A}" type="slidenum">
              <a:rPr lang="en-US" altLang="ja-JP"/>
              <a:pPr>
                <a:defRPr/>
              </a:pPr>
              <a:t>‹#›</a:t>
            </a:fld>
            <a:endParaRPr lang="en-US" altLang="ja-JP"/>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250825" y="1773238"/>
            <a:ext cx="4244975"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773238"/>
            <a:ext cx="4244975"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7"/>
          <p:cNvSpPr>
            <a:spLocks noGrp="1" noChangeArrowheads="1"/>
          </p:cNvSpPr>
          <p:nvPr>
            <p:ph type="sldNum" sz="quarter" idx="12"/>
          </p:nvPr>
        </p:nvSpPr>
        <p:spPr>
          <a:ln/>
        </p:spPr>
        <p:txBody>
          <a:bodyPr/>
          <a:lstStyle>
            <a:lvl1pPr>
              <a:defRPr/>
            </a:lvl1pPr>
          </a:lstStyle>
          <a:p>
            <a:pPr>
              <a:defRPr/>
            </a:pPr>
            <a:fld id="{A9C7D51F-66B9-43BF-9D5F-F8D7B25EF5AA}" type="slidenum">
              <a:rPr lang="en-US" altLang="ja-JP"/>
              <a:pPr>
                <a:defRPr/>
              </a:pPr>
              <a:t>‹#›</a:t>
            </a:fld>
            <a:endParaRPr lang="en-US" altLang="ja-JP"/>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7"/>
          <p:cNvSpPr>
            <a:spLocks noGrp="1" noChangeArrowheads="1"/>
          </p:cNvSpPr>
          <p:nvPr>
            <p:ph type="sldNum" sz="quarter" idx="12"/>
          </p:nvPr>
        </p:nvSpPr>
        <p:spPr>
          <a:ln/>
        </p:spPr>
        <p:txBody>
          <a:bodyPr/>
          <a:lstStyle>
            <a:lvl1pPr>
              <a:defRPr/>
            </a:lvl1pPr>
          </a:lstStyle>
          <a:p>
            <a:pPr>
              <a:defRPr/>
            </a:pPr>
            <a:fld id="{AC1AA848-B7AA-42EB-928E-A7E727A9027A}" type="slidenum">
              <a:rPr lang="en-US" altLang="ja-JP"/>
              <a:pPr>
                <a:defRPr/>
              </a:pPr>
              <a:t>‹#›</a:t>
            </a:fld>
            <a:endParaRPr lang="en-US" altLang="ja-JP"/>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7"/>
          <p:cNvSpPr>
            <a:spLocks noGrp="1" noChangeArrowheads="1"/>
          </p:cNvSpPr>
          <p:nvPr>
            <p:ph type="sldNum" sz="quarter" idx="12"/>
          </p:nvPr>
        </p:nvSpPr>
        <p:spPr>
          <a:ln/>
        </p:spPr>
        <p:txBody>
          <a:bodyPr/>
          <a:lstStyle>
            <a:lvl1pPr>
              <a:defRPr/>
            </a:lvl1pPr>
          </a:lstStyle>
          <a:p>
            <a:pPr>
              <a:defRPr/>
            </a:pPr>
            <a:fld id="{9ACAAB38-DB72-4622-B23B-6903E3205F9A}" type="slidenum">
              <a:rPr lang="en-US" altLang="ja-JP"/>
              <a:pPr>
                <a:defRPr/>
              </a:pPr>
              <a:t>‹#›</a:t>
            </a:fld>
            <a:endParaRPr lang="en-US" altLang="ja-JP"/>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7"/>
          <p:cNvSpPr>
            <a:spLocks noGrp="1" noChangeArrowheads="1"/>
          </p:cNvSpPr>
          <p:nvPr>
            <p:ph type="sldNum" sz="quarter" idx="12"/>
          </p:nvPr>
        </p:nvSpPr>
        <p:spPr>
          <a:ln/>
        </p:spPr>
        <p:txBody>
          <a:bodyPr/>
          <a:lstStyle>
            <a:lvl1pPr>
              <a:defRPr/>
            </a:lvl1pPr>
          </a:lstStyle>
          <a:p>
            <a:pPr>
              <a:defRPr/>
            </a:pPr>
            <a:fld id="{6DF3C7E5-FC90-4A3B-87F8-61E130FE963E}" type="slidenum">
              <a:rPr lang="en-US" altLang="ja-JP"/>
              <a:pPr>
                <a:defRPr/>
              </a:pPr>
              <a:t>‹#›</a:t>
            </a:fld>
            <a:endParaRPr lang="en-US" altLang="ja-JP"/>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7"/>
          <p:cNvSpPr>
            <a:spLocks noGrp="1" noChangeArrowheads="1"/>
          </p:cNvSpPr>
          <p:nvPr>
            <p:ph type="sldNum" sz="quarter" idx="12"/>
          </p:nvPr>
        </p:nvSpPr>
        <p:spPr>
          <a:ln/>
        </p:spPr>
        <p:txBody>
          <a:bodyPr/>
          <a:lstStyle>
            <a:lvl1pPr>
              <a:defRPr/>
            </a:lvl1pPr>
          </a:lstStyle>
          <a:p>
            <a:pPr>
              <a:defRPr/>
            </a:pPr>
            <a:fld id="{C1989332-1F5F-41B7-A0A6-14CA46B01DC1}" type="slidenum">
              <a:rPr lang="en-US" altLang="ja-JP"/>
              <a:pPr>
                <a:defRPr/>
              </a:pPr>
              <a:t>‹#›</a:t>
            </a:fld>
            <a:endParaRPr lang="en-US" altLang="ja-JP"/>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7"/>
          <p:cNvSpPr>
            <a:spLocks noGrp="1" noChangeArrowheads="1"/>
          </p:cNvSpPr>
          <p:nvPr>
            <p:ph type="sldNum" sz="quarter" idx="12"/>
          </p:nvPr>
        </p:nvSpPr>
        <p:spPr>
          <a:ln/>
        </p:spPr>
        <p:txBody>
          <a:bodyPr/>
          <a:lstStyle>
            <a:lvl1pPr>
              <a:defRPr/>
            </a:lvl1pPr>
          </a:lstStyle>
          <a:p>
            <a:pPr>
              <a:defRPr/>
            </a:pPr>
            <a:fld id="{D9FA14E1-6641-428D-A8E0-4F2B2EDBC13C}" type="slidenum">
              <a:rPr lang="en-US" altLang="ja-JP"/>
              <a:pPr>
                <a:defRPr/>
              </a:pPr>
              <a:t>‹#›</a:t>
            </a:fld>
            <a:endParaRPr lang="en-US" altLang="ja-JP"/>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7"/>
          <p:cNvSpPr>
            <a:spLocks noGrp="1" noChangeArrowheads="1"/>
          </p:cNvSpPr>
          <p:nvPr>
            <p:ph type="sldNum" sz="quarter" idx="12"/>
          </p:nvPr>
        </p:nvSpPr>
        <p:spPr>
          <a:ln/>
        </p:spPr>
        <p:txBody>
          <a:bodyPr/>
          <a:lstStyle>
            <a:lvl1pPr>
              <a:defRPr/>
            </a:lvl1pPr>
          </a:lstStyle>
          <a:p>
            <a:pPr>
              <a:defRPr/>
            </a:pPr>
            <a:fld id="{5DD592D6-2CD2-4E74-9E3F-AC57E9799A6F}" type="slidenum">
              <a:rPr lang="en-US" altLang="ja-JP"/>
              <a:pPr>
                <a:defRPr/>
              </a:pPr>
              <a:t>‹#›</a:t>
            </a:fld>
            <a:endParaRPr lang="en-US" altLang="ja-JP"/>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732588" y="549275"/>
            <a:ext cx="2160587" cy="583247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250825" y="549275"/>
            <a:ext cx="6329363" cy="583247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7"/>
          <p:cNvSpPr>
            <a:spLocks noGrp="1" noChangeArrowheads="1"/>
          </p:cNvSpPr>
          <p:nvPr>
            <p:ph type="sldNum" sz="quarter" idx="12"/>
          </p:nvPr>
        </p:nvSpPr>
        <p:spPr>
          <a:ln/>
        </p:spPr>
        <p:txBody>
          <a:bodyPr/>
          <a:lstStyle>
            <a:lvl1pPr>
              <a:defRPr/>
            </a:lvl1pPr>
          </a:lstStyle>
          <a:p>
            <a:pPr>
              <a:defRPr/>
            </a:pPr>
            <a:fld id="{4CB6ADF1-5A5B-4244-8BBA-6A2E87D117DF}" type="slidenum">
              <a:rPr lang="en-US" altLang="ja-JP"/>
              <a:pPr>
                <a:defRPr/>
              </a:pPr>
              <a:t>‹#›</a:t>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01_NKstandard-A_02-Contents"/>
          <p:cNvPicPr>
            <a:picLocks noChangeAspect="1" noChangeArrowheads="1"/>
          </p:cNvPicPr>
          <p:nvPr/>
        </p:nvPicPr>
        <p:blipFill>
          <a:blip r:embed="rId13" cstate="print"/>
          <a:srcRect/>
          <a:stretch>
            <a:fillRect/>
          </a:stretch>
        </p:blipFill>
        <p:spPr bwMode="auto">
          <a:xfrm>
            <a:off x="0" y="0"/>
            <a:ext cx="9144000" cy="6858000"/>
          </a:xfrm>
          <a:prstGeom prst="rect">
            <a:avLst/>
          </a:prstGeom>
          <a:noFill/>
          <a:ln w="9525">
            <a:noFill/>
            <a:miter lim="800000"/>
            <a:headEnd/>
            <a:tailEnd/>
          </a:ln>
        </p:spPr>
      </p:pic>
      <p:sp>
        <p:nvSpPr>
          <p:cNvPr id="1027" name="Rectangle 3"/>
          <p:cNvSpPr>
            <a:spLocks noGrp="1" noChangeArrowheads="1"/>
          </p:cNvSpPr>
          <p:nvPr>
            <p:ph type="title"/>
          </p:nvPr>
        </p:nvSpPr>
        <p:spPr bwMode="auto">
          <a:xfrm>
            <a:off x="250825" y="549275"/>
            <a:ext cx="8642350" cy="108108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8" name="Rectangle 4"/>
          <p:cNvSpPr>
            <a:spLocks noGrp="1" noChangeArrowheads="1"/>
          </p:cNvSpPr>
          <p:nvPr>
            <p:ph type="body" idx="1"/>
          </p:nvPr>
        </p:nvSpPr>
        <p:spPr bwMode="auto">
          <a:xfrm>
            <a:off x="250825" y="1773238"/>
            <a:ext cx="8642350" cy="46085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8197" name="Rectangle 5"/>
          <p:cNvSpPr>
            <a:spLocks noGrp="1" noChangeArrowheads="1"/>
          </p:cNvSpPr>
          <p:nvPr>
            <p:ph type="dt" sz="half" idx="2"/>
          </p:nvPr>
        </p:nvSpPr>
        <p:spPr bwMode="auto">
          <a:xfrm>
            <a:off x="6948488" y="65088"/>
            <a:ext cx="2133600" cy="26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ＭＳ Ｐゴシック" pitchFamily="50" charset="-128"/>
              </a:defRPr>
            </a:lvl1pPr>
          </a:lstStyle>
          <a:p>
            <a:pPr>
              <a:defRPr/>
            </a:pPr>
            <a:endParaRPr lang="en-US" altLang="ja-JP"/>
          </a:p>
        </p:txBody>
      </p:sp>
      <p:sp>
        <p:nvSpPr>
          <p:cNvPr id="8198" name="Rectangle 6"/>
          <p:cNvSpPr>
            <a:spLocks noGrp="1" noChangeArrowheads="1"/>
          </p:cNvSpPr>
          <p:nvPr>
            <p:ph type="ftr" sz="quarter" idx="3"/>
          </p:nvPr>
        </p:nvSpPr>
        <p:spPr bwMode="auto">
          <a:xfrm>
            <a:off x="107950" y="6524625"/>
            <a:ext cx="316865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bg1"/>
                </a:solidFill>
                <a:latin typeface="Arial" pitchFamily="34" charset="0"/>
                <a:ea typeface="ＭＳ Ｐゴシック" pitchFamily="50" charset="-128"/>
              </a:defRPr>
            </a:lvl1pPr>
          </a:lstStyle>
          <a:p>
            <a:pPr>
              <a:defRPr/>
            </a:pPr>
            <a:endParaRPr lang="en-US" altLang="ja-JP"/>
          </a:p>
        </p:txBody>
      </p:sp>
      <p:sp>
        <p:nvSpPr>
          <p:cNvPr id="8199" name="Rectangle 7"/>
          <p:cNvSpPr>
            <a:spLocks noGrp="1" noChangeArrowheads="1"/>
          </p:cNvSpPr>
          <p:nvPr>
            <p:ph type="sldNum" sz="quarter" idx="4"/>
          </p:nvPr>
        </p:nvSpPr>
        <p:spPr bwMode="auto">
          <a:xfrm>
            <a:off x="4116388" y="6524625"/>
            <a:ext cx="909637"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solidFill>
                  <a:schemeClr val="bg1"/>
                </a:solidFill>
                <a:latin typeface="Arial" pitchFamily="34" charset="0"/>
                <a:ea typeface="ＭＳ Ｐゴシック" pitchFamily="50" charset="-128"/>
              </a:defRPr>
            </a:lvl1pPr>
          </a:lstStyle>
          <a:p>
            <a:pPr>
              <a:defRPr/>
            </a:pPr>
            <a:fld id="{666C3027-2A3B-4171-ABC0-5EA484D65267}"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851"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txStyles>
    <p:titleStyle>
      <a:lvl1pPr algn="l" rtl="0" eaLnBrk="0" fontAlgn="base" hangingPunct="0">
        <a:spcBef>
          <a:spcPct val="0"/>
        </a:spcBef>
        <a:spcAft>
          <a:spcPct val="0"/>
        </a:spcAft>
        <a:defRPr kumimoji="1" sz="4400">
          <a:solidFill>
            <a:schemeClr val="tx1"/>
          </a:solidFill>
          <a:latin typeface="+mj-lt"/>
          <a:ea typeface="+mj-ea"/>
          <a:cs typeface="+mj-cs"/>
        </a:defRPr>
      </a:lvl1pPr>
      <a:lvl2pPr algn="l" rtl="0" eaLnBrk="0" fontAlgn="base" hangingPunct="0">
        <a:spcBef>
          <a:spcPct val="0"/>
        </a:spcBef>
        <a:spcAft>
          <a:spcPct val="0"/>
        </a:spcAft>
        <a:defRPr kumimoji="1" sz="4400">
          <a:solidFill>
            <a:schemeClr val="tx1"/>
          </a:solidFill>
          <a:latin typeface="Arial" charset="0"/>
          <a:ea typeface="ＭＳ Ｐゴシック" charset="-128"/>
        </a:defRPr>
      </a:lvl2pPr>
      <a:lvl3pPr algn="l" rtl="0" eaLnBrk="0" fontAlgn="base" hangingPunct="0">
        <a:spcBef>
          <a:spcPct val="0"/>
        </a:spcBef>
        <a:spcAft>
          <a:spcPct val="0"/>
        </a:spcAft>
        <a:defRPr kumimoji="1" sz="4400">
          <a:solidFill>
            <a:schemeClr val="tx1"/>
          </a:solidFill>
          <a:latin typeface="Arial" charset="0"/>
          <a:ea typeface="ＭＳ Ｐゴシック" charset="-128"/>
        </a:defRPr>
      </a:lvl3pPr>
      <a:lvl4pPr algn="l" rtl="0" eaLnBrk="0" fontAlgn="base" hangingPunct="0">
        <a:spcBef>
          <a:spcPct val="0"/>
        </a:spcBef>
        <a:spcAft>
          <a:spcPct val="0"/>
        </a:spcAft>
        <a:defRPr kumimoji="1" sz="4400">
          <a:solidFill>
            <a:schemeClr val="tx1"/>
          </a:solidFill>
          <a:latin typeface="Arial" charset="0"/>
          <a:ea typeface="ＭＳ Ｐゴシック" charset="-128"/>
        </a:defRPr>
      </a:lvl4pPr>
      <a:lvl5pPr algn="l" rtl="0" eaLnBrk="0" fontAlgn="base" hangingPunct="0">
        <a:spcBef>
          <a:spcPct val="0"/>
        </a:spcBef>
        <a:spcAft>
          <a:spcPct val="0"/>
        </a:spcAft>
        <a:defRPr kumimoji="1" sz="4400">
          <a:solidFill>
            <a:schemeClr val="tx1"/>
          </a:solidFill>
          <a:latin typeface="Arial" charset="0"/>
          <a:ea typeface="ＭＳ Ｐゴシック" charset="-128"/>
        </a:defRPr>
      </a:lvl5pPr>
      <a:lvl6pPr marL="457200" algn="l" rtl="0" eaLnBrk="1" fontAlgn="base" hangingPunct="1">
        <a:spcBef>
          <a:spcPct val="0"/>
        </a:spcBef>
        <a:spcAft>
          <a:spcPct val="0"/>
        </a:spcAft>
        <a:defRPr kumimoji="1" sz="4400">
          <a:solidFill>
            <a:schemeClr val="tx1"/>
          </a:solidFill>
          <a:latin typeface="Arial" charset="0"/>
          <a:ea typeface="ＭＳ Ｐゴシック" charset="-128"/>
        </a:defRPr>
      </a:lvl6pPr>
      <a:lvl7pPr marL="914400" algn="l" rtl="0" eaLnBrk="1" fontAlgn="base" hangingPunct="1">
        <a:spcBef>
          <a:spcPct val="0"/>
        </a:spcBef>
        <a:spcAft>
          <a:spcPct val="0"/>
        </a:spcAft>
        <a:defRPr kumimoji="1" sz="4400">
          <a:solidFill>
            <a:schemeClr val="tx1"/>
          </a:solidFill>
          <a:latin typeface="Arial" charset="0"/>
          <a:ea typeface="ＭＳ Ｐゴシック" charset="-128"/>
        </a:defRPr>
      </a:lvl7pPr>
      <a:lvl8pPr marL="1371600" algn="l" rtl="0" eaLnBrk="1" fontAlgn="base" hangingPunct="1">
        <a:spcBef>
          <a:spcPct val="0"/>
        </a:spcBef>
        <a:spcAft>
          <a:spcPct val="0"/>
        </a:spcAft>
        <a:defRPr kumimoji="1" sz="4400">
          <a:solidFill>
            <a:schemeClr val="tx1"/>
          </a:solidFill>
          <a:latin typeface="Arial" charset="0"/>
          <a:ea typeface="ＭＳ Ｐゴシック" charset="-128"/>
        </a:defRPr>
      </a:lvl8pPr>
      <a:lvl9pPr marL="1828800" algn="l" rtl="0" eaLnBrk="1" fontAlgn="base" hangingPunct="1">
        <a:spcBef>
          <a:spcPct val="0"/>
        </a:spcBef>
        <a:spcAft>
          <a:spcPct val="0"/>
        </a:spcAft>
        <a:defRPr kumimoji="1" sz="4400">
          <a:solidFill>
            <a:schemeClr val="tx1"/>
          </a:solidFill>
          <a:latin typeface="Arial" charset="0"/>
          <a:ea typeface="ＭＳ Ｐゴシック"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95288" y="1358770"/>
            <a:ext cx="8353425" cy="1566993"/>
          </a:xfrm>
        </p:spPr>
        <p:txBody>
          <a:bodyPr/>
          <a:lstStyle/>
          <a:p>
            <a:r>
              <a:rPr kumimoji="1" lang="ja-JP" altLang="en-US" dirty="0"/>
              <a:t>日本光電富岡株式会社</a:t>
            </a:r>
            <a:br>
              <a:rPr kumimoji="1" lang="en-US" altLang="ja-JP" dirty="0"/>
            </a:br>
            <a:r>
              <a:rPr kumimoji="1" lang="ja-JP" altLang="en-US" dirty="0"/>
              <a:t>サーバシステムについて</a:t>
            </a:r>
          </a:p>
        </p:txBody>
      </p:sp>
      <p:sp>
        <p:nvSpPr>
          <p:cNvPr id="3" name="サブタイトル 2"/>
          <p:cNvSpPr>
            <a:spLocks noGrp="1"/>
          </p:cNvSpPr>
          <p:nvPr>
            <p:ph type="subTitle" idx="1"/>
          </p:nvPr>
        </p:nvSpPr>
        <p:spPr/>
        <p:txBody>
          <a:bodyPr/>
          <a:lstStyle/>
          <a:p>
            <a:r>
              <a:rPr kumimoji="1" lang="en-US" altLang="ja-JP" dirty="0"/>
              <a:t>2022/02/03</a:t>
            </a:r>
            <a:r>
              <a:rPr kumimoji="1" lang="ja-JP" altLang="en-US" dirty="0"/>
              <a:t>改訂</a:t>
            </a:r>
            <a:endParaRPr kumimoji="1" lang="en-US" altLang="ja-JP" dirty="0"/>
          </a:p>
          <a:p>
            <a:r>
              <a:rPr lang="en-US" altLang="ja-JP" dirty="0"/>
              <a:t>J. Igarashi</a:t>
            </a:r>
            <a:endParaRPr kumimoji="1" lang="ja-JP" altLang="en-US" dirty="0"/>
          </a:p>
        </p:txBody>
      </p:sp>
    </p:spTree>
    <p:extLst>
      <p:ext uri="{BB962C8B-B14F-4D97-AF65-F5344CB8AC3E}">
        <p14:creationId xmlns:p14="http://schemas.microsoft.com/office/powerpoint/2010/main" val="4222817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50825" y="548680"/>
            <a:ext cx="8642350" cy="5805645"/>
          </a:xfrm>
        </p:spPr>
        <p:txBody>
          <a:bodyPr/>
          <a:lstStyle/>
          <a:p>
            <a:pPr marL="0" indent="0">
              <a:buNone/>
            </a:pPr>
            <a:r>
              <a:rPr kumimoji="1" lang="ja-JP" altLang="en-US" sz="2400" dirty="0"/>
              <a:t>はじめに</a:t>
            </a:r>
            <a:endParaRPr kumimoji="1" lang="en-US" altLang="ja-JP" sz="2400" dirty="0"/>
          </a:p>
          <a:p>
            <a:r>
              <a:rPr kumimoji="1" lang="ja-JP" altLang="en-US" sz="1600" dirty="0"/>
              <a:t>生産における競争は年々その激しさを増し、生産性・品質の悪い生産は急速に淘汰されてきている。一方、近年の</a:t>
            </a:r>
            <a:r>
              <a:rPr kumimoji="1" lang="en-US" altLang="ja-JP" sz="1600" dirty="0"/>
              <a:t>IT</a:t>
            </a:r>
            <a:r>
              <a:rPr kumimoji="1" lang="ja-JP" altLang="en-US" sz="1600" dirty="0"/>
              <a:t>技術の進歩や普及によって、生産現場で収集できる情報を容易にネットワーク化することができるようになり、リアルタイムデータとして、またビッグデータの活用で、</a:t>
            </a:r>
            <a:r>
              <a:rPr lang="ja-JP" altLang="en-US" sz="1600" dirty="0"/>
              <a:t>現場のニーズに即したツールのタイムリーな投入、情報のフィードバックをすることで、生産改善活動や品質改善活動に大きく寄与する可能性がある。そのため</a:t>
            </a:r>
            <a:r>
              <a:rPr lang="ja-JP" altLang="en-US" sz="1600"/>
              <a:t>には、現場</a:t>
            </a:r>
            <a:r>
              <a:rPr lang="ja-JP" altLang="en-US" sz="1600" dirty="0"/>
              <a:t>自らがこれら情報を処理し、利用できるスキルを持たなければ</a:t>
            </a:r>
            <a:r>
              <a:rPr lang="ja-JP" altLang="en-US" sz="1600"/>
              <a:t>ならない。</a:t>
            </a:r>
            <a:endParaRPr lang="en-US" altLang="ja-JP" sz="1600" dirty="0"/>
          </a:p>
          <a:p>
            <a:pPr marL="0" indent="0">
              <a:buNone/>
            </a:pPr>
            <a:endParaRPr lang="en-US" altLang="ja-JP" sz="1600" dirty="0"/>
          </a:p>
          <a:p>
            <a:r>
              <a:rPr kumimoji="1" lang="ja-JP" altLang="en-US" sz="1600" dirty="0"/>
              <a:t>その</a:t>
            </a:r>
            <a:r>
              <a:rPr kumimoji="1" lang="ja-JP" altLang="en-US" sz="1600"/>
              <a:t>ため、富岡各部門</a:t>
            </a:r>
            <a:r>
              <a:rPr kumimoji="1" lang="ja-JP" altLang="en-US" sz="1600" dirty="0"/>
              <a:t>にこれら活動を</a:t>
            </a:r>
            <a:r>
              <a:rPr kumimoji="1" lang="ja-JP" altLang="en-US" sz="1600"/>
              <a:t>行う部署（ものづくり、改善、</a:t>
            </a:r>
            <a:r>
              <a:rPr kumimoji="1" lang="en-US" altLang="ja-JP" sz="1600" dirty="0"/>
              <a:t>IE</a:t>
            </a:r>
            <a:r>
              <a:rPr kumimoji="1" lang="ja-JP" altLang="en-US" sz="1600"/>
              <a:t>チーム等）を</a:t>
            </a:r>
            <a:r>
              <a:rPr kumimoji="1" lang="ja-JP" altLang="en-US" sz="1600" dirty="0"/>
              <a:t>設置するとともに、これを実行するための自由で柔軟性ある環境として、通セが運営するサーバとは</a:t>
            </a:r>
            <a:r>
              <a:rPr kumimoji="1" lang="ja-JP" altLang="en-US" sz="1600"/>
              <a:t>別に、</a:t>
            </a:r>
            <a:r>
              <a:rPr lang="ja-JP" altLang="en-US" sz="1600"/>
              <a:t>富岡内</a:t>
            </a:r>
            <a:r>
              <a:rPr lang="ja-JP" altLang="en-US" sz="1600" dirty="0"/>
              <a:t>で独自管理運営</a:t>
            </a:r>
            <a:r>
              <a:rPr lang="ja-JP" altLang="en-US" sz="1600"/>
              <a:t>を行うオン・プレミスな</a:t>
            </a:r>
            <a:r>
              <a:rPr kumimoji="1" lang="ja-JP" altLang="en-US" sz="1600"/>
              <a:t>サーバシステム</a:t>
            </a:r>
            <a:r>
              <a:rPr kumimoji="1" lang="ja-JP" altLang="en-US" sz="1600" dirty="0"/>
              <a:t>を設置することと</a:t>
            </a:r>
            <a:r>
              <a:rPr kumimoji="1" lang="ja-JP" altLang="en-US" sz="1600"/>
              <a:t>した。</a:t>
            </a:r>
            <a:endParaRPr kumimoji="1" lang="en-US" altLang="ja-JP" sz="1600" dirty="0"/>
          </a:p>
          <a:p>
            <a:pPr marL="0" indent="0">
              <a:buNone/>
            </a:pPr>
            <a:endParaRPr kumimoji="1" lang="en-US" altLang="ja-JP" sz="1600" dirty="0"/>
          </a:p>
          <a:p>
            <a:r>
              <a:rPr kumimoji="1" lang="ja-JP" altLang="en-US" sz="1600" dirty="0"/>
              <a:t>本システムの利用は生産性改善、品質向上を目的とするものであり、汎用の事務処理のためのデータ保存を目的とするものではない。</a:t>
            </a:r>
            <a:br>
              <a:rPr kumimoji="1" lang="en-US" altLang="ja-JP" sz="1600" dirty="0"/>
            </a:br>
            <a:r>
              <a:rPr kumimoji="1" lang="ja-JP" altLang="en-US" sz="1600" dirty="0"/>
              <a:t>また、</a:t>
            </a:r>
            <a:r>
              <a:rPr kumimoji="1" lang="ja-JP" altLang="en-US" sz="1600"/>
              <a:t>本サーバは真正性</a:t>
            </a:r>
            <a:r>
              <a:rPr kumimoji="1" lang="ja-JP" altLang="en-US" sz="1600" dirty="0"/>
              <a:t>、堅牢性（改ざんされない能力）等の保証はないので、</a:t>
            </a:r>
            <a:r>
              <a:rPr lang="en-US" altLang="ja-JP" sz="1600" dirty="0"/>
              <a:t>DMR</a:t>
            </a:r>
            <a:r>
              <a:rPr lang="ja-JP" altLang="en-US" sz="1600" dirty="0"/>
              <a:t>や</a:t>
            </a:r>
            <a:r>
              <a:rPr lang="en-US" altLang="ja-JP" sz="1600" dirty="0"/>
              <a:t>DHR</a:t>
            </a:r>
            <a:r>
              <a:rPr lang="ja-JP" altLang="en-US" sz="1600"/>
              <a:t>等の品質文書・記録の原本</a:t>
            </a:r>
            <a:r>
              <a:rPr lang="ja-JP" altLang="en-US" sz="1600" dirty="0"/>
              <a:t>を保存する目的で使用</a:t>
            </a:r>
            <a:r>
              <a:rPr lang="ja-JP" altLang="en-US" sz="1600"/>
              <a:t>してはならない</a:t>
            </a:r>
            <a:r>
              <a:rPr lang="ja-JP" altLang="en-US" sz="1600" dirty="0"/>
              <a:t>。（</a:t>
            </a:r>
            <a:r>
              <a:rPr lang="ja-JP" altLang="en-US" sz="1600"/>
              <a:t>同内容の複写データ保存、</a:t>
            </a:r>
            <a:r>
              <a:rPr lang="ja-JP" altLang="en-US" sz="1600" dirty="0"/>
              <a:t>利用することは妨げない</a:t>
            </a:r>
            <a:r>
              <a:rPr lang="ja-JP" altLang="en-US" sz="1600"/>
              <a:t>。）</a:t>
            </a:r>
            <a:endParaRPr lang="en-US" altLang="ja-JP" sz="1600" dirty="0"/>
          </a:p>
          <a:p>
            <a:endParaRPr lang="en-US" altLang="ja-JP" sz="1600" dirty="0"/>
          </a:p>
          <a:p>
            <a:r>
              <a:rPr lang="ja-JP" altLang="en-US" sz="1600" dirty="0"/>
              <a:t>本システムの環境は“善良なる市民”の利用を前提にしている</a:t>
            </a:r>
            <a:r>
              <a:rPr lang="ja-JP" altLang="en-US" sz="1600"/>
              <a:t>が、故意</a:t>
            </a:r>
            <a:r>
              <a:rPr lang="ja-JP" altLang="en-US" sz="1600" dirty="0"/>
              <a:t>、過失に</a:t>
            </a:r>
            <a:r>
              <a:rPr lang="ja-JP" altLang="en-US" sz="1600"/>
              <a:t>関わらず、本システムの影響が</a:t>
            </a:r>
            <a:r>
              <a:rPr lang="en-US" altLang="ja-JP" sz="1600" dirty="0"/>
              <a:t>NK</a:t>
            </a:r>
            <a:r>
              <a:rPr lang="ja-JP" altLang="en-US" sz="1600" dirty="0"/>
              <a:t>の全システムに波及しないような対策を講ずる</a:t>
            </a:r>
            <a:r>
              <a:rPr lang="ja-JP" altLang="en-US" sz="1600"/>
              <a:t>ことは利用者に対する必須条件で</a:t>
            </a:r>
            <a:r>
              <a:rPr lang="ja-JP" altLang="en-US" sz="1600" dirty="0"/>
              <a:t>ある。</a:t>
            </a:r>
            <a:endParaRPr lang="en-US" altLang="ja-JP" sz="1600" dirty="0"/>
          </a:p>
        </p:txBody>
      </p:sp>
      <p:sp>
        <p:nvSpPr>
          <p:cNvPr id="4" name="Rectangle 2"/>
          <p:cNvSpPr>
            <a:spLocks noChangeArrowheads="1"/>
          </p:cNvSpPr>
          <p:nvPr/>
        </p:nvSpPr>
        <p:spPr bwMode="auto">
          <a:xfrm>
            <a:off x="1784394" y="23664"/>
            <a:ext cx="530788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サーバシステムの設置コンセプト</a:t>
            </a:r>
          </a:p>
        </p:txBody>
      </p:sp>
    </p:spTree>
    <p:extLst>
      <p:ext uri="{BB962C8B-B14F-4D97-AF65-F5344CB8AC3E}">
        <p14:creationId xmlns:p14="http://schemas.microsoft.com/office/powerpoint/2010/main" val="239507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50825" y="548680"/>
            <a:ext cx="8642350" cy="5985665"/>
          </a:xfrm>
        </p:spPr>
        <p:txBody>
          <a:bodyPr/>
          <a:lstStyle/>
          <a:p>
            <a:pPr marL="0" indent="0">
              <a:buNone/>
            </a:pPr>
            <a:r>
              <a:rPr kumimoji="1" lang="ja-JP" altLang="en-US" sz="2400" dirty="0"/>
              <a:t>基本構成</a:t>
            </a:r>
            <a:endParaRPr kumimoji="1" lang="en-US" altLang="ja-JP" sz="2400" dirty="0"/>
          </a:p>
          <a:p>
            <a:r>
              <a:rPr lang="ja-JP" altLang="en-US" sz="1600" dirty="0"/>
              <a:t>サーバのハードウエアは、業統が除却処分するシステム製品のうちで利用できるもの（サーバ本体</a:t>
            </a:r>
            <a:r>
              <a:rPr lang="en-US" altLang="ja-JP" sz="1600" dirty="0"/>
              <a:t>… WindowsOS </a:t>
            </a:r>
            <a:r>
              <a:rPr lang="ja-JP" altLang="en-US" sz="1600" dirty="0"/>
              <a:t>付き、</a:t>
            </a:r>
            <a:r>
              <a:rPr lang="en-US" altLang="ja-JP" sz="1600" dirty="0"/>
              <a:t>UPS</a:t>
            </a:r>
            <a:r>
              <a:rPr lang="ja-JP" altLang="en-US" sz="1600" dirty="0"/>
              <a:t>等）を購入し構築している。また、サーバラックは“みらい”移転時の残置品にアングルを特注製作し、サーバのラックレールを取り付けられるよう改造した。</a:t>
            </a:r>
            <a:br>
              <a:rPr lang="en-US" altLang="ja-JP" sz="1600" dirty="0"/>
            </a:br>
            <a:r>
              <a:rPr lang="en-US" altLang="ja-JP" sz="1600" dirty="0"/>
              <a:t>KVM</a:t>
            </a:r>
            <a:r>
              <a:rPr lang="ja-JP" altLang="en-US" sz="1600" dirty="0"/>
              <a:t>スイッチは富士通純正の市販品を購入し、すべてのサーバのコンソールを、１台のディスプレイ、</a:t>
            </a:r>
            <a:r>
              <a:rPr lang="en-US" altLang="ja-JP" sz="1600" dirty="0"/>
              <a:t>KBD</a:t>
            </a:r>
            <a:r>
              <a:rPr lang="ja-JP" altLang="en-US" sz="1600" dirty="0"/>
              <a:t>、マウスで操作可能になっている。</a:t>
            </a:r>
            <a:br>
              <a:rPr lang="en-US" altLang="ja-JP" sz="1600" dirty="0"/>
            </a:br>
            <a:r>
              <a:rPr lang="en-US" altLang="ja-JP" sz="1600" dirty="0"/>
              <a:t>HDD</a:t>
            </a:r>
            <a:r>
              <a:rPr lang="ja-JP" altLang="en-US" sz="1600" dirty="0"/>
              <a:t>は</a:t>
            </a:r>
            <a:r>
              <a:rPr lang="en-US" altLang="ja-JP" sz="1600" dirty="0"/>
              <a:t>RAID6</a:t>
            </a:r>
            <a:r>
              <a:rPr lang="ja-JP" altLang="en-US" sz="1600" dirty="0"/>
              <a:t>になっているので、</a:t>
            </a:r>
            <a:r>
              <a:rPr lang="en-US" altLang="ja-JP" sz="1600" dirty="0"/>
              <a:t>2</a:t>
            </a:r>
            <a:r>
              <a:rPr lang="ja-JP" altLang="en-US" sz="1600" dirty="0"/>
              <a:t>台までの</a:t>
            </a:r>
            <a:r>
              <a:rPr lang="en-US" altLang="ja-JP" sz="1600" dirty="0"/>
              <a:t>HDD</a:t>
            </a:r>
            <a:r>
              <a:rPr lang="ja-JP" altLang="en-US" sz="1600" dirty="0"/>
              <a:t>障害は回避できる。</a:t>
            </a:r>
            <a:br>
              <a:rPr lang="en-US" altLang="ja-JP" sz="1600" dirty="0"/>
            </a:br>
            <a:r>
              <a:rPr lang="ja-JP" altLang="en-US" sz="1600" dirty="0"/>
              <a:t>現在、データのバックアップは取っていない。</a:t>
            </a:r>
            <a:endParaRPr lang="en-US" altLang="ja-JP" sz="1600" dirty="0"/>
          </a:p>
          <a:p>
            <a:pPr marL="0" indent="0">
              <a:buNone/>
            </a:pPr>
            <a:endParaRPr lang="en-US" altLang="ja-JP" sz="1600" dirty="0"/>
          </a:p>
          <a:p>
            <a:r>
              <a:rPr lang="ja-JP" altLang="en-US" sz="1600" dirty="0"/>
              <a:t>ソフトウエア環境は、維持費用や堅牢性、動作環境の軽さなどから</a:t>
            </a:r>
            <a:r>
              <a:rPr lang="en-US" altLang="ja-JP" sz="1600" dirty="0"/>
              <a:t>Linux</a:t>
            </a:r>
            <a:r>
              <a:rPr lang="ja-JP" altLang="en-US" sz="1600" dirty="0"/>
              <a:t> （</a:t>
            </a:r>
            <a:r>
              <a:rPr lang="en-US" altLang="ja-JP" sz="1600" dirty="0"/>
              <a:t>Ubuntu</a:t>
            </a:r>
            <a:r>
              <a:rPr lang="ja-JP" altLang="en-US" sz="1600" dirty="0"/>
              <a:t> </a:t>
            </a:r>
            <a:r>
              <a:rPr lang="en-US" altLang="ja-JP" sz="1600" dirty="0"/>
              <a:t>16.04LTS-32bit/64bit+EMS</a:t>
            </a:r>
            <a:r>
              <a:rPr lang="ja-JP" altLang="en-US" sz="1600" dirty="0"/>
              <a:t>、</a:t>
            </a:r>
            <a:r>
              <a:rPr lang="en-US" altLang="ja-JP" sz="1600" dirty="0"/>
              <a:t>18.04LTS-64bit+EMS</a:t>
            </a:r>
            <a:r>
              <a:rPr lang="ja-JP" altLang="en-US" sz="1600" dirty="0"/>
              <a:t>、</a:t>
            </a:r>
            <a:r>
              <a:rPr lang="en-US" altLang="ja-JP" sz="1600" dirty="0"/>
              <a:t>20.04LTS</a:t>
            </a:r>
            <a:r>
              <a:rPr lang="ja-JP" altLang="en-US" sz="1600" dirty="0"/>
              <a:t> ）による</a:t>
            </a:r>
            <a:r>
              <a:rPr lang="en-US" altLang="ja-JP" sz="1600" dirty="0"/>
              <a:t>LAMP</a:t>
            </a:r>
            <a:r>
              <a:rPr lang="ja-JP" altLang="en-US" sz="1600" dirty="0"/>
              <a:t>（ </a:t>
            </a:r>
            <a:r>
              <a:rPr lang="en-US" altLang="ja-JP" sz="1600" dirty="0"/>
              <a:t>Linux-Apache-MySQL-Perl/php</a:t>
            </a:r>
            <a:r>
              <a:rPr lang="ja-JP" altLang="en-US" sz="1600" dirty="0"/>
              <a:t>）環境で動作する</a:t>
            </a:r>
            <a:r>
              <a:rPr lang="en-US" altLang="ja-JP" sz="1600" dirty="0"/>
              <a:t>Perl/php/Python</a:t>
            </a:r>
            <a:r>
              <a:rPr lang="ja-JP" altLang="en-US" sz="1600" dirty="0"/>
              <a:t>（</a:t>
            </a:r>
            <a:r>
              <a:rPr lang="en-US" altLang="ja-JP" sz="1600" dirty="0"/>
              <a:t>Linux</a:t>
            </a:r>
            <a:r>
              <a:rPr lang="ja-JP" altLang="en-US" sz="1600" dirty="0"/>
              <a:t>）を第一選択とする。</a:t>
            </a:r>
            <a:endParaRPr lang="en-US" altLang="ja-JP" sz="1600" dirty="0"/>
          </a:p>
          <a:p>
            <a:pPr marL="0" indent="0">
              <a:buNone/>
            </a:pPr>
            <a:endParaRPr lang="en-US" altLang="ja-JP" sz="1600" dirty="0"/>
          </a:p>
          <a:p>
            <a:r>
              <a:rPr lang="ja-JP" altLang="en-US" sz="1600" dirty="0"/>
              <a:t>電源は、それぞれの電源消費量に応じて、富士通</a:t>
            </a:r>
            <a:r>
              <a:rPr lang="en-US" altLang="ja-JP" sz="1600" dirty="0"/>
              <a:t>/APC</a:t>
            </a:r>
            <a:r>
              <a:rPr lang="ja-JP" altLang="en-US" sz="1600" dirty="0"/>
              <a:t>の</a:t>
            </a:r>
            <a:r>
              <a:rPr lang="en-US" altLang="ja-JP" sz="1600" dirty="0"/>
              <a:t>3</a:t>
            </a:r>
            <a:r>
              <a:rPr lang="ja-JP" altLang="en-US" sz="1600" dirty="0"/>
              <a:t>台の</a:t>
            </a:r>
            <a:r>
              <a:rPr lang="en-US" altLang="ja-JP" sz="1600" dirty="0"/>
              <a:t>UPS</a:t>
            </a:r>
            <a:r>
              <a:rPr lang="ja-JP" altLang="en-US" sz="1600" dirty="0"/>
              <a:t>に分けて供給している。</a:t>
            </a:r>
            <a:br>
              <a:rPr lang="en-US" altLang="ja-JP" sz="1600" dirty="0"/>
            </a:br>
            <a:r>
              <a:rPr lang="ja-JP" altLang="en-US" sz="1600" dirty="0"/>
              <a:t>通常動作時の負荷率は</a:t>
            </a:r>
            <a:r>
              <a:rPr lang="en-US" altLang="ja-JP" sz="1600" dirty="0"/>
              <a:t>20%</a:t>
            </a:r>
            <a:r>
              <a:rPr lang="ja-JP" altLang="en-US" sz="1600" dirty="0"/>
              <a:t>～</a:t>
            </a:r>
            <a:r>
              <a:rPr lang="en-US" altLang="ja-JP" sz="1600" dirty="0"/>
              <a:t>30%</a:t>
            </a:r>
            <a:r>
              <a:rPr lang="ja-JP" altLang="en-US" sz="1600" dirty="0"/>
              <a:t>程度。</a:t>
            </a:r>
            <a:br>
              <a:rPr lang="en-US" altLang="ja-JP" sz="1600" dirty="0"/>
            </a:br>
            <a:r>
              <a:rPr lang="ja-JP" altLang="en-US" sz="1600" dirty="0"/>
              <a:t>現在、電源断時の自動シャットダウンに対応していないので、停電時は手動でシャットダウンさせないと、</a:t>
            </a:r>
            <a:r>
              <a:rPr lang="en-US" altLang="ja-JP" sz="1600" dirty="0"/>
              <a:t>HDD</a:t>
            </a:r>
            <a:r>
              <a:rPr lang="ja-JP" altLang="en-US" sz="1600" dirty="0"/>
              <a:t>を破損させる可能性あり。（</a:t>
            </a:r>
            <a:r>
              <a:rPr lang="en-US" altLang="ja-JP" sz="1600" dirty="0"/>
              <a:t>nksv567</a:t>
            </a:r>
            <a:r>
              <a:rPr lang="ja-JP" altLang="en-US" sz="1600" dirty="0"/>
              <a:t>で</a:t>
            </a:r>
            <a:r>
              <a:rPr lang="en-US" altLang="ja-JP" sz="1600" dirty="0"/>
              <a:t>HDD1</a:t>
            </a:r>
            <a:r>
              <a:rPr lang="ja-JP" altLang="en-US" sz="1600" dirty="0"/>
              <a:t>基破損）</a:t>
            </a:r>
            <a:br>
              <a:rPr lang="en-US" altLang="ja-JP" sz="1600" dirty="0"/>
            </a:br>
            <a:r>
              <a:rPr lang="en-US" altLang="ja-JP" sz="1600" dirty="0"/>
              <a:t>	</a:t>
            </a:r>
            <a:r>
              <a:rPr lang="en-US" altLang="ja-JP" sz="1600" dirty="0">
                <a:sym typeface="Wingdings" panose="05000000000000000000" pitchFamily="2" charset="2"/>
              </a:rPr>
              <a:t></a:t>
            </a:r>
            <a:r>
              <a:rPr lang="ja-JP" altLang="en-US" sz="1600" dirty="0">
                <a:solidFill>
                  <a:srgbClr val="FF0000"/>
                </a:solidFill>
                <a:sym typeface="Wingdings" panose="05000000000000000000" pitchFamily="2" charset="2"/>
              </a:rPr>
              <a:t>自動シャットダウン化が必要</a:t>
            </a:r>
            <a:r>
              <a:rPr lang="ja-JP" altLang="en-US" sz="1600" dirty="0">
                <a:sym typeface="Wingdings" panose="05000000000000000000" pitchFamily="2" charset="2"/>
              </a:rPr>
              <a:t>。</a:t>
            </a:r>
            <a:br>
              <a:rPr lang="en-US" altLang="ja-JP" sz="1600" dirty="0">
                <a:sym typeface="Wingdings" panose="05000000000000000000" pitchFamily="2" charset="2"/>
              </a:rPr>
            </a:br>
            <a:r>
              <a:rPr lang="ja-JP" altLang="en-US" sz="1600" dirty="0"/>
              <a:t>ただし、現状は情報</a:t>
            </a:r>
            <a:r>
              <a:rPr lang="en-US" altLang="ja-JP" sz="1600" dirty="0"/>
              <a:t>BOX</a:t>
            </a:r>
            <a:r>
              <a:rPr lang="ja-JP" altLang="en-US" sz="1600" dirty="0"/>
              <a:t>内のスイッチが</a:t>
            </a:r>
            <a:r>
              <a:rPr lang="en-US" altLang="ja-JP" sz="1600" dirty="0"/>
              <a:t>UPS</a:t>
            </a:r>
            <a:r>
              <a:rPr lang="ja-JP" altLang="en-US" sz="1600" dirty="0"/>
              <a:t>未対策なので、停電中は利用はできない。</a:t>
            </a:r>
            <a:endParaRPr lang="en-US" altLang="ja-JP" sz="1600" dirty="0"/>
          </a:p>
        </p:txBody>
      </p:sp>
      <p:sp>
        <p:nvSpPr>
          <p:cNvPr id="4" name="Rectangle 2"/>
          <p:cNvSpPr>
            <a:spLocks noChangeArrowheads="1"/>
          </p:cNvSpPr>
          <p:nvPr/>
        </p:nvSpPr>
        <p:spPr bwMode="auto">
          <a:xfrm>
            <a:off x="1784394" y="23664"/>
            <a:ext cx="530788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サーバシステムの設置コンセプト</a:t>
            </a:r>
          </a:p>
        </p:txBody>
      </p:sp>
    </p:spTree>
    <p:extLst>
      <p:ext uri="{BB962C8B-B14F-4D97-AF65-F5344CB8AC3E}">
        <p14:creationId xmlns:p14="http://schemas.microsoft.com/office/powerpoint/2010/main" val="532724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50825" y="548680"/>
            <a:ext cx="8642350" cy="5805645"/>
          </a:xfrm>
        </p:spPr>
        <p:txBody>
          <a:bodyPr/>
          <a:lstStyle/>
          <a:p>
            <a:pPr marL="0" indent="0">
              <a:buNone/>
            </a:pPr>
            <a:r>
              <a:rPr kumimoji="1" lang="ja-JP" altLang="en-US" sz="2400" dirty="0"/>
              <a:t>データの入出力</a:t>
            </a:r>
            <a:endParaRPr kumimoji="1" lang="en-US" altLang="ja-JP" sz="2400" dirty="0"/>
          </a:p>
          <a:p>
            <a:r>
              <a:rPr lang="ja-JP" altLang="en-US" sz="1600" dirty="0"/>
              <a:t>クライアント（ユーザ）とのインタフェースは、</a:t>
            </a:r>
            <a:br>
              <a:rPr lang="en-US" altLang="ja-JP" sz="1600" dirty="0"/>
            </a:br>
            <a:r>
              <a:rPr lang="ja-JP" altLang="en-US" sz="1600" dirty="0"/>
              <a:t>管理者（</a:t>
            </a:r>
            <a:r>
              <a:rPr lang="en-US" altLang="ja-JP" sz="1600" dirty="0"/>
              <a:t>Administrator</a:t>
            </a:r>
            <a:r>
              <a:rPr lang="ja-JP" altLang="en-US" sz="1600" dirty="0"/>
              <a:t>）は</a:t>
            </a:r>
            <a:endParaRPr lang="en-US" altLang="ja-JP" sz="1600" dirty="0"/>
          </a:p>
          <a:p>
            <a:pPr lvl="1"/>
            <a:r>
              <a:rPr lang="en-US" altLang="ja-JP" sz="1600" dirty="0"/>
              <a:t>SSH</a:t>
            </a:r>
            <a:r>
              <a:rPr lang="ja-JP" altLang="en-US" sz="1600" dirty="0"/>
              <a:t>によるターミナル接続</a:t>
            </a:r>
            <a:endParaRPr lang="en-US" altLang="ja-JP" sz="1600" dirty="0"/>
          </a:p>
          <a:p>
            <a:pPr lvl="1"/>
            <a:r>
              <a:rPr lang="ja-JP" altLang="en-US" sz="1600" dirty="0"/>
              <a:t>ユーティリティー</a:t>
            </a:r>
            <a:r>
              <a:rPr lang="en-US" altLang="ja-JP" sz="1600" dirty="0"/>
              <a:t>Web</a:t>
            </a:r>
            <a:r>
              <a:rPr lang="ja-JP" altLang="en-US" sz="1600" dirty="0"/>
              <a:t>サービス（</a:t>
            </a:r>
            <a:r>
              <a:rPr lang="en-US" altLang="ja-JP" sz="1600" dirty="0"/>
              <a:t>phpMyAdmin</a:t>
            </a:r>
            <a:r>
              <a:rPr lang="ja-JP" altLang="en-US" sz="1600" dirty="0"/>
              <a:t>、</a:t>
            </a:r>
            <a:r>
              <a:rPr lang="en-US" altLang="ja-JP" sz="1600" dirty="0"/>
              <a:t>cockpit</a:t>
            </a:r>
            <a:r>
              <a:rPr lang="ja-JP" altLang="en-US" sz="1600" dirty="0"/>
              <a:t>、</a:t>
            </a:r>
            <a:r>
              <a:rPr lang="en-US" altLang="ja-JP" sz="1600" dirty="0" err="1"/>
              <a:t>awstats</a:t>
            </a:r>
            <a:r>
              <a:rPr lang="ja-JP" altLang="en-US" sz="1600" dirty="0"/>
              <a:t>）</a:t>
            </a:r>
            <a:endParaRPr lang="en-US" altLang="ja-JP" sz="1600" dirty="0"/>
          </a:p>
          <a:p>
            <a:pPr marL="361950" lvl="1" indent="0">
              <a:buNone/>
            </a:pPr>
            <a:r>
              <a:rPr lang="ja-JP" altLang="en-US" sz="1600" dirty="0"/>
              <a:t>のほか、一般ユーザは、</a:t>
            </a:r>
            <a:endParaRPr lang="en-US" altLang="ja-JP" sz="1600" dirty="0"/>
          </a:p>
          <a:p>
            <a:pPr marL="714375" lvl="1" indent="-266700"/>
            <a:r>
              <a:rPr lang="en-US" altLang="ja-JP" sz="1600" dirty="0"/>
              <a:t>Apache Web</a:t>
            </a:r>
            <a:r>
              <a:rPr lang="ja-JP" altLang="en-US" sz="1600" dirty="0"/>
              <a:t>サーバによる</a:t>
            </a:r>
            <a:r>
              <a:rPr lang="en-US" altLang="ja-JP" sz="1600" dirty="0"/>
              <a:t>Web</a:t>
            </a:r>
            <a:r>
              <a:rPr lang="ja-JP" altLang="en-US" sz="1600" dirty="0"/>
              <a:t>サービス（</a:t>
            </a:r>
            <a:r>
              <a:rPr lang="en-US" altLang="ja-JP" sz="1600" dirty="0"/>
              <a:t>cgi</a:t>
            </a:r>
            <a:r>
              <a:rPr lang="ja-JP" altLang="en-US" sz="1600" dirty="0"/>
              <a:t>）</a:t>
            </a:r>
            <a:endParaRPr lang="en-US" altLang="ja-JP" sz="1600" dirty="0"/>
          </a:p>
          <a:p>
            <a:pPr marL="714375" lvl="1" indent="-266700"/>
            <a:r>
              <a:rPr lang="en-US" altLang="ja-JP" sz="1600" dirty="0"/>
              <a:t>SAMBA</a:t>
            </a:r>
            <a:r>
              <a:rPr lang="ja-JP" altLang="en-US" sz="1600" dirty="0"/>
              <a:t>共有フォルダを介するファイルの読み書き、仮想プリンタへのリモート印刷</a:t>
            </a:r>
            <a:endParaRPr lang="en-US" altLang="ja-JP" sz="1600" dirty="0"/>
          </a:p>
          <a:p>
            <a:pPr marL="714375" lvl="1" indent="-266700"/>
            <a:r>
              <a:rPr lang="en-US" altLang="ja-JP" sz="1600" dirty="0"/>
              <a:t>Windows / LAMP</a:t>
            </a:r>
            <a:r>
              <a:rPr lang="ja-JP" altLang="en-US" sz="1600" dirty="0"/>
              <a:t>環境で稼働する仮想プリンタへのリモート印刷</a:t>
            </a:r>
            <a:endParaRPr lang="en-US" altLang="ja-JP" sz="1600" dirty="0"/>
          </a:p>
          <a:p>
            <a:pPr marL="361950" lvl="1" indent="0">
              <a:buNone/>
            </a:pPr>
            <a:r>
              <a:rPr lang="ja-JP" altLang="en-US" sz="1600" dirty="0"/>
              <a:t>によるデータ交換を窓口とする。</a:t>
            </a:r>
            <a:endParaRPr lang="en-US" altLang="ja-JP" sz="1600" dirty="0"/>
          </a:p>
          <a:p>
            <a:pPr marL="361950" indent="-361950"/>
            <a:r>
              <a:rPr lang="ja-JP" altLang="en-US" sz="1600" dirty="0"/>
              <a:t>他サーバ（</a:t>
            </a:r>
            <a:r>
              <a:rPr lang="en-US" altLang="ja-JP" sz="1600" dirty="0"/>
              <a:t>nksv56x</a:t>
            </a:r>
            <a:r>
              <a:rPr lang="ja-JP" altLang="en-US" sz="1600" dirty="0"/>
              <a:t>間、</a:t>
            </a:r>
            <a:r>
              <a:rPr lang="en-US" altLang="ja-JP" sz="1600" dirty="0"/>
              <a:t>nksv250</a:t>
            </a:r>
            <a:r>
              <a:rPr lang="ja-JP" altLang="en-US" sz="1600" dirty="0"/>
              <a:t>、</a:t>
            </a:r>
            <a:r>
              <a:rPr lang="en-US" altLang="ja-JP" sz="1600" dirty="0"/>
              <a:t>nksvasp23</a:t>
            </a:r>
            <a:r>
              <a:rPr lang="ja-JP" altLang="en-US" sz="1600" dirty="0"/>
              <a:t>等）やデバイス間は、アカウントが持つ権限の</a:t>
            </a:r>
            <a:br>
              <a:rPr lang="en-US" altLang="ja-JP" sz="1600" dirty="0"/>
            </a:br>
            <a:r>
              <a:rPr lang="ja-JP" altLang="en-US" sz="1600" dirty="0"/>
              <a:t>ディレクトリに対する</a:t>
            </a:r>
            <a:endParaRPr lang="en-US" altLang="ja-JP" sz="1600" dirty="0"/>
          </a:p>
          <a:p>
            <a:pPr marL="714375" lvl="1" indent="-266700"/>
            <a:r>
              <a:rPr lang="en-US" altLang="ja-JP" sz="1600" dirty="0"/>
              <a:t>ftp</a:t>
            </a:r>
            <a:r>
              <a:rPr lang="ja-JP" altLang="en-US" sz="1600" dirty="0"/>
              <a:t>ファイル転送</a:t>
            </a:r>
            <a:endParaRPr lang="en-US" altLang="ja-JP" sz="1600" dirty="0"/>
          </a:p>
          <a:p>
            <a:pPr marL="714375" lvl="1" indent="-266700"/>
            <a:r>
              <a:rPr lang="ja-JP" altLang="en-US" sz="1600" dirty="0"/>
              <a:t>マウント</a:t>
            </a:r>
            <a:r>
              <a:rPr lang="en-US" altLang="ja-JP" sz="1600" dirty="0"/>
              <a:t>(</a:t>
            </a:r>
            <a:r>
              <a:rPr lang="en-US" altLang="ja-JP" sz="1600" dirty="0" err="1"/>
              <a:t>nfs</a:t>
            </a:r>
            <a:r>
              <a:rPr lang="ja-JP" altLang="en-US" sz="1600" dirty="0"/>
              <a:t> </a:t>
            </a:r>
            <a:r>
              <a:rPr lang="en-US" altLang="ja-JP" sz="1600" dirty="0"/>
              <a:t>/</a:t>
            </a:r>
            <a:r>
              <a:rPr lang="ja-JP" altLang="en-US" sz="1600" dirty="0"/>
              <a:t> </a:t>
            </a:r>
            <a:r>
              <a:rPr lang="en-US" altLang="ja-JP" sz="1600" dirty="0"/>
              <a:t>cifs)</a:t>
            </a:r>
          </a:p>
          <a:p>
            <a:pPr marL="361950" lvl="1" indent="0">
              <a:buNone/>
            </a:pPr>
            <a:r>
              <a:rPr lang="ja-JP" altLang="en-US" sz="1600" dirty="0"/>
              <a:t>等によるデータ交換、ファイル交換を行う。</a:t>
            </a:r>
            <a:endParaRPr lang="en-US" altLang="ja-JP" sz="1600" dirty="0"/>
          </a:p>
        </p:txBody>
      </p:sp>
      <p:sp>
        <p:nvSpPr>
          <p:cNvPr id="4" name="Rectangle 2"/>
          <p:cNvSpPr>
            <a:spLocks noChangeArrowheads="1"/>
          </p:cNvSpPr>
          <p:nvPr/>
        </p:nvSpPr>
        <p:spPr bwMode="auto">
          <a:xfrm>
            <a:off x="1784394" y="23664"/>
            <a:ext cx="530788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サーバシステムのコンセプト</a:t>
            </a:r>
            <a:endParaRPr lang="ja-JP" altLang="en-US" sz="2400" b="1" dirty="0">
              <a:solidFill>
                <a:schemeClr val="bg1"/>
              </a:solidFill>
              <a:latin typeface="+mj-ea"/>
              <a:ea typeface="+mj-ea"/>
            </a:endParaRPr>
          </a:p>
        </p:txBody>
      </p:sp>
      <p:pic>
        <p:nvPicPr>
          <p:cNvPr id="5" name="図 4">
            <a:extLst>
              <a:ext uri="{FF2B5EF4-FFF2-40B4-BE49-F238E27FC236}">
                <a16:creationId xmlns:a16="http://schemas.microsoft.com/office/drawing/2014/main" id="{412C016C-F88D-4C9E-A1FE-15C469B13D25}"/>
              </a:ext>
            </a:extLst>
          </p:cNvPr>
          <p:cNvPicPr>
            <a:picLocks noChangeAspect="1"/>
          </p:cNvPicPr>
          <p:nvPr/>
        </p:nvPicPr>
        <p:blipFill>
          <a:blip r:embed="rId2"/>
          <a:stretch>
            <a:fillRect/>
          </a:stretch>
        </p:blipFill>
        <p:spPr>
          <a:xfrm>
            <a:off x="612278" y="4952113"/>
            <a:ext cx="3968379" cy="1402212"/>
          </a:xfrm>
          <a:prstGeom prst="rect">
            <a:avLst/>
          </a:prstGeom>
        </p:spPr>
      </p:pic>
    </p:spTree>
    <p:extLst>
      <p:ext uri="{BB962C8B-B14F-4D97-AF65-F5344CB8AC3E}">
        <p14:creationId xmlns:p14="http://schemas.microsoft.com/office/powerpoint/2010/main" val="4197544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37A623-553A-4981-A2BA-5DAA60696D16}"/>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サーバのセキュリティ</a:t>
            </a:r>
            <a:endParaRPr lang="ja-JP" altLang="en-US" sz="2400" b="1" dirty="0">
              <a:solidFill>
                <a:schemeClr val="bg1"/>
              </a:solidFill>
              <a:latin typeface="+mj-ea"/>
              <a:ea typeface="+mj-ea"/>
            </a:endParaRPr>
          </a:p>
        </p:txBody>
      </p:sp>
      <p:sp>
        <p:nvSpPr>
          <p:cNvPr id="6" name="コンテンツ プレースホルダー 2">
            <a:extLst>
              <a:ext uri="{FF2B5EF4-FFF2-40B4-BE49-F238E27FC236}">
                <a16:creationId xmlns:a16="http://schemas.microsoft.com/office/drawing/2014/main" id="{4F714070-A723-464A-A7F0-DB134D740114}"/>
              </a:ext>
            </a:extLst>
          </p:cNvPr>
          <p:cNvSpPr>
            <a:spLocks noGrp="1"/>
          </p:cNvSpPr>
          <p:nvPr>
            <p:ph idx="1"/>
          </p:nvPr>
        </p:nvSpPr>
        <p:spPr>
          <a:xfrm>
            <a:off x="250825" y="638689"/>
            <a:ext cx="8642350" cy="5805645"/>
          </a:xfrm>
        </p:spPr>
        <p:txBody>
          <a:bodyPr/>
          <a:lstStyle/>
          <a:p>
            <a:pPr marL="180975" indent="-180975">
              <a:tabLst>
                <a:tab pos="3048000" algn="l"/>
              </a:tabLst>
            </a:pPr>
            <a:r>
              <a:rPr kumimoji="1" lang="ja-JP" altLang="en-US" sz="1600" dirty="0"/>
              <a:t>本サーバは、多くが</a:t>
            </a:r>
            <a:r>
              <a:rPr kumimoji="1" lang="en-US" altLang="ja-JP" sz="1600" dirty="0"/>
              <a:t>Linux</a:t>
            </a:r>
            <a:r>
              <a:rPr kumimoji="1" lang="ja-JP" altLang="en-US" sz="1600" dirty="0"/>
              <a:t>環境で動作しているので、元来不正ソフトの存在機会が少ないことに</a:t>
            </a:r>
            <a:br>
              <a:rPr kumimoji="1" lang="en-US" altLang="ja-JP" sz="1600" dirty="0"/>
            </a:br>
            <a:r>
              <a:rPr kumimoji="1" lang="ja-JP" altLang="en-US" sz="1600" dirty="0"/>
              <a:t>加え、「善良なる市民」の利用を前提にしているので、不正アクセスに対する防御手段としては</a:t>
            </a:r>
            <a:br>
              <a:rPr kumimoji="1" lang="en-US" altLang="ja-JP" sz="1600" dirty="0"/>
            </a:br>
            <a:r>
              <a:rPr kumimoji="1" lang="ja-JP" altLang="en-US" sz="1600" dirty="0"/>
              <a:t>自サーバ内に持つアカウント情報のみである。</a:t>
            </a:r>
            <a:br>
              <a:rPr kumimoji="1" lang="en-US" altLang="ja-JP" sz="1600" dirty="0"/>
            </a:br>
            <a:r>
              <a:rPr kumimoji="1" lang="ja-JP" altLang="en-US" sz="1600" dirty="0"/>
              <a:t>本件に関しては、通セ通達にもあるように全社的にセキュリティ強化を求められているので、</a:t>
            </a:r>
            <a:br>
              <a:rPr kumimoji="1" lang="en-US" altLang="ja-JP" sz="1600" dirty="0"/>
            </a:br>
            <a:r>
              <a:rPr kumimoji="1" lang="en-US" altLang="ja-JP" sz="1600" dirty="0"/>
              <a:t>AD</a:t>
            </a:r>
            <a:r>
              <a:rPr kumimoji="1" lang="ja-JP" altLang="en-US" sz="1600" dirty="0"/>
              <a:t>＝アクティブ・ディレクトリ連携を行うよう、通セに資源提供を要請する必要あり。</a:t>
            </a:r>
            <a:endParaRPr kumimoji="1" lang="en-US" altLang="ja-JP" sz="1600" dirty="0"/>
          </a:p>
          <a:p>
            <a:pPr marL="180975" indent="-180975">
              <a:tabLst>
                <a:tab pos="3048000" algn="l"/>
              </a:tabLst>
            </a:pPr>
            <a:endParaRPr lang="en-US" altLang="ja-JP" sz="1600" dirty="0"/>
          </a:p>
          <a:p>
            <a:pPr marL="180975" indent="-180975">
              <a:tabLst>
                <a:tab pos="3048000" algn="l"/>
              </a:tabLst>
            </a:pPr>
            <a:r>
              <a:rPr lang="ja-JP" altLang="en-US" sz="1600" dirty="0"/>
              <a:t>一方で、社内サーバに対する通セの求める要件、また不正ファイルによる感染を防ぐため、フリーの</a:t>
            </a:r>
            <a:r>
              <a:rPr lang="en-US" altLang="ja-JP" sz="1600" dirty="0"/>
              <a:t>Linux</a:t>
            </a:r>
            <a:r>
              <a:rPr lang="ja-JP" altLang="en-US" sz="1600" dirty="0"/>
              <a:t>向けアンチウィルスソフト</a:t>
            </a:r>
            <a:r>
              <a:rPr lang="en-US" altLang="ja-JP" sz="1600" dirty="0"/>
              <a:t>(Sophos AV)</a:t>
            </a:r>
            <a:r>
              <a:rPr lang="ja-JP" altLang="en-US" sz="1600" dirty="0"/>
              <a:t>を稼働させている。</a:t>
            </a:r>
            <a:br>
              <a:rPr lang="en-US" altLang="ja-JP" sz="1600" dirty="0"/>
            </a:br>
            <a:endParaRPr lang="en-US" altLang="ja-JP" sz="1600" dirty="0"/>
          </a:p>
          <a:p>
            <a:pPr marL="180975" indent="-180975">
              <a:tabLst>
                <a:tab pos="3048000" algn="l"/>
              </a:tabLst>
            </a:pPr>
            <a:r>
              <a:rPr lang="ja-JP" altLang="en-US" sz="1600" dirty="0"/>
              <a:t>作成した</a:t>
            </a:r>
            <a:r>
              <a:rPr lang="en-US" altLang="ja-JP" sz="1600" dirty="0"/>
              <a:t>web</a:t>
            </a:r>
            <a:r>
              <a:rPr lang="ja-JP" altLang="en-US" sz="1600" dirty="0"/>
              <a:t>ページの堅牢性を確認するため、</a:t>
            </a:r>
            <a:r>
              <a:rPr lang="en-US" altLang="ja-JP" sz="1600" dirty="0"/>
              <a:t>IPA</a:t>
            </a:r>
            <a:r>
              <a:rPr lang="ja-JP" altLang="en-US" sz="1600" dirty="0"/>
              <a:t>のガイドラインに基づくチェックリストがあるので、それを使って確認する。</a:t>
            </a:r>
            <a:endParaRPr lang="en-US" altLang="ja-JP" sz="1600" dirty="0"/>
          </a:p>
          <a:p>
            <a:pPr marL="0" indent="0">
              <a:buNone/>
              <a:tabLst>
                <a:tab pos="3048000" algn="l"/>
              </a:tabLst>
            </a:pPr>
            <a:endParaRPr lang="en-US" altLang="ja-JP" sz="1600" dirty="0"/>
          </a:p>
          <a:p>
            <a:pPr marL="180975" indent="-180975">
              <a:tabLst>
                <a:tab pos="3048000" algn="l"/>
              </a:tabLst>
            </a:pPr>
            <a:r>
              <a:rPr lang="ja-JP" altLang="en-US" sz="1600" dirty="0"/>
              <a:t>社外からのアクセスに対する堅牢性を確保するため、社外グローバルアドレスから</a:t>
            </a:r>
            <a:r>
              <a:rPr lang="en-US" altLang="ja-JP" sz="1600" dirty="0"/>
              <a:t>NAT</a:t>
            </a:r>
            <a:r>
              <a:rPr lang="ja-JP" altLang="en-US" sz="1600" dirty="0"/>
              <a:t>変換によって接続されるサーバに対して、リバースプロキシサーバを挟むこととした。</a:t>
            </a:r>
            <a:endParaRPr lang="en-US" altLang="ja-JP" sz="1600" dirty="0"/>
          </a:p>
        </p:txBody>
      </p:sp>
    </p:spTree>
    <p:extLst>
      <p:ext uri="{BB962C8B-B14F-4D97-AF65-F5344CB8AC3E}">
        <p14:creationId xmlns:p14="http://schemas.microsoft.com/office/powerpoint/2010/main" val="1188328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
          <p:cNvSpPr>
            <a:spLocks noChangeArrowheads="1"/>
          </p:cNvSpPr>
          <p:nvPr/>
        </p:nvSpPr>
        <p:spPr bwMode="auto">
          <a:xfrm>
            <a:off x="2207361" y="23664"/>
            <a:ext cx="4461952"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サーバラックの構成</a:t>
            </a:r>
          </a:p>
        </p:txBody>
      </p:sp>
      <p:sp>
        <p:nvSpPr>
          <p:cNvPr id="12" name="コンテンツ プレースホルダー 2"/>
          <p:cNvSpPr>
            <a:spLocks noGrp="1"/>
          </p:cNvSpPr>
          <p:nvPr>
            <p:ph idx="1"/>
          </p:nvPr>
        </p:nvSpPr>
        <p:spPr>
          <a:xfrm>
            <a:off x="250824" y="548681"/>
            <a:ext cx="8641655" cy="810090"/>
          </a:xfrm>
        </p:spPr>
        <p:txBody>
          <a:bodyPr/>
          <a:lstStyle/>
          <a:p>
            <a:pPr marL="0" indent="0">
              <a:buNone/>
            </a:pPr>
            <a:r>
              <a:rPr lang="ja-JP" altLang="en-US" sz="1600"/>
              <a:t>富岡サーバ室には計</a:t>
            </a:r>
            <a:r>
              <a:rPr lang="en-US" altLang="ja-JP" sz="1600"/>
              <a:t>6</a:t>
            </a:r>
            <a:r>
              <a:rPr lang="ja-JP" altLang="en-US" sz="1600" dirty="0"/>
              <a:t>台のサーバがサーバラックに収容されていて、</a:t>
            </a:r>
            <a:r>
              <a:rPr lang="ja-JP" altLang="en-US" sz="1600"/>
              <a:t>いずれも、</a:t>
            </a:r>
            <a:r>
              <a:rPr lang="en-US" altLang="ja-JP" sz="1600"/>
              <a:t>NK</a:t>
            </a:r>
            <a:r>
              <a:rPr lang="ja-JP" altLang="en-US" sz="1600" dirty="0"/>
              <a:t>ネットワーク</a:t>
            </a:r>
            <a:r>
              <a:rPr lang="ja-JP" altLang="en-US" sz="1600"/>
              <a:t>の富岡基幹ネットワークのスイッチ</a:t>
            </a:r>
            <a:r>
              <a:rPr lang="ja-JP" altLang="en-US" sz="1600" dirty="0"/>
              <a:t>に接続されている。</a:t>
            </a:r>
            <a:endParaRPr lang="en-US" altLang="ja-JP" sz="1600" dirty="0"/>
          </a:p>
        </p:txBody>
      </p:sp>
      <p:grpSp>
        <p:nvGrpSpPr>
          <p:cNvPr id="10" name="グループ化 9"/>
          <p:cNvGrpSpPr/>
          <p:nvPr/>
        </p:nvGrpSpPr>
        <p:grpSpPr>
          <a:xfrm>
            <a:off x="1919867" y="1350550"/>
            <a:ext cx="6939451" cy="4848720"/>
            <a:chOff x="1682999" y="1460600"/>
            <a:chExt cx="6939451" cy="4848720"/>
          </a:xfrm>
        </p:grpSpPr>
        <p:sp>
          <p:nvSpPr>
            <p:cNvPr id="2" name="正方形/長方形 1"/>
            <p:cNvSpPr/>
            <p:nvPr/>
          </p:nvSpPr>
          <p:spPr>
            <a:xfrm>
              <a:off x="1682999" y="1460600"/>
              <a:ext cx="2250250" cy="4848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p:nvSpPr>
          <p:spPr>
            <a:xfrm>
              <a:off x="1761955" y="6072495"/>
              <a:ext cx="2089965"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effectLst>
                    <a:outerShdw blurRad="38100" dist="38100" dir="2700000" algn="tl">
                      <a:srgbClr val="000000">
                        <a:alpha val="43137"/>
                      </a:srgbClr>
                    </a:outerShdw>
                  </a:effectLst>
                </a:rPr>
                <a:t>UPS</a:t>
              </a:r>
              <a:endParaRPr kumimoji="1" lang="ja-JP" altLang="en-US" sz="1400" dirty="0">
                <a:solidFill>
                  <a:schemeClr val="tx1"/>
                </a:solidFill>
                <a:effectLst>
                  <a:outerShdw blurRad="38100" dist="38100" dir="2700000" algn="tl">
                    <a:srgbClr val="000000">
                      <a:alpha val="43137"/>
                    </a:srgbClr>
                  </a:outerShdw>
                </a:effectLst>
              </a:endParaRPr>
            </a:p>
          </p:txBody>
        </p:sp>
        <p:sp>
          <p:nvSpPr>
            <p:cNvPr id="24" name="正方形/長方形 23"/>
            <p:cNvSpPr/>
            <p:nvPr/>
          </p:nvSpPr>
          <p:spPr>
            <a:xfrm>
              <a:off x="1761955" y="5859290"/>
              <a:ext cx="2089965"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effectLst>
                    <a:outerShdw blurRad="38100" dist="38100" dir="2700000" algn="tl">
                      <a:srgbClr val="000000">
                        <a:alpha val="43137"/>
                      </a:srgbClr>
                    </a:outerShdw>
                  </a:effectLst>
                </a:rPr>
                <a:t>UPS</a:t>
              </a:r>
              <a:endParaRPr kumimoji="1" lang="ja-JP" altLang="en-US" sz="1400" dirty="0">
                <a:solidFill>
                  <a:schemeClr val="tx1"/>
                </a:solidFill>
                <a:effectLst>
                  <a:outerShdw blurRad="38100" dist="38100" dir="2700000" algn="tl">
                    <a:srgbClr val="000000">
                      <a:alpha val="43137"/>
                    </a:srgbClr>
                  </a:outerShdw>
                </a:effectLst>
              </a:endParaRPr>
            </a:p>
          </p:txBody>
        </p:sp>
        <p:sp>
          <p:nvSpPr>
            <p:cNvPr id="25" name="正方形/長方形 24"/>
            <p:cNvSpPr/>
            <p:nvPr/>
          </p:nvSpPr>
          <p:spPr>
            <a:xfrm>
              <a:off x="1761955" y="5634265"/>
              <a:ext cx="2089965"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effectLst>
                    <a:outerShdw blurRad="38100" dist="38100" dir="2700000" algn="tl">
                      <a:srgbClr val="000000">
                        <a:alpha val="43137"/>
                      </a:srgbClr>
                    </a:outerShdw>
                  </a:effectLst>
                </a:rPr>
                <a:t>UPS</a:t>
              </a:r>
              <a:endParaRPr kumimoji="1" lang="ja-JP" altLang="en-US" sz="1400" dirty="0">
                <a:solidFill>
                  <a:schemeClr val="tx1"/>
                </a:solidFill>
                <a:effectLst>
                  <a:outerShdw blurRad="38100" dist="38100" dir="2700000" algn="tl">
                    <a:srgbClr val="000000">
                      <a:alpha val="43137"/>
                    </a:srgbClr>
                  </a:outerShdw>
                </a:effectLst>
              </a:endParaRPr>
            </a:p>
          </p:txBody>
        </p:sp>
        <p:grpSp>
          <p:nvGrpSpPr>
            <p:cNvPr id="4" name="グループ化 3"/>
            <p:cNvGrpSpPr/>
            <p:nvPr/>
          </p:nvGrpSpPr>
          <p:grpSpPr>
            <a:xfrm>
              <a:off x="1761955" y="1954919"/>
              <a:ext cx="6860495" cy="483970"/>
              <a:chOff x="681835" y="1954919"/>
              <a:chExt cx="6860495" cy="483970"/>
            </a:xfrm>
          </p:grpSpPr>
          <p:sp>
            <p:nvSpPr>
              <p:cNvPr id="14" name="正方形/長方形 13"/>
              <p:cNvSpPr/>
              <p:nvPr/>
            </p:nvSpPr>
            <p:spPr>
              <a:xfrm>
                <a:off x="681835" y="2078851"/>
                <a:ext cx="2089965" cy="27003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nksv559</a:t>
                </a:r>
                <a:endParaRPr kumimoji="1" lang="ja-JP" altLang="en-US" dirty="0">
                  <a:solidFill>
                    <a:schemeClr val="tx1"/>
                  </a:solidFill>
                  <a:effectLst>
                    <a:outerShdw blurRad="38100" dist="38100" dir="2700000" algn="tl">
                      <a:srgbClr val="000000">
                        <a:alpha val="43137"/>
                      </a:srgbClr>
                    </a:outerShdw>
                  </a:effectLst>
                </a:endParaRPr>
              </a:p>
            </p:txBody>
          </p:sp>
          <p:sp>
            <p:nvSpPr>
              <p:cNvPr id="3" name="線吹き出し 1 2"/>
              <p:cNvSpPr/>
              <p:nvPr/>
            </p:nvSpPr>
            <p:spPr>
              <a:xfrm>
                <a:off x="3162320" y="1954919"/>
                <a:ext cx="4380010" cy="483970"/>
              </a:xfrm>
              <a:prstGeom prst="callout1">
                <a:avLst>
                  <a:gd name="adj1" fmla="val 52612"/>
                  <a:gd name="adj2" fmla="val -290"/>
                  <a:gd name="adj3" fmla="val 52342"/>
                  <a:gd name="adj4" fmla="val -8915"/>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172.25.201.11</a:t>
                </a:r>
                <a:r>
                  <a:rPr kumimoji="1" lang="ja-JP" altLang="en-US" sz="1200" dirty="0">
                    <a:solidFill>
                      <a:schemeClr val="tx1"/>
                    </a:solidFill>
                  </a:rPr>
                  <a:t>（リバースプロキシサーバ、 </a:t>
                </a:r>
                <a:r>
                  <a:rPr kumimoji="1" lang="en-US" altLang="ja-JP" sz="1200" dirty="0">
                    <a:solidFill>
                      <a:schemeClr val="tx1"/>
                    </a:solidFill>
                  </a:rPr>
                  <a:t>Ubuntu20.04LTS</a:t>
                </a:r>
                <a:r>
                  <a:rPr kumimoji="1" lang="ja-JP" altLang="en-US" sz="1200" dirty="0">
                    <a:solidFill>
                      <a:schemeClr val="tx1"/>
                    </a:solidFill>
                  </a:rPr>
                  <a:t>）／</a:t>
                </a:r>
                <a:br>
                  <a:rPr kumimoji="1" lang="en-US" altLang="ja-JP" sz="1200" dirty="0">
                    <a:solidFill>
                      <a:schemeClr val="tx1"/>
                    </a:solidFill>
                  </a:rPr>
                </a:br>
                <a:r>
                  <a:rPr lang="en-US" altLang="ja-JP" sz="1200" dirty="0">
                    <a:solidFill>
                      <a:schemeClr val="tx1"/>
                    </a:solidFill>
                  </a:rPr>
                  <a:t>210.233.120.151  </a:t>
                </a:r>
                <a:r>
                  <a:rPr kumimoji="1" lang="en-US" altLang="ja-JP" sz="1200" dirty="0">
                    <a:solidFill>
                      <a:schemeClr val="tx1"/>
                    </a:solidFill>
                  </a:rPr>
                  <a:t>nktomioka.nkc.co.jp (https</a:t>
                </a:r>
                <a:r>
                  <a:rPr lang="ja-JP" altLang="en-US" sz="1200" dirty="0">
                    <a:solidFill>
                      <a:schemeClr val="tx1"/>
                    </a:solidFill>
                  </a:rPr>
                  <a:t>で社外公開）</a:t>
                </a:r>
                <a:endParaRPr kumimoji="1" lang="ja-JP" altLang="en-US" sz="1200" dirty="0">
                  <a:solidFill>
                    <a:schemeClr val="tx1"/>
                  </a:solidFill>
                </a:endParaRPr>
              </a:p>
            </p:txBody>
          </p:sp>
        </p:grpSp>
        <p:grpSp>
          <p:nvGrpSpPr>
            <p:cNvPr id="5" name="グループ化 4"/>
            <p:cNvGrpSpPr/>
            <p:nvPr/>
          </p:nvGrpSpPr>
          <p:grpSpPr>
            <a:xfrm>
              <a:off x="1761955" y="2438889"/>
              <a:ext cx="6860495" cy="576000"/>
              <a:chOff x="1761955" y="2438889"/>
              <a:chExt cx="6860495" cy="576000"/>
            </a:xfrm>
          </p:grpSpPr>
          <p:sp>
            <p:nvSpPr>
              <p:cNvPr id="15" name="正方形/長方形 14"/>
              <p:cNvSpPr/>
              <p:nvPr/>
            </p:nvSpPr>
            <p:spPr>
              <a:xfrm>
                <a:off x="1761955" y="2438889"/>
                <a:ext cx="2089965"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nksv560</a:t>
                </a:r>
                <a:endParaRPr kumimoji="1" lang="ja-JP" altLang="en-US" dirty="0">
                  <a:solidFill>
                    <a:schemeClr val="tx1"/>
                  </a:solidFill>
                  <a:effectLst>
                    <a:outerShdw blurRad="38100" dist="38100" dir="2700000" algn="tl">
                      <a:srgbClr val="000000">
                        <a:alpha val="43137"/>
                      </a:srgbClr>
                    </a:outerShdw>
                  </a:effectLst>
                </a:endParaRPr>
              </a:p>
            </p:txBody>
          </p:sp>
          <p:sp>
            <p:nvSpPr>
              <p:cNvPr id="26" name="線吹き出し 1 25"/>
              <p:cNvSpPr/>
              <p:nvPr/>
            </p:nvSpPr>
            <p:spPr>
              <a:xfrm>
                <a:off x="4242440" y="2494978"/>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172.25.201.12</a:t>
                </a:r>
                <a:r>
                  <a:rPr kumimoji="1" lang="ja-JP" altLang="en-US" sz="1200" dirty="0">
                    <a:solidFill>
                      <a:schemeClr val="tx1"/>
                    </a:solidFill>
                  </a:rPr>
                  <a:t>（富岡共通用、</a:t>
                </a:r>
                <a:r>
                  <a:rPr kumimoji="1" lang="en-US" altLang="ja-JP" sz="1200" dirty="0">
                    <a:solidFill>
                      <a:schemeClr val="tx1"/>
                    </a:solidFill>
                  </a:rPr>
                  <a:t>Ubuntu</a:t>
                </a:r>
                <a:r>
                  <a:rPr kumimoji="1" lang="ja-JP" altLang="en-US" sz="1200" dirty="0">
                    <a:solidFill>
                      <a:schemeClr val="tx1"/>
                    </a:solidFill>
                  </a:rPr>
                  <a:t> </a:t>
                </a:r>
                <a:r>
                  <a:rPr kumimoji="1" lang="en-US" altLang="ja-JP" sz="1200" dirty="0">
                    <a:solidFill>
                      <a:schemeClr val="tx1"/>
                    </a:solidFill>
                  </a:rPr>
                  <a:t>16.04LTS/32bit</a:t>
                </a:r>
                <a:r>
                  <a:rPr kumimoji="1" lang="ja-JP" altLang="en-US" sz="1200" dirty="0">
                    <a:solidFill>
                      <a:schemeClr val="tx1"/>
                    </a:solidFill>
                  </a:rPr>
                  <a:t>）</a:t>
                </a:r>
                <a:endParaRPr kumimoji="1" lang="en-US" altLang="ja-JP" sz="1200" dirty="0">
                  <a:solidFill>
                    <a:schemeClr val="tx1"/>
                  </a:solidFill>
                </a:endParaRPr>
              </a:p>
            </p:txBody>
          </p:sp>
        </p:grpSp>
        <p:grpSp>
          <p:nvGrpSpPr>
            <p:cNvPr id="6" name="グループ化 5"/>
            <p:cNvGrpSpPr/>
            <p:nvPr/>
          </p:nvGrpSpPr>
          <p:grpSpPr>
            <a:xfrm>
              <a:off x="1761955" y="3080210"/>
              <a:ext cx="6860495" cy="576000"/>
              <a:chOff x="1761955" y="3080210"/>
              <a:chExt cx="6860495" cy="576000"/>
            </a:xfrm>
          </p:grpSpPr>
          <p:sp>
            <p:nvSpPr>
              <p:cNvPr id="16" name="正方形/長方形 15"/>
              <p:cNvSpPr/>
              <p:nvPr/>
            </p:nvSpPr>
            <p:spPr>
              <a:xfrm>
                <a:off x="1761955" y="3080210"/>
                <a:ext cx="2089965" cy="5760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nksv561</a:t>
                </a:r>
                <a:endParaRPr kumimoji="1" lang="ja-JP" altLang="en-US" dirty="0">
                  <a:solidFill>
                    <a:schemeClr val="tx1"/>
                  </a:solidFill>
                  <a:effectLst>
                    <a:outerShdw blurRad="38100" dist="38100" dir="2700000" algn="tl">
                      <a:srgbClr val="000000">
                        <a:alpha val="43137"/>
                      </a:srgbClr>
                    </a:outerShdw>
                  </a:effectLst>
                </a:endParaRPr>
              </a:p>
            </p:txBody>
          </p:sp>
          <p:sp>
            <p:nvSpPr>
              <p:cNvPr id="28" name="線吹き出し 1 27"/>
              <p:cNvSpPr/>
              <p:nvPr/>
            </p:nvSpPr>
            <p:spPr>
              <a:xfrm>
                <a:off x="4242440" y="3171229"/>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172.25.201.13</a:t>
                </a:r>
                <a:r>
                  <a:rPr kumimoji="1" lang="ja-JP" altLang="en-US" sz="1200" dirty="0">
                    <a:solidFill>
                      <a:schemeClr val="tx1"/>
                    </a:solidFill>
                  </a:rPr>
                  <a:t>（現在休止中、</a:t>
                </a:r>
                <a:r>
                  <a:rPr lang="en-US" altLang="ja-JP" sz="1200" dirty="0">
                    <a:solidFill>
                      <a:schemeClr val="tx1"/>
                    </a:solidFill>
                  </a:rPr>
                  <a:t> Windows Server 2019</a:t>
                </a:r>
                <a:r>
                  <a:rPr lang="ja-JP" altLang="en-US" sz="1200" dirty="0">
                    <a:solidFill>
                      <a:schemeClr val="tx1"/>
                    </a:solidFill>
                  </a:rPr>
                  <a:t>予定</a:t>
                </a:r>
                <a:r>
                  <a:rPr lang="en-US" altLang="ja-JP" sz="1200" dirty="0">
                    <a:solidFill>
                      <a:schemeClr val="tx1"/>
                    </a:solidFill>
                  </a:rPr>
                  <a:t> </a:t>
                </a:r>
                <a:r>
                  <a:rPr kumimoji="1" lang="ja-JP" altLang="en-US" sz="1200" dirty="0">
                    <a:solidFill>
                      <a:schemeClr val="tx1"/>
                    </a:solidFill>
                  </a:rPr>
                  <a:t>）</a:t>
                </a:r>
              </a:p>
            </p:txBody>
          </p:sp>
        </p:grpSp>
        <p:grpSp>
          <p:nvGrpSpPr>
            <p:cNvPr id="7" name="グループ化 6"/>
            <p:cNvGrpSpPr/>
            <p:nvPr/>
          </p:nvGrpSpPr>
          <p:grpSpPr>
            <a:xfrm>
              <a:off x="1761955" y="3721531"/>
              <a:ext cx="6860495" cy="576000"/>
              <a:chOff x="1761955" y="3721531"/>
              <a:chExt cx="6860495" cy="576000"/>
            </a:xfrm>
          </p:grpSpPr>
          <p:sp>
            <p:nvSpPr>
              <p:cNvPr id="17" name="正方形/長方形 16"/>
              <p:cNvSpPr/>
              <p:nvPr/>
            </p:nvSpPr>
            <p:spPr>
              <a:xfrm>
                <a:off x="1761955" y="3721531"/>
                <a:ext cx="2089965"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nksv567</a:t>
                </a:r>
                <a:endParaRPr kumimoji="1" lang="ja-JP" altLang="en-US" dirty="0">
                  <a:solidFill>
                    <a:schemeClr val="tx1"/>
                  </a:solidFill>
                  <a:effectLst>
                    <a:outerShdw blurRad="38100" dist="38100" dir="2700000" algn="tl">
                      <a:srgbClr val="000000">
                        <a:alpha val="43137"/>
                      </a:srgbClr>
                    </a:outerShdw>
                  </a:effectLst>
                </a:endParaRPr>
              </a:p>
            </p:txBody>
          </p:sp>
          <p:sp>
            <p:nvSpPr>
              <p:cNvPr id="29" name="線吹き出し 1 28"/>
              <p:cNvSpPr/>
              <p:nvPr/>
            </p:nvSpPr>
            <p:spPr>
              <a:xfrm>
                <a:off x="4242440" y="3812550"/>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172.25.201.14</a:t>
                </a:r>
                <a:r>
                  <a:rPr kumimoji="1" lang="ja-JP" altLang="en-US" sz="1200" dirty="0">
                    <a:solidFill>
                      <a:schemeClr val="tx1"/>
                    </a:solidFill>
                  </a:rPr>
                  <a:t>（富岡</a:t>
                </a:r>
                <a:r>
                  <a:rPr lang="ja-JP" altLang="en-US" sz="1200" dirty="0">
                    <a:solidFill>
                      <a:schemeClr val="tx1"/>
                    </a:solidFill>
                  </a:rPr>
                  <a:t>生産技術用</a:t>
                </a:r>
                <a:r>
                  <a:rPr kumimoji="1" lang="ja-JP" altLang="en-US" sz="1200" dirty="0">
                    <a:solidFill>
                      <a:schemeClr val="tx1"/>
                    </a:solidFill>
                  </a:rPr>
                  <a:t>、</a:t>
                </a:r>
                <a:r>
                  <a:rPr kumimoji="1" lang="en-US" altLang="ja-JP" sz="1200" dirty="0">
                    <a:solidFill>
                      <a:schemeClr val="tx1"/>
                    </a:solidFill>
                  </a:rPr>
                  <a:t>Ubuntu</a:t>
                </a:r>
                <a:r>
                  <a:rPr kumimoji="1" lang="ja-JP" altLang="en-US" sz="1200" dirty="0">
                    <a:solidFill>
                      <a:schemeClr val="tx1"/>
                    </a:solidFill>
                  </a:rPr>
                  <a:t> </a:t>
                </a:r>
                <a:r>
                  <a:rPr lang="en-US" altLang="ja-JP" sz="1200" dirty="0">
                    <a:solidFill>
                      <a:schemeClr val="tx1"/>
                    </a:solidFill>
                  </a:rPr>
                  <a:t>16.04LTS/32bit</a:t>
                </a:r>
                <a:r>
                  <a:rPr kumimoji="1" lang="ja-JP" altLang="en-US" sz="1200" dirty="0">
                    <a:solidFill>
                      <a:schemeClr val="tx1"/>
                    </a:solidFill>
                  </a:rPr>
                  <a:t>）</a:t>
                </a:r>
              </a:p>
            </p:txBody>
          </p:sp>
        </p:grpSp>
        <p:grpSp>
          <p:nvGrpSpPr>
            <p:cNvPr id="8" name="グループ化 7"/>
            <p:cNvGrpSpPr/>
            <p:nvPr/>
          </p:nvGrpSpPr>
          <p:grpSpPr>
            <a:xfrm>
              <a:off x="1761955" y="4362852"/>
              <a:ext cx="6860495" cy="576000"/>
              <a:chOff x="1761955" y="4362852"/>
              <a:chExt cx="6860495" cy="576000"/>
            </a:xfrm>
          </p:grpSpPr>
          <p:sp>
            <p:nvSpPr>
              <p:cNvPr id="18" name="正方形/長方形 17"/>
              <p:cNvSpPr/>
              <p:nvPr/>
            </p:nvSpPr>
            <p:spPr>
              <a:xfrm>
                <a:off x="1761955" y="4362852"/>
                <a:ext cx="2089965"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nksv568</a:t>
                </a:r>
                <a:endParaRPr kumimoji="1" lang="ja-JP" altLang="en-US" dirty="0">
                  <a:solidFill>
                    <a:schemeClr val="tx1"/>
                  </a:solidFill>
                  <a:effectLst>
                    <a:outerShdw blurRad="38100" dist="38100" dir="2700000" algn="tl">
                      <a:srgbClr val="000000">
                        <a:alpha val="43137"/>
                      </a:srgbClr>
                    </a:outerShdw>
                  </a:effectLst>
                </a:endParaRPr>
              </a:p>
            </p:txBody>
          </p:sp>
          <p:sp>
            <p:nvSpPr>
              <p:cNvPr id="30" name="線吹き出し 1 29"/>
              <p:cNvSpPr/>
              <p:nvPr/>
            </p:nvSpPr>
            <p:spPr>
              <a:xfrm>
                <a:off x="4242440" y="4453871"/>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172.25.201.15</a:t>
                </a:r>
                <a:r>
                  <a:rPr kumimoji="1" lang="ja-JP" altLang="en-US" sz="1200" dirty="0">
                    <a:solidFill>
                      <a:schemeClr val="tx1"/>
                    </a:solidFill>
                  </a:rPr>
                  <a:t>（川本共通用、</a:t>
                </a:r>
                <a:r>
                  <a:rPr kumimoji="1" lang="en-US" altLang="ja-JP" sz="1200" dirty="0">
                    <a:solidFill>
                      <a:schemeClr val="tx1"/>
                    </a:solidFill>
                  </a:rPr>
                  <a:t>Ubuntu</a:t>
                </a:r>
                <a:r>
                  <a:rPr kumimoji="1" lang="ja-JP" altLang="en-US" sz="1200" dirty="0">
                    <a:solidFill>
                      <a:schemeClr val="tx1"/>
                    </a:solidFill>
                  </a:rPr>
                  <a:t> </a:t>
                </a:r>
                <a:r>
                  <a:rPr lang="en-US" altLang="ja-JP" sz="1200" dirty="0">
                    <a:solidFill>
                      <a:schemeClr val="tx1"/>
                    </a:solidFill>
                  </a:rPr>
                  <a:t>16.04LTS/64bit</a:t>
                </a:r>
                <a:r>
                  <a:rPr kumimoji="1" lang="ja-JP" altLang="en-US" sz="1200" dirty="0">
                    <a:solidFill>
                      <a:schemeClr val="tx1"/>
                    </a:solidFill>
                  </a:rPr>
                  <a:t>）</a:t>
                </a:r>
              </a:p>
            </p:txBody>
          </p:sp>
        </p:grpSp>
        <p:grpSp>
          <p:nvGrpSpPr>
            <p:cNvPr id="9" name="グループ化 8"/>
            <p:cNvGrpSpPr/>
            <p:nvPr/>
          </p:nvGrpSpPr>
          <p:grpSpPr>
            <a:xfrm>
              <a:off x="1761955" y="5004175"/>
              <a:ext cx="6860495" cy="576000"/>
              <a:chOff x="1761955" y="5004175"/>
              <a:chExt cx="6860495" cy="576000"/>
            </a:xfrm>
          </p:grpSpPr>
          <p:sp>
            <p:nvSpPr>
              <p:cNvPr id="22" name="正方形/長方形 21"/>
              <p:cNvSpPr/>
              <p:nvPr/>
            </p:nvSpPr>
            <p:spPr>
              <a:xfrm>
                <a:off x="1761955" y="5004175"/>
                <a:ext cx="2089965"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nksv569</a:t>
                </a:r>
                <a:endParaRPr kumimoji="1" lang="ja-JP" altLang="en-US" dirty="0">
                  <a:solidFill>
                    <a:schemeClr val="tx1"/>
                  </a:solidFill>
                  <a:effectLst>
                    <a:outerShdw blurRad="38100" dist="38100" dir="2700000" algn="tl">
                      <a:srgbClr val="000000">
                        <a:alpha val="43137"/>
                      </a:srgbClr>
                    </a:outerShdw>
                  </a:effectLst>
                </a:endParaRPr>
              </a:p>
            </p:txBody>
          </p:sp>
          <p:sp>
            <p:nvSpPr>
              <p:cNvPr id="31" name="線吹き出し 1 30"/>
              <p:cNvSpPr/>
              <p:nvPr/>
            </p:nvSpPr>
            <p:spPr>
              <a:xfrm>
                <a:off x="4242440" y="5095194"/>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172.25.201.16</a:t>
                </a:r>
                <a:r>
                  <a:rPr kumimoji="1" lang="ja-JP" altLang="en-US" sz="1200">
                    <a:solidFill>
                      <a:schemeClr val="tx1"/>
                    </a:solidFill>
                  </a:rPr>
                  <a:t>（富岡共通用</a:t>
                </a:r>
                <a:r>
                  <a:rPr kumimoji="1" lang="ja-JP" altLang="en-US" sz="1200" dirty="0">
                    <a:solidFill>
                      <a:schemeClr val="tx1"/>
                    </a:solidFill>
                  </a:rPr>
                  <a:t>、</a:t>
                </a:r>
                <a:r>
                  <a:rPr kumimoji="1" lang="en-US" altLang="ja-JP" sz="1200">
                    <a:solidFill>
                      <a:schemeClr val="tx1"/>
                    </a:solidFill>
                  </a:rPr>
                  <a:t>Ubuntu</a:t>
                </a:r>
                <a:r>
                  <a:rPr kumimoji="1" lang="ja-JP" altLang="en-US" sz="1200">
                    <a:solidFill>
                      <a:schemeClr val="tx1"/>
                    </a:solidFill>
                  </a:rPr>
                  <a:t> </a:t>
                </a:r>
                <a:r>
                  <a:rPr lang="en-US" altLang="ja-JP" sz="1200">
                    <a:solidFill>
                      <a:schemeClr val="tx1"/>
                    </a:solidFill>
                  </a:rPr>
                  <a:t>18.04LTS</a:t>
                </a:r>
                <a:r>
                  <a:rPr lang="en-US" altLang="ja-JP" sz="1200" dirty="0">
                    <a:solidFill>
                      <a:schemeClr val="tx1"/>
                    </a:solidFill>
                  </a:rPr>
                  <a:t>/64bit</a:t>
                </a:r>
                <a:r>
                  <a:rPr kumimoji="1" lang="ja-JP" altLang="en-US" sz="1200" dirty="0">
                    <a:solidFill>
                      <a:schemeClr val="tx1"/>
                    </a:solidFill>
                  </a:rPr>
                  <a:t>）</a:t>
                </a:r>
              </a:p>
            </p:txBody>
          </p:sp>
        </p:grpSp>
      </p:grpSp>
    </p:spTree>
    <p:extLst>
      <p:ext uri="{BB962C8B-B14F-4D97-AF65-F5344CB8AC3E}">
        <p14:creationId xmlns:p14="http://schemas.microsoft.com/office/powerpoint/2010/main" val="2580660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971463"/>
            <a:ext cx="1274484" cy="954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2"/>
          <p:cNvSpPr>
            <a:spLocks noChangeArrowheads="1"/>
          </p:cNvSpPr>
          <p:nvPr/>
        </p:nvSpPr>
        <p:spPr bwMode="auto">
          <a:xfrm>
            <a:off x="2872864" y="23664"/>
            <a:ext cx="313094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サーバシステム構造</a:t>
            </a:r>
          </a:p>
        </p:txBody>
      </p:sp>
      <p:sp>
        <p:nvSpPr>
          <p:cNvPr id="5" name="正方形/長方形 4"/>
          <p:cNvSpPr/>
          <p:nvPr/>
        </p:nvSpPr>
        <p:spPr>
          <a:xfrm>
            <a:off x="611560" y="2528900"/>
            <a:ext cx="1904275" cy="2418405"/>
          </a:xfrm>
          <a:prstGeom prst="rect">
            <a:avLst/>
          </a:prstGeom>
          <a:solidFill>
            <a:srgbClr val="FFC000"/>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ja-JP" dirty="0"/>
              <a:t>&lt;</a:t>
            </a:r>
            <a:r>
              <a:rPr lang="ja-JP" altLang="en-US" dirty="0"/>
              <a:t>クライアント</a:t>
            </a:r>
            <a:r>
              <a:rPr lang="en-US" altLang="ja-JP" dirty="0"/>
              <a:t>PC&gt;</a:t>
            </a:r>
          </a:p>
        </p:txBody>
      </p:sp>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8554" y="2937152"/>
            <a:ext cx="3429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17943" y="2937151"/>
            <a:ext cx="3429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032"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22987" y="2937151"/>
            <a:ext cx="342901" cy="3429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3"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3069" y="2937153"/>
            <a:ext cx="320777"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テキスト ボックス 13"/>
          <p:cNvSpPr txBox="1"/>
          <p:nvPr/>
        </p:nvSpPr>
        <p:spPr>
          <a:xfrm>
            <a:off x="2989652" y="2808744"/>
            <a:ext cx="428536" cy="226591"/>
          </a:xfrm>
          <a:prstGeom prst="rect">
            <a:avLst/>
          </a:prstGeom>
          <a:noFill/>
        </p:spPr>
        <p:txBody>
          <a:bodyPr wrap="none" lIns="36000" tIns="36000" rIns="36000" bIns="36000" rtlCol="0" anchor="ctr" anchorCtr="0">
            <a:spAutoFit/>
          </a:bodyPr>
          <a:lstStyle/>
          <a:p>
            <a:pPr algn="ctr"/>
            <a:r>
              <a:rPr lang="ja-JP" altLang="en-US" sz="1000" dirty="0"/>
              <a:t>ﾘｸｴｽﾄ</a:t>
            </a:r>
            <a:endParaRPr lang="en-US" altLang="ja-JP" sz="1000" dirty="0"/>
          </a:p>
        </p:txBody>
      </p:sp>
      <p:sp>
        <p:nvSpPr>
          <p:cNvPr id="16" name="テキスト ボックス 15"/>
          <p:cNvSpPr txBox="1"/>
          <p:nvPr/>
        </p:nvSpPr>
        <p:spPr>
          <a:xfrm>
            <a:off x="2951820" y="3113965"/>
            <a:ext cx="491087" cy="226591"/>
          </a:xfrm>
          <a:prstGeom prst="rect">
            <a:avLst/>
          </a:prstGeom>
          <a:noFill/>
        </p:spPr>
        <p:txBody>
          <a:bodyPr wrap="none" lIns="36000" tIns="36000" rIns="36000" bIns="36000" rtlCol="0" anchor="ctr" anchorCtr="0">
            <a:spAutoFit/>
          </a:bodyPr>
          <a:lstStyle/>
          <a:p>
            <a:r>
              <a:rPr lang="ja-JP" altLang="en-US" sz="1000" dirty="0"/>
              <a:t>ﾚｽﾎﾟﾝｽ</a:t>
            </a:r>
            <a:endParaRPr lang="en-US" altLang="ja-JP" sz="1000" dirty="0"/>
          </a:p>
        </p:txBody>
      </p:sp>
      <p:sp>
        <p:nvSpPr>
          <p:cNvPr id="17" name="正方形/長方形 16"/>
          <p:cNvSpPr/>
          <p:nvPr/>
        </p:nvSpPr>
        <p:spPr>
          <a:xfrm>
            <a:off x="3577506" y="638689"/>
            <a:ext cx="5269969" cy="5445605"/>
          </a:xfrm>
          <a:prstGeom prst="rect">
            <a:avLst/>
          </a:prstGeom>
          <a:solidFill>
            <a:srgbClr val="92D050"/>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ja-JP" altLang="en-US" dirty="0"/>
              <a:t>富岡サーバ（サーバハードウエア本体）</a:t>
            </a:r>
            <a:endParaRPr lang="en-US" altLang="ja-JP" dirty="0"/>
          </a:p>
          <a:p>
            <a:pPr algn="l"/>
            <a:r>
              <a:rPr lang="ja-JP" altLang="en-US" dirty="0"/>
              <a:t>事務棟</a:t>
            </a:r>
            <a:r>
              <a:rPr lang="en-US" altLang="ja-JP" dirty="0"/>
              <a:t>2</a:t>
            </a:r>
            <a:r>
              <a:rPr lang="ja-JP" altLang="en-US" dirty="0"/>
              <a:t>階の</a:t>
            </a:r>
            <a:r>
              <a:rPr lang="ja-JP" altLang="en-US"/>
              <a:t>サーバ室に</a:t>
            </a:r>
            <a:r>
              <a:rPr lang="en-US" altLang="ja-JP" dirty="0"/>
              <a:t>6</a:t>
            </a:r>
            <a:r>
              <a:rPr lang="ja-JP" altLang="en-US"/>
              <a:t>台</a:t>
            </a:r>
            <a:r>
              <a:rPr lang="ja-JP" altLang="en-US" dirty="0"/>
              <a:t>設置されている。</a:t>
            </a:r>
            <a:endParaRPr lang="en-US" altLang="ja-JP" dirty="0"/>
          </a:p>
        </p:txBody>
      </p:sp>
      <p:cxnSp>
        <p:nvCxnSpPr>
          <p:cNvPr id="13" name="直線矢印コネクタ 12"/>
          <p:cNvCxnSpPr>
            <a:cxnSpLocks/>
          </p:cNvCxnSpPr>
          <p:nvPr/>
        </p:nvCxnSpPr>
        <p:spPr>
          <a:xfrm>
            <a:off x="2515835" y="3045151"/>
            <a:ext cx="23712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矢印コネクタ 14"/>
          <p:cNvCxnSpPr>
            <a:cxnSpLocks/>
          </p:cNvCxnSpPr>
          <p:nvPr/>
        </p:nvCxnSpPr>
        <p:spPr>
          <a:xfrm flipH="1">
            <a:off x="2515835" y="3342684"/>
            <a:ext cx="2371201"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フローチャート : 磁気ディスク 31"/>
          <p:cNvSpPr/>
          <p:nvPr/>
        </p:nvSpPr>
        <p:spPr>
          <a:xfrm>
            <a:off x="1601670" y="5077279"/>
            <a:ext cx="1035115" cy="84461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lIns="0" tIns="612000" rIns="0" bIns="36000" rtlCol="0" anchor="b" anchorCtr="1"/>
          <a:lstStyle/>
          <a:p>
            <a:pPr algn="ctr">
              <a:lnSpc>
                <a:spcPts val="1800"/>
              </a:lnSpc>
            </a:pPr>
            <a:r>
              <a:rPr lang="en-US" altLang="ja-JP" dirty="0">
                <a:solidFill>
                  <a:schemeClr val="tx1"/>
                </a:solidFill>
                <a:effectLst>
                  <a:outerShdw blurRad="38100" dist="38100" dir="2700000" algn="tl">
                    <a:srgbClr val="000000">
                      <a:alpha val="43137"/>
                    </a:srgbClr>
                  </a:outerShdw>
                </a:effectLst>
              </a:rPr>
              <a:t>BOSS</a:t>
            </a:r>
            <a:br>
              <a:rPr lang="en-US" altLang="ja-JP" dirty="0">
                <a:solidFill>
                  <a:schemeClr val="tx1"/>
                </a:solidFill>
                <a:effectLst>
                  <a:outerShdw blurRad="38100" dist="38100" dir="2700000" algn="tl">
                    <a:srgbClr val="000000">
                      <a:alpha val="43137"/>
                    </a:srgbClr>
                  </a:outerShdw>
                </a:effectLst>
              </a:rPr>
            </a:br>
            <a:r>
              <a:rPr lang="en-US" altLang="ja-JP" dirty="0">
                <a:solidFill>
                  <a:schemeClr val="tx1"/>
                </a:solidFill>
                <a:effectLst>
                  <a:outerShdw blurRad="38100" dist="38100" dir="2700000" algn="tl">
                    <a:srgbClr val="000000">
                      <a:alpha val="43137"/>
                    </a:srgbClr>
                  </a:outerShdw>
                </a:effectLst>
              </a:rPr>
              <a:t>/DWH</a:t>
            </a:r>
          </a:p>
        </p:txBody>
      </p:sp>
      <p:sp>
        <p:nvSpPr>
          <p:cNvPr id="40" name="正方形/長方形 39"/>
          <p:cNvSpPr/>
          <p:nvPr/>
        </p:nvSpPr>
        <p:spPr>
          <a:xfrm>
            <a:off x="6912260" y="2879178"/>
            <a:ext cx="1665185" cy="922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cgi</a:t>
            </a:r>
            <a:br>
              <a:rPr kumimoji="1" lang="en-US" altLang="ja-JP" dirty="0">
                <a:solidFill>
                  <a:schemeClr val="tx1"/>
                </a:solidFill>
                <a:effectLst>
                  <a:outerShdw blurRad="38100" dist="38100" dir="2700000" algn="tl">
                    <a:srgbClr val="000000">
                      <a:alpha val="43137"/>
                    </a:srgbClr>
                  </a:outerShdw>
                </a:effectLst>
              </a:rPr>
            </a:br>
            <a:r>
              <a:rPr kumimoji="1" lang="ja-JP" altLang="en-US" dirty="0">
                <a:solidFill>
                  <a:schemeClr val="tx1"/>
                </a:solidFill>
                <a:effectLst>
                  <a:outerShdw blurRad="38100" dist="38100" dir="2700000" algn="tl">
                    <a:srgbClr val="000000">
                      <a:alpha val="43137"/>
                    </a:srgbClr>
                  </a:outerShdw>
                </a:effectLst>
              </a:rPr>
              <a:t>プログラム</a:t>
            </a:r>
          </a:p>
        </p:txBody>
      </p:sp>
      <p:sp>
        <p:nvSpPr>
          <p:cNvPr id="41" name="正方形/長方形 40"/>
          <p:cNvSpPr/>
          <p:nvPr/>
        </p:nvSpPr>
        <p:spPr>
          <a:xfrm>
            <a:off x="5039434" y="4281580"/>
            <a:ext cx="3529639" cy="63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MySQL</a:t>
            </a:r>
          </a:p>
          <a:p>
            <a:pPr algn="ctr"/>
            <a:r>
              <a:rPr lang="en-US" altLang="ja-JP" dirty="0">
                <a:solidFill>
                  <a:schemeClr val="tx1"/>
                </a:solidFill>
                <a:effectLst>
                  <a:outerShdw blurRad="38100" dist="38100" dir="2700000" algn="tl">
                    <a:srgbClr val="000000">
                      <a:alpha val="43137"/>
                    </a:srgbClr>
                  </a:outerShdw>
                </a:effectLst>
              </a:rPr>
              <a:t>DB</a:t>
            </a:r>
            <a:r>
              <a:rPr lang="ja-JP" altLang="en-US" dirty="0">
                <a:solidFill>
                  <a:schemeClr val="tx1"/>
                </a:solidFill>
                <a:effectLst>
                  <a:outerShdw blurRad="38100" dist="38100" dir="2700000" algn="tl">
                    <a:srgbClr val="000000">
                      <a:alpha val="43137"/>
                    </a:srgbClr>
                  </a:outerShdw>
                </a:effectLst>
              </a:rPr>
              <a:t>サーバ</a:t>
            </a:r>
            <a:endParaRPr kumimoji="1" lang="ja-JP" altLang="en-US" dirty="0">
              <a:solidFill>
                <a:schemeClr val="tx1"/>
              </a:solidFill>
              <a:effectLst>
                <a:outerShdw blurRad="38100" dist="38100" dir="2700000" algn="tl">
                  <a:srgbClr val="000000">
                    <a:alpha val="43137"/>
                  </a:srgbClr>
                </a:outerShdw>
              </a:effectLst>
            </a:endParaRPr>
          </a:p>
        </p:txBody>
      </p:sp>
      <p:sp>
        <p:nvSpPr>
          <p:cNvPr id="43" name="フローチャート : 磁気ディスク 42"/>
          <p:cNvSpPr/>
          <p:nvPr/>
        </p:nvSpPr>
        <p:spPr>
          <a:xfrm>
            <a:off x="5202510" y="1631519"/>
            <a:ext cx="1035115" cy="84461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tIns="144000" bIns="36000" rtlCol="0" anchor="ctr" anchorCtr="0"/>
          <a:lstStyle/>
          <a:p>
            <a:pPr algn="ctr"/>
            <a:r>
              <a:rPr lang="en-US" altLang="ja-JP" dirty="0">
                <a:solidFill>
                  <a:schemeClr val="tx1"/>
                </a:solidFill>
                <a:effectLst>
                  <a:outerShdw blurRad="38100" dist="38100" dir="2700000" algn="tl">
                    <a:srgbClr val="000000">
                      <a:alpha val="43137"/>
                    </a:srgbClr>
                  </a:outerShdw>
                </a:effectLst>
              </a:rPr>
              <a:t>html</a:t>
            </a:r>
            <a:br>
              <a:rPr kumimoji="1" lang="en-US" altLang="ja-JP" dirty="0">
                <a:solidFill>
                  <a:schemeClr val="tx1"/>
                </a:solidFill>
                <a:effectLst>
                  <a:outerShdw blurRad="38100" dist="38100" dir="2700000" algn="tl">
                    <a:srgbClr val="000000">
                      <a:alpha val="43137"/>
                    </a:srgbClr>
                  </a:outerShdw>
                </a:effectLst>
              </a:rPr>
            </a:br>
            <a:r>
              <a:rPr lang="en-US" altLang="ja-JP" dirty="0">
                <a:solidFill>
                  <a:schemeClr val="tx1"/>
                </a:solidFill>
                <a:effectLst>
                  <a:outerShdw blurRad="38100" dist="38100" dir="2700000" algn="tl">
                    <a:srgbClr val="000000">
                      <a:alpha val="43137"/>
                    </a:srgbClr>
                  </a:outerShdw>
                </a:effectLst>
              </a:rPr>
              <a:t>/</a:t>
            </a:r>
            <a:r>
              <a:rPr lang="en-US" altLang="ja-JP" dirty="0" err="1">
                <a:solidFill>
                  <a:schemeClr val="tx1"/>
                </a:solidFill>
                <a:effectLst>
                  <a:outerShdw blurRad="38100" dist="38100" dir="2700000" algn="tl">
                    <a:srgbClr val="000000">
                      <a:alpha val="43137"/>
                    </a:srgbClr>
                  </a:outerShdw>
                </a:effectLst>
              </a:rPr>
              <a:t>css</a:t>
            </a:r>
            <a:endParaRPr kumimoji="1" lang="ja-JP" altLang="en-US" dirty="0">
              <a:solidFill>
                <a:schemeClr val="tx1"/>
              </a:solidFill>
              <a:effectLst>
                <a:outerShdw blurRad="38100" dist="38100" dir="2700000" algn="tl">
                  <a:srgbClr val="000000">
                    <a:alpha val="43137"/>
                  </a:srgbClr>
                </a:outerShdw>
              </a:effectLst>
            </a:endParaRPr>
          </a:p>
        </p:txBody>
      </p:sp>
      <p:sp>
        <p:nvSpPr>
          <p:cNvPr id="20" name="フローチャート : 磁気ディスク 19"/>
          <p:cNvSpPr/>
          <p:nvPr/>
        </p:nvSpPr>
        <p:spPr>
          <a:xfrm>
            <a:off x="5067054" y="1448780"/>
            <a:ext cx="1035115" cy="84461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tIns="144000" bIns="36000" rtlCol="0" anchor="ctr" anchorCtr="0"/>
          <a:lstStyle/>
          <a:p>
            <a:pPr algn="ctr"/>
            <a:r>
              <a:rPr lang="en-US" altLang="ja-JP" dirty="0">
                <a:solidFill>
                  <a:schemeClr val="tx1"/>
                </a:solidFill>
                <a:effectLst>
                  <a:outerShdw blurRad="38100" dist="38100" dir="2700000" algn="tl">
                    <a:srgbClr val="000000">
                      <a:alpha val="43137"/>
                    </a:srgbClr>
                  </a:outerShdw>
                </a:effectLst>
              </a:rPr>
              <a:t>h</a:t>
            </a:r>
            <a:r>
              <a:rPr kumimoji="1" lang="en-US" altLang="ja-JP" dirty="0">
                <a:solidFill>
                  <a:schemeClr val="tx1"/>
                </a:solidFill>
                <a:effectLst>
                  <a:outerShdw blurRad="38100" dist="38100" dir="2700000" algn="tl">
                    <a:srgbClr val="000000">
                      <a:alpha val="43137"/>
                    </a:srgbClr>
                  </a:outerShdw>
                </a:effectLst>
              </a:rPr>
              <a:t>tml</a:t>
            </a:r>
            <a:br>
              <a:rPr kumimoji="1" lang="en-US" altLang="ja-JP" dirty="0">
                <a:solidFill>
                  <a:schemeClr val="tx1"/>
                </a:solidFill>
                <a:effectLst>
                  <a:outerShdw blurRad="38100" dist="38100" dir="2700000" algn="tl">
                    <a:srgbClr val="000000">
                      <a:alpha val="43137"/>
                    </a:srgbClr>
                  </a:outerShdw>
                </a:effectLst>
              </a:rPr>
            </a:br>
            <a:r>
              <a:rPr lang="en-US" altLang="ja-JP" dirty="0">
                <a:solidFill>
                  <a:schemeClr val="tx1"/>
                </a:solidFill>
                <a:effectLst>
                  <a:outerShdw blurRad="38100" dist="38100" dir="2700000" algn="tl">
                    <a:srgbClr val="000000">
                      <a:alpha val="43137"/>
                    </a:srgbClr>
                  </a:outerShdw>
                </a:effectLst>
              </a:rPr>
              <a:t>/</a:t>
            </a:r>
            <a:r>
              <a:rPr lang="en-US" altLang="ja-JP" dirty="0" err="1">
                <a:solidFill>
                  <a:schemeClr val="tx1"/>
                </a:solidFill>
                <a:effectLst>
                  <a:outerShdw blurRad="38100" dist="38100" dir="2700000" algn="tl">
                    <a:srgbClr val="000000">
                      <a:alpha val="43137"/>
                    </a:srgbClr>
                  </a:outerShdw>
                </a:effectLst>
              </a:rPr>
              <a:t>css</a:t>
            </a:r>
            <a:endParaRPr kumimoji="1" lang="ja-JP" altLang="en-US" dirty="0">
              <a:solidFill>
                <a:schemeClr val="tx1"/>
              </a:solidFill>
              <a:effectLst>
                <a:outerShdw blurRad="38100" dist="38100" dir="2700000" algn="tl">
                  <a:srgbClr val="000000">
                    <a:alpha val="43137"/>
                  </a:srgbClr>
                </a:outerShdw>
              </a:effectLst>
            </a:endParaRPr>
          </a:p>
        </p:txBody>
      </p:sp>
      <p:cxnSp>
        <p:nvCxnSpPr>
          <p:cNvPr id="33" name="直線矢印コネクタ 32"/>
          <p:cNvCxnSpPr>
            <a:stCxn id="39" idx="0"/>
            <a:endCxn id="43" idx="3"/>
          </p:cNvCxnSpPr>
          <p:nvPr/>
        </p:nvCxnSpPr>
        <p:spPr>
          <a:xfrm flipH="1" flipV="1">
            <a:off x="5720068" y="2476134"/>
            <a:ext cx="1471" cy="332685"/>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9" name="正方形/長方形 38"/>
          <p:cNvSpPr/>
          <p:nvPr/>
        </p:nvSpPr>
        <p:spPr>
          <a:xfrm>
            <a:off x="5023961" y="2808819"/>
            <a:ext cx="1395155" cy="922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effectLst>
                  <a:outerShdw blurRad="38100" dist="38100" dir="2700000" algn="tl">
                    <a:srgbClr val="000000">
                      <a:alpha val="43137"/>
                    </a:srgbClr>
                  </a:outerShdw>
                </a:effectLst>
              </a:rPr>
              <a:t>Apache2</a:t>
            </a:r>
          </a:p>
          <a:p>
            <a:pPr algn="ctr"/>
            <a:r>
              <a:rPr kumimoji="1" lang="en-US" altLang="ja-JP" dirty="0">
                <a:solidFill>
                  <a:schemeClr val="tx1"/>
                </a:solidFill>
                <a:effectLst>
                  <a:outerShdw blurRad="38100" dist="38100" dir="2700000" algn="tl">
                    <a:srgbClr val="000000">
                      <a:alpha val="43137"/>
                    </a:srgbClr>
                  </a:outerShdw>
                </a:effectLst>
              </a:rPr>
              <a:t>web</a:t>
            </a:r>
            <a:r>
              <a:rPr kumimoji="1" lang="ja-JP" altLang="en-US" dirty="0">
                <a:solidFill>
                  <a:schemeClr val="tx1"/>
                </a:solidFill>
                <a:effectLst>
                  <a:outerShdw blurRad="38100" dist="38100" dir="2700000" algn="tl">
                    <a:srgbClr val="000000">
                      <a:alpha val="43137"/>
                    </a:srgbClr>
                  </a:outerShdw>
                </a:effectLst>
              </a:rPr>
              <a:t>サーバ</a:t>
            </a:r>
          </a:p>
        </p:txBody>
      </p:sp>
      <p:sp>
        <p:nvSpPr>
          <p:cNvPr id="7" name="正方形/長方形 6"/>
          <p:cNvSpPr/>
          <p:nvPr/>
        </p:nvSpPr>
        <p:spPr>
          <a:xfrm>
            <a:off x="4887035" y="2658874"/>
            <a:ext cx="1395155" cy="922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effectLst>
                  <a:outerShdw blurRad="38100" dist="38100" dir="2700000" algn="tl">
                    <a:srgbClr val="000000">
                      <a:alpha val="43137"/>
                    </a:srgbClr>
                  </a:outerShdw>
                </a:effectLst>
              </a:rPr>
              <a:t>Apache2</a:t>
            </a:r>
          </a:p>
          <a:p>
            <a:pPr algn="ctr"/>
            <a:r>
              <a:rPr kumimoji="1" lang="en-US" altLang="ja-JP" dirty="0">
                <a:solidFill>
                  <a:schemeClr val="tx1"/>
                </a:solidFill>
                <a:effectLst>
                  <a:outerShdw blurRad="38100" dist="38100" dir="2700000" algn="tl">
                    <a:srgbClr val="000000">
                      <a:alpha val="43137"/>
                    </a:srgbClr>
                  </a:outerShdw>
                </a:effectLst>
              </a:rPr>
              <a:t>web</a:t>
            </a:r>
            <a:r>
              <a:rPr kumimoji="1" lang="ja-JP" altLang="en-US" dirty="0">
                <a:solidFill>
                  <a:schemeClr val="tx1"/>
                </a:solidFill>
                <a:effectLst>
                  <a:outerShdw blurRad="38100" dist="38100" dir="2700000" algn="tl">
                    <a:srgbClr val="000000">
                      <a:alpha val="43137"/>
                    </a:srgbClr>
                  </a:outerShdw>
                </a:effectLst>
              </a:rPr>
              <a:t>サーバ</a:t>
            </a:r>
          </a:p>
        </p:txBody>
      </p:sp>
      <p:cxnSp>
        <p:nvCxnSpPr>
          <p:cNvPr id="47" name="直線矢印コネクタ 46"/>
          <p:cNvCxnSpPr>
            <a:stCxn id="7" idx="0"/>
            <a:endCxn id="20" idx="3"/>
          </p:cNvCxnSpPr>
          <p:nvPr/>
        </p:nvCxnSpPr>
        <p:spPr>
          <a:xfrm flipH="1" flipV="1">
            <a:off x="5584612" y="2293395"/>
            <a:ext cx="1" cy="365479"/>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直線矢印コネクタ 25"/>
          <p:cNvCxnSpPr>
            <a:stCxn id="7" idx="3"/>
            <a:endCxn id="24" idx="1"/>
          </p:cNvCxnSpPr>
          <p:nvPr/>
        </p:nvCxnSpPr>
        <p:spPr>
          <a:xfrm>
            <a:off x="6282190" y="3120175"/>
            <a:ext cx="469298" cy="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0" name="直線矢印コネクタ 49"/>
          <p:cNvCxnSpPr>
            <a:endCxn id="24" idx="2"/>
          </p:cNvCxnSpPr>
          <p:nvPr/>
        </p:nvCxnSpPr>
        <p:spPr>
          <a:xfrm flipV="1">
            <a:off x="7584080" y="3581476"/>
            <a:ext cx="1" cy="44533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9" name="直線矢印コネクタ 58"/>
          <p:cNvCxnSpPr>
            <a:endCxn id="40" idx="2"/>
          </p:cNvCxnSpPr>
          <p:nvPr/>
        </p:nvCxnSpPr>
        <p:spPr>
          <a:xfrm flipH="1" flipV="1">
            <a:off x="7744853" y="3801780"/>
            <a:ext cx="2961" cy="44533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5" name="正方形/長方形 24"/>
          <p:cNvSpPr/>
          <p:nvPr/>
        </p:nvSpPr>
        <p:spPr>
          <a:xfrm>
            <a:off x="4887033" y="4026805"/>
            <a:ext cx="3529639" cy="63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MySQL</a:t>
            </a:r>
          </a:p>
          <a:p>
            <a:pPr algn="ctr"/>
            <a:r>
              <a:rPr lang="en-US" altLang="ja-JP" dirty="0">
                <a:solidFill>
                  <a:schemeClr val="tx1"/>
                </a:solidFill>
                <a:effectLst>
                  <a:outerShdw blurRad="38100" dist="38100" dir="2700000" algn="tl">
                    <a:srgbClr val="000000">
                      <a:alpha val="43137"/>
                    </a:srgbClr>
                  </a:outerShdw>
                </a:effectLst>
              </a:rPr>
              <a:t>DB</a:t>
            </a:r>
            <a:r>
              <a:rPr lang="ja-JP" altLang="en-US" dirty="0">
                <a:solidFill>
                  <a:schemeClr val="tx1"/>
                </a:solidFill>
                <a:effectLst>
                  <a:outerShdw blurRad="38100" dist="38100" dir="2700000" algn="tl">
                    <a:srgbClr val="000000">
                      <a:alpha val="43137"/>
                    </a:srgbClr>
                  </a:outerShdw>
                </a:effectLst>
              </a:rPr>
              <a:t>サーバ</a:t>
            </a:r>
            <a:endParaRPr kumimoji="1" lang="ja-JP" altLang="en-US" dirty="0">
              <a:solidFill>
                <a:schemeClr val="tx1"/>
              </a:solidFill>
              <a:effectLst>
                <a:outerShdw blurRad="38100" dist="38100" dir="2700000" algn="tl">
                  <a:srgbClr val="000000">
                    <a:alpha val="43137"/>
                  </a:srgbClr>
                </a:outerShdw>
              </a:effectLst>
            </a:endParaRPr>
          </a:p>
        </p:txBody>
      </p:sp>
      <p:cxnSp>
        <p:nvCxnSpPr>
          <p:cNvPr id="62" name="直線矢印コネクタ 61"/>
          <p:cNvCxnSpPr>
            <a:endCxn id="39" idx="3"/>
          </p:cNvCxnSpPr>
          <p:nvPr/>
        </p:nvCxnSpPr>
        <p:spPr>
          <a:xfrm flipH="1">
            <a:off x="6419116" y="3257562"/>
            <a:ext cx="477671" cy="1255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正方形/長方形 23"/>
          <p:cNvSpPr/>
          <p:nvPr/>
        </p:nvSpPr>
        <p:spPr>
          <a:xfrm>
            <a:off x="6751488" y="2658874"/>
            <a:ext cx="1665185" cy="922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perl/</a:t>
            </a:r>
            <a:r>
              <a:rPr kumimoji="1" lang="en-US" altLang="ja-JP" dirty="0" err="1">
                <a:solidFill>
                  <a:schemeClr val="tx1"/>
                </a:solidFill>
                <a:effectLst>
                  <a:outerShdw blurRad="38100" dist="38100" dir="2700000" algn="tl">
                    <a:srgbClr val="000000">
                      <a:alpha val="43137"/>
                    </a:srgbClr>
                  </a:outerShdw>
                </a:effectLst>
              </a:rPr>
              <a:t>php</a:t>
            </a:r>
            <a:r>
              <a:rPr kumimoji="1" lang="ja-JP" altLang="en-US" dirty="0">
                <a:solidFill>
                  <a:schemeClr val="tx1"/>
                </a:solidFill>
                <a:effectLst>
                  <a:outerShdw blurRad="38100" dist="38100" dir="2700000" algn="tl">
                    <a:srgbClr val="000000">
                      <a:alpha val="43137"/>
                    </a:srgbClr>
                  </a:outerShdw>
                </a:effectLst>
              </a:rPr>
              <a:t>（</a:t>
            </a:r>
            <a:r>
              <a:rPr kumimoji="1" lang="en-US" altLang="ja-JP" dirty="0">
                <a:solidFill>
                  <a:schemeClr val="tx1"/>
                </a:solidFill>
                <a:effectLst>
                  <a:outerShdw blurRad="38100" dist="38100" dir="2700000" algn="tl">
                    <a:srgbClr val="000000">
                      <a:alpha val="43137"/>
                    </a:srgbClr>
                  </a:outerShdw>
                </a:effectLst>
              </a:rPr>
              <a:t>cgi</a:t>
            </a:r>
            <a:r>
              <a:rPr kumimoji="1" lang="ja-JP" altLang="en-US" dirty="0">
                <a:solidFill>
                  <a:schemeClr val="tx1"/>
                </a:solidFill>
                <a:effectLst>
                  <a:outerShdw blurRad="38100" dist="38100" dir="2700000" algn="tl">
                    <a:srgbClr val="000000">
                      <a:alpha val="43137"/>
                    </a:srgbClr>
                  </a:outerShdw>
                </a:effectLst>
              </a:rPr>
              <a:t>）</a:t>
            </a:r>
            <a:br>
              <a:rPr kumimoji="1" lang="en-US" altLang="ja-JP" dirty="0">
                <a:solidFill>
                  <a:schemeClr val="tx1"/>
                </a:solidFill>
                <a:effectLst>
                  <a:outerShdw blurRad="38100" dist="38100" dir="2700000" algn="tl">
                    <a:srgbClr val="000000">
                      <a:alpha val="43137"/>
                    </a:srgbClr>
                  </a:outerShdw>
                </a:effectLst>
              </a:rPr>
            </a:br>
            <a:r>
              <a:rPr kumimoji="1" lang="ja-JP" altLang="en-US" dirty="0">
                <a:solidFill>
                  <a:schemeClr val="tx1"/>
                </a:solidFill>
                <a:effectLst>
                  <a:outerShdw blurRad="38100" dist="38100" dir="2700000" algn="tl">
                    <a:srgbClr val="000000">
                      <a:alpha val="43137"/>
                    </a:srgbClr>
                  </a:outerShdw>
                </a:effectLst>
              </a:rPr>
              <a:t>プログラム</a:t>
            </a:r>
          </a:p>
        </p:txBody>
      </p:sp>
      <p:cxnSp>
        <p:nvCxnSpPr>
          <p:cNvPr id="69" name="直線矢印コネクタ 68"/>
          <p:cNvCxnSpPr/>
          <p:nvPr/>
        </p:nvCxnSpPr>
        <p:spPr>
          <a:xfrm flipV="1">
            <a:off x="5606626" y="4653765"/>
            <a:ext cx="0" cy="542574"/>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74" name="直線矢印コネクタ 73"/>
          <p:cNvCxnSpPr/>
          <p:nvPr/>
        </p:nvCxnSpPr>
        <p:spPr>
          <a:xfrm flipV="1">
            <a:off x="6234026" y="4911650"/>
            <a:ext cx="0" cy="542574"/>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68" name="正方形/長方形 67"/>
          <p:cNvSpPr/>
          <p:nvPr/>
        </p:nvSpPr>
        <p:spPr>
          <a:xfrm>
            <a:off x="5023962" y="5139189"/>
            <a:ext cx="1660750" cy="720797"/>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ja-JP" altLang="en-US" dirty="0">
                <a:solidFill>
                  <a:schemeClr val="tx1"/>
                </a:solidFill>
                <a:effectLst>
                  <a:outerShdw blurRad="38100" dist="38100" dir="2700000" algn="tl">
                    <a:srgbClr val="000000">
                      <a:alpha val="43137"/>
                    </a:srgbClr>
                  </a:outerShdw>
                </a:effectLst>
              </a:rPr>
              <a:t>アプリケーションプログラム</a:t>
            </a:r>
          </a:p>
        </p:txBody>
      </p:sp>
      <p:sp>
        <p:nvSpPr>
          <p:cNvPr id="76" name="テキスト ボックス 75"/>
          <p:cNvSpPr txBox="1"/>
          <p:nvPr/>
        </p:nvSpPr>
        <p:spPr>
          <a:xfrm>
            <a:off x="6327195" y="1088740"/>
            <a:ext cx="2289657" cy="169277"/>
          </a:xfrm>
          <a:prstGeom prst="rect">
            <a:avLst/>
          </a:prstGeom>
          <a:solidFill>
            <a:schemeClr val="accent1"/>
          </a:solidFill>
        </p:spPr>
        <p:txBody>
          <a:bodyPr wrap="none" lIns="36000" tIns="0" rIns="36000" bIns="0" rtlCol="0">
            <a:spAutoFit/>
          </a:bodyPr>
          <a:lstStyle/>
          <a:p>
            <a:r>
              <a:rPr kumimoji="1" lang="en-US" altLang="ja-JP" sz="1100" dirty="0"/>
              <a:t>Linux</a:t>
            </a:r>
            <a:r>
              <a:rPr kumimoji="1" lang="ja-JP" altLang="en-US" sz="1100" dirty="0"/>
              <a:t>：</a:t>
            </a:r>
            <a:r>
              <a:rPr lang="ja-JP" altLang="en-US" sz="1100" dirty="0"/>
              <a:t>　</a:t>
            </a:r>
            <a:r>
              <a:rPr lang="en-US" altLang="ja-JP" sz="1100" dirty="0"/>
              <a:t>(nksv559,560,567,568,569)</a:t>
            </a:r>
          </a:p>
        </p:txBody>
      </p:sp>
      <p:pic>
        <p:nvPicPr>
          <p:cNvPr id="1034" name="Picture 1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23069" y="1094380"/>
            <a:ext cx="747970" cy="747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3" name="直線矢印コネクタ 82"/>
          <p:cNvCxnSpPr>
            <a:cxnSpLocks/>
          </p:cNvCxnSpPr>
          <p:nvPr/>
        </p:nvCxnSpPr>
        <p:spPr>
          <a:xfrm>
            <a:off x="1481465" y="1468365"/>
            <a:ext cx="1335340" cy="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3" name="フリーフォーム 72"/>
          <p:cNvSpPr/>
          <p:nvPr/>
        </p:nvSpPr>
        <p:spPr>
          <a:xfrm>
            <a:off x="4301973" y="2528900"/>
            <a:ext cx="609513" cy="270029"/>
          </a:xfrm>
          <a:custGeom>
            <a:avLst/>
            <a:gdLst>
              <a:gd name="connsiteX0" fmla="*/ 0 w 2755900"/>
              <a:gd name="connsiteY0" fmla="*/ 0 h 1212850"/>
              <a:gd name="connsiteX1" fmla="*/ 1346200 w 2755900"/>
              <a:gd name="connsiteY1" fmla="*/ 0 h 1212850"/>
              <a:gd name="connsiteX2" fmla="*/ 1346200 w 2755900"/>
              <a:gd name="connsiteY2" fmla="*/ 1212850 h 1212850"/>
              <a:gd name="connsiteX3" fmla="*/ 2755900 w 2755900"/>
              <a:gd name="connsiteY3" fmla="*/ 1212850 h 1212850"/>
              <a:gd name="connsiteX0" fmla="*/ 1 w 1409701"/>
              <a:gd name="connsiteY0" fmla="*/ 0 h 1212850"/>
              <a:gd name="connsiteX1" fmla="*/ 1 w 1409701"/>
              <a:gd name="connsiteY1" fmla="*/ 1212850 h 1212850"/>
              <a:gd name="connsiteX2" fmla="*/ 1409701 w 1409701"/>
              <a:gd name="connsiteY2" fmla="*/ 1212850 h 1212850"/>
            </a:gdLst>
            <a:ahLst/>
            <a:cxnLst>
              <a:cxn ang="0">
                <a:pos x="connsiteX0" y="connsiteY0"/>
              </a:cxn>
              <a:cxn ang="0">
                <a:pos x="connsiteX1" y="connsiteY1"/>
              </a:cxn>
              <a:cxn ang="0">
                <a:pos x="connsiteX2" y="connsiteY2"/>
              </a:cxn>
            </a:cxnLst>
            <a:rect l="l" t="t" r="r" b="b"/>
            <a:pathLst>
              <a:path w="1409701" h="1212850">
                <a:moveTo>
                  <a:pt x="1" y="0"/>
                </a:moveTo>
                <a:lnTo>
                  <a:pt x="1" y="1212850"/>
                </a:lnTo>
                <a:lnTo>
                  <a:pt x="1409701" y="1212850"/>
                </a:lnTo>
              </a:path>
            </a:pathLst>
          </a:custGeom>
          <a:noFill/>
          <a:ln w="38100">
            <a:solidFill>
              <a:schemeClr val="tx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6" name="テキスト ボックス 85"/>
          <p:cNvSpPr txBox="1"/>
          <p:nvPr/>
        </p:nvSpPr>
        <p:spPr>
          <a:xfrm>
            <a:off x="1442502" y="1196489"/>
            <a:ext cx="1554131" cy="246221"/>
          </a:xfrm>
          <a:prstGeom prst="rect">
            <a:avLst/>
          </a:prstGeom>
          <a:noFill/>
        </p:spPr>
        <p:txBody>
          <a:bodyPr wrap="square" lIns="0" rIns="0" rtlCol="0" anchor="ctr" anchorCtr="0">
            <a:spAutoFit/>
          </a:bodyPr>
          <a:lstStyle/>
          <a:p>
            <a:r>
              <a:rPr lang="en-US" altLang="ja-JP" sz="1000" dirty="0"/>
              <a:t>https://nktomioka.nkc.co.jp</a:t>
            </a:r>
          </a:p>
        </p:txBody>
      </p:sp>
      <p:pic>
        <p:nvPicPr>
          <p:cNvPr id="1039" name="Picture 15" descr="C:\Users\ji2525.AD\Desktop\ネットワークフォルダ.gif"/>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51112" y="3904422"/>
            <a:ext cx="744910" cy="744910"/>
          </a:xfrm>
          <a:prstGeom prst="rect">
            <a:avLst/>
          </a:prstGeom>
          <a:noFill/>
          <a:extLst>
            <a:ext uri="{909E8E84-426E-40DD-AFC4-6F175D3DCCD1}">
              <a14:hiddenFill xmlns:a14="http://schemas.microsoft.com/office/drawing/2010/main">
                <a:solidFill>
                  <a:srgbClr val="FFFFFF"/>
                </a:solidFill>
              </a14:hiddenFill>
            </a:ext>
          </a:extLst>
        </p:spPr>
      </p:pic>
      <p:sp>
        <p:nvSpPr>
          <p:cNvPr id="99" name="フローチャート : カード 98"/>
          <p:cNvSpPr/>
          <p:nvPr/>
        </p:nvSpPr>
        <p:spPr>
          <a:xfrm>
            <a:off x="7523083" y="5318493"/>
            <a:ext cx="1279387" cy="720797"/>
          </a:xfrm>
          <a:prstGeom prst="flowChartPunchedCard">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dirty="0">
                <a:solidFill>
                  <a:schemeClr val="tx1"/>
                </a:solidFill>
                <a:effectLst>
                  <a:outerShdw blurRad="38100" dist="38100" dir="2700000" algn="tl">
                    <a:srgbClr val="000000">
                      <a:alpha val="43137"/>
                    </a:srgbClr>
                  </a:outerShdw>
                </a:effectLst>
              </a:rPr>
              <a:t>共有フォルダ</a:t>
            </a:r>
          </a:p>
        </p:txBody>
      </p:sp>
      <p:sp>
        <p:nvSpPr>
          <p:cNvPr id="80" name="フローチャート : カード 79"/>
          <p:cNvSpPr/>
          <p:nvPr/>
        </p:nvSpPr>
        <p:spPr>
          <a:xfrm>
            <a:off x="7118038" y="5004175"/>
            <a:ext cx="1279387" cy="720797"/>
          </a:xfrm>
          <a:prstGeom prst="flowChartPunchedCard">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dirty="0">
                <a:solidFill>
                  <a:schemeClr val="tx1"/>
                </a:solidFill>
                <a:effectLst>
                  <a:outerShdw blurRad="38100" dist="38100" dir="2700000" algn="tl">
                    <a:srgbClr val="000000">
                      <a:alpha val="43137"/>
                    </a:srgbClr>
                  </a:outerShdw>
                </a:effectLst>
              </a:rPr>
              <a:t>共有フォルダ</a:t>
            </a:r>
          </a:p>
        </p:txBody>
      </p:sp>
      <p:sp>
        <p:nvSpPr>
          <p:cNvPr id="85" name="フリーフォーム 84"/>
          <p:cNvSpPr/>
          <p:nvPr/>
        </p:nvSpPr>
        <p:spPr>
          <a:xfrm>
            <a:off x="1266825" y="4649332"/>
            <a:ext cx="6572250" cy="1627643"/>
          </a:xfrm>
          <a:custGeom>
            <a:avLst/>
            <a:gdLst>
              <a:gd name="connsiteX0" fmla="*/ 0 w 6572250"/>
              <a:gd name="connsiteY0" fmla="*/ 0 h 1495425"/>
              <a:gd name="connsiteX1" fmla="*/ 0 w 6572250"/>
              <a:gd name="connsiteY1" fmla="*/ 1495425 h 1495425"/>
              <a:gd name="connsiteX2" fmla="*/ 6572250 w 6572250"/>
              <a:gd name="connsiteY2" fmla="*/ 1495425 h 1495425"/>
              <a:gd name="connsiteX3" fmla="*/ 6572250 w 6572250"/>
              <a:gd name="connsiteY3" fmla="*/ 1057275 h 1495425"/>
            </a:gdLst>
            <a:ahLst/>
            <a:cxnLst>
              <a:cxn ang="0">
                <a:pos x="connsiteX0" y="connsiteY0"/>
              </a:cxn>
              <a:cxn ang="0">
                <a:pos x="connsiteX1" y="connsiteY1"/>
              </a:cxn>
              <a:cxn ang="0">
                <a:pos x="connsiteX2" y="connsiteY2"/>
              </a:cxn>
              <a:cxn ang="0">
                <a:pos x="connsiteX3" y="connsiteY3"/>
              </a:cxn>
            </a:cxnLst>
            <a:rect l="l" t="t" r="r" b="b"/>
            <a:pathLst>
              <a:path w="6572250" h="1495425">
                <a:moveTo>
                  <a:pt x="0" y="0"/>
                </a:moveTo>
                <a:lnTo>
                  <a:pt x="0" y="1495425"/>
                </a:lnTo>
                <a:lnTo>
                  <a:pt x="6572250" y="1495425"/>
                </a:lnTo>
                <a:lnTo>
                  <a:pt x="6572250" y="1057275"/>
                </a:lnTo>
              </a:path>
            </a:pathLst>
          </a:custGeom>
          <a:noFill/>
          <a:ln w="38100">
            <a:solidFill>
              <a:schemeClr val="tx1"/>
            </a:solidFill>
            <a:headEnd type="arrow"/>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p:cNvSpPr txBox="1"/>
          <p:nvPr/>
        </p:nvSpPr>
        <p:spPr>
          <a:xfrm>
            <a:off x="6353393" y="2726719"/>
            <a:ext cx="367656" cy="349702"/>
          </a:xfrm>
          <a:prstGeom prst="rect">
            <a:avLst/>
          </a:prstGeom>
          <a:noFill/>
        </p:spPr>
        <p:txBody>
          <a:bodyPr wrap="none" lIns="36000" tIns="36000" rIns="36000" bIns="36000" rtlCol="0" anchor="ctr" anchorCtr="0">
            <a:spAutoFit/>
          </a:bodyPr>
          <a:lstStyle/>
          <a:p>
            <a:pPr algn="ctr"/>
            <a:r>
              <a:rPr lang="en-US" altLang="ja-JP" dirty="0">
                <a:effectLst>
                  <a:outerShdw blurRad="38100" dist="38100" dir="2700000" algn="tl">
                    <a:srgbClr val="000000">
                      <a:alpha val="43137"/>
                    </a:srgbClr>
                  </a:outerShdw>
                </a:effectLst>
              </a:rPr>
              <a:t>cgi</a:t>
            </a:r>
          </a:p>
        </p:txBody>
      </p:sp>
      <p:cxnSp>
        <p:nvCxnSpPr>
          <p:cNvPr id="51" name="直線矢印コネクタ 50"/>
          <p:cNvCxnSpPr>
            <a:cxnSpLocks/>
            <a:stCxn id="32" idx="4"/>
            <a:endCxn id="68" idx="1"/>
          </p:cNvCxnSpPr>
          <p:nvPr/>
        </p:nvCxnSpPr>
        <p:spPr>
          <a:xfrm>
            <a:off x="2636785" y="5499587"/>
            <a:ext cx="2387177" cy="1"/>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a:stCxn id="68" idx="3"/>
          </p:cNvCxnSpPr>
          <p:nvPr/>
        </p:nvCxnSpPr>
        <p:spPr>
          <a:xfrm>
            <a:off x="6684712" y="5499588"/>
            <a:ext cx="433326" cy="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6" name="正方形/長方形 55">
            <a:extLst>
              <a:ext uri="{FF2B5EF4-FFF2-40B4-BE49-F238E27FC236}">
                <a16:creationId xmlns:a16="http://schemas.microsoft.com/office/drawing/2014/main" id="{DEE9F0BB-814A-4C3F-85C4-3307E8F4B336}"/>
              </a:ext>
            </a:extLst>
          </p:cNvPr>
          <p:cNvSpPr/>
          <p:nvPr/>
        </p:nvSpPr>
        <p:spPr>
          <a:xfrm>
            <a:off x="3642636" y="1983170"/>
            <a:ext cx="1395155" cy="5650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ja-JP" dirty="0">
                <a:solidFill>
                  <a:schemeClr val="tx1"/>
                </a:solidFill>
                <a:effectLst>
                  <a:outerShdw blurRad="38100" dist="38100" dir="2700000" algn="tl">
                    <a:srgbClr val="000000">
                      <a:alpha val="43137"/>
                    </a:srgbClr>
                  </a:outerShdw>
                </a:effectLst>
              </a:rPr>
              <a:t>nginx</a:t>
            </a:r>
          </a:p>
          <a:p>
            <a:pPr algn="ctr"/>
            <a:r>
              <a:rPr kumimoji="1" lang="ja-JP" altLang="en-US" sz="1600" dirty="0">
                <a:solidFill>
                  <a:schemeClr val="tx1"/>
                </a:solidFill>
                <a:effectLst>
                  <a:outerShdw blurRad="38100" dist="38100" dir="2700000" algn="tl">
                    <a:srgbClr val="000000">
                      <a:alpha val="43137"/>
                    </a:srgbClr>
                  </a:outerShdw>
                </a:effectLst>
              </a:rPr>
              <a:t>リバープロキシ</a:t>
            </a:r>
          </a:p>
        </p:txBody>
      </p:sp>
      <p:sp>
        <p:nvSpPr>
          <p:cNvPr id="19" name="フリーフォーム: 図形 18">
            <a:extLst>
              <a:ext uri="{FF2B5EF4-FFF2-40B4-BE49-F238E27FC236}">
                <a16:creationId xmlns:a16="http://schemas.microsoft.com/office/drawing/2014/main" id="{A23235D1-1719-4198-8446-A4B2E7404EC7}"/>
              </a:ext>
            </a:extLst>
          </p:cNvPr>
          <p:cNvSpPr/>
          <p:nvPr/>
        </p:nvSpPr>
        <p:spPr>
          <a:xfrm>
            <a:off x="3214255" y="1459345"/>
            <a:ext cx="1080654" cy="544946"/>
          </a:xfrm>
          <a:custGeom>
            <a:avLst/>
            <a:gdLst>
              <a:gd name="connsiteX0" fmla="*/ 0 w 1080654"/>
              <a:gd name="connsiteY0" fmla="*/ 0 h 544946"/>
              <a:gd name="connsiteX1" fmla="*/ 1080654 w 1080654"/>
              <a:gd name="connsiteY1" fmla="*/ 0 h 544946"/>
              <a:gd name="connsiteX2" fmla="*/ 1071418 w 1080654"/>
              <a:gd name="connsiteY2" fmla="*/ 544946 h 544946"/>
            </a:gdLst>
            <a:ahLst/>
            <a:cxnLst>
              <a:cxn ang="0">
                <a:pos x="connsiteX0" y="connsiteY0"/>
              </a:cxn>
              <a:cxn ang="0">
                <a:pos x="connsiteX1" y="connsiteY1"/>
              </a:cxn>
              <a:cxn ang="0">
                <a:pos x="connsiteX2" y="connsiteY2"/>
              </a:cxn>
            </a:cxnLst>
            <a:rect l="l" t="t" r="r" b="b"/>
            <a:pathLst>
              <a:path w="1080654" h="544946">
                <a:moveTo>
                  <a:pt x="0" y="0"/>
                </a:moveTo>
                <a:lnTo>
                  <a:pt x="1080654" y="0"/>
                </a:lnTo>
                <a:lnTo>
                  <a:pt x="1071418" y="544946"/>
                </a:lnTo>
              </a:path>
            </a:pathLst>
          </a:custGeom>
          <a:noFill/>
          <a:ln w="38100">
            <a:solidFill>
              <a:schemeClr val="tx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70692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872864" y="23664"/>
            <a:ext cx="313094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サーバシステム諸元</a:t>
            </a:r>
          </a:p>
        </p:txBody>
      </p:sp>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49" name="コンテンツ プレースホルダー 3"/>
          <p:cNvGraphicFramePr>
            <a:graphicFrameLocks noGrp="1"/>
          </p:cNvGraphicFramePr>
          <p:nvPr>
            <p:ph idx="1"/>
            <p:extLst>
              <p:ext uri="{D42A27DB-BD31-4B8C-83A1-F6EECF244321}">
                <p14:modId xmlns:p14="http://schemas.microsoft.com/office/powerpoint/2010/main" val="2817484361"/>
              </p:ext>
            </p:extLst>
          </p:nvPr>
        </p:nvGraphicFramePr>
        <p:xfrm>
          <a:off x="250825" y="728700"/>
          <a:ext cx="8642350" cy="5186680"/>
        </p:xfrm>
        <a:graphic>
          <a:graphicData uri="http://schemas.openxmlformats.org/drawingml/2006/table">
            <a:tbl>
              <a:tblPr firstRow="1" bandRow="1">
                <a:tableStyleId>{5C22544A-7EE6-4342-B048-85BDC9FD1C3A}</a:tableStyleId>
              </a:tblPr>
              <a:tblGrid>
                <a:gridCol w="1575870">
                  <a:extLst>
                    <a:ext uri="{9D8B030D-6E8A-4147-A177-3AD203B41FA5}">
                      <a16:colId xmlns:a16="http://schemas.microsoft.com/office/drawing/2014/main" val="20000"/>
                    </a:ext>
                  </a:extLst>
                </a:gridCol>
                <a:gridCol w="1575175">
                  <a:extLst>
                    <a:ext uri="{9D8B030D-6E8A-4147-A177-3AD203B41FA5}">
                      <a16:colId xmlns:a16="http://schemas.microsoft.com/office/drawing/2014/main" val="20001"/>
                    </a:ext>
                  </a:extLst>
                </a:gridCol>
                <a:gridCol w="2205245">
                  <a:extLst>
                    <a:ext uri="{9D8B030D-6E8A-4147-A177-3AD203B41FA5}">
                      <a16:colId xmlns:a16="http://schemas.microsoft.com/office/drawing/2014/main" val="20002"/>
                    </a:ext>
                  </a:extLst>
                </a:gridCol>
                <a:gridCol w="3286060">
                  <a:extLst>
                    <a:ext uri="{9D8B030D-6E8A-4147-A177-3AD203B41FA5}">
                      <a16:colId xmlns:a16="http://schemas.microsoft.com/office/drawing/2014/main" val="20003"/>
                    </a:ext>
                  </a:extLst>
                </a:gridCol>
              </a:tblGrid>
              <a:tr h="370840">
                <a:tc>
                  <a:txBody>
                    <a:bodyPr/>
                    <a:lstStyle/>
                    <a:p>
                      <a:r>
                        <a:rPr kumimoji="1" lang="ja-JP" altLang="en-US" sz="1400" dirty="0">
                          <a:solidFill>
                            <a:schemeClr val="tx1"/>
                          </a:solidFill>
                          <a:effectLst>
                            <a:outerShdw blurRad="38100" dist="38100" dir="2700000" algn="tl">
                              <a:srgbClr val="000000">
                                <a:alpha val="43137"/>
                              </a:srgbClr>
                            </a:outerShdw>
                          </a:effectLst>
                          <a:latin typeface="+mn-lt"/>
                          <a:ea typeface="Noto Sans CJK JP Bold" pitchFamily="34" charset="-128"/>
                        </a:rPr>
                        <a:t>サーバ名</a:t>
                      </a:r>
                    </a:p>
                  </a:txBody>
                  <a:tcPr anchor="ctr">
                    <a:solidFill>
                      <a:srgbClr val="A0C8C8"/>
                    </a:solidFill>
                  </a:tcPr>
                </a:tc>
                <a:tc>
                  <a:txBody>
                    <a:bodyPr/>
                    <a:lstStyle/>
                    <a:p>
                      <a:r>
                        <a:rPr kumimoji="1" lang="en-US" altLang="ja-JP" sz="1400" dirty="0">
                          <a:solidFill>
                            <a:schemeClr val="tx1"/>
                          </a:solidFill>
                          <a:effectLst>
                            <a:outerShdw blurRad="38100" dist="38100" dir="2700000" algn="tl">
                              <a:srgbClr val="000000">
                                <a:alpha val="43137"/>
                              </a:srgbClr>
                            </a:outerShdw>
                          </a:effectLst>
                          <a:latin typeface="+mn-lt"/>
                          <a:ea typeface="Noto Sans CJK JP Bold" pitchFamily="34" charset="-128"/>
                        </a:rPr>
                        <a:t>OS</a:t>
                      </a:r>
                      <a:endParaRPr kumimoji="1" lang="ja-JP" altLang="en-US" sz="1400" dirty="0">
                        <a:solidFill>
                          <a:schemeClr val="tx1"/>
                        </a:solidFill>
                        <a:effectLst>
                          <a:outerShdw blurRad="38100" dist="38100" dir="2700000" algn="tl">
                            <a:srgbClr val="000000">
                              <a:alpha val="43137"/>
                            </a:srgbClr>
                          </a:outerShdw>
                        </a:effectLst>
                        <a:latin typeface="+mn-lt"/>
                        <a:ea typeface="Noto Sans CJK JP Bold" pitchFamily="34" charset="-128"/>
                      </a:endParaRPr>
                    </a:p>
                  </a:txBody>
                  <a:tcPr anchor="ctr">
                    <a:solidFill>
                      <a:srgbClr val="A0C8C8"/>
                    </a:solidFill>
                  </a:tcPr>
                </a:tc>
                <a:tc>
                  <a:txBody>
                    <a:bodyPr/>
                    <a:lstStyle/>
                    <a:p>
                      <a:r>
                        <a:rPr kumimoji="1" lang="ja-JP" altLang="en-US" sz="1400" dirty="0">
                          <a:solidFill>
                            <a:schemeClr val="tx1"/>
                          </a:solidFill>
                          <a:effectLst>
                            <a:outerShdw blurRad="38100" dist="38100" dir="2700000" algn="tl">
                              <a:srgbClr val="000000">
                                <a:alpha val="43137"/>
                              </a:srgbClr>
                            </a:outerShdw>
                          </a:effectLst>
                          <a:latin typeface="+mn-lt"/>
                          <a:ea typeface="Noto Sans CJK JP Bold" pitchFamily="34" charset="-128"/>
                        </a:rPr>
                        <a:t>ハード</a:t>
                      </a:r>
                    </a:p>
                  </a:txBody>
                  <a:tcPr anchor="ctr">
                    <a:solidFill>
                      <a:srgbClr val="A0C8C8"/>
                    </a:solidFill>
                  </a:tcPr>
                </a:tc>
                <a:tc>
                  <a:txBody>
                    <a:bodyPr/>
                    <a:lstStyle/>
                    <a:p>
                      <a:r>
                        <a:rPr kumimoji="1" lang="ja-JP" altLang="en-US" sz="1400" dirty="0">
                          <a:solidFill>
                            <a:schemeClr val="tx1"/>
                          </a:solidFill>
                          <a:effectLst>
                            <a:outerShdw blurRad="38100" dist="38100" dir="2700000" algn="tl">
                              <a:srgbClr val="000000">
                                <a:alpha val="43137"/>
                              </a:srgbClr>
                            </a:outerShdw>
                          </a:effectLst>
                          <a:latin typeface="+mn-lt"/>
                          <a:ea typeface="Noto Sans CJK JP Bold" pitchFamily="34" charset="-128"/>
                        </a:rPr>
                        <a:t>用途</a:t>
                      </a:r>
                    </a:p>
                  </a:txBody>
                  <a:tcPr anchor="ctr">
                    <a:solidFill>
                      <a:srgbClr val="A0C8C8"/>
                    </a:solidFill>
                  </a:tcPr>
                </a:tc>
                <a:extLst>
                  <a:ext uri="{0D108BD9-81ED-4DB2-BD59-A6C34878D82A}">
                    <a16:rowId xmlns:a16="http://schemas.microsoft.com/office/drawing/2014/main" val="10000"/>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nksv559</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(172.25.201.11)</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chemeClr val="accent1"/>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Ubuntu18.04LTS /64bit </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chemeClr val="accent1"/>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 </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RX100S7</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chemeClr val="accent1"/>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リバースプロキシサーバ（社外向け）</a:t>
                      </a:r>
                    </a:p>
                  </a:txBody>
                  <a:tcPr anchor="ctr">
                    <a:solidFill>
                      <a:schemeClr val="accent1"/>
                    </a:solidFill>
                  </a:tcPr>
                </a:tc>
                <a:extLst>
                  <a:ext uri="{0D108BD9-81ED-4DB2-BD59-A6C34878D82A}">
                    <a16:rowId xmlns:a16="http://schemas.microsoft.com/office/drawing/2014/main" val="10001"/>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nksv560</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(172.25.201.12)</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Ubuntu16.04LTS /32bit</a:t>
                      </a:r>
                      <a:r>
                        <a:rPr kumimoji="1" lang="ja-JP" altLang="en-US" sz="1400" baseline="0" dirty="0">
                          <a:effectLst>
                            <a:outerShdw blurRad="38100" dist="38100" dir="2700000" algn="tl">
                              <a:srgbClr val="000000">
                                <a:alpha val="43137"/>
                              </a:srgbClr>
                            </a:outerShdw>
                          </a:effectLst>
                          <a:latin typeface="+mn-lt"/>
                          <a:ea typeface="Noto Sans CJK JP Bold" pitchFamily="34" charset="-128"/>
                        </a:rPr>
                        <a:t> </a:t>
                      </a:r>
                      <a:r>
                        <a:rPr kumimoji="1" lang="en-US" altLang="ja-JP" sz="1400" dirty="0">
                          <a:effectLst>
                            <a:outerShdw blurRad="38100" dist="38100" dir="2700000" algn="tl">
                              <a:srgbClr val="000000">
                                <a:alpha val="43137"/>
                              </a:srgbClr>
                            </a:outerShdw>
                          </a:effectLst>
                          <a:latin typeface="+mn-lt"/>
                          <a:ea typeface="Noto Sans CJK JP Bold" pitchFamily="34" charset="-128"/>
                        </a:rPr>
                        <a:t>+ LAMP</a:t>
                      </a: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TX200S7</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Xeon E5-2403 x1</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12GB +</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300GB RAID6</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富岡生産系</a:t>
                      </a:r>
                      <a:r>
                        <a:rPr kumimoji="1" lang="en-US" altLang="ja-JP" sz="1400" dirty="0">
                          <a:effectLst>
                            <a:outerShdw blurRad="38100" dist="38100" dir="2700000" algn="tl">
                              <a:srgbClr val="000000">
                                <a:alpha val="43137"/>
                              </a:srgbClr>
                            </a:outerShdw>
                          </a:effectLst>
                          <a:latin typeface="+mn-lt"/>
                          <a:ea typeface="Noto Sans CJK JP Bold" pitchFamily="34" charset="-128"/>
                        </a:rPr>
                        <a:t>Web</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p>
                      <a:r>
                        <a:rPr kumimoji="1" lang="ja-JP" altLang="en-US" sz="1400" dirty="0">
                          <a:effectLst>
                            <a:outerShdw blurRad="38100" dist="38100" dir="2700000" algn="tl">
                              <a:srgbClr val="000000">
                                <a:alpha val="43137"/>
                              </a:srgbClr>
                            </a:outerShdw>
                          </a:effectLst>
                          <a:latin typeface="+mn-lt"/>
                          <a:ea typeface="Noto Sans CJK JP Bold" pitchFamily="34" charset="-128"/>
                        </a:rPr>
                        <a:t>富岡生産系</a:t>
                      </a:r>
                      <a:r>
                        <a:rPr kumimoji="1" lang="en-US" altLang="ja-JP" sz="1400" dirty="0">
                          <a:effectLst>
                            <a:outerShdw blurRad="38100" dist="38100" dir="2700000" algn="tl">
                              <a:srgbClr val="000000">
                                <a:alpha val="43137"/>
                              </a:srgbClr>
                            </a:outerShdw>
                          </a:effectLst>
                          <a:latin typeface="+mn-lt"/>
                          <a:ea typeface="Noto Sans CJK JP Bold" pitchFamily="34" charset="-128"/>
                        </a:rPr>
                        <a:t>SQL</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p>
                  </a:txBody>
                  <a:tcPr anchor="ctr">
                    <a:solidFill>
                      <a:srgbClr val="BBE0E3"/>
                    </a:solidFill>
                  </a:tcPr>
                </a:tc>
                <a:extLst>
                  <a:ext uri="{0D108BD9-81ED-4DB2-BD59-A6C34878D82A}">
                    <a16:rowId xmlns:a16="http://schemas.microsoft.com/office/drawing/2014/main" val="10002"/>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nksv561</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(172.25.201.13)</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休止中</a:t>
                      </a:r>
                    </a:p>
                  </a:txBody>
                  <a:tcPr anchor="ctr">
                    <a:solidFill>
                      <a:srgbClr val="FFFFCC"/>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TX200S7</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Xeon E5-2403 x1</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32GB +</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300GB RAID6</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富岡アプリケーションサーバ</a:t>
                      </a:r>
                    </a:p>
                  </a:txBody>
                  <a:tcPr anchor="ctr">
                    <a:solidFill>
                      <a:srgbClr val="FFFFCC"/>
                    </a:solidFill>
                  </a:tcPr>
                </a:tc>
                <a:extLst>
                  <a:ext uri="{0D108BD9-81ED-4DB2-BD59-A6C34878D82A}">
                    <a16:rowId xmlns:a16="http://schemas.microsoft.com/office/drawing/2014/main" val="10003"/>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nksv567</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(172.25.201.14)</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effectLst>
                            <a:outerShdw blurRad="38100" dist="38100" dir="2700000" algn="tl">
                              <a:srgbClr val="000000">
                                <a:alpha val="43137"/>
                              </a:srgbClr>
                            </a:outerShdw>
                          </a:effectLst>
                          <a:latin typeface="+mn-lt"/>
                          <a:ea typeface="Noto Sans CJK JP Bold" pitchFamily="34" charset="-128"/>
                        </a:rPr>
                        <a:t>Ubuntu16.04LTS /32bit + LAMP</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TX350S7</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Xeon E5-2403 x1</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32GB +</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8.5TB RAID6</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生産技術用サーバ</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p>
                      <a:r>
                        <a:rPr kumimoji="1" lang="en-US" altLang="ja-JP" sz="1400" dirty="0">
                          <a:effectLst>
                            <a:outerShdw blurRad="38100" dist="38100" dir="2700000" algn="tl">
                              <a:srgbClr val="000000">
                                <a:alpha val="43137"/>
                              </a:srgbClr>
                            </a:outerShdw>
                          </a:effectLst>
                          <a:latin typeface="+mn-lt"/>
                          <a:ea typeface="Noto Sans CJK JP Bold" pitchFamily="34" charset="-128"/>
                        </a:rPr>
                        <a:t>Redmine</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extLst>
                  <a:ext uri="{0D108BD9-81ED-4DB2-BD59-A6C34878D82A}">
                    <a16:rowId xmlns:a16="http://schemas.microsoft.com/office/drawing/2014/main" val="10004"/>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nksv568</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(172.25.201.15)</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effectLst>
                            <a:outerShdw blurRad="38100" dist="38100" dir="2700000" algn="tl">
                              <a:srgbClr val="000000">
                                <a:alpha val="43137"/>
                              </a:srgbClr>
                            </a:outerShdw>
                          </a:effectLst>
                          <a:latin typeface="+mn-lt"/>
                          <a:ea typeface="Noto Sans CJK JP Bold" pitchFamily="34" charset="-128"/>
                        </a:rPr>
                        <a:t>Ubuntu16.04LTS</a:t>
                      </a:r>
                      <a:br>
                        <a:rPr kumimoji="1" lang="en-US" altLang="ja-JP" sz="1400" dirty="0">
                          <a:effectLst>
                            <a:outerShdw blurRad="38100" dist="38100" dir="2700000" algn="tl">
                              <a:srgbClr val="000000">
                                <a:alpha val="43137"/>
                              </a:srgbClr>
                            </a:outerShdw>
                          </a:effectLst>
                          <a:latin typeface="+mn-lt"/>
                          <a:ea typeface="Noto Sans CJK JP Bold" pitchFamily="34" charset="-128"/>
                        </a:rPr>
                      </a:br>
                      <a:r>
                        <a:rPr kumimoji="1" lang="en-US" altLang="ja-JP" sz="1400" dirty="0">
                          <a:effectLst>
                            <a:outerShdw blurRad="38100" dist="38100" dir="2700000" algn="tl">
                              <a:srgbClr val="000000">
                                <a:alpha val="43137"/>
                              </a:srgbClr>
                            </a:outerShdw>
                          </a:effectLst>
                          <a:latin typeface="+mn-lt"/>
                          <a:ea typeface="Noto Sans CJK JP Bold" pitchFamily="34" charset="-128"/>
                        </a:rPr>
                        <a:t>/64bit + LAMP</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TX350S7</a:t>
                      </a:r>
                    </a:p>
                    <a:p>
                      <a:r>
                        <a:rPr kumimoji="1" lang="ja-JP" altLang="en-US" sz="1400" dirty="0">
                          <a:effectLst>
                            <a:outerShdw blurRad="38100" dist="38100" dir="2700000" algn="tl">
                              <a:srgbClr val="000000">
                                <a:alpha val="43137"/>
                              </a:srgbClr>
                            </a:outerShdw>
                          </a:effectLst>
                          <a:latin typeface="+mn-lt"/>
                          <a:ea typeface="Noto Sans CJK JP Bold" pitchFamily="34" charset="-128"/>
                        </a:rPr>
                        <a:t>（同上）</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川本用サーバ</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p>
                      <a:r>
                        <a:rPr kumimoji="1" lang="en-US" altLang="ja-JP" sz="1400" dirty="0">
                          <a:effectLst>
                            <a:outerShdw blurRad="38100" dist="38100" dir="2700000" algn="tl">
                              <a:srgbClr val="000000">
                                <a:alpha val="43137"/>
                              </a:srgbClr>
                            </a:outerShdw>
                          </a:effectLst>
                          <a:latin typeface="+mn-lt"/>
                          <a:ea typeface="Noto Sans CJK JP Bold" pitchFamily="34" charset="-128"/>
                        </a:rPr>
                        <a:t>Redmine</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p>
                  </a:txBody>
                  <a:tcPr anchor="ctr">
                    <a:solidFill>
                      <a:srgbClr val="BBE0E3"/>
                    </a:solidFill>
                  </a:tcPr>
                </a:tc>
                <a:extLst>
                  <a:ext uri="{0D108BD9-81ED-4DB2-BD59-A6C34878D82A}">
                    <a16:rowId xmlns:a16="http://schemas.microsoft.com/office/drawing/2014/main" val="10005"/>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nksv569</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(172.25.201.16)</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effectLst>
                            <a:outerShdw blurRad="38100" dist="38100" dir="2700000" algn="tl">
                              <a:srgbClr val="000000">
                                <a:alpha val="43137"/>
                              </a:srgbClr>
                            </a:outerShdw>
                          </a:effectLst>
                          <a:latin typeface="+mn-lt"/>
                          <a:ea typeface="Noto Sans CJK JP Bold" pitchFamily="34" charset="-128"/>
                        </a:rPr>
                        <a:t>Ubuntu18.04LTS /64bit + LAMP</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TX350S7</a:t>
                      </a:r>
                    </a:p>
                    <a:p>
                      <a:r>
                        <a:rPr kumimoji="1" lang="ja-JP" altLang="en-US" sz="1400" dirty="0">
                          <a:effectLst>
                            <a:outerShdw blurRad="38100" dist="38100" dir="2700000" algn="tl">
                              <a:srgbClr val="000000">
                                <a:alpha val="43137"/>
                              </a:srgbClr>
                            </a:outerShdw>
                          </a:effectLst>
                          <a:latin typeface="+mn-lt"/>
                          <a:ea typeface="Noto Sans CJK JP Bold" pitchFamily="34" charset="-128"/>
                        </a:rPr>
                        <a:t>（同上）</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富岡用サーバ</a:t>
                      </a:r>
                    </a:p>
                  </a:txBody>
                  <a:tcPr anchor="ctr">
                    <a:solidFill>
                      <a:srgbClr val="BBE0E3"/>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34134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872864" y="23664"/>
            <a:ext cx="313094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主な稼働中のシステム</a:t>
            </a:r>
          </a:p>
        </p:txBody>
      </p:sp>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49" name="コンテンツ プレースホルダー 3"/>
          <p:cNvGraphicFramePr>
            <a:graphicFrameLocks noGrp="1"/>
          </p:cNvGraphicFramePr>
          <p:nvPr>
            <p:ph idx="1"/>
            <p:extLst>
              <p:ext uri="{D42A27DB-BD31-4B8C-83A1-F6EECF244321}">
                <p14:modId xmlns:p14="http://schemas.microsoft.com/office/powerpoint/2010/main" val="2073086884"/>
              </p:ext>
            </p:extLst>
          </p:nvPr>
        </p:nvGraphicFramePr>
        <p:xfrm>
          <a:off x="250825" y="728700"/>
          <a:ext cx="8642350" cy="3271520"/>
        </p:xfrm>
        <a:graphic>
          <a:graphicData uri="http://schemas.openxmlformats.org/drawingml/2006/table">
            <a:tbl>
              <a:tblPr firstRow="1" bandRow="1">
                <a:tableStyleId>{5C22544A-7EE6-4342-B048-85BDC9FD1C3A}</a:tableStyleId>
              </a:tblPr>
              <a:tblGrid>
                <a:gridCol w="2475969">
                  <a:extLst>
                    <a:ext uri="{9D8B030D-6E8A-4147-A177-3AD203B41FA5}">
                      <a16:colId xmlns:a16="http://schemas.microsoft.com/office/drawing/2014/main" val="20000"/>
                    </a:ext>
                  </a:extLst>
                </a:gridCol>
                <a:gridCol w="2025225">
                  <a:extLst>
                    <a:ext uri="{9D8B030D-6E8A-4147-A177-3AD203B41FA5}">
                      <a16:colId xmlns:a16="http://schemas.microsoft.com/office/drawing/2014/main" val="20001"/>
                    </a:ext>
                  </a:extLst>
                </a:gridCol>
                <a:gridCol w="4141156">
                  <a:extLst>
                    <a:ext uri="{9D8B030D-6E8A-4147-A177-3AD203B41FA5}">
                      <a16:colId xmlns:a16="http://schemas.microsoft.com/office/drawing/2014/main" val="20002"/>
                    </a:ext>
                  </a:extLst>
                </a:gridCol>
              </a:tblGrid>
              <a:tr h="370840">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稼働システム</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サービス形態</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用途</a:t>
                      </a:r>
                    </a:p>
                  </a:txBody>
                  <a:tcPr anchor="ctr">
                    <a:solidFill>
                      <a:srgbClr val="A0C8C8"/>
                    </a:solidFill>
                  </a:tcPr>
                </a:tc>
                <a:extLst>
                  <a:ext uri="{0D108BD9-81ED-4DB2-BD59-A6C34878D82A}">
                    <a16:rowId xmlns:a16="http://schemas.microsoft.com/office/drawing/2014/main" val="10000"/>
                  </a:ext>
                </a:extLst>
              </a:tr>
              <a:tr h="259230">
                <a:tc gridSpan="3">
                  <a:txBody>
                    <a:bodyPr/>
                    <a:lstStyle/>
                    <a:p>
                      <a:pPr algn="ctr"/>
                      <a:r>
                        <a:rPr kumimoji="1" lang="en-US" altLang="ja-JP" sz="1400">
                          <a:effectLst>
                            <a:outerShdw blurRad="38100" dist="38100" dir="2700000" algn="tl">
                              <a:srgbClr val="000000">
                                <a:alpha val="43137"/>
                              </a:srgbClr>
                            </a:outerShdw>
                          </a:effectLst>
                          <a:latin typeface="+mn-lt"/>
                          <a:ea typeface="Noto Sans CJK JP Bold" pitchFamily="34" charset="-128"/>
                        </a:rPr>
                        <a:t>nksv559</a:t>
                      </a:r>
                    </a:p>
                  </a:txBody>
                  <a:tcPr anchor="ct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nginx</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プロキシサービス</a:t>
                      </a: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社外からの不正アクセス保護</a:t>
                      </a:r>
                    </a:p>
                  </a:txBody>
                  <a:tcPr anchor="ctr">
                    <a:solidFill>
                      <a:srgbClr val="BBE0E3"/>
                    </a:solidFill>
                  </a:tcPr>
                </a:tc>
                <a:extLst>
                  <a:ext uri="{0D108BD9-81ED-4DB2-BD59-A6C34878D82A}">
                    <a16:rowId xmlns:a16="http://schemas.microsoft.com/office/drawing/2014/main" val="10002"/>
                  </a:ext>
                </a:extLst>
              </a:tr>
              <a:tr h="370840">
                <a:tc gridSpan="3">
                  <a:txBody>
                    <a:bodyPr/>
                    <a:lstStyle/>
                    <a:p>
                      <a:pPr algn="ctr"/>
                      <a:r>
                        <a:rPr kumimoji="1" lang="en-US" altLang="ja-JP" sz="1400">
                          <a:effectLst>
                            <a:outerShdw blurRad="38100" dist="38100" dir="2700000" algn="tl">
                              <a:srgbClr val="000000">
                                <a:alpha val="43137"/>
                              </a:srgbClr>
                            </a:outerShdw>
                          </a:effectLst>
                          <a:latin typeface="+mn-lt"/>
                          <a:ea typeface="Noto Sans CJK JP Bold" pitchFamily="34" charset="-128"/>
                        </a:rPr>
                        <a:t>nksv561</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3"/>
                  </a:ext>
                </a:extLst>
              </a:tr>
              <a:tr h="370840">
                <a:tc>
                  <a:txBody>
                    <a:bodyPr/>
                    <a:lstStyle/>
                    <a:p>
                      <a:r>
                        <a:rPr kumimoji="1" lang="ja-JP" altLang="en-US" sz="1400" baseline="0" dirty="0">
                          <a:effectLst>
                            <a:outerShdw blurRad="38100" dist="38100" dir="2700000" algn="tl">
                              <a:srgbClr val="000000">
                                <a:alpha val="43137"/>
                              </a:srgbClr>
                            </a:outerShdw>
                          </a:effectLst>
                          <a:latin typeface="+mn-lt"/>
                          <a:ea typeface="Noto Sans CJK JP Bold" pitchFamily="34" charset="-128"/>
                        </a:rPr>
                        <a:t>休止中</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4"/>
                  </a:ext>
                </a:extLst>
              </a:tr>
              <a:tr h="370840">
                <a:tc gridSpan="3">
                  <a:txBody>
                    <a:bodyPr/>
                    <a:lstStyle/>
                    <a:p>
                      <a:pPr algn="ctr"/>
                      <a:r>
                        <a:rPr kumimoji="1" lang="en-US" altLang="ja-JP" sz="1400">
                          <a:effectLst>
                            <a:outerShdw blurRad="38100" dist="38100" dir="2700000" algn="tl">
                              <a:srgbClr val="000000">
                                <a:alpha val="43137"/>
                              </a:srgbClr>
                            </a:outerShdw>
                          </a:effectLst>
                          <a:latin typeface="+mn-lt"/>
                          <a:ea typeface="Noto Sans CJK JP Bold" pitchFamily="34" charset="-128"/>
                        </a:rPr>
                        <a:t>nksv560/567/568/569</a:t>
                      </a:r>
                      <a:r>
                        <a:rPr kumimoji="1" lang="ja-JP" altLang="en-US" sz="1400">
                          <a:effectLst>
                            <a:outerShdw blurRad="38100" dist="38100" dir="2700000" algn="tl">
                              <a:srgbClr val="000000">
                                <a:alpha val="43137"/>
                              </a:srgbClr>
                            </a:outerShdw>
                          </a:effectLst>
                          <a:latin typeface="+mn-lt"/>
                          <a:ea typeface="Noto Sans CJK JP Bold" pitchFamily="34" charset="-128"/>
                        </a:rPr>
                        <a:t>共通</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hMerge="1">
                  <a:txBody>
                    <a:bodyPr/>
                    <a:lstStyle/>
                    <a:p>
                      <a:endParaRPr kumimoji="1" lang="ja-JP" altLang="en-US" sz="1400" dirty="0">
                        <a:latin typeface="Noto Sans CJK JP Bold" pitchFamily="34" charset="-128"/>
                        <a:ea typeface="Noto Sans CJK JP Bold" pitchFamily="34" charset="-128"/>
                      </a:endParaRPr>
                    </a:p>
                  </a:txBody>
                  <a:tcPr anchor="ctr">
                    <a:solidFill>
                      <a:srgbClr val="FFFFCC"/>
                    </a:solidFill>
                  </a:tcPr>
                </a:tc>
                <a:tc hMerge="1">
                  <a:txBody>
                    <a:bodyPr/>
                    <a:lstStyle/>
                    <a:p>
                      <a:endParaRPr kumimoji="1" lang="ja-JP" altLang="en-US"/>
                    </a:p>
                  </a:txBody>
                  <a:tcPr anchor="ctr">
                    <a:solidFill>
                      <a:srgbClr val="FFFFCC"/>
                    </a:solidFill>
                  </a:tcPr>
                </a:tc>
                <a:extLst>
                  <a:ext uri="{0D108BD9-81ED-4DB2-BD59-A6C34878D82A}">
                    <a16:rowId xmlns:a16="http://schemas.microsoft.com/office/drawing/2014/main" val="10005"/>
                  </a:ext>
                </a:extLst>
              </a:tr>
              <a:tr h="370840">
                <a:tc>
                  <a:txBody>
                    <a:bodyPr/>
                    <a:lstStyle/>
                    <a:p>
                      <a:r>
                        <a:rPr kumimoji="1" lang="en-US" altLang="ja-JP" sz="1400" baseline="0" dirty="0">
                          <a:effectLst>
                            <a:outerShdw blurRad="38100" dist="38100" dir="2700000" algn="tl">
                              <a:srgbClr val="000000">
                                <a:alpha val="43137"/>
                              </a:srgbClr>
                            </a:outerShdw>
                          </a:effectLst>
                          <a:latin typeface="+mn-lt"/>
                          <a:ea typeface="Noto Sans CJK JP Bold" pitchFamily="34" charset="-128"/>
                        </a:rPr>
                        <a:t>MySQL RDBMS</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データベース</a:t>
                      </a: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各アプリのデータベース</a:t>
                      </a:r>
                    </a:p>
                  </a:txBody>
                  <a:tcPr anchor="ctr">
                    <a:solidFill>
                      <a:srgbClr val="BBE0E3"/>
                    </a:solidFill>
                  </a:tcPr>
                </a:tc>
                <a:extLst>
                  <a:ext uri="{0D108BD9-81ED-4DB2-BD59-A6C34878D82A}">
                    <a16:rowId xmlns:a16="http://schemas.microsoft.com/office/drawing/2014/main" val="10006"/>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Apache2 Web</a:t>
                      </a:r>
                      <a:r>
                        <a:rPr kumimoji="1" lang="ja-JP" altLang="en-US" sz="1400">
                          <a:effectLst>
                            <a:outerShdw blurRad="38100" dist="38100" dir="2700000" algn="tl">
                              <a:srgbClr val="000000">
                                <a:alpha val="43137"/>
                              </a:srgbClr>
                            </a:outerShdw>
                          </a:effectLst>
                          <a:latin typeface="+mn-lt"/>
                          <a:ea typeface="Noto Sans CJK JP Bold" pitchFamily="34" charset="-128"/>
                        </a:rPr>
                        <a:t>サーバ</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Web</a:t>
                      </a:r>
                      <a:r>
                        <a:rPr kumimoji="1" lang="ja-JP" altLang="en-US" sz="1400">
                          <a:effectLst>
                            <a:outerShdw blurRad="38100" dist="38100" dir="2700000" algn="tl">
                              <a:srgbClr val="000000">
                                <a:alpha val="43137"/>
                              </a:srgbClr>
                            </a:outerShdw>
                          </a:effectLst>
                          <a:latin typeface="+mn-lt"/>
                          <a:ea typeface="Noto Sans CJK JP Bold" pitchFamily="34" charset="-128"/>
                        </a:rPr>
                        <a:t>サービス</a:t>
                      </a: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各アプリの</a:t>
                      </a:r>
                      <a:r>
                        <a:rPr kumimoji="1" lang="en-US" altLang="ja-JP" sz="1400">
                          <a:effectLst>
                            <a:outerShdw blurRad="38100" dist="38100" dir="2700000" algn="tl">
                              <a:srgbClr val="000000">
                                <a:alpha val="43137"/>
                              </a:srgbClr>
                            </a:outerShdw>
                          </a:effectLst>
                          <a:latin typeface="+mn-lt"/>
                          <a:ea typeface="Noto Sans CJK JP Bold" pitchFamily="34" charset="-128"/>
                        </a:rPr>
                        <a:t>Web</a:t>
                      </a:r>
                      <a:r>
                        <a:rPr kumimoji="1" lang="ja-JP" altLang="en-US" sz="1400">
                          <a:effectLst>
                            <a:outerShdw blurRad="38100" dist="38100" dir="2700000" algn="tl">
                              <a:srgbClr val="000000">
                                <a:alpha val="43137"/>
                              </a:srgbClr>
                            </a:outerShdw>
                          </a:effectLst>
                          <a:latin typeface="+mn-lt"/>
                          <a:ea typeface="Noto Sans CJK JP Bold" pitchFamily="34" charset="-128"/>
                        </a:rPr>
                        <a:t>サービス</a:t>
                      </a:r>
                    </a:p>
                  </a:txBody>
                  <a:tcPr anchor="ctr">
                    <a:solidFill>
                      <a:srgbClr val="BBE0E3"/>
                    </a:solidFill>
                  </a:tcPr>
                </a:tc>
                <a:extLst>
                  <a:ext uri="{0D108BD9-81ED-4DB2-BD59-A6C34878D82A}">
                    <a16:rowId xmlns:a16="http://schemas.microsoft.com/office/drawing/2014/main" val="10007"/>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SAMBA</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ファイル共有</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Windows</a:t>
                      </a:r>
                      <a:r>
                        <a:rPr kumimoji="1" lang="ja-JP" altLang="en-US" sz="1400" dirty="0">
                          <a:effectLst>
                            <a:outerShdw blurRad="38100" dist="38100" dir="2700000" algn="tl">
                              <a:srgbClr val="000000">
                                <a:alpha val="43137"/>
                              </a:srgbClr>
                            </a:outerShdw>
                          </a:effectLst>
                          <a:latin typeface="+mn-lt"/>
                          <a:ea typeface="Noto Sans CJK JP Bold" pitchFamily="34" charset="-128"/>
                        </a:rPr>
                        <a:t>の</a:t>
                      </a:r>
                      <a:r>
                        <a:rPr kumimoji="1" lang="en-US" altLang="ja-JP" sz="1400" dirty="0">
                          <a:effectLst>
                            <a:outerShdw blurRad="38100" dist="38100" dir="2700000" algn="tl">
                              <a:srgbClr val="000000">
                                <a:alpha val="43137"/>
                              </a:srgbClr>
                            </a:outerShdw>
                          </a:effectLst>
                          <a:latin typeface="+mn-lt"/>
                          <a:ea typeface="Noto Sans CJK JP Bold" pitchFamily="34" charset="-128"/>
                        </a:rPr>
                        <a:t>SMB2</a:t>
                      </a:r>
                      <a:r>
                        <a:rPr kumimoji="1" lang="ja-JP" altLang="en-US" sz="1400" dirty="0">
                          <a:effectLst>
                            <a:outerShdw blurRad="38100" dist="38100" dir="2700000" algn="tl">
                              <a:srgbClr val="000000">
                                <a:alpha val="43137"/>
                              </a:srgbClr>
                            </a:outerShdw>
                          </a:effectLst>
                          <a:latin typeface="+mn-lt"/>
                          <a:ea typeface="Noto Sans CJK JP Bold" pitchFamily="34" charset="-128"/>
                        </a:rPr>
                        <a:t>プロトコルによる共有フォルダ</a:t>
                      </a:r>
                    </a:p>
                  </a:txBody>
                  <a:tcPr anchor="ctr">
                    <a:solidFill>
                      <a:srgbClr val="BBE0E3"/>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837168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その他稼働中</a:t>
            </a:r>
            <a:r>
              <a:rPr lang="ja-JP" altLang="en-US" sz="2400" b="1" dirty="0">
                <a:solidFill>
                  <a:schemeClr val="bg1"/>
                </a:solidFill>
                <a:latin typeface="+mj-ea"/>
                <a:ea typeface="+mj-ea"/>
              </a:rPr>
              <a:t>のシステム</a:t>
            </a:r>
          </a:p>
        </p:txBody>
      </p:sp>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49" name="コンテンツ プレースホルダー 3"/>
          <p:cNvGraphicFramePr>
            <a:graphicFrameLocks noGrp="1"/>
          </p:cNvGraphicFramePr>
          <p:nvPr>
            <p:ph idx="1"/>
            <p:extLst>
              <p:ext uri="{D42A27DB-BD31-4B8C-83A1-F6EECF244321}">
                <p14:modId xmlns:p14="http://schemas.microsoft.com/office/powerpoint/2010/main" val="767270799"/>
              </p:ext>
            </p:extLst>
          </p:nvPr>
        </p:nvGraphicFramePr>
        <p:xfrm>
          <a:off x="250825" y="728700"/>
          <a:ext cx="8642350" cy="2971800"/>
        </p:xfrm>
        <a:graphic>
          <a:graphicData uri="http://schemas.openxmlformats.org/drawingml/2006/table">
            <a:tbl>
              <a:tblPr firstRow="1" bandRow="1">
                <a:tableStyleId>{5C22544A-7EE6-4342-B048-85BDC9FD1C3A}</a:tableStyleId>
              </a:tblPr>
              <a:tblGrid>
                <a:gridCol w="2475970">
                  <a:extLst>
                    <a:ext uri="{9D8B030D-6E8A-4147-A177-3AD203B41FA5}">
                      <a16:colId xmlns:a16="http://schemas.microsoft.com/office/drawing/2014/main" val="20000"/>
                    </a:ext>
                  </a:extLst>
                </a:gridCol>
                <a:gridCol w="2025225">
                  <a:extLst>
                    <a:ext uri="{9D8B030D-6E8A-4147-A177-3AD203B41FA5}">
                      <a16:colId xmlns:a16="http://schemas.microsoft.com/office/drawing/2014/main" val="20001"/>
                    </a:ext>
                  </a:extLst>
                </a:gridCol>
                <a:gridCol w="4141155">
                  <a:extLst>
                    <a:ext uri="{9D8B030D-6E8A-4147-A177-3AD203B41FA5}">
                      <a16:colId xmlns:a16="http://schemas.microsoft.com/office/drawing/2014/main" val="20002"/>
                    </a:ext>
                  </a:extLst>
                </a:gridCol>
              </a:tblGrid>
              <a:tr h="370840">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稼働システム</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サービス形態</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用途</a:t>
                      </a:r>
                    </a:p>
                  </a:txBody>
                  <a:tcPr anchor="ctr">
                    <a:solidFill>
                      <a:srgbClr val="A0C8C8"/>
                    </a:solidFill>
                  </a:tcPr>
                </a:tc>
                <a:extLst>
                  <a:ext uri="{0D108BD9-81ED-4DB2-BD59-A6C34878D82A}">
                    <a16:rowId xmlns:a16="http://schemas.microsoft.com/office/drawing/2014/main" val="10000"/>
                  </a:ext>
                </a:extLst>
              </a:tr>
              <a:tr h="259230">
                <a:tc gridSpan="3">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Nksv560</a:t>
                      </a:r>
                    </a:p>
                  </a:txBody>
                  <a:tcPr anchor="ct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set_DLV</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Perl</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a:t>
                      </a:r>
                      <a:r>
                        <a:rPr kumimoji="1" lang="en-US" altLang="ja-JP" sz="1400">
                          <a:effectLst>
                            <a:outerShdw blurRad="38100" dist="38100" dir="2700000" algn="tl">
                              <a:srgbClr val="000000">
                                <a:alpha val="43137"/>
                              </a:srgbClr>
                            </a:outerShdw>
                          </a:effectLst>
                          <a:latin typeface="+mn-lt"/>
                          <a:ea typeface="Noto Sans CJK JP Bold" pitchFamily="34" charset="-128"/>
                        </a:rPr>
                        <a:t>crontab</a:t>
                      </a:r>
                      <a:r>
                        <a:rPr kumimoji="1" lang="ja-JP" altLang="en-US" sz="1400">
                          <a:effectLst>
                            <a:outerShdw blurRad="38100" dist="38100" dir="2700000" algn="tl">
                              <a:srgbClr val="000000">
                                <a:alpha val="43137"/>
                              </a:srgbClr>
                            </a:outerShdw>
                          </a:effectLst>
                          <a:latin typeface="+mn-lt"/>
                          <a:ea typeface="Noto Sans CJK JP Bold" pitchFamily="34" charset="-128"/>
                        </a:rPr>
                        <a:t>で定期起動）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毎</a:t>
                      </a:r>
                      <a:r>
                        <a:rPr kumimoji="1" lang="en-US" altLang="ja-JP" sz="1400" b="1">
                          <a:effectLst>
                            <a:outerShdw blurRad="38100" dist="38100" dir="2700000" algn="tl">
                              <a:srgbClr val="000000">
                                <a:alpha val="43137"/>
                              </a:srgbClr>
                            </a:outerShdw>
                          </a:effectLst>
                          <a:latin typeface="+mn-lt"/>
                          <a:ea typeface="Noto Sans CJK JP Bold" pitchFamily="34" charset="-128"/>
                        </a:rPr>
                        <a:t>04:00</a:t>
                      </a:r>
                      <a:r>
                        <a:rPr kumimoji="1" lang="ja-JP" altLang="en-US" sz="1400" b="1">
                          <a:effectLst>
                            <a:outerShdw blurRad="38100" dist="38100" dir="2700000" algn="tl">
                              <a:srgbClr val="000000">
                                <a:alpha val="43137"/>
                              </a:srgbClr>
                            </a:outerShdw>
                          </a:effectLst>
                          <a:latin typeface="+mn-lt"/>
                          <a:ea typeface="Noto Sans CJK JP Bold" pitchFamily="34" charset="-128"/>
                        </a:rPr>
                        <a:t>に</a:t>
                      </a:r>
                      <a:r>
                        <a:rPr kumimoji="1" lang="ja-JP" altLang="en-US" sz="1400">
                          <a:effectLst>
                            <a:outerShdw blurRad="38100" dist="38100" dir="2700000" algn="tl">
                              <a:srgbClr val="000000">
                                <a:alpha val="43137"/>
                              </a:srgbClr>
                            </a:outerShdw>
                          </a:effectLst>
                          <a:latin typeface="+mn-lt"/>
                          <a:ea typeface="Noto Sans CJK JP Bold" pitchFamily="34" charset="-128"/>
                        </a:rPr>
                        <a:t>更新される</a:t>
                      </a:r>
                      <a:r>
                        <a:rPr kumimoji="1" lang="en-US" altLang="ja-JP" sz="1400">
                          <a:effectLst>
                            <a:outerShdw blurRad="38100" dist="38100" dir="2700000" algn="tl">
                              <a:srgbClr val="000000">
                                <a:alpha val="43137"/>
                              </a:srgbClr>
                            </a:outerShdw>
                          </a:effectLst>
                          <a:latin typeface="+mn-lt"/>
                          <a:ea typeface="Noto Sans CJK JP Bold" pitchFamily="34" charset="-128"/>
                        </a:rPr>
                        <a:t>nksv560</a:t>
                      </a:r>
                      <a:r>
                        <a:rPr kumimoji="1" lang="ja-JP" altLang="en-US" sz="1400">
                          <a:effectLst>
                            <a:outerShdw blurRad="38100" dist="38100" dir="2700000" algn="tl">
                              <a:srgbClr val="000000">
                                <a:alpha val="43137"/>
                              </a:srgbClr>
                            </a:outerShdw>
                          </a:effectLst>
                          <a:latin typeface="+mn-lt"/>
                          <a:ea typeface="Noto Sans CJK JP Bold" pitchFamily="34" charset="-128"/>
                        </a:rPr>
                        <a:t>にある</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が持つ指図関連情報に</a:t>
                      </a:r>
                      <a:r>
                        <a:rPr kumimoji="1" lang="en-US" altLang="ja-JP" sz="1400">
                          <a:effectLst>
                            <a:outerShdw blurRad="38100" dist="38100" dir="2700000" algn="tl">
                              <a:srgbClr val="000000">
                                <a:alpha val="43137"/>
                              </a:srgbClr>
                            </a:outerShdw>
                          </a:effectLst>
                          <a:latin typeface="+mn-lt"/>
                          <a:ea typeface="Noto Sans CJK JP Bold" pitchFamily="34" charset="-128"/>
                        </a:rPr>
                        <a:t>DLV</a:t>
                      </a:r>
                      <a:r>
                        <a:rPr kumimoji="1" lang="ja-JP" altLang="en-US" sz="1400">
                          <a:effectLst>
                            <a:outerShdw blurRad="38100" dist="38100" dir="2700000" algn="tl">
                              <a:srgbClr val="000000">
                                <a:alpha val="43137"/>
                              </a:srgbClr>
                            </a:outerShdw>
                          </a:effectLst>
                          <a:latin typeface="+mn-lt"/>
                          <a:ea typeface="Noto Sans CJK JP Bold" pitchFamily="34" charset="-128"/>
                        </a:rPr>
                        <a:t>フラグを立てる。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2"/>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update_CMDIsts</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Perl</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a:t>
                      </a:r>
                      <a:r>
                        <a:rPr kumimoji="1" lang="en-US" altLang="ja-JP" sz="1400">
                          <a:effectLst>
                            <a:outerShdw blurRad="38100" dist="38100" dir="2700000" algn="tl">
                              <a:srgbClr val="000000">
                                <a:alpha val="43137"/>
                              </a:srgbClr>
                            </a:outerShdw>
                          </a:effectLst>
                          <a:latin typeface="+mn-lt"/>
                          <a:ea typeface="Noto Sans CJK JP Bold" pitchFamily="34" charset="-128"/>
                        </a:rPr>
                        <a:t>crontab</a:t>
                      </a:r>
                      <a:r>
                        <a:rPr kumimoji="1" lang="ja-JP" altLang="en-US" sz="1400">
                          <a:effectLst>
                            <a:outerShdw blurRad="38100" dist="38100" dir="2700000" algn="tl">
                              <a:srgbClr val="000000">
                                <a:alpha val="43137"/>
                              </a:srgbClr>
                            </a:outerShdw>
                          </a:effectLst>
                          <a:latin typeface="+mn-lt"/>
                          <a:ea typeface="Noto Sans CJK JP Bold" pitchFamily="34" charset="-128"/>
                        </a:rPr>
                        <a:t>で定期起動）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b="0">
                          <a:effectLst>
                            <a:outerShdw blurRad="38100" dist="38100" dir="2700000" algn="tl">
                              <a:srgbClr val="000000">
                                <a:alpha val="43137"/>
                              </a:srgbClr>
                            </a:outerShdw>
                          </a:effectLst>
                          <a:latin typeface="Noto Sans CJK JP Bold" pitchFamily="34" charset="-128"/>
                          <a:ea typeface="Noto Sans CJK JP Bold" pitchFamily="34" charset="-128"/>
                        </a:rPr>
                        <a:t>5</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分毎に</a:t>
                      </a:r>
                      <a:r>
                        <a:rPr kumimoji="1" lang="en-US" altLang="ja-JP" sz="1400" b="1">
                          <a:effectLst>
                            <a:outerShdw blurRad="38100" dist="38100" dir="2700000" algn="tl">
                              <a:srgbClr val="000000">
                                <a:alpha val="43137"/>
                              </a:srgbClr>
                            </a:outerShdw>
                          </a:effectLst>
                          <a:latin typeface="Noto Sans CJK JP Bold" pitchFamily="34" charset="-128"/>
                          <a:ea typeface="Noto Sans CJK JP Bold" pitchFamily="34" charset="-128"/>
                        </a:rPr>
                        <a:t>CMDI/CCDI</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実績収集システムの</a:t>
                      </a:r>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DB</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をアクセスし、</a:t>
                      </a:r>
                      <a:r>
                        <a:rPr kumimoji="1" lang="en-US" altLang="ja-JP" sz="1400">
                          <a:effectLst>
                            <a:outerShdw blurRad="38100" dist="38100" dir="2700000" algn="tl">
                              <a:srgbClr val="000000">
                                <a:alpha val="43137"/>
                              </a:srgbClr>
                            </a:outerShdw>
                          </a:effectLst>
                          <a:latin typeface="+mn-lt"/>
                          <a:ea typeface="Noto Sans CJK JP Bold" pitchFamily="34" charset="-128"/>
                        </a:rPr>
                        <a:t>nksv560</a:t>
                      </a:r>
                      <a:r>
                        <a:rPr kumimoji="1" lang="ja-JP" altLang="en-US" sz="1400">
                          <a:effectLst>
                            <a:outerShdw blurRad="38100" dist="38100" dir="2700000" algn="tl">
                              <a:srgbClr val="000000">
                                <a:alpha val="43137"/>
                              </a:srgbClr>
                            </a:outerShdw>
                          </a:effectLst>
                          <a:latin typeface="+mn-lt"/>
                          <a:ea typeface="Noto Sans CJK JP Bold" pitchFamily="34" charset="-128"/>
                        </a:rPr>
                        <a:t>にある</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に反映させる。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3"/>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Update_BOM</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Perl</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a:t>
                      </a:r>
                      <a:r>
                        <a:rPr kumimoji="1" lang="en-US" altLang="ja-JP" sz="1400">
                          <a:effectLst>
                            <a:outerShdw blurRad="38100" dist="38100" dir="2700000" algn="tl">
                              <a:srgbClr val="000000">
                                <a:alpha val="43137"/>
                              </a:srgbClr>
                            </a:outerShdw>
                          </a:effectLst>
                          <a:latin typeface="+mn-lt"/>
                          <a:ea typeface="Noto Sans CJK JP Bold" pitchFamily="34" charset="-128"/>
                        </a:rPr>
                        <a:t>crontab</a:t>
                      </a:r>
                      <a:r>
                        <a:rPr kumimoji="1" lang="ja-JP" altLang="en-US" sz="1400">
                          <a:effectLst>
                            <a:outerShdw blurRad="38100" dist="38100" dir="2700000" algn="tl">
                              <a:srgbClr val="000000">
                                <a:alpha val="43137"/>
                              </a:srgbClr>
                            </a:outerShdw>
                          </a:effectLst>
                          <a:latin typeface="+mn-lt"/>
                          <a:ea typeface="Noto Sans CJK JP Bold" pitchFamily="34" charset="-128"/>
                        </a:rPr>
                        <a:t>で定期起動）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BOSS</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が出力するバッチ処理後の指図</a:t>
                      </a:r>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BOM</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情報をアクセスし、</a:t>
                      </a:r>
                      <a:r>
                        <a:rPr kumimoji="1" lang="en-US" altLang="ja-JP" sz="1400">
                          <a:effectLst>
                            <a:outerShdw blurRad="38100" dist="38100" dir="2700000" algn="tl">
                              <a:srgbClr val="000000">
                                <a:alpha val="43137"/>
                              </a:srgbClr>
                            </a:outerShdw>
                          </a:effectLst>
                          <a:latin typeface="+mn-lt"/>
                          <a:ea typeface="Noto Sans CJK JP Bold" pitchFamily="34" charset="-128"/>
                        </a:rPr>
                        <a:t>nksv560</a:t>
                      </a:r>
                      <a:r>
                        <a:rPr kumimoji="1" lang="ja-JP" altLang="en-US" sz="1400">
                          <a:effectLst>
                            <a:outerShdw blurRad="38100" dist="38100" dir="2700000" algn="tl">
                              <a:srgbClr val="000000">
                                <a:alpha val="43137"/>
                              </a:srgbClr>
                            </a:outerShdw>
                          </a:effectLst>
                          <a:latin typeface="+mn-lt"/>
                          <a:ea typeface="Noto Sans CJK JP Bold" pitchFamily="34" charset="-128"/>
                        </a:rPr>
                        <a:t>にある</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に反映させる。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4"/>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5"/>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34854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その他稼働中</a:t>
            </a:r>
            <a:r>
              <a:rPr lang="ja-JP" altLang="en-US" sz="2400" b="1" dirty="0">
                <a:solidFill>
                  <a:schemeClr val="bg1"/>
                </a:solidFill>
                <a:latin typeface="+mj-ea"/>
                <a:ea typeface="+mj-ea"/>
              </a:rPr>
              <a:t>のシステム</a:t>
            </a:r>
          </a:p>
        </p:txBody>
      </p:sp>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49" name="コンテンツ プレースホルダー 3"/>
          <p:cNvGraphicFramePr>
            <a:graphicFrameLocks noGrp="1"/>
          </p:cNvGraphicFramePr>
          <p:nvPr>
            <p:ph idx="1"/>
            <p:extLst>
              <p:ext uri="{D42A27DB-BD31-4B8C-83A1-F6EECF244321}">
                <p14:modId xmlns:p14="http://schemas.microsoft.com/office/powerpoint/2010/main" val="4205368460"/>
              </p:ext>
            </p:extLst>
          </p:nvPr>
        </p:nvGraphicFramePr>
        <p:xfrm>
          <a:off x="250825" y="728700"/>
          <a:ext cx="8642350" cy="4074160"/>
        </p:xfrm>
        <a:graphic>
          <a:graphicData uri="http://schemas.openxmlformats.org/drawingml/2006/table">
            <a:tbl>
              <a:tblPr firstRow="1" bandRow="1">
                <a:tableStyleId>{5C22544A-7EE6-4342-B048-85BDC9FD1C3A}</a:tableStyleId>
              </a:tblPr>
              <a:tblGrid>
                <a:gridCol w="2475970">
                  <a:extLst>
                    <a:ext uri="{9D8B030D-6E8A-4147-A177-3AD203B41FA5}">
                      <a16:colId xmlns:a16="http://schemas.microsoft.com/office/drawing/2014/main" val="20000"/>
                    </a:ext>
                  </a:extLst>
                </a:gridCol>
                <a:gridCol w="2025225">
                  <a:extLst>
                    <a:ext uri="{9D8B030D-6E8A-4147-A177-3AD203B41FA5}">
                      <a16:colId xmlns:a16="http://schemas.microsoft.com/office/drawing/2014/main" val="20001"/>
                    </a:ext>
                  </a:extLst>
                </a:gridCol>
                <a:gridCol w="4141155">
                  <a:extLst>
                    <a:ext uri="{9D8B030D-6E8A-4147-A177-3AD203B41FA5}">
                      <a16:colId xmlns:a16="http://schemas.microsoft.com/office/drawing/2014/main" val="20002"/>
                    </a:ext>
                  </a:extLst>
                </a:gridCol>
              </a:tblGrid>
              <a:tr h="370840">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稼働システム</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サービス形態</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用途</a:t>
                      </a:r>
                    </a:p>
                  </a:txBody>
                  <a:tcPr anchor="ctr">
                    <a:solidFill>
                      <a:srgbClr val="A0C8C8"/>
                    </a:solidFill>
                  </a:tcPr>
                </a:tc>
                <a:extLst>
                  <a:ext uri="{0D108BD9-81ED-4DB2-BD59-A6C34878D82A}">
                    <a16:rowId xmlns:a16="http://schemas.microsoft.com/office/drawing/2014/main" val="10000"/>
                  </a:ext>
                </a:extLst>
              </a:tr>
              <a:tr h="259230">
                <a:tc gridSpan="3">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nksv561</a:t>
                      </a:r>
                    </a:p>
                  </a:txBody>
                  <a:tcPr anchor="ct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CMDI-EMIS</a:t>
                      </a:r>
                      <a:r>
                        <a:rPr kumimoji="1" lang="ja-JP" altLang="en-US" sz="1400" baseline="0">
                          <a:effectLst>
                            <a:outerShdw blurRad="38100" dist="38100" dir="2700000" algn="tl">
                              <a:srgbClr val="000000">
                                <a:alpha val="43137"/>
                              </a:srgbClr>
                            </a:outerShdw>
                          </a:effectLst>
                          <a:latin typeface="+mn-lt"/>
                          <a:ea typeface="Noto Sans CJK JP Bold" pitchFamily="34" charset="-128"/>
                        </a:rPr>
                        <a:t> </a:t>
                      </a:r>
                      <a:r>
                        <a:rPr kumimoji="1" lang="en-US" altLang="ja-JP" sz="1400" baseline="0">
                          <a:effectLst>
                            <a:outerShdw blurRad="38100" dist="38100" dir="2700000" algn="tl">
                              <a:srgbClr val="000000">
                                <a:alpha val="43137"/>
                              </a:srgbClr>
                            </a:outerShdw>
                          </a:effectLst>
                          <a:latin typeface="+mn-lt"/>
                          <a:ea typeface="Noto Sans CJK JP Bold" pitchFamily="34" charset="-128"/>
                        </a:rPr>
                        <a:t>manager</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VB.Net</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（常時稼働）</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半製品検査の治具</a:t>
                      </a:r>
                      <a:r>
                        <a:rPr kumimoji="1" lang="en-US" altLang="ja-JP" sz="1400">
                          <a:effectLst>
                            <a:outerShdw blurRad="38100" dist="38100" dir="2700000" algn="tl">
                              <a:srgbClr val="000000">
                                <a:alpha val="43137"/>
                              </a:srgbClr>
                            </a:outerShdw>
                          </a:effectLst>
                          <a:latin typeface="+mn-lt"/>
                          <a:ea typeface="Noto Sans CJK JP Bold" pitchFamily="34" charset="-128"/>
                        </a:rPr>
                        <a:t>PC</a:t>
                      </a:r>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または、</a:t>
                      </a:r>
                      <a:r>
                        <a:rPr kumimoji="1" lang="en-US" altLang="ja-JP" sz="1400">
                          <a:effectLst>
                            <a:outerShdw blurRad="38100" dist="38100" dir="2700000" algn="tl">
                              <a:srgbClr val="000000">
                                <a:alpha val="43137"/>
                              </a:srgbClr>
                            </a:outerShdw>
                          </a:effectLst>
                          <a:latin typeface="+mn-lt"/>
                          <a:ea typeface="Noto Sans CJK JP Bold" pitchFamily="34" charset="-128"/>
                        </a:rPr>
                        <a:t>nksv561</a:t>
                      </a:r>
                      <a:r>
                        <a:rPr kumimoji="1" lang="ja-JP" altLang="en-US" sz="1400">
                          <a:effectLst>
                            <a:outerShdw blurRad="38100" dist="38100" dir="2700000" algn="tl">
                              <a:srgbClr val="000000">
                                <a:alpha val="43137"/>
                              </a:srgbClr>
                            </a:outerShdw>
                          </a:effectLst>
                          <a:latin typeface="+mn-lt"/>
                          <a:ea typeface="Noto Sans CJK JP Bold" pitchFamily="34" charset="-128"/>
                        </a:rPr>
                        <a:t>プリンタサーバ</a:t>
                      </a:r>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が</a:t>
                      </a:r>
                      <a:r>
                        <a:rPr kumimoji="1" lang="ja-JP" altLang="en-US" sz="1400">
                          <a:effectLst>
                            <a:outerShdw blurRad="38100" dist="38100" dir="2700000" algn="tl">
                              <a:srgbClr val="000000">
                                <a:alpha val="43137"/>
                              </a:srgbClr>
                            </a:outerShdw>
                          </a:effectLst>
                          <a:latin typeface="+mn-lt"/>
                          <a:ea typeface="Noto Sans CJK JP Bold" pitchFamily="34" charset="-128"/>
                        </a:rPr>
                        <a:t>出力した</a:t>
                      </a:r>
                      <a:r>
                        <a:rPr kumimoji="1" lang="en-US" altLang="ja-JP" sz="1400">
                          <a:effectLst>
                            <a:outerShdw blurRad="38100" dist="38100" dir="2700000" algn="tl">
                              <a:srgbClr val="000000">
                                <a:alpha val="43137"/>
                              </a:srgbClr>
                            </a:outerShdw>
                          </a:effectLst>
                          <a:latin typeface="+mn-lt"/>
                          <a:ea typeface="Noto Sans CJK JP Bold" pitchFamily="34" charset="-128"/>
                        </a:rPr>
                        <a:t>pdf</a:t>
                      </a:r>
                      <a:r>
                        <a:rPr kumimoji="1" lang="ja-JP" altLang="en-US" sz="1400">
                          <a:effectLst>
                            <a:outerShdw blurRad="38100" dist="38100" dir="2700000" algn="tl">
                              <a:srgbClr val="000000">
                                <a:alpha val="43137"/>
                              </a:srgbClr>
                            </a:outerShdw>
                          </a:effectLst>
                          <a:latin typeface="+mn-lt"/>
                          <a:ea typeface="Noto Sans CJK JP Bold" pitchFamily="34" charset="-128"/>
                        </a:rPr>
                        <a:t>ファイルを処理し、</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へ出力する。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3"/>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BOSS_SQL</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VB.Net</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（スケジューラ起動）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DWH</a:t>
                      </a:r>
                      <a:r>
                        <a:rPr kumimoji="1" lang="ja-JP" altLang="en-US" sz="1400">
                          <a:effectLst>
                            <a:outerShdw blurRad="38100" dist="38100" dir="2700000" algn="tl">
                              <a:srgbClr val="000000">
                                <a:alpha val="43137"/>
                              </a:srgbClr>
                            </a:outerShdw>
                          </a:effectLst>
                          <a:latin typeface="+mn-lt"/>
                          <a:ea typeface="Noto Sans CJK JP Bold" pitchFamily="34" charset="-128"/>
                        </a:rPr>
                        <a:t>にバッチ処理で出力される指図データを毎日深夜</a:t>
                      </a:r>
                      <a:r>
                        <a:rPr kumimoji="1" lang="en-US" altLang="ja-JP" sz="1400">
                          <a:effectLst>
                            <a:outerShdw blurRad="38100" dist="38100" dir="2700000" algn="tl">
                              <a:srgbClr val="000000">
                                <a:alpha val="43137"/>
                              </a:srgbClr>
                            </a:outerShdw>
                          </a:effectLst>
                          <a:latin typeface="+mn-lt"/>
                          <a:ea typeface="Noto Sans CJK JP Bold" pitchFamily="34" charset="-128"/>
                        </a:rPr>
                        <a:t>2:30</a:t>
                      </a:r>
                      <a:r>
                        <a:rPr kumimoji="1" lang="ja-JP" altLang="en-US" sz="1400">
                          <a:effectLst>
                            <a:outerShdw blurRad="38100" dist="38100" dir="2700000" algn="tl">
                              <a:srgbClr val="000000">
                                <a:alpha val="43137"/>
                              </a:srgbClr>
                            </a:outerShdw>
                          </a:effectLst>
                          <a:latin typeface="+mn-lt"/>
                          <a:ea typeface="Noto Sans CJK JP Bold" pitchFamily="34" charset="-128"/>
                        </a:rPr>
                        <a:t>に</a:t>
                      </a:r>
                      <a:r>
                        <a:rPr kumimoji="1" lang="en-US" altLang="ja-JP" sz="1400">
                          <a:effectLst>
                            <a:outerShdw blurRad="38100" dist="38100" dir="2700000" algn="tl">
                              <a:srgbClr val="000000">
                                <a:alpha val="43137"/>
                              </a:srgbClr>
                            </a:outerShdw>
                          </a:effectLst>
                          <a:latin typeface="+mn-lt"/>
                          <a:ea typeface="Noto Sans CJK JP Bold" pitchFamily="34" charset="-128"/>
                        </a:rPr>
                        <a:t>nksv560</a:t>
                      </a:r>
                      <a:r>
                        <a:rPr kumimoji="1" lang="ja-JP" altLang="en-US" sz="1400">
                          <a:effectLst>
                            <a:outerShdw blurRad="38100" dist="38100" dir="2700000" algn="tl">
                              <a:srgbClr val="000000">
                                <a:alpha val="43137"/>
                              </a:srgbClr>
                            </a:outerShdw>
                          </a:effectLst>
                          <a:latin typeface="+mn-lt"/>
                          <a:ea typeface="Noto Sans CJK JP Bold" pitchFamily="34" charset="-128"/>
                        </a:rPr>
                        <a:t> </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と同期する。</a:t>
                      </a:r>
                      <a:endParaRPr kumimoji="1" lang="en-US" altLang="ja-JP" sz="140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extLst>
                  <a:ext uri="{0D108BD9-81ED-4DB2-BD59-A6C34878D82A}">
                    <a16:rowId xmlns:a16="http://schemas.microsoft.com/office/drawing/2014/main" val="10004"/>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Application Monitor</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VB.Net</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（スケジューラ起動）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5</a:t>
                      </a:r>
                      <a:r>
                        <a:rPr kumimoji="1" lang="ja-JP" altLang="en-US" sz="1400">
                          <a:effectLst>
                            <a:outerShdw blurRad="38100" dist="38100" dir="2700000" algn="tl">
                              <a:srgbClr val="000000">
                                <a:alpha val="43137"/>
                              </a:srgbClr>
                            </a:outerShdw>
                          </a:effectLst>
                          <a:latin typeface="+mn-lt"/>
                          <a:ea typeface="Noto Sans CJK JP Bold" pitchFamily="34" charset="-128"/>
                        </a:rPr>
                        <a:t>分毎に</a:t>
                      </a:r>
                      <a:r>
                        <a:rPr kumimoji="1" lang="en-US" altLang="ja-JP" sz="1400">
                          <a:effectLst>
                            <a:outerShdw blurRad="38100" dist="38100" dir="2700000" algn="tl">
                              <a:srgbClr val="000000">
                                <a:alpha val="43137"/>
                              </a:srgbClr>
                            </a:outerShdw>
                          </a:effectLst>
                          <a:latin typeface="+mn-lt"/>
                          <a:ea typeface="Noto Sans CJK JP Bold" pitchFamily="34" charset="-128"/>
                        </a:rPr>
                        <a:t>CMDI_EMIS manager</a:t>
                      </a:r>
                      <a:r>
                        <a:rPr kumimoji="1" lang="ja-JP" altLang="en-US" sz="1400">
                          <a:effectLst>
                            <a:outerShdw blurRad="38100" dist="38100" dir="2700000" algn="tl">
                              <a:srgbClr val="000000">
                                <a:alpha val="43137"/>
                              </a:srgbClr>
                            </a:outerShdw>
                          </a:effectLst>
                          <a:latin typeface="+mn-lt"/>
                          <a:ea typeface="Noto Sans CJK JP Bold" pitchFamily="34" charset="-128"/>
                        </a:rPr>
                        <a:t>の稼働を監視し、稼動していない場合には再起動する。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5"/>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pdfCreator</a:t>
                      </a:r>
                      <a:r>
                        <a:rPr kumimoji="1" lang="ja-JP" altLang="en-US" sz="1400">
                          <a:effectLst>
                            <a:outerShdw blurRad="38100" dist="38100" dir="2700000" algn="tl">
                              <a:srgbClr val="000000">
                                <a:alpha val="43137"/>
                              </a:srgbClr>
                            </a:outerShdw>
                          </a:effectLst>
                          <a:latin typeface="+mn-lt"/>
                          <a:ea typeface="Noto Sans CJK JP Bold" pitchFamily="34" charset="-128"/>
                        </a:rPr>
                        <a:t> </a:t>
                      </a:r>
                      <a:r>
                        <a:rPr kumimoji="1" lang="en-US" altLang="ja-JP" sz="1400">
                          <a:effectLst>
                            <a:outerShdw blurRad="38100" dist="38100" dir="2700000" algn="tl">
                              <a:srgbClr val="000000">
                                <a:alpha val="43137"/>
                              </a:srgbClr>
                            </a:outerShdw>
                          </a:effectLst>
                          <a:latin typeface="+mn-lt"/>
                          <a:ea typeface="Noto Sans CJK JP Bold" pitchFamily="34" charset="-128"/>
                        </a:rPr>
                        <a:t>1.7.3</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仮想プリンタ</a:t>
                      </a:r>
                      <a:endParaRPr kumimoji="1" lang="en-US" altLang="ja-JP" sz="1400">
                        <a:effectLst>
                          <a:outerShdw blurRad="38100" dist="38100" dir="2700000" algn="tl">
                            <a:srgbClr val="000000">
                              <a:alpha val="43137"/>
                            </a:srgbClr>
                          </a:outerShdw>
                        </a:effectLst>
                        <a:latin typeface="+mn-lt"/>
                        <a:ea typeface="Noto Sans CJK JP Bold" pitchFamily="34" charset="-128"/>
                      </a:endParaRPr>
                    </a:p>
                    <a:p>
                      <a:r>
                        <a:rPr kumimoji="1" lang="ja-JP" altLang="en-US" sz="1400">
                          <a:effectLst>
                            <a:outerShdw blurRad="38100" dist="38100" dir="2700000" algn="tl">
                              <a:srgbClr val="000000">
                                <a:alpha val="43137"/>
                              </a:srgbClr>
                            </a:outerShdw>
                          </a:effectLst>
                          <a:latin typeface="+mn-lt"/>
                          <a:ea typeface="Noto Sans CJK JP Bold" pitchFamily="34" charset="-128"/>
                        </a:rPr>
                        <a:t>（常時稼働）</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半製品検査の治具</a:t>
                      </a:r>
                      <a:r>
                        <a:rPr kumimoji="1" lang="en-US" altLang="ja-JP" sz="1400">
                          <a:effectLst>
                            <a:outerShdw blurRad="38100" dist="38100" dir="2700000" algn="tl">
                              <a:srgbClr val="000000">
                                <a:alpha val="43137"/>
                              </a:srgbClr>
                            </a:outerShdw>
                          </a:effectLst>
                          <a:latin typeface="+mn-lt"/>
                          <a:ea typeface="Noto Sans CJK JP Bold" pitchFamily="34" charset="-128"/>
                        </a:rPr>
                        <a:t>PC</a:t>
                      </a:r>
                      <a:r>
                        <a:rPr kumimoji="1" lang="ja-JP" altLang="en-US" sz="1400">
                          <a:effectLst>
                            <a:outerShdw blurRad="38100" dist="38100" dir="2700000" algn="tl">
                              <a:srgbClr val="000000">
                                <a:alpha val="43137"/>
                              </a:srgbClr>
                            </a:outerShdw>
                          </a:effectLst>
                          <a:latin typeface="+mn-lt"/>
                          <a:ea typeface="Noto Sans CJK JP Bold" pitchFamily="34" charset="-128"/>
                        </a:rPr>
                        <a:t>が</a:t>
                      </a:r>
                      <a:r>
                        <a:rPr kumimoji="1" lang="en-US" altLang="ja-JP" sz="1400">
                          <a:effectLst>
                            <a:outerShdw blurRad="38100" dist="38100" dir="2700000" algn="tl">
                              <a:srgbClr val="000000">
                                <a:alpha val="43137"/>
                              </a:srgbClr>
                            </a:outerShdw>
                          </a:effectLst>
                          <a:latin typeface="+mn-lt"/>
                          <a:ea typeface="Noto Sans CJK JP Bold" pitchFamily="34" charset="-128"/>
                        </a:rPr>
                        <a:t>CMDI-EMIS</a:t>
                      </a:r>
                      <a:r>
                        <a:rPr kumimoji="1" lang="ja-JP" altLang="en-US" sz="1400">
                          <a:effectLst>
                            <a:outerShdw blurRad="38100" dist="38100" dir="2700000" algn="tl">
                              <a:srgbClr val="000000">
                                <a:alpha val="43137"/>
                              </a:srgbClr>
                            </a:outerShdw>
                          </a:effectLst>
                          <a:latin typeface="+mn-lt"/>
                          <a:ea typeface="Noto Sans CJK JP Bold" pitchFamily="34" charset="-128"/>
                        </a:rPr>
                        <a:t>システム用に印刷する仮想プリンタ。</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6"/>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7"/>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8"/>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824582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 name="グループ化 116">
            <a:extLst>
              <a:ext uri="{FF2B5EF4-FFF2-40B4-BE49-F238E27FC236}">
                <a16:creationId xmlns:a16="http://schemas.microsoft.com/office/drawing/2014/main" id="{FEB7F531-5DB6-4EE5-9606-861E783BF5DD}"/>
              </a:ext>
            </a:extLst>
          </p:cNvPr>
          <p:cNvGrpSpPr/>
          <p:nvPr/>
        </p:nvGrpSpPr>
        <p:grpSpPr>
          <a:xfrm>
            <a:off x="5832140" y="4131374"/>
            <a:ext cx="2789499" cy="457426"/>
            <a:chOff x="5832140" y="4236745"/>
            <a:chExt cx="2789499" cy="457426"/>
          </a:xfrm>
        </p:grpSpPr>
        <p:sp>
          <p:nvSpPr>
            <p:cNvPr id="53" name="正方形/長方形 52">
              <a:extLst>
                <a:ext uri="{FF2B5EF4-FFF2-40B4-BE49-F238E27FC236}">
                  <a16:creationId xmlns:a16="http://schemas.microsoft.com/office/drawing/2014/main" id="{974096EF-FBAA-42B2-B090-86C8FE159EDC}"/>
                </a:ext>
              </a:extLst>
            </p:cNvPr>
            <p:cNvSpPr/>
            <p:nvPr/>
          </p:nvSpPr>
          <p:spPr>
            <a:xfrm>
              <a:off x="5832140" y="4236745"/>
              <a:ext cx="2789499" cy="457426"/>
            </a:xfrm>
            <a:prstGeom prst="rect">
              <a:avLst/>
            </a:prstGeom>
            <a:solidFill>
              <a:schemeClr val="accent4">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EAED87F4-F33D-48A3-AE1A-F3767A76E34D}"/>
                </a:ext>
              </a:extLst>
            </p:cNvPr>
            <p:cNvSpPr/>
            <p:nvPr/>
          </p:nvSpPr>
          <p:spPr>
            <a:xfrm>
              <a:off x="6052059" y="4320774"/>
              <a:ext cx="289367" cy="289367"/>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8B0A7EAE-8869-42F7-AE39-E223EC921554}"/>
                </a:ext>
              </a:extLst>
            </p:cNvPr>
            <p:cNvSpPr/>
            <p:nvPr/>
          </p:nvSpPr>
          <p:spPr>
            <a:xfrm>
              <a:off x="6460645" y="4320774"/>
              <a:ext cx="289367" cy="2893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6904A35C-82B1-4F9C-83AD-0CFA3B2C642C}"/>
                </a:ext>
              </a:extLst>
            </p:cNvPr>
            <p:cNvSpPr/>
            <p:nvPr/>
          </p:nvSpPr>
          <p:spPr>
            <a:xfrm>
              <a:off x="7277817" y="4320774"/>
              <a:ext cx="289367" cy="289367"/>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7862885A-5079-45F7-A89C-EFB064A7444A}"/>
                </a:ext>
              </a:extLst>
            </p:cNvPr>
            <p:cNvSpPr/>
            <p:nvPr/>
          </p:nvSpPr>
          <p:spPr>
            <a:xfrm>
              <a:off x="7686403" y="4320774"/>
              <a:ext cx="289367" cy="289367"/>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9FD4798A-BEA2-41FA-AEAF-65B6724E81BE}"/>
                </a:ext>
              </a:extLst>
            </p:cNvPr>
            <p:cNvSpPr/>
            <p:nvPr/>
          </p:nvSpPr>
          <p:spPr>
            <a:xfrm>
              <a:off x="8094989" y="4320774"/>
              <a:ext cx="289365" cy="28936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BDEA2782-10D0-4E4D-BAF1-23595437DA6C}"/>
                </a:ext>
              </a:extLst>
            </p:cNvPr>
            <p:cNvSpPr/>
            <p:nvPr/>
          </p:nvSpPr>
          <p:spPr>
            <a:xfrm>
              <a:off x="6869231" y="4320774"/>
              <a:ext cx="289367" cy="289367"/>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直角三角形 93">
              <a:extLst>
                <a:ext uri="{FF2B5EF4-FFF2-40B4-BE49-F238E27FC236}">
                  <a16:creationId xmlns:a16="http://schemas.microsoft.com/office/drawing/2014/main" id="{5D7CEE22-42B1-4AFD-B71A-08531CE10CFE}"/>
                </a:ext>
              </a:extLst>
            </p:cNvPr>
            <p:cNvSpPr/>
            <p:nvPr/>
          </p:nvSpPr>
          <p:spPr>
            <a:xfrm flipH="1">
              <a:off x="8101732" y="4328216"/>
              <a:ext cx="282622" cy="281923"/>
            </a:xfrm>
            <a:prstGeom prst="rtTriangl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5" name="グループ化 114">
            <a:extLst>
              <a:ext uri="{FF2B5EF4-FFF2-40B4-BE49-F238E27FC236}">
                <a16:creationId xmlns:a16="http://schemas.microsoft.com/office/drawing/2014/main" id="{07404BD3-855B-4BFB-A5C4-E149F4CCF1C4}"/>
              </a:ext>
            </a:extLst>
          </p:cNvPr>
          <p:cNvGrpSpPr/>
          <p:nvPr/>
        </p:nvGrpSpPr>
        <p:grpSpPr>
          <a:xfrm>
            <a:off x="514684" y="4131374"/>
            <a:ext cx="2789499" cy="457426"/>
            <a:chOff x="514684" y="4227096"/>
            <a:chExt cx="2789499" cy="457426"/>
          </a:xfrm>
        </p:grpSpPr>
        <p:sp>
          <p:nvSpPr>
            <p:cNvPr id="22" name="正方形/長方形 21">
              <a:extLst>
                <a:ext uri="{FF2B5EF4-FFF2-40B4-BE49-F238E27FC236}">
                  <a16:creationId xmlns:a16="http://schemas.microsoft.com/office/drawing/2014/main" id="{7024B970-E1F6-46C1-8DE3-F30273698506}"/>
                </a:ext>
              </a:extLst>
            </p:cNvPr>
            <p:cNvSpPr/>
            <p:nvPr/>
          </p:nvSpPr>
          <p:spPr>
            <a:xfrm>
              <a:off x="514684" y="4227096"/>
              <a:ext cx="2789499" cy="457426"/>
            </a:xfrm>
            <a:prstGeom prst="rect">
              <a:avLst/>
            </a:prstGeom>
            <a:solidFill>
              <a:schemeClr val="accent4">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8F79D0B8-485C-48A5-8C00-51814EA1E702}"/>
                </a:ext>
              </a:extLst>
            </p:cNvPr>
            <p:cNvSpPr/>
            <p:nvPr/>
          </p:nvSpPr>
          <p:spPr>
            <a:xfrm>
              <a:off x="734603" y="4329100"/>
              <a:ext cx="289367" cy="289367"/>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2F8283AC-08B3-4C41-BF27-8C36CE2B8016}"/>
                </a:ext>
              </a:extLst>
            </p:cNvPr>
            <p:cNvSpPr/>
            <p:nvPr/>
          </p:nvSpPr>
          <p:spPr>
            <a:xfrm>
              <a:off x="1143189" y="4329100"/>
              <a:ext cx="289367" cy="2893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C51CBC1F-CF97-44FB-93B7-17E8F03AAB09}"/>
                </a:ext>
              </a:extLst>
            </p:cNvPr>
            <p:cNvSpPr/>
            <p:nvPr/>
          </p:nvSpPr>
          <p:spPr>
            <a:xfrm>
              <a:off x="1960361" y="4329100"/>
              <a:ext cx="289367" cy="289367"/>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A9465AF1-2E91-49FA-9A56-43A493DC19E9}"/>
                </a:ext>
              </a:extLst>
            </p:cNvPr>
            <p:cNvSpPr/>
            <p:nvPr/>
          </p:nvSpPr>
          <p:spPr>
            <a:xfrm>
              <a:off x="2368947" y="4329100"/>
              <a:ext cx="289367" cy="289367"/>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F3292132-0509-4E89-884E-30943E630C7C}"/>
                </a:ext>
              </a:extLst>
            </p:cNvPr>
            <p:cNvSpPr/>
            <p:nvPr/>
          </p:nvSpPr>
          <p:spPr>
            <a:xfrm>
              <a:off x="2806719" y="4329100"/>
              <a:ext cx="286374" cy="28936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8B331EB7-1F9C-4F17-81A7-7AA838B4D8FD}"/>
                </a:ext>
              </a:extLst>
            </p:cNvPr>
            <p:cNvSpPr/>
            <p:nvPr/>
          </p:nvSpPr>
          <p:spPr>
            <a:xfrm>
              <a:off x="1551775" y="4329100"/>
              <a:ext cx="289367" cy="289367"/>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直角三角形 92">
              <a:extLst>
                <a:ext uri="{FF2B5EF4-FFF2-40B4-BE49-F238E27FC236}">
                  <a16:creationId xmlns:a16="http://schemas.microsoft.com/office/drawing/2014/main" id="{7D8E1966-F1F2-4AF9-8472-74CEF9C7F32C}"/>
                </a:ext>
              </a:extLst>
            </p:cNvPr>
            <p:cNvSpPr/>
            <p:nvPr/>
          </p:nvSpPr>
          <p:spPr>
            <a:xfrm flipH="1">
              <a:off x="2809498" y="4336542"/>
              <a:ext cx="279871" cy="281922"/>
            </a:xfrm>
            <a:prstGeom prst="rtTriangl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 name="グループ化 3">
            <a:extLst>
              <a:ext uri="{FF2B5EF4-FFF2-40B4-BE49-F238E27FC236}">
                <a16:creationId xmlns:a16="http://schemas.microsoft.com/office/drawing/2014/main" id="{575E766C-CBB8-40D9-9A07-F4051C1F71D7}"/>
              </a:ext>
            </a:extLst>
          </p:cNvPr>
          <p:cNvGrpSpPr/>
          <p:nvPr/>
        </p:nvGrpSpPr>
        <p:grpSpPr>
          <a:xfrm>
            <a:off x="6423150" y="514218"/>
            <a:ext cx="1366612" cy="1028632"/>
            <a:chOff x="7931814" y="77121"/>
            <a:chExt cx="1578298" cy="1028632"/>
          </a:xfrm>
        </p:grpSpPr>
        <p:sp>
          <p:nvSpPr>
            <p:cNvPr id="5" name="フローチャート: 磁気ディスク 4">
              <a:extLst>
                <a:ext uri="{FF2B5EF4-FFF2-40B4-BE49-F238E27FC236}">
                  <a16:creationId xmlns:a16="http://schemas.microsoft.com/office/drawing/2014/main" id="{87478593-7452-4459-8253-DEB963B6BA1F}"/>
                </a:ext>
              </a:extLst>
            </p:cNvPr>
            <p:cNvSpPr/>
            <p:nvPr/>
          </p:nvSpPr>
          <p:spPr>
            <a:xfrm>
              <a:off x="8423725" y="319341"/>
              <a:ext cx="1086387"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endParaRPr>
            </a:p>
          </p:txBody>
        </p:sp>
        <p:sp>
          <p:nvSpPr>
            <p:cNvPr id="6" name="フローチャート: 磁気ディスク 5">
              <a:extLst>
                <a:ext uri="{FF2B5EF4-FFF2-40B4-BE49-F238E27FC236}">
                  <a16:creationId xmlns:a16="http://schemas.microsoft.com/office/drawing/2014/main" id="{11741F7B-19C2-4245-BDD6-1ADA776F0234}"/>
                </a:ext>
              </a:extLst>
            </p:cNvPr>
            <p:cNvSpPr/>
            <p:nvPr/>
          </p:nvSpPr>
          <p:spPr>
            <a:xfrm>
              <a:off x="8299502" y="233763"/>
              <a:ext cx="1086387"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endParaRPr>
            </a:p>
          </p:txBody>
        </p:sp>
        <p:sp>
          <p:nvSpPr>
            <p:cNvPr id="7" name="フローチャート: 磁気ディスク 6">
              <a:extLst>
                <a:ext uri="{FF2B5EF4-FFF2-40B4-BE49-F238E27FC236}">
                  <a16:creationId xmlns:a16="http://schemas.microsoft.com/office/drawing/2014/main" id="{164BD663-43CE-40DF-9D63-EE41991C66BE}"/>
                </a:ext>
              </a:extLst>
            </p:cNvPr>
            <p:cNvSpPr/>
            <p:nvPr/>
          </p:nvSpPr>
          <p:spPr>
            <a:xfrm>
              <a:off x="8111331" y="162699"/>
              <a:ext cx="1086387"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endParaRPr>
            </a:p>
          </p:txBody>
        </p:sp>
        <p:sp>
          <p:nvSpPr>
            <p:cNvPr id="8" name="フローチャート: 磁気ディスク 7">
              <a:extLst>
                <a:ext uri="{FF2B5EF4-FFF2-40B4-BE49-F238E27FC236}">
                  <a16:creationId xmlns:a16="http://schemas.microsoft.com/office/drawing/2014/main" id="{93AD81F5-D939-4165-85AB-0C6512888BC1}"/>
                </a:ext>
              </a:extLst>
            </p:cNvPr>
            <p:cNvSpPr/>
            <p:nvPr/>
          </p:nvSpPr>
          <p:spPr>
            <a:xfrm>
              <a:off x="7931814" y="77121"/>
              <a:ext cx="1086387"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富岡</a:t>
              </a:r>
              <a:endParaRPr kumimoji="1" lang="en-US" altLang="ja-JP" sz="1400" dirty="0">
                <a:solidFill>
                  <a:schemeClr val="tx1"/>
                </a:solidFill>
              </a:endParaRPr>
            </a:p>
            <a:p>
              <a:pPr algn="ctr"/>
              <a:r>
                <a:rPr lang="en-US" altLang="ja-JP" sz="1400" dirty="0">
                  <a:solidFill>
                    <a:schemeClr val="tx1"/>
                  </a:solidFill>
                </a:rPr>
                <a:t>se</a:t>
              </a:r>
              <a:r>
                <a:rPr kumimoji="1" lang="en-US" altLang="ja-JP" sz="1400" dirty="0">
                  <a:solidFill>
                    <a:schemeClr val="tx1"/>
                  </a:solidFill>
                </a:rPr>
                <a:t>rvers</a:t>
              </a:r>
              <a:endParaRPr kumimoji="1" lang="ja-JP" altLang="en-US" sz="1400" dirty="0">
                <a:solidFill>
                  <a:schemeClr val="tx1"/>
                </a:solidFill>
              </a:endParaRPr>
            </a:p>
          </p:txBody>
        </p:sp>
      </p:grpSp>
      <p:cxnSp>
        <p:nvCxnSpPr>
          <p:cNvPr id="9" name="直線矢印コネクタ 8">
            <a:extLst>
              <a:ext uri="{FF2B5EF4-FFF2-40B4-BE49-F238E27FC236}">
                <a16:creationId xmlns:a16="http://schemas.microsoft.com/office/drawing/2014/main" id="{43240D24-99B4-4286-A8FF-F21B4A8E4BBA}"/>
              </a:ext>
            </a:extLst>
          </p:cNvPr>
          <p:cNvCxnSpPr>
            <a:cxnSpLocks/>
          </p:cNvCxnSpPr>
          <p:nvPr/>
        </p:nvCxnSpPr>
        <p:spPr>
          <a:xfrm flipV="1">
            <a:off x="7298731" y="1457272"/>
            <a:ext cx="0" cy="184959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10" name="直線矢印コネクタ 9">
            <a:extLst>
              <a:ext uri="{FF2B5EF4-FFF2-40B4-BE49-F238E27FC236}">
                <a16:creationId xmlns:a16="http://schemas.microsoft.com/office/drawing/2014/main" id="{D899EA4E-899D-4CB1-A931-68CE62905496}"/>
              </a:ext>
            </a:extLst>
          </p:cNvPr>
          <p:cNvCxnSpPr>
            <a:cxnSpLocks/>
          </p:cNvCxnSpPr>
          <p:nvPr/>
        </p:nvCxnSpPr>
        <p:spPr>
          <a:xfrm flipV="1">
            <a:off x="7167302" y="1457272"/>
            <a:ext cx="0" cy="1503198"/>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11" name="直線矢印コネクタ 10">
            <a:extLst>
              <a:ext uri="{FF2B5EF4-FFF2-40B4-BE49-F238E27FC236}">
                <a16:creationId xmlns:a16="http://schemas.microsoft.com/office/drawing/2014/main" id="{F4FD2144-4EDB-40A3-BDAD-018DB6F382A4}"/>
              </a:ext>
            </a:extLst>
          </p:cNvPr>
          <p:cNvCxnSpPr>
            <a:cxnSpLocks/>
          </p:cNvCxnSpPr>
          <p:nvPr/>
        </p:nvCxnSpPr>
        <p:spPr>
          <a:xfrm flipV="1">
            <a:off x="5337085" y="1399193"/>
            <a:ext cx="0" cy="225406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12" name="直線矢印コネクタ 11">
            <a:extLst>
              <a:ext uri="{FF2B5EF4-FFF2-40B4-BE49-F238E27FC236}">
                <a16:creationId xmlns:a16="http://schemas.microsoft.com/office/drawing/2014/main" id="{E1D3463B-4283-4616-8208-411CAAB8EC72}"/>
              </a:ext>
            </a:extLst>
          </p:cNvPr>
          <p:cNvCxnSpPr>
            <a:cxnSpLocks/>
          </p:cNvCxnSpPr>
          <p:nvPr/>
        </p:nvCxnSpPr>
        <p:spPr>
          <a:xfrm flipV="1">
            <a:off x="3632142" y="1375686"/>
            <a:ext cx="0" cy="2277568"/>
          </a:xfrm>
          <a:prstGeom prst="straightConnector1">
            <a:avLst/>
          </a:prstGeom>
          <a:ln w="1905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3" name="直線矢印コネクタ 12">
            <a:extLst>
              <a:ext uri="{FF2B5EF4-FFF2-40B4-BE49-F238E27FC236}">
                <a16:creationId xmlns:a16="http://schemas.microsoft.com/office/drawing/2014/main" id="{1C764FDF-35C4-4F9D-809C-F8E35204CFCE}"/>
              </a:ext>
            </a:extLst>
          </p:cNvPr>
          <p:cNvCxnSpPr>
            <a:cxnSpLocks/>
          </p:cNvCxnSpPr>
          <p:nvPr/>
        </p:nvCxnSpPr>
        <p:spPr>
          <a:xfrm flipV="1">
            <a:off x="2368947" y="1399196"/>
            <a:ext cx="0" cy="15612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14" name="矢印: 左右 13">
            <a:extLst>
              <a:ext uri="{FF2B5EF4-FFF2-40B4-BE49-F238E27FC236}">
                <a16:creationId xmlns:a16="http://schemas.microsoft.com/office/drawing/2014/main" id="{791AD185-3EF6-4CFE-B42C-F46286E64B05}"/>
              </a:ext>
            </a:extLst>
          </p:cNvPr>
          <p:cNvSpPr/>
          <p:nvPr/>
        </p:nvSpPr>
        <p:spPr>
          <a:xfrm>
            <a:off x="404696" y="3653254"/>
            <a:ext cx="8506707" cy="204006"/>
          </a:xfrm>
          <a:prstGeom prst="leftRightArrow">
            <a:avLst>
              <a:gd name="adj1" fmla="val 100000"/>
              <a:gd name="adj2" fmla="val 50000"/>
            </a:avLst>
          </a:prstGeom>
          <a:solidFill>
            <a:srgbClr val="FFFF00"/>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Calibri" panose="020F0502020204030204" pitchFamily="34" charset="0"/>
                <a:cs typeface="Calibri" panose="020F0502020204030204" pitchFamily="34" charset="0"/>
              </a:rPr>
              <a:t>segment#</a:t>
            </a:r>
            <a:r>
              <a:rPr kumimoji="1" lang="ja-JP" altLang="en-US" sz="1200" dirty="0">
                <a:solidFill>
                  <a:schemeClr val="tx1"/>
                </a:solidFill>
                <a:latin typeface="Calibri" panose="020F0502020204030204" pitchFamily="34" charset="0"/>
                <a:cs typeface="Calibri" panose="020F0502020204030204" pitchFamily="34" charset="0"/>
              </a:rPr>
              <a:t>おんどとり</a:t>
            </a:r>
            <a:r>
              <a:rPr kumimoji="1" lang="en-US" altLang="ja-JP" sz="1400">
                <a:solidFill>
                  <a:schemeClr val="tx1"/>
                </a:solidFill>
                <a:latin typeface="Calibri" panose="020F0502020204030204" pitchFamily="34" charset="0"/>
                <a:cs typeface="Calibri" panose="020F0502020204030204" pitchFamily="34" charset="0"/>
              </a:rPr>
              <a:t>(172.25.214.0)/NKnet(172.25.232~233.0)</a:t>
            </a:r>
            <a:endParaRPr kumimoji="1" lang="ja-JP" altLang="en-US" sz="1400" dirty="0">
              <a:solidFill>
                <a:schemeClr val="tx1"/>
              </a:solidFill>
              <a:latin typeface="Calibri" panose="020F0502020204030204" pitchFamily="34" charset="0"/>
              <a:cs typeface="Calibri" panose="020F0502020204030204" pitchFamily="34" charset="0"/>
            </a:endParaRPr>
          </a:p>
        </p:txBody>
      </p:sp>
      <p:cxnSp>
        <p:nvCxnSpPr>
          <p:cNvPr id="16" name="直線矢印コネクタ 15">
            <a:extLst>
              <a:ext uri="{FF2B5EF4-FFF2-40B4-BE49-F238E27FC236}">
                <a16:creationId xmlns:a16="http://schemas.microsoft.com/office/drawing/2014/main" id="{63B2D1A0-6436-434B-A9DA-0D4FE0C9BA93}"/>
              </a:ext>
            </a:extLst>
          </p:cNvPr>
          <p:cNvCxnSpPr>
            <a:cxnSpLocks/>
          </p:cNvCxnSpPr>
          <p:nvPr/>
        </p:nvCxnSpPr>
        <p:spPr>
          <a:xfrm flipV="1">
            <a:off x="3304183" y="1375690"/>
            <a:ext cx="0" cy="1238387"/>
          </a:xfrm>
          <a:prstGeom prst="straightConnector1">
            <a:avLst/>
          </a:prstGeom>
          <a:ln w="1905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7" name="直線矢印コネクタ 16">
            <a:extLst>
              <a:ext uri="{FF2B5EF4-FFF2-40B4-BE49-F238E27FC236}">
                <a16:creationId xmlns:a16="http://schemas.microsoft.com/office/drawing/2014/main" id="{37E62DFC-80C6-4E7C-B5CC-0276F219F8AE}"/>
              </a:ext>
            </a:extLst>
          </p:cNvPr>
          <p:cNvCxnSpPr>
            <a:cxnSpLocks/>
          </p:cNvCxnSpPr>
          <p:nvPr/>
        </p:nvCxnSpPr>
        <p:spPr>
          <a:xfrm flipV="1">
            <a:off x="3411266" y="1375688"/>
            <a:ext cx="0" cy="1584782"/>
          </a:xfrm>
          <a:prstGeom prst="straightConnector1">
            <a:avLst/>
          </a:prstGeom>
          <a:ln w="1905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8" name="直線矢印コネクタ 17">
            <a:extLst>
              <a:ext uri="{FF2B5EF4-FFF2-40B4-BE49-F238E27FC236}">
                <a16:creationId xmlns:a16="http://schemas.microsoft.com/office/drawing/2014/main" id="{9BEF2864-24CD-4EBB-B78F-6AD9C57F4A45}"/>
              </a:ext>
            </a:extLst>
          </p:cNvPr>
          <p:cNvCxnSpPr>
            <a:cxnSpLocks/>
          </p:cNvCxnSpPr>
          <p:nvPr/>
        </p:nvCxnSpPr>
        <p:spPr>
          <a:xfrm flipV="1">
            <a:off x="3536885" y="1375686"/>
            <a:ext cx="0" cy="1931176"/>
          </a:xfrm>
          <a:prstGeom prst="straightConnector1">
            <a:avLst/>
          </a:prstGeom>
          <a:ln w="1905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9" name="直線矢印コネクタ 18">
            <a:extLst>
              <a:ext uri="{FF2B5EF4-FFF2-40B4-BE49-F238E27FC236}">
                <a16:creationId xmlns:a16="http://schemas.microsoft.com/office/drawing/2014/main" id="{DE974A07-57E7-4148-BEC0-CB8513D3C72F}"/>
              </a:ext>
            </a:extLst>
          </p:cNvPr>
          <p:cNvCxnSpPr>
            <a:cxnSpLocks/>
          </p:cNvCxnSpPr>
          <p:nvPr/>
        </p:nvCxnSpPr>
        <p:spPr>
          <a:xfrm flipV="1">
            <a:off x="1432556" y="1399193"/>
            <a:ext cx="0" cy="122786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0" name="直線矢印コネクタ 19">
            <a:extLst>
              <a:ext uri="{FF2B5EF4-FFF2-40B4-BE49-F238E27FC236}">
                <a16:creationId xmlns:a16="http://schemas.microsoft.com/office/drawing/2014/main" id="{46D70610-6938-4EA8-87F4-3BA107D499AF}"/>
              </a:ext>
            </a:extLst>
          </p:cNvPr>
          <p:cNvCxnSpPr>
            <a:cxnSpLocks/>
          </p:cNvCxnSpPr>
          <p:nvPr/>
        </p:nvCxnSpPr>
        <p:spPr>
          <a:xfrm flipV="1">
            <a:off x="2517451" y="1399196"/>
            <a:ext cx="0" cy="190766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29" name="矢印: 左右 28">
            <a:extLst>
              <a:ext uri="{FF2B5EF4-FFF2-40B4-BE49-F238E27FC236}">
                <a16:creationId xmlns:a16="http://schemas.microsoft.com/office/drawing/2014/main" id="{029A5372-5CE0-4F94-BA1D-D6EA6730D817}"/>
              </a:ext>
            </a:extLst>
          </p:cNvPr>
          <p:cNvSpPr/>
          <p:nvPr/>
        </p:nvSpPr>
        <p:spPr>
          <a:xfrm>
            <a:off x="407803" y="2090929"/>
            <a:ext cx="8506707" cy="303835"/>
          </a:xfrm>
          <a:prstGeom prst="leftRightArrow">
            <a:avLst>
              <a:gd name="adj1" fmla="val 100000"/>
              <a:gd name="adj2" fmla="val 50000"/>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a:solidFill>
                  <a:schemeClr val="tx1"/>
                </a:solidFill>
                <a:latin typeface="Calibri" panose="020F0502020204030204" pitchFamily="34" charset="0"/>
                <a:cs typeface="Calibri" panose="020F0502020204030204" pitchFamily="34" charset="0"/>
              </a:rPr>
              <a:t>NKnet/</a:t>
            </a:r>
            <a:r>
              <a:rPr kumimoji="1" lang="en-US" altLang="ja-JP">
                <a:solidFill>
                  <a:schemeClr val="tx1"/>
                </a:solidFill>
                <a:latin typeface="Calibri" panose="020F0502020204030204" pitchFamily="34" charset="0"/>
                <a:cs typeface="Calibri" panose="020F0502020204030204" pitchFamily="34" charset="0"/>
              </a:rPr>
              <a:t>WLAN(172.25.200.0)</a:t>
            </a:r>
            <a:endParaRPr kumimoji="1" lang="ja-JP" altLang="en-US">
              <a:solidFill>
                <a:schemeClr val="tx1"/>
              </a:solidFill>
              <a:latin typeface="Calibri" panose="020F0502020204030204" pitchFamily="34" charset="0"/>
              <a:cs typeface="Calibri" panose="020F0502020204030204" pitchFamily="34" charset="0"/>
            </a:endParaRPr>
          </a:p>
        </p:txBody>
      </p:sp>
      <p:sp>
        <p:nvSpPr>
          <p:cNvPr id="30" name="矢印: 左右 29">
            <a:extLst>
              <a:ext uri="{FF2B5EF4-FFF2-40B4-BE49-F238E27FC236}">
                <a16:creationId xmlns:a16="http://schemas.microsoft.com/office/drawing/2014/main" id="{6FF019FC-1CFF-4923-938D-BCC4887EF46F}"/>
              </a:ext>
            </a:extLst>
          </p:cNvPr>
          <p:cNvSpPr/>
          <p:nvPr/>
        </p:nvSpPr>
        <p:spPr>
          <a:xfrm>
            <a:off x="407803" y="2614078"/>
            <a:ext cx="8506707" cy="204006"/>
          </a:xfrm>
          <a:prstGeom prst="leftRightArrow">
            <a:avLst>
              <a:gd name="adj1" fmla="val 100000"/>
              <a:gd name="adj2" fmla="val 50000"/>
            </a:avLst>
          </a:prstGeom>
          <a:solidFill>
            <a:schemeClr val="accent6">
              <a:lumMod val="40000"/>
              <a:lumOff val="6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err="1">
                <a:solidFill>
                  <a:schemeClr val="tx1"/>
                </a:solidFill>
                <a:latin typeface="Calibri" panose="020F0502020204030204" pitchFamily="34" charset="0"/>
                <a:cs typeface="Calibri" panose="020F0502020204030204" pitchFamily="34" charset="0"/>
              </a:rPr>
              <a:t>segment</a:t>
            </a:r>
            <a:r>
              <a:rPr kumimoji="1" lang="en-US" altLang="ja-JP" sz="1400">
                <a:solidFill>
                  <a:schemeClr val="tx1"/>
                </a:solidFill>
                <a:latin typeface="Calibri" panose="020F0502020204030204" pitchFamily="34" charset="0"/>
                <a:cs typeface="Calibri" panose="020F0502020204030204" pitchFamily="34" charset="0"/>
              </a:rPr>
              <a:t>#PHS(172.20.44~45.0)/CMDI(172.25.246~247.0)</a:t>
            </a:r>
            <a:endParaRPr kumimoji="1" lang="ja-JP" altLang="en-US" sz="1400" dirty="0">
              <a:solidFill>
                <a:schemeClr val="tx1"/>
              </a:solidFill>
              <a:latin typeface="Calibri" panose="020F0502020204030204" pitchFamily="34" charset="0"/>
              <a:cs typeface="Calibri" panose="020F0502020204030204" pitchFamily="34" charset="0"/>
            </a:endParaRPr>
          </a:p>
        </p:txBody>
      </p:sp>
      <p:sp>
        <p:nvSpPr>
          <p:cNvPr id="31" name="矢印: 左右 30">
            <a:extLst>
              <a:ext uri="{FF2B5EF4-FFF2-40B4-BE49-F238E27FC236}">
                <a16:creationId xmlns:a16="http://schemas.microsoft.com/office/drawing/2014/main" id="{2686095A-BEC2-477F-A7E8-5DD21F9688DA}"/>
              </a:ext>
            </a:extLst>
          </p:cNvPr>
          <p:cNvSpPr/>
          <p:nvPr/>
        </p:nvSpPr>
        <p:spPr>
          <a:xfrm>
            <a:off x="407803" y="2960470"/>
            <a:ext cx="8506707" cy="204006"/>
          </a:xfrm>
          <a:prstGeom prst="leftRightArrow">
            <a:avLst>
              <a:gd name="adj1" fmla="val 100000"/>
              <a:gd name="adj2" fmla="val 50000"/>
            </a:avLst>
          </a:prstGeom>
          <a:solidFill>
            <a:schemeClr val="accent1">
              <a:lumMod val="60000"/>
              <a:lumOff val="4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err="1">
                <a:solidFill>
                  <a:schemeClr val="tx1"/>
                </a:solidFill>
                <a:latin typeface="Calibri" panose="020F0502020204030204" pitchFamily="34" charset="0"/>
                <a:cs typeface="Calibri" panose="020F0502020204030204" pitchFamily="34" charset="0"/>
              </a:rPr>
              <a:t>segment#IE</a:t>
            </a:r>
            <a:r>
              <a:rPr kumimoji="1" lang="en-US" altLang="ja-JP" sz="1400">
                <a:solidFill>
                  <a:schemeClr val="tx1"/>
                </a:solidFill>
                <a:latin typeface="Calibri" panose="020F0502020204030204" pitchFamily="34" charset="0"/>
                <a:cs typeface="Calibri" panose="020F0502020204030204" pitchFamily="34" charset="0"/>
              </a:rPr>
              <a:t>(172.25.248~249.0)</a:t>
            </a:r>
            <a:endParaRPr kumimoji="1" lang="ja-JP" altLang="en-US" sz="1400" dirty="0">
              <a:solidFill>
                <a:schemeClr val="tx1"/>
              </a:solidFill>
              <a:latin typeface="Calibri" panose="020F0502020204030204" pitchFamily="34" charset="0"/>
              <a:cs typeface="Calibri" panose="020F0502020204030204" pitchFamily="34" charset="0"/>
            </a:endParaRPr>
          </a:p>
        </p:txBody>
      </p:sp>
      <p:sp>
        <p:nvSpPr>
          <p:cNvPr id="32" name="矢印: 左右 31">
            <a:extLst>
              <a:ext uri="{FF2B5EF4-FFF2-40B4-BE49-F238E27FC236}">
                <a16:creationId xmlns:a16="http://schemas.microsoft.com/office/drawing/2014/main" id="{8B8BA3F4-468E-4739-ADB6-9AD4F9B21080}"/>
              </a:ext>
            </a:extLst>
          </p:cNvPr>
          <p:cNvSpPr/>
          <p:nvPr/>
        </p:nvSpPr>
        <p:spPr>
          <a:xfrm>
            <a:off x="407803" y="3306862"/>
            <a:ext cx="8506707" cy="204006"/>
          </a:xfrm>
          <a:prstGeom prst="leftRightArrow">
            <a:avLst>
              <a:gd name="adj1" fmla="val 100000"/>
              <a:gd name="adj2" fmla="val 50000"/>
            </a:avLst>
          </a:prstGeom>
          <a:solidFill>
            <a:schemeClr val="accent2">
              <a:lumMod val="40000"/>
              <a:lumOff val="6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err="1">
                <a:solidFill>
                  <a:schemeClr val="tx1"/>
                </a:solidFill>
                <a:latin typeface="Calibri" panose="020F0502020204030204" pitchFamily="34" charset="0"/>
                <a:cs typeface="Calibri" panose="020F0502020204030204" pitchFamily="34" charset="0"/>
              </a:rPr>
              <a:t>s</a:t>
            </a:r>
            <a:r>
              <a:rPr kumimoji="1" lang="en-US" altLang="ja-JP" sz="1400" dirty="0" err="1">
                <a:solidFill>
                  <a:schemeClr val="tx1"/>
                </a:solidFill>
                <a:latin typeface="Calibri" panose="020F0502020204030204" pitchFamily="34" charset="0"/>
                <a:cs typeface="Calibri" panose="020F0502020204030204" pitchFamily="34" charset="0"/>
              </a:rPr>
              <a:t>egment</a:t>
            </a:r>
            <a:r>
              <a:rPr lang="en-US" altLang="ja-JP" sz="1400" dirty="0" err="1">
                <a:solidFill>
                  <a:schemeClr val="tx1"/>
                </a:solidFill>
                <a:latin typeface="Calibri" panose="020F0502020204030204" pitchFamily="34" charset="0"/>
                <a:cs typeface="Calibri" panose="020F0502020204030204" pitchFamily="34" charset="0"/>
              </a:rPr>
              <a:t>#panasonic</a:t>
            </a:r>
            <a:r>
              <a:rPr kumimoji="1" lang="en-US" altLang="ja-JP" sz="1400">
                <a:solidFill>
                  <a:schemeClr val="tx1"/>
                </a:solidFill>
                <a:latin typeface="Calibri" panose="020F0502020204030204" pitchFamily="34" charset="0"/>
                <a:cs typeface="Calibri" panose="020F0502020204030204" pitchFamily="34" charset="0"/>
              </a:rPr>
              <a:t>(172.25.253.0)</a:t>
            </a:r>
            <a:endParaRPr kumimoji="1" lang="ja-JP" altLang="en-US" sz="1400" dirty="0">
              <a:solidFill>
                <a:schemeClr val="tx1"/>
              </a:solidFill>
              <a:latin typeface="Calibri" panose="020F0502020204030204" pitchFamily="34" charset="0"/>
              <a:cs typeface="Calibri" panose="020F0502020204030204" pitchFamily="34" charset="0"/>
            </a:endParaRPr>
          </a:p>
        </p:txBody>
      </p:sp>
      <p:sp>
        <p:nvSpPr>
          <p:cNvPr id="33" name="フリーフォーム: 図形 32">
            <a:extLst>
              <a:ext uri="{FF2B5EF4-FFF2-40B4-BE49-F238E27FC236}">
                <a16:creationId xmlns:a16="http://schemas.microsoft.com/office/drawing/2014/main" id="{571FF808-40FC-409A-9491-84EE94FA60FC}"/>
              </a:ext>
            </a:extLst>
          </p:cNvPr>
          <p:cNvSpPr/>
          <p:nvPr/>
        </p:nvSpPr>
        <p:spPr>
          <a:xfrm>
            <a:off x="879287" y="4500150"/>
            <a:ext cx="2294694" cy="352567"/>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B53F086D-7DAE-481F-88DE-6302127D6DD1}"/>
              </a:ext>
            </a:extLst>
          </p:cNvPr>
          <p:cNvSpPr txBox="1"/>
          <p:nvPr/>
        </p:nvSpPr>
        <p:spPr>
          <a:xfrm>
            <a:off x="3176845" y="4704221"/>
            <a:ext cx="3244799" cy="307777"/>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WLAN/</a:t>
            </a:r>
            <a:r>
              <a:rPr kumimoji="1" lang="ja-JP" altLang="en-US" sz="1400">
                <a:latin typeface="Calibri" panose="020F0502020204030204" pitchFamily="34" charset="0"/>
                <a:cs typeface="Calibri" panose="020F0502020204030204" pitchFamily="34" charset="0"/>
              </a:rPr>
              <a:t>事務用</a:t>
            </a:r>
            <a:r>
              <a:rPr kumimoji="1" lang="en-US" altLang="ja-JP" sz="1400">
                <a:latin typeface="Calibri" panose="020F0502020204030204" pitchFamily="34" charset="0"/>
                <a:cs typeface="Calibri" panose="020F0502020204030204" pitchFamily="34" charset="0"/>
              </a:rPr>
              <a:t>PC(172.25.233-234.0)</a:t>
            </a:r>
            <a:r>
              <a:rPr kumimoji="1" lang="ja-JP" altLang="en-US" sz="1400">
                <a:latin typeface="Calibri" panose="020F0502020204030204" pitchFamily="34" charset="0"/>
                <a:cs typeface="Calibri" panose="020F0502020204030204" pitchFamily="34" charset="0"/>
              </a:rPr>
              <a:t>（</a:t>
            </a:r>
            <a:r>
              <a:rPr kumimoji="1" lang="ja-JP" altLang="en-US" sz="1400" b="1">
                <a:solidFill>
                  <a:srgbClr val="FF00FF"/>
                </a:solidFill>
                <a:latin typeface="Calibri" panose="020F0502020204030204" pitchFamily="34" charset="0"/>
                <a:cs typeface="Calibri" panose="020F0502020204030204" pitchFamily="34" charset="0"/>
              </a:rPr>
              <a:t>桃</a:t>
            </a:r>
            <a:r>
              <a:rPr kumimoji="1"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35" name="フリーフォーム: 図形 34">
            <a:extLst>
              <a:ext uri="{FF2B5EF4-FFF2-40B4-BE49-F238E27FC236}">
                <a16:creationId xmlns:a16="http://schemas.microsoft.com/office/drawing/2014/main" id="{61CA3F81-1367-4C7F-8C21-B71D2686D599}"/>
              </a:ext>
            </a:extLst>
          </p:cNvPr>
          <p:cNvSpPr/>
          <p:nvPr/>
        </p:nvSpPr>
        <p:spPr>
          <a:xfrm>
            <a:off x="1701038" y="4521092"/>
            <a:ext cx="1472943" cy="871502"/>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フリーフォーム: 図形 35">
            <a:extLst>
              <a:ext uri="{FF2B5EF4-FFF2-40B4-BE49-F238E27FC236}">
                <a16:creationId xmlns:a16="http://schemas.microsoft.com/office/drawing/2014/main" id="{217B0724-4CBA-442A-9340-2582F28BCFD3}"/>
              </a:ext>
            </a:extLst>
          </p:cNvPr>
          <p:cNvSpPr/>
          <p:nvPr/>
        </p:nvSpPr>
        <p:spPr>
          <a:xfrm>
            <a:off x="2106634" y="4521091"/>
            <a:ext cx="1067347" cy="1177544"/>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フリーフォーム: 図形 36">
            <a:extLst>
              <a:ext uri="{FF2B5EF4-FFF2-40B4-BE49-F238E27FC236}">
                <a16:creationId xmlns:a16="http://schemas.microsoft.com/office/drawing/2014/main" id="{41DB7B05-C1DC-44AC-8BEB-913DBEDFE6E8}"/>
              </a:ext>
            </a:extLst>
          </p:cNvPr>
          <p:cNvSpPr/>
          <p:nvPr/>
        </p:nvSpPr>
        <p:spPr>
          <a:xfrm>
            <a:off x="2512230" y="4514620"/>
            <a:ext cx="661752" cy="1469529"/>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085426D5-A513-4041-9045-F7FE755C77C5}"/>
              </a:ext>
            </a:extLst>
          </p:cNvPr>
          <p:cNvSpPr txBox="1"/>
          <p:nvPr/>
        </p:nvSpPr>
        <p:spPr>
          <a:xfrm>
            <a:off x="3176845" y="5814085"/>
            <a:ext cx="2711961" cy="307777"/>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Panasonic</a:t>
            </a:r>
            <a:r>
              <a:rPr kumimoji="1" lang="ja-JP" altLang="en-US" sz="1400">
                <a:latin typeface="Calibri" panose="020F0502020204030204" pitchFamily="34" charset="0"/>
                <a:cs typeface="Calibri" panose="020F0502020204030204" pitchFamily="34" charset="0"/>
              </a:rPr>
              <a:t>用</a:t>
            </a:r>
            <a:r>
              <a:rPr lang="en-US" altLang="ja-JP" sz="1400">
                <a:latin typeface="Calibri" panose="020F0502020204030204" pitchFamily="34" charset="0"/>
                <a:cs typeface="Calibri" panose="020F0502020204030204" pitchFamily="34" charset="0"/>
              </a:rPr>
              <a:t>PC(172.25.253.0)</a:t>
            </a:r>
            <a:r>
              <a:rPr lang="ja-JP" altLang="en-US" sz="1400">
                <a:latin typeface="Calibri" panose="020F0502020204030204" pitchFamily="34" charset="0"/>
                <a:cs typeface="Calibri" panose="020F0502020204030204" pitchFamily="34" charset="0"/>
              </a:rPr>
              <a:t>（</a:t>
            </a:r>
            <a:r>
              <a:rPr lang="ja-JP" altLang="en-US" sz="1400" b="1">
                <a:solidFill>
                  <a:srgbClr val="00B050"/>
                </a:solidFill>
              </a:rPr>
              <a:t>緑</a:t>
            </a:r>
            <a:r>
              <a:rPr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39" name="テキスト ボックス 38">
            <a:extLst>
              <a:ext uri="{FF2B5EF4-FFF2-40B4-BE49-F238E27FC236}">
                <a16:creationId xmlns:a16="http://schemas.microsoft.com/office/drawing/2014/main" id="{9824D820-2AD6-4346-B69D-1316D7DEB86B}"/>
              </a:ext>
            </a:extLst>
          </p:cNvPr>
          <p:cNvSpPr txBox="1"/>
          <p:nvPr/>
        </p:nvSpPr>
        <p:spPr>
          <a:xfrm>
            <a:off x="3176845" y="5536619"/>
            <a:ext cx="2440092" cy="307777"/>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IE</a:t>
            </a:r>
            <a:r>
              <a:rPr kumimoji="1" lang="ja-JP" altLang="en-US" sz="1400">
                <a:latin typeface="Calibri" panose="020F0502020204030204" pitchFamily="34" charset="0"/>
                <a:cs typeface="Calibri" panose="020F0502020204030204" pitchFamily="34" charset="0"/>
              </a:rPr>
              <a:t>用</a:t>
            </a:r>
            <a:r>
              <a:rPr kumimoji="1" lang="en-US" altLang="ja-JP" sz="1400">
                <a:latin typeface="Calibri" panose="020F0502020204030204" pitchFamily="34" charset="0"/>
                <a:cs typeface="Calibri" panose="020F0502020204030204" pitchFamily="34" charset="0"/>
              </a:rPr>
              <a:t>PC(172.25.248-249.0)</a:t>
            </a:r>
            <a:r>
              <a:rPr kumimoji="1" lang="ja-JP" altLang="en-US" sz="1400">
                <a:latin typeface="Calibri" panose="020F0502020204030204" pitchFamily="34" charset="0"/>
                <a:cs typeface="Calibri" panose="020F0502020204030204" pitchFamily="34" charset="0"/>
              </a:rPr>
              <a:t>（</a:t>
            </a:r>
            <a:r>
              <a:rPr lang="ja-JP" altLang="en-US" sz="1400" b="1">
                <a:solidFill>
                  <a:srgbClr val="0070C0"/>
                </a:solidFill>
              </a:rPr>
              <a:t>青</a:t>
            </a:r>
            <a:r>
              <a:rPr kumimoji="1"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cxnSp>
        <p:nvCxnSpPr>
          <p:cNvPr id="40" name="直線矢印コネクタ 39">
            <a:extLst>
              <a:ext uri="{FF2B5EF4-FFF2-40B4-BE49-F238E27FC236}">
                <a16:creationId xmlns:a16="http://schemas.microsoft.com/office/drawing/2014/main" id="{B782CCA2-818D-4E3B-B880-88DA2069BEC8}"/>
              </a:ext>
            </a:extLst>
          </p:cNvPr>
          <p:cNvCxnSpPr>
            <a:cxnSpLocks/>
            <a:stCxn id="23" idx="0"/>
          </p:cNvCxnSpPr>
          <p:nvPr/>
        </p:nvCxnSpPr>
        <p:spPr>
          <a:xfrm flipV="1">
            <a:off x="879287" y="2417357"/>
            <a:ext cx="0" cy="18160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1" name="直線矢印コネクタ 40">
            <a:extLst>
              <a:ext uri="{FF2B5EF4-FFF2-40B4-BE49-F238E27FC236}">
                <a16:creationId xmlns:a16="http://schemas.microsoft.com/office/drawing/2014/main" id="{DD2FEF1B-7551-495B-8C10-195CB1D02DB6}"/>
              </a:ext>
            </a:extLst>
          </p:cNvPr>
          <p:cNvCxnSpPr>
            <a:cxnSpLocks/>
            <a:stCxn id="24" idx="0"/>
          </p:cNvCxnSpPr>
          <p:nvPr/>
        </p:nvCxnSpPr>
        <p:spPr>
          <a:xfrm flipH="1" flipV="1">
            <a:off x="1287872" y="2840677"/>
            <a:ext cx="1" cy="139270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B36BB57F-5DF4-4F51-9EAA-1A6B16BC2755}"/>
              </a:ext>
            </a:extLst>
          </p:cNvPr>
          <p:cNvCxnSpPr>
            <a:cxnSpLocks/>
            <a:stCxn id="28" idx="0"/>
          </p:cNvCxnSpPr>
          <p:nvPr/>
        </p:nvCxnSpPr>
        <p:spPr>
          <a:xfrm flipH="1" flipV="1">
            <a:off x="1696458" y="2417357"/>
            <a:ext cx="1" cy="18160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3" name="直線矢印コネクタ 42">
            <a:extLst>
              <a:ext uri="{FF2B5EF4-FFF2-40B4-BE49-F238E27FC236}">
                <a16:creationId xmlns:a16="http://schemas.microsoft.com/office/drawing/2014/main" id="{74666C00-D909-4E28-971A-23A5DD61A4B6}"/>
              </a:ext>
            </a:extLst>
          </p:cNvPr>
          <p:cNvCxnSpPr>
            <a:cxnSpLocks/>
            <a:stCxn id="25" idx="0"/>
          </p:cNvCxnSpPr>
          <p:nvPr/>
        </p:nvCxnSpPr>
        <p:spPr>
          <a:xfrm flipV="1">
            <a:off x="2105045" y="3202713"/>
            <a:ext cx="0" cy="103066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4" name="直線矢印コネクタ 43">
            <a:extLst>
              <a:ext uri="{FF2B5EF4-FFF2-40B4-BE49-F238E27FC236}">
                <a16:creationId xmlns:a16="http://schemas.microsoft.com/office/drawing/2014/main" id="{5AA2AC3F-CD71-422C-A93D-739FC01C6969}"/>
              </a:ext>
            </a:extLst>
          </p:cNvPr>
          <p:cNvCxnSpPr>
            <a:cxnSpLocks/>
            <a:stCxn id="26" idx="0"/>
          </p:cNvCxnSpPr>
          <p:nvPr/>
        </p:nvCxnSpPr>
        <p:spPr>
          <a:xfrm flipH="1" flipV="1">
            <a:off x="2512229" y="3533461"/>
            <a:ext cx="1402" cy="69991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45" name="楕円 44">
            <a:extLst>
              <a:ext uri="{FF2B5EF4-FFF2-40B4-BE49-F238E27FC236}">
                <a16:creationId xmlns:a16="http://schemas.microsoft.com/office/drawing/2014/main" id="{D0AF176E-FE34-48E9-9909-A9B738BF76E3}"/>
              </a:ext>
            </a:extLst>
          </p:cNvPr>
          <p:cNvSpPr/>
          <p:nvPr/>
        </p:nvSpPr>
        <p:spPr>
          <a:xfrm>
            <a:off x="228088" y="1879890"/>
            <a:ext cx="513704" cy="2256356"/>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6F8D14E3-4D1C-4865-B79A-09C5EAD49043}"/>
              </a:ext>
            </a:extLst>
          </p:cNvPr>
          <p:cNvSpPr txBox="1"/>
          <p:nvPr/>
        </p:nvSpPr>
        <p:spPr>
          <a:xfrm>
            <a:off x="116505" y="1449195"/>
            <a:ext cx="766557" cy="369332"/>
          </a:xfrm>
          <a:prstGeom prst="rect">
            <a:avLst/>
          </a:prstGeom>
          <a:noFill/>
        </p:spPr>
        <p:txBody>
          <a:bodyPr wrap="none" rtlCol="0">
            <a:spAutoFit/>
          </a:bodyPr>
          <a:lstStyle/>
          <a:p>
            <a:r>
              <a:rPr kumimoji="1" lang="en-US" altLang="ja-JP">
                <a:latin typeface="Calibri" panose="020F0502020204030204" pitchFamily="34" charset="0"/>
                <a:cs typeface="Calibri" panose="020F0502020204030204" pitchFamily="34" charset="0"/>
              </a:rPr>
              <a:t>V-LAN</a:t>
            </a:r>
            <a:endParaRPr kumimoji="1" lang="ja-JP" altLang="en-US">
              <a:latin typeface="Calibri" panose="020F0502020204030204" pitchFamily="34" charset="0"/>
              <a:cs typeface="Calibri" panose="020F0502020204030204" pitchFamily="34" charset="0"/>
            </a:endParaRPr>
          </a:p>
        </p:txBody>
      </p:sp>
      <p:sp>
        <p:nvSpPr>
          <p:cNvPr id="47" name="フローチャート: 磁気ディスク 46">
            <a:extLst>
              <a:ext uri="{FF2B5EF4-FFF2-40B4-BE49-F238E27FC236}">
                <a16:creationId xmlns:a16="http://schemas.microsoft.com/office/drawing/2014/main" id="{9C2B5D07-3889-448B-93E4-559D34802AE8}"/>
              </a:ext>
            </a:extLst>
          </p:cNvPr>
          <p:cNvSpPr/>
          <p:nvPr/>
        </p:nvSpPr>
        <p:spPr>
          <a:xfrm>
            <a:off x="1061610" y="612781"/>
            <a:ext cx="830960"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rPr>
              <a:t>CMDI</a:t>
            </a:r>
            <a:br>
              <a:rPr kumimoji="1" lang="en-US" altLang="ja-JP" sz="1400">
                <a:solidFill>
                  <a:schemeClr val="tx1"/>
                </a:solidFill>
              </a:rPr>
            </a:br>
            <a:r>
              <a:rPr kumimoji="1" lang="en-US" altLang="ja-JP" sz="1400">
                <a:solidFill>
                  <a:schemeClr val="tx1"/>
                </a:solidFill>
              </a:rPr>
              <a:t>server</a:t>
            </a:r>
            <a:endParaRPr kumimoji="1" lang="ja-JP" altLang="en-US" sz="1400">
              <a:solidFill>
                <a:schemeClr val="tx1"/>
              </a:solidFill>
            </a:endParaRPr>
          </a:p>
        </p:txBody>
      </p:sp>
      <p:cxnSp>
        <p:nvCxnSpPr>
          <p:cNvPr id="48" name="直線矢印コネクタ 47">
            <a:extLst>
              <a:ext uri="{FF2B5EF4-FFF2-40B4-BE49-F238E27FC236}">
                <a16:creationId xmlns:a16="http://schemas.microsoft.com/office/drawing/2014/main" id="{02E1F2D6-7E52-4B79-84DA-24A46AECEA5E}"/>
              </a:ext>
            </a:extLst>
          </p:cNvPr>
          <p:cNvCxnSpPr>
            <a:cxnSpLocks/>
          </p:cNvCxnSpPr>
          <p:nvPr/>
        </p:nvCxnSpPr>
        <p:spPr>
          <a:xfrm flipV="1">
            <a:off x="1564400" y="1399194"/>
            <a:ext cx="0" cy="69173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AA3E4D6B-AE6B-4F1F-8A45-1CC6379332E8}"/>
              </a:ext>
            </a:extLst>
          </p:cNvPr>
          <p:cNvCxnSpPr>
            <a:cxnSpLocks/>
          </p:cNvCxnSpPr>
          <p:nvPr/>
        </p:nvCxnSpPr>
        <p:spPr>
          <a:xfrm flipV="1">
            <a:off x="2208042" y="1399193"/>
            <a:ext cx="0" cy="69173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50" name="フローチャート: 磁気ディスク 49">
            <a:extLst>
              <a:ext uri="{FF2B5EF4-FFF2-40B4-BE49-F238E27FC236}">
                <a16:creationId xmlns:a16="http://schemas.microsoft.com/office/drawing/2014/main" id="{29693652-5041-43FE-B578-D6528B883344}"/>
              </a:ext>
            </a:extLst>
          </p:cNvPr>
          <p:cNvSpPr/>
          <p:nvPr/>
        </p:nvSpPr>
        <p:spPr>
          <a:xfrm>
            <a:off x="1961710" y="612781"/>
            <a:ext cx="793298"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rPr>
              <a:t>BOSS</a:t>
            </a:r>
            <a:br>
              <a:rPr kumimoji="1" lang="en-US" altLang="ja-JP" sz="1400" dirty="0">
                <a:solidFill>
                  <a:schemeClr val="tx1"/>
                </a:solidFill>
              </a:rPr>
            </a:br>
            <a:r>
              <a:rPr kumimoji="1" lang="en-US" altLang="ja-JP" sz="1400" dirty="0">
                <a:solidFill>
                  <a:schemeClr val="tx1"/>
                </a:solidFill>
              </a:rPr>
              <a:t>server</a:t>
            </a:r>
            <a:endParaRPr kumimoji="1" lang="ja-JP" altLang="en-US" sz="1400" dirty="0">
              <a:solidFill>
                <a:schemeClr val="tx1"/>
              </a:solidFill>
            </a:endParaRPr>
          </a:p>
        </p:txBody>
      </p:sp>
      <p:sp>
        <p:nvSpPr>
          <p:cNvPr id="51" name="テキスト ボックス 50">
            <a:extLst>
              <a:ext uri="{FF2B5EF4-FFF2-40B4-BE49-F238E27FC236}">
                <a16:creationId xmlns:a16="http://schemas.microsoft.com/office/drawing/2014/main" id="{C0722635-6743-4B45-8A1E-7BC48F51E296}"/>
              </a:ext>
            </a:extLst>
          </p:cNvPr>
          <p:cNvSpPr txBox="1"/>
          <p:nvPr/>
        </p:nvSpPr>
        <p:spPr>
          <a:xfrm>
            <a:off x="7236639" y="1486860"/>
            <a:ext cx="1505540" cy="523220"/>
          </a:xfrm>
          <a:prstGeom prst="rect">
            <a:avLst/>
          </a:prstGeom>
          <a:noFill/>
        </p:spPr>
        <p:txBody>
          <a:bodyPr wrap="none" rtlCol="0">
            <a:spAutoFit/>
          </a:bodyPr>
          <a:lstStyle/>
          <a:p>
            <a:r>
              <a:rPr kumimoji="1" lang="en-US" altLang="ja-JP" sz="1400" dirty="0">
                <a:latin typeface="Calibri" panose="020F0502020204030204" pitchFamily="34" charset="0"/>
                <a:cs typeface="Calibri" panose="020F0502020204030204" pitchFamily="34" charset="0"/>
              </a:rPr>
              <a:t>nksv559~569</a:t>
            </a:r>
          </a:p>
          <a:p>
            <a:r>
              <a:rPr kumimoji="1" lang="en-US" altLang="ja-JP" sz="1400">
                <a:latin typeface="Calibri" panose="020F0502020204030204" pitchFamily="34" charset="0"/>
                <a:cs typeface="Calibri" panose="020F0502020204030204" pitchFamily="34" charset="0"/>
              </a:rPr>
              <a:t>172.25.201.11~16</a:t>
            </a:r>
            <a:endParaRPr kumimoji="1" lang="ja-JP" altLang="en-US" sz="1400" dirty="0">
              <a:latin typeface="Calibri" panose="020F0502020204030204" pitchFamily="34" charset="0"/>
              <a:cs typeface="Calibri" panose="020F0502020204030204" pitchFamily="34" charset="0"/>
            </a:endParaRPr>
          </a:p>
        </p:txBody>
      </p:sp>
      <p:cxnSp>
        <p:nvCxnSpPr>
          <p:cNvPr id="60" name="直線矢印コネクタ 59">
            <a:extLst>
              <a:ext uri="{FF2B5EF4-FFF2-40B4-BE49-F238E27FC236}">
                <a16:creationId xmlns:a16="http://schemas.microsoft.com/office/drawing/2014/main" id="{F0E641AF-8AFE-4C9E-B211-366417A3E09F}"/>
              </a:ext>
            </a:extLst>
          </p:cNvPr>
          <p:cNvCxnSpPr>
            <a:cxnSpLocks/>
            <a:stCxn id="54" idx="0"/>
          </p:cNvCxnSpPr>
          <p:nvPr/>
        </p:nvCxnSpPr>
        <p:spPr>
          <a:xfrm flipV="1">
            <a:off x="6196743" y="2389733"/>
            <a:ext cx="0" cy="182567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1" name="直線矢印コネクタ 60">
            <a:extLst>
              <a:ext uri="{FF2B5EF4-FFF2-40B4-BE49-F238E27FC236}">
                <a16:creationId xmlns:a16="http://schemas.microsoft.com/office/drawing/2014/main" id="{D3FFD67A-0462-4A51-A7CF-D67F85746C77}"/>
              </a:ext>
            </a:extLst>
          </p:cNvPr>
          <p:cNvCxnSpPr>
            <a:cxnSpLocks/>
            <a:stCxn id="55" idx="0"/>
          </p:cNvCxnSpPr>
          <p:nvPr/>
        </p:nvCxnSpPr>
        <p:spPr>
          <a:xfrm flipV="1">
            <a:off x="6605329" y="2813053"/>
            <a:ext cx="0" cy="140235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AA3BC10B-7FEB-4393-A0B6-0E07A90D8103}"/>
              </a:ext>
            </a:extLst>
          </p:cNvPr>
          <p:cNvCxnSpPr>
            <a:cxnSpLocks/>
            <a:stCxn id="59" idx="0"/>
          </p:cNvCxnSpPr>
          <p:nvPr/>
        </p:nvCxnSpPr>
        <p:spPr>
          <a:xfrm flipV="1">
            <a:off x="7013915" y="2389733"/>
            <a:ext cx="0" cy="182567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D83EC8F2-A12F-4A6E-B4CA-02BB67867A53}"/>
              </a:ext>
            </a:extLst>
          </p:cNvPr>
          <p:cNvCxnSpPr>
            <a:cxnSpLocks/>
            <a:stCxn id="56" idx="0"/>
          </p:cNvCxnSpPr>
          <p:nvPr/>
        </p:nvCxnSpPr>
        <p:spPr>
          <a:xfrm flipV="1">
            <a:off x="7422501" y="3159445"/>
            <a:ext cx="0" cy="1055958"/>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4" name="直線矢印コネクタ 63">
            <a:extLst>
              <a:ext uri="{FF2B5EF4-FFF2-40B4-BE49-F238E27FC236}">
                <a16:creationId xmlns:a16="http://schemas.microsoft.com/office/drawing/2014/main" id="{82318B93-6625-40C6-B876-ED14D85E2610}"/>
              </a:ext>
            </a:extLst>
          </p:cNvPr>
          <p:cNvCxnSpPr>
            <a:cxnSpLocks/>
            <a:stCxn id="57" idx="0"/>
          </p:cNvCxnSpPr>
          <p:nvPr/>
        </p:nvCxnSpPr>
        <p:spPr>
          <a:xfrm flipV="1">
            <a:off x="7831087" y="3505837"/>
            <a:ext cx="0" cy="70956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65" name="正方形/長方形 64">
            <a:extLst>
              <a:ext uri="{FF2B5EF4-FFF2-40B4-BE49-F238E27FC236}">
                <a16:creationId xmlns:a16="http://schemas.microsoft.com/office/drawing/2014/main" id="{2C1F9427-69AF-4899-A34D-94D9AE504A45}"/>
              </a:ext>
            </a:extLst>
          </p:cNvPr>
          <p:cNvSpPr/>
          <p:nvPr/>
        </p:nvSpPr>
        <p:spPr>
          <a:xfrm>
            <a:off x="6697124" y="4813825"/>
            <a:ext cx="1464238" cy="3315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chemeClr val="tx1"/>
                </a:solidFill>
                <a:latin typeface="Calibri" panose="020F0502020204030204" pitchFamily="34" charset="0"/>
                <a:cs typeface="Calibri" panose="020F0502020204030204" pitchFamily="34" charset="0"/>
              </a:rPr>
              <a:t>HUB/Router</a:t>
            </a:r>
            <a:endParaRPr kumimoji="1" lang="ja-JP" altLang="en-US">
              <a:solidFill>
                <a:schemeClr val="tx1"/>
              </a:solidFill>
              <a:latin typeface="Calibri" panose="020F0502020204030204" pitchFamily="34" charset="0"/>
              <a:cs typeface="Calibri" panose="020F0502020204030204" pitchFamily="34" charset="0"/>
            </a:endParaRPr>
          </a:p>
        </p:txBody>
      </p:sp>
      <p:cxnSp>
        <p:nvCxnSpPr>
          <p:cNvPr id="66" name="直線矢印コネクタ 65">
            <a:extLst>
              <a:ext uri="{FF2B5EF4-FFF2-40B4-BE49-F238E27FC236}">
                <a16:creationId xmlns:a16="http://schemas.microsoft.com/office/drawing/2014/main" id="{EBDE296F-51EC-429F-902B-1E88D2FCF522}"/>
              </a:ext>
            </a:extLst>
          </p:cNvPr>
          <p:cNvCxnSpPr>
            <a:cxnSpLocks/>
            <a:stCxn id="65" idx="0"/>
            <a:endCxn id="56" idx="2"/>
          </p:cNvCxnSpPr>
          <p:nvPr/>
        </p:nvCxnSpPr>
        <p:spPr>
          <a:xfrm flipH="1" flipV="1">
            <a:off x="7422501" y="4504770"/>
            <a:ext cx="6742" cy="30905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pic>
        <p:nvPicPr>
          <p:cNvPr id="67" name="図 66" descr="電子機器, コンピュータ が含まれている画像&#10;&#10;自動的に生成された説明">
            <a:extLst>
              <a:ext uri="{FF2B5EF4-FFF2-40B4-BE49-F238E27FC236}">
                <a16:creationId xmlns:a16="http://schemas.microsoft.com/office/drawing/2014/main" id="{D244AD36-43E6-4831-8FB9-BBC32ADA9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7043" y="5357510"/>
            <a:ext cx="820828" cy="805813"/>
          </a:xfrm>
          <a:prstGeom prst="rect">
            <a:avLst/>
          </a:prstGeom>
        </p:spPr>
      </p:pic>
      <p:pic>
        <p:nvPicPr>
          <p:cNvPr id="68" name="図 67" descr="電子機器, コンピュータ が含まれている画像&#10;&#10;自動的に生成された説明">
            <a:extLst>
              <a:ext uri="{FF2B5EF4-FFF2-40B4-BE49-F238E27FC236}">
                <a16:creationId xmlns:a16="http://schemas.microsoft.com/office/drawing/2014/main" id="{EBC8C271-34C3-469C-B13E-CEDDEFB42B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2115" y="5357510"/>
            <a:ext cx="820828" cy="805813"/>
          </a:xfrm>
          <a:prstGeom prst="rect">
            <a:avLst/>
          </a:prstGeom>
        </p:spPr>
      </p:pic>
      <p:pic>
        <p:nvPicPr>
          <p:cNvPr id="69" name="図 68" descr="電子機器, コンピュータ が含まれている画像&#10;&#10;自動的に生成された説明">
            <a:extLst>
              <a:ext uri="{FF2B5EF4-FFF2-40B4-BE49-F238E27FC236}">
                <a16:creationId xmlns:a16="http://schemas.microsoft.com/office/drawing/2014/main" id="{F7F5261B-C7D3-4FCD-8C70-98D389FB62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7186" y="5357510"/>
            <a:ext cx="820828" cy="805813"/>
          </a:xfrm>
          <a:prstGeom prst="rect">
            <a:avLst/>
          </a:prstGeom>
        </p:spPr>
      </p:pic>
      <p:pic>
        <p:nvPicPr>
          <p:cNvPr id="70" name="図 69" descr="電子機器, コンピュータ が含まれている画像&#10;&#10;自動的に生成された説明">
            <a:extLst>
              <a:ext uri="{FF2B5EF4-FFF2-40B4-BE49-F238E27FC236}">
                <a16:creationId xmlns:a16="http://schemas.microsoft.com/office/drawing/2014/main" id="{06FF709B-9FBE-485C-85AD-7934D2F5A0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2257" y="5357510"/>
            <a:ext cx="820828" cy="805813"/>
          </a:xfrm>
          <a:prstGeom prst="rect">
            <a:avLst/>
          </a:prstGeom>
        </p:spPr>
      </p:pic>
      <p:pic>
        <p:nvPicPr>
          <p:cNvPr id="71" name="図 70" descr="電子機器, コンピュータ が含まれている画像&#10;&#10;自動的に生成された説明">
            <a:extLst>
              <a:ext uri="{FF2B5EF4-FFF2-40B4-BE49-F238E27FC236}">
                <a16:creationId xmlns:a16="http://schemas.microsoft.com/office/drawing/2014/main" id="{805C442B-6EDF-455C-9349-ABED1E395F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7328" y="5357510"/>
            <a:ext cx="820828" cy="805813"/>
          </a:xfrm>
          <a:prstGeom prst="rect">
            <a:avLst/>
          </a:prstGeom>
        </p:spPr>
      </p:pic>
      <p:cxnSp>
        <p:nvCxnSpPr>
          <p:cNvPr id="72" name="直線矢印コネクタ 71">
            <a:extLst>
              <a:ext uri="{FF2B5EF4-FFF2-40B4-BE49-F238E27FC236}">
                <a16:creationId xmlns:a16="http://schemas.microsoft.com/office/drawing/2014/main" id="{9ED35DFF-156D-4330-BDCD-1F82B30CA49F}"/>
              </a:ext>
            </a:extLst>
          </p:cNvPr>
          <p:cNvCxnSpPr>
            <a:cxnSpLocks/>
          </p:cNvCxnSpPr>
          <p:nvPr/>
        </p:nvCxnSpPr>
        <p:spPr>
          <a:xfrm flipV="1">
            <a:off x="6869231" y="5128860"/>
            <a:ext cx="0" cy="2660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CD0D45FF-2FCC-42F5-99AC-0887DB714992}"/>
              </a:ext>
            </a:extLst>
          </p:cNvPr>
          <p:cNvCxnSpPr>
            <a:cxnSpLocks/>
          </p:cNvCxnSpPr>
          <p:nvPr/>
        </p:nvCxnSpPr>
        <p:spPr>
          <a:xfrm flipV="1">
            <a:off x="7171406" y="5128860"/>
            <a:ext cx="0" cy="2660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F4B7F8E1-6EBD-4D22-9C69-15EB72150C04}"/>
              </a:ext>
            </a:extLst>
          </p:cNvPr>
          <p:cNvCxnSpPr>
            <a:cxnSpLocks/>
          </p:cNvCxnSpPr>
          <p:nvPr/>
        </p:nvCxnSpPr>
        <p:spPr>
          <a:xfrm flipV="1">
            <a:off x="7473581" y="5128860"/>
            <a:ext cx="0" cy="2660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5" name="直線矢印コネクタ 74">
            <a:extLst>
              <a:ext uri="{FF2B5EF4-FFF2-40B4-BE49-F238E27FC236}">
                <a16:creationId xmlns:a16="http://schemas.microsoft.com/office/drawing/2014/main" id="{F9DB3839-FB2A-4D12-95E1-6083273EA82D}"/>
              </a:ext>
            </a:extLst>
          </p:cNvPr>
          <p:cNvCxnSpPr>
            <a:cxnSpLocks/>
          </p:cNvCxnSpPr>
          <p:nvPr/>
        </p:nvCxnSpPr>
        <p:spPr>
          <a:xfrm flipV="1">
            <a:off x="7775756" y="5128860"/>
            <a:ext cx="0" cy="2660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6" name="直線矢印コネクタ 75">
            <a:extLst>
              <a:ext uri="{FF2B5EF4-FFF2-40B4-BE49-F238E27FC236}">
                <a16:creationId xmlns:a16="http://schemas.microsoft.com/office/drawing/2014/main" id="{683B7B78-28B4-47C6-97EC-0EB55EBF8E9E}"/>
              </a:ext>
            </a:extLst>
          </p:cNvPr>
          <p:cNvCxnSpPr>
            <a:cxnSpLocks/>
          </p:cNvCxnSpPr>
          <p:nvPr/>
        </p:nvCxnSpPr>
        <p:spPr>
          <a:xfrm flipV="1">
            <a:off x="8077932" y="5133823"/>
            <a:ext cx="0" cy="26111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77" name="テキスト ボックス 76">
            <a:extLst>
              <a:ext uri="{FF2B5EF4-FFF2-40B4-BE49-F238E27FC236}">
                <a16:creationId xmlns:a16="http://schemas.microsoft.com/office/drawing/2014/main" id="{75C66885-D9A8-4A86-8218-10F50227CA64}"/>
              </a:ext>
            </a:extLst>
          </p:cNvPr>
          <p:cNvSpPr txBox="1"/>
          <p:nvPr/>
        </p:nvSpPr>
        <p:spPr>
          <a:xfrm>
            <a:off x="8067199" y="5154207"/>
            <a:ext cx="912429" cy="307777"/>
          </a:xfrm>
          <a:prstGeom prst="rect">
            <a:avLst/>
          </a:prstGeom>
          <a:noFill/>
        </p:spPr>
        <p:txBody>
          <a:bodyPr wrap="none" rtlCol="0">
            <a:spAutoFit/>
          </a:bodyPr>
          <a:lstStyle/>
          <a:p>
            <a:r>
              <a:rPr lang="ja-JP" altLang="en-US" sz="1400">
                <a:latin typeface="Calibri" panose="020F0502020204030204" pitchFamily="34" charset="0"/>
                <a:cs typeface="Calibri" panose="020F0502020204030204" pitchFamily="34" charset="0"/>
              </a:rPr>
              <a:t>治</a:t>
            </a:r>
            <a:r>
              <a:rPr lang="ja-JP" altLang="en-US" sz="1400" dirty="0">
                <a:latin typeface="Calibri" panose="020F0502020204030204" pitchFamily="34" charset="0"/>
                <a:cs typeface="Calibri" panose="020F0502020204030204" pitchFamily="34" charset="0"/>
              </a:rPr>
              <a:t>具</a:t>
            </a:r>
            <a:r>
              <a:rPr kumimoji="1" lang="ja-JP" altLang="en-US" sz="1400" dirty="0">
                <a:latin typeface="Calibri" panose="020F0502020204030204" pitchFamily="34" charset="0"/>
                <a:cs typeface="Calibri" panose="020F0502020204030204" pitchFamily="34" charset="0"/>
              </a:rPr>
              <a:t>用</a:t>
            </a:r>
            <a:r>
              <a:rPr kumimoji="1" lang="en-US" altLang="ja-JP" sz="1400" dirty="0">
                <a:latin typeface="Calibri" panose="020F0502020204030204" pitchFamily="34" charset="0"/>
                <a:cs typeface="Calibri" panose="020F0502020204030204" pitchFamily="34" charset="0"/>
              </a:rPr>
              <a:t>PC</a:t>
            </a:r>
            <a:endParaRPr kumimoji="1" lang="ja-JP" altLang="en-US" sz="1400" dirty="0">
              <a:latin typeface="Calibri" panose="020F0502020204030204" pitchFamily="34" charset="0"/>
              <a:cs typeface="Calibri" panose="020F0502020204030204" pitchFamily="34" charset="0"/>
            </a:endParaRPr>
          </a:p>
        </p:txBody>
      </p:sp>
      <p:sp>
        <p:nvSpPr>
          <p:cNvPr id="78" name="フローチャート: 磁気ディスク 77">
            <a:extLst>
              <a:ext uri="{FF2B5EF4-FFF2-40B4-BE49-F238E27FC236}">
                <a16:creationId xmlns:a16="http://schemas.microsoft.com/office/drawing/2014/main" id="{788E7D0C-901C-4935-8CA6-04D3394F14FB}"/>
              </a:ext>
            </a:extLst>
          </p:cNvPr>
          <p:cNvSpPr/>
          <p:nvPr/>
        </p:nvSpPr>
        <p:spPr>
          <a:xfrm>
            <a:off x="2981026" y="612781"/>
            <a:ext cx="870894"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rPr>
              <a:t>NTP</a:t>
            </a:r>
            <a:br>
              <a:rPr kumimoji="1" lang="en-US" altLang="ja-JP" sz="1400">
                <a:solidFill>
                  <a:schemeClr val="tx1"/>
                </a:solidFill>
              </a:rPr>
            </a:br>
            <a:r>
              <a:rPr kumimoji="1" lang="en-US" altLang="ja-JP" sz="1400">
                <a:solidFill>
                  <a:schemeClr val="tx1"/>
                </a:solidFill>
              </a:rPr>
              <a:t>server</a:t>
            </a:r>
            <a:endParaRPr kumimoji="1" lang="ja-JP" altLang="en-US" sz="1400">
              <a:solidFill>
                <a:schemeClr val="tx1"/>
              </a:solidFill>
            </a:endParaRPr>
          </a:p>
        </p:txBody>
      </p:sp>
      <p:sp>
        <p:nvSpPr>
          <p:cNvPr id="79" name="テキスト ボックス 78">
            <a:extLst>
              <a:ext uri="{FF2B5EF4-FFF2-40B4-BE49-F238E27FC236}">
                <a16:creationId xmlns:a16="http://schemas.microsoft.com/office/drawing/2014/main" id="{B23BFB14-0656-4922-B520-6E16EBC5350C}"/>
              </a:ext>
            </a:extLst>
          </p:cNvPr>
          <p:cNvSpPr txBox="1"/>
          <p:nvPr/>
        </p:nvSpPr>
        <p:spPr>
          <a:xfrm>
            <a:off x="3802183" y="783033"/>
            <a:ext cx="1050288" cy="523220"/>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nkdc1</a:t>
            </a:r>
          </a:p>
          <a:p>
            <a:r>
              <a:rPr kumimoji="1" lang="en-US" altLang="ja-JP" sz="1400">
                <a:latin typeface="Calibri" panose="020F0502020204030204" pitchFamily="34" charset="0"/>
                <a:cs typeface="Calibri" panose="020F0502020204030204" pitchFamily="34" charset="0"/>
              </a:rPr>
              <a:t>172.30.30.1</a:t>
            </a:r>
            <a:endParaRPr kumimoji="1" lang="ja-JP" altLang="en-US" sz="1400">
              <a:latin typeface="Calibri" panose="020F0502020204030204" pitchFamily="34" charset="0"/>
              <a:cs typeface="Calibri" panose="020F0502020204030204" pitchFamily="34" charset="0"/>
            </a:endParaRPr>
          </a:p>
        </p:txBody>
      </p:sp>
      <p:cxnSp>
        <p:nvCxnSpPr>
          <p:cNvPr id="80" name="直線矢印コネクタ 79">
            <a:extLst>
              <a:ext uri="{FF2B5EF4-FFF2-40B4-BE49-F238E27FC236}">
                <a16:creationId xmlns:a16="http://schemas.microsoft.com/office/drawing/2014/main" id="{263D0185-D917-4C97-AAA0-F4A4729B992F}"/>
              </a:ext>
            </a:extLst>
          </p:cNvPr>
          <p:cNvCxnSpPr>
            <a:cxnSpLocks/>
          </p:cNvCxnSpPr>
          <p:nvPr/>
        </p:nvCxnSpPr>
        <p:spPr>
          <a:xfrm flipV="1">
            <a:off x="3176845" y="1375686"/>
            <a:ext cx="0" cy="71524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81" name="フリーフォーム: 図形 80">
            <a:extLst>
              <a:ext uri="{FF2B5EF4-FFF2-40B4-BE49-F238E27FC236}">
                <a16:creationId xmlns:a16="http://schemas.microsoft.com/office/drawing/2014/main" id="{BA3427DA-4C2C-49DE-BD79-69156508F440}"/>
              </a:ext>
            </a:extLst>
          </p:cNvPr>
          <p:cNvSpPr/>
          <p:nvPr/>
        </p:nvSpPr>
        <p:spPr>
          <a:xfrm>
            <a:off x="1295444" y="4521091"/>
            <a:ext cx="1878537" cy="609091"/>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テキスト ボックス 81">
            <a:extLst>
              <a:ext uri="{FF2B5EF4-FFF2-40B4-BE49-F238E27FC236}">
                <a16:creationId xmlns:a16="http://schemas.microsoft.com/office/drawing/2014/main" id="{3A1C182A-D934-4F93-94B2-34AF83EEE817}"/>
              </a:ext>
            </a:extLst>
          </p:cNvPr>
          <p:cNvSpPr txBox="1"/>
          <p:nvPr/>
        </p:nvSpPr>
        <p:spPr>
          <a:xfrm>
            <a:off x="3176845" y="6091553"/>
            <a:ext cx="4615366" cy="307777"/>
          </a:xfrm>
          <a:prstGeom prst="rect">
            <a:avLst/>
          </a:prstGeom>
          <a:noFill/>
        </p:spPr>
        <p:txBody>
          <a:bodyPr wrap="none" rtlCol="0">
            <a:spAutoFit/>
          </a:bodyPr>
          <a:lstStyle/>
          <a:p>
            <a:r>
              <a:rPr lang="ja-JP" altLang="en-US" sz="1400">
                <a:latin typeface="Calibri" panose="020F0502020204030204" pitchFamily="34" charset="0"/>
                <a:cs typeface="Calibri" panose="020F0502020204030204" pitchFamily="34" charset="0"/>
              </a:rPr>
              <a:t>おんどとり</a:t>
            </a:r>
            <a:r>
              <a:rPr lang="en-US" altLang="ja-JP" sz="1400">
                <a:latin typeface="Calibri" panose="020F0502020204030204" pitchFamily="34" charset="0"/>
                <a:cs typeface="Calibri" panose="020F0502020204030204" pitchFamily="34" charset="0"/>
              </a:rPr>
              <a:t>(172.25.214.0)/</a:t>
            </a:r>
            <a:r>
              <a:rPr kumimoji="1" lang="ja-JP" altLang="en-US" sz="1400">
                <a:latin typeface="Calibri" panose="020F0502020204030204" pitchFamily="34" charset="0"/>
                <a:cs typeface="Calibri" panose="020F0502020204030204" pitchFamily="34" charset="0"/>
              </a:rPr>
              <a:t>事務用</a:t>
            </a:r>
            <a:r>
              <a:rPr kumimoji="1" lang="en-US" altLang="ja-JP" sz="1400">
                <a:latin typeface="Calibri" panose="020F0502020204030204" pitchFamily="34" charset="0"/>
                <a:cs typeface="Calibri" panose="020F0502020204030204" pitchFamily="34" charset="0"/>
              </a:rPr>
              <a:t>PC(172.25.233-234.0)</a:t>
            </a:r>
            <a:r>
              <a:rPr kumimoji="1" lang="ja-JP" altLang="en-US" sz="1400">
                <a:latin typeface="Calibri" panose="020F0502020204030204" pitchFamily="34" charset="0"/>
                <a:cs typeface="Calibri" panose="020F0502020204030204" pitchFamily="34" charset="0"/>
              </a:rPr>
              <a:t> （</a:t>
            </a:r>
            <a:r>
              <a:rPr kumimoji="1" lang="ja-JP" altLang="en-US" sz="1400" b="1">
                <a:solidFill>
                  <a:srgbClr val="FF00FF"/>
                </a:solidFill>
                <a:latin typeface="Calibri" panose="020F0502020204030204" pitchFamily="34" charset="0"/>
                <a:cs typeface="Calibri" panose="020F0502020204030204" pitchFamily="34" charset="0"/>
              </a:rPr>
              <a:t>桃</a:t>
            </a:r>
            <a:r>
              <a:rPr kumimoji="1"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83" name="フリーフォーム: 図形 82">
            <a:extLst>
              <a:ext uri="{FF2B5EF4-FFF2-40B4-BE49-F238E27FC236}">
                <a16:creationId xmlns:a16="http://schemas.microsoft.com/office/drawing/2014/main" id="{848CB113-BFC3-4079-A23F-E2120AA8FA4D}"/>
              </a:ext>
            </a:extLst>
          </p:cNvPr>
          <p:cNvSpPr/>
          <p:nvPr/>
        </p:nvSpPr>
        <p:spPr>
          <a:xfrm>
            <a:off x="2957904" y="4530183"/>
            <a:ext cx="218939" cy="1679553"/>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4" name="直線矢印コネクタ 83">
            <a:extLst>
              <a:ext uri="{FF2B5EF4-FFF2-40B4-BE49-F238E27FC236}">
                <a16:creationId xmlns:a16="http://schemas.microsoft.com/office/drawing/2014/main" id="{25A828E1-9BC6-4455-A9FC-DEA9F5579EB1}"/>
              </a:ext>
            </a:extLst>
          </p:cNvPr>
          <p:cNvCxnSpPr>
            <a:cxnSpLocks/>
          </p:cNvCxnSpPr>
          <p:nvPr/>
        </p:nvCxnSpPr>
        <p:spPr>
          <a:xfrm flipV="1">
            <a:off x="2891538" y="3857260"/>
            <a:ext cx="0" cy="35352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5" name="直線矢印コネクタ 84">
            <a:extLst>
              <a:ext uri="{FF2B5EF4-FFF2-40B4-BE49-F238E27FC236}">
                <a16:creationId xmlns:a16="http://schemas.microsoft.com/office/drawing/2014/main" id="{7E1D6211-507F-4AF0-8967-FD09A609B742}"/>
              </a:ext>
            </a:extLst>
          </p:cNvPr>
          <p:cNvCxnSpPr>
            <a:cxnSpLocks/>
          </p:cNvCxnSpPr>
          <p:nvPr/>
        </p:nvCxnSpPr>
        <p:spPr>
          <a:xfrm flipV="1">
            <a:off x="8210488" y="3857260"/>
            <a:ext cx="0" cy="35352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86" name="テキスト ボックス 85">
            <a:extLst>
              <a:ext uri="{FF2B5EF4-FFF2-40B4-BE49-F238E27FC236}">
                <a16:creationId xmlns:a16="http://schemas.microsoft.com/office/drawing/2014/main" id="{1DF73079-BA8A-4DDA-BFA5-58861CD5661C}"/>
              </a:ext>
            </a:extLst>
          </p:cNvPr>
          <p:cNvSpPr txBox="1"/>
          <p:nvPr/>
        </p:nvSpPr>
        <p:spPr>
          <a:xfrm>
            <a:off x="3176845" y="5259153"/>
            <a:ext cx="2706190" cy="307777"/>
          </a:xfrm>
          <a:prstGeom prst="rect">
            <a:avLst/>
          </a:prstGeom>
          <a:noFill/>
        </p:spPr>
        <p:txBody>
          <a:bodyPr wrap="none" rtlCol="0">
            <a:spAutoFit/>
          </a:bodyPr>
          <a:lstStyle/>
          <a:p>
            <a:r>
              <a:rPr kumimoji="1" lang="ja-JP" altLang="en-US" sz="1400">
                <a:latin typeface="Calibri" panose="020F0502020204030204" pitchFamily="34" charset="0"/>
                <a:cs typeface="Calibri" panose="020F0502020204030204" pitchFamily="34" charset="0"/>
              </a:rPr>
              <a:t>事務用</a:t>
            </a:r>
            <a:r>
              <a:rPr kumimoji="1" lang="en-US" altLang="ja-JP" sz="1400">
                <a:latin typeface="Calibri" panose="020F0502020204030204" pitchFamily="34" charset="0"/>
                <a:cs typeface="Calibri" panose="020F0502020204030204" pitchFamily="34" charset="0"/>
              </a:rPr>
              <a:t>PC(172.25.233-234.0)</a:t>
            </a:r>
            <a:r>
              <a:rPr kumimoji="1" lang="ja-JP" altLang="en-US" sz="1400">
                <a:latin typeface="Calibri" panose="020F0502020204030204" pitchFamily="34" charset="0"/>
                <a:cs typeface="Calibri" panose="020F0502020204030204" pitchFamily="34" charset="0"/>
              </a:rPr>
              <a:t> （</a:t>
            </a:r>
            <a:r>
              <a:rPr kumimoji="1" lang="ja-JP" altLang="en-US" sz="1400" b="1">
                <a:solidFill>
                  <a:srgbClr val="FF00FF"/>
                </a:solidFill>
                <a:latin typeface="Calibri" panose="020F0502020204030204" pitchFamily="34" charset="0"/>
                <a:cs typeface="Calibri" panose="020F0502020204030204" pitchFamily="34" charset="0"/>
              </a:rPr>
              <a:t>桃</a:t>
            </a:r>
            <a:r>
              <a:rPr kumimoji="1"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87" name="テキスト ボックス 86">
            <a:extLst>
              <a:ext uri="{FF2B5EF4-FFF2-40B4-BE49-F238E27FC236}">
                <a16:creationId xmlns:a16="http://schemas.microsoft.com/office/drawing/2014/main" id="{164B621D-12F4-43E2-A707-5B4EDD9FEF07}"/>
              </a:ext>
            </a:extLst>
          </p:cNvPr>
          <p:cNvSpPr txBox="1"/>
          <p:nvPr/>
        </p:nvSpPr>
        <p:spPr>
          <a:xfrm>
            <a:off x="3176845" y="4981687"/>
            <a:ext cx="3238387" cy="307777"/>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PHS/CMDI</a:t>
            </a:r>
            <a:r>
              <a:rPr kumimoji="1" lang="ja-JP" altLang="en-US" sz="1400">
                <a:latin typeface="Calibri" panose="020F0502020204030204" pitchFamily="34" charset="0"/>
                <a:cs typeface="Calibri" panose="020F0502020204030204" pitchFamily="34" charset="0"/>
              </a:rPr>
              <a:t>有線用</a:t>
            </a:r>
            <a:r>
              <a:rPr kumimoji="1" lang="en-US" altLang="ja-JP" sz="1400">
                <a:latin typeface="Calibri" panose="020F0502020204030204" pitchFamily="34" charset="0"/>
                <a:cs typeface="Calibri" panose="020F0502020204030204" pitchFamily="34" charset="0"/>
              </a:rPr>
              <a:t>(172.25.246-247.0)</a:t>
            </a:r>
            <a:r>
              <a:rPr kumimoji="1" lang="ja-JP" altLang="en-US" sz="1400">
                <a:latin typeface="Calibri" panose="020F0502020204030204" pitchFamily="34" charset="0"/>
                <a:cs typeface="Calibri" panose="020F0502020204030204" pitchFamily="34" charset="0"/>
              </a:rPr>
              <a:t>（</a:t>
            </a:r>
            <a:r>
              <a:rPr lang="ja-JP" altLang="en-US" sz="1400" b="1">
                <a:solidFill>
                  <a:srgbClr val="7030A0"/>
                </a:solidFill>
              </a:rPr>
              <a:t>紫</a:t>
            </a:r>
            <a:r>
              <a:rPr lang="ja-JP" altLang="en-US" sz="1400"/>
              <a:t>）</a:t>
            </a:r>
            <a:endParaRPr kumimoji="1" lang="ja-JP" altLang="en-US" sz="1400" dirty="0">
              <a:latin typeface="Calibri" panose="020F0502020204030204" pitchFamily="34" charset="0"/>
              <a:cs typeface="Calibri" panose="020F0502020204030204" pitchFamily="34" charset="0"/>
            </a:endParaRPr>
          </a:p>
        </p:txBody>
      </p:sp>
      <p:cxnSp>
        <p:nvCxnSpPr>
          <p:cNvPr id="88" name="直線矢印コネクタ 87">
            <a:extLst>
              <a:ext uri="{FF2B5EF4-FFF2-40B4-BE49-F238E27FC236}">
                <a16:creationId xmlns:a16="http://schemas.microsoft.com/office/drawing/2014/main" id="{B47B9F5D-C454-4C2C-BA3F-D26F5BEAE8A9}"/>
              </a:ext>
            </a:extLst>
          </p:cNvPr>
          <p:cNvCxnSpPr>
            <a:cxnSpLocks/>
          </p:cNvCxnSpPr>
          <p:nvPr/>
        </p:nvCxnSpPr>
        <p:spPr>
          <a:xfrm flipV="1">
            <a:off x="6999082" y="1449195"/>
            <a:ext cx="0" cy="62997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89" name="フローチャート: 磁気ディスク 88">
            <a:extLst>
              <a:ext uri="{FF2B5EF4-FFF2-40B4-BE49-F238E27FC236}">
                <a16:creationId xmlns:a16="http://schemas.microsoft.com/office/drawing/2014/main" id="{E6B34034-8605-4A75-B588-9E7730583B77}"/>
              </a:ext>
            </a:extLst>
          </p:cNvPr>
          <p:cNvSpPr/>
          <p:nvPr/>
        </p:nvSpPr>
        <p:spPr>
          <a:xfrm>
            <a:off x="4842030" y="612781"/>
            <a:ext cx="882336"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algn="ctr"/>
            <a:r>
              <a:rPr kumimoji="1" lang="ja-JP" altLang="en-US" sz="1400">
                <a:solidFill>
                  <a:schemeClr val="tx1"/>
                </a:solidFill>
              </a:rPr>
              <a:t>おんどとり</a:t>
            </a:r>
            <a:br>
              <a:rPr kumimoji="1" lang="en-US" altLang="ja-JP" sz="1400">
                <a:solidFill>
                  <a:schemeClr val="tx1"/>
                </a:solidFill>
              </a:rPr>
            </a:br>
            <a:r>
              <a:rPr kumimoji="1" lang="en-US" altLang="ja-JP" sz="1400">
                <a:solidFill>
                  <a:schemeClr val="tx1"/>
                </a:solidFill>
              </a:rPr>
              <a:t>server</a:t>
            </a:r>
            <a:endParaRPr kumimoji="1" lang="ja-JP" altLang="en-US" sz="1400">
              <a:solidFill>
                <a:schemeClr val="tx1"/>
              </a:solidFill>
            </a:endParaRPr>
          </a:p>
        </p:txBody>
      </p:sp>
      <p:cxnSp>
        <p:nvCxnSpPr>
          <p:cNvPr id="90" name="直線矢印コネクタ 89">
            <a:extLst>
              <a:ext uri="{FF2B5EF4-FFF2-40B4-BE49-F238E27FC236}">
                <a16:creationId xmlns:a16="http://schemas.microsoft.com/office/drawing/2014/main" id="{E760842B-FA31-41EF-A72A-7C67853890C2}"/>
              </a:ext>
            </a:extLst>
          </p:cNvPr>
          <p:cNvCxnSpPr>
            <a:cxnSpLocks/>
          </p:cNvCxnSpPr>
          <p:nvPr/>
        </p:nvCxnSpPr>
        <p:spPr>
          <a:xfrm flipV="1">
            <a:off x="5202070" y="1375686"/>
            <a:ext cx="0" cy="71524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91" name="テキスト ボックス 90">
            <a:extLst>
              <a:ext uri="{FF2B5EF4-FFF2-40B4-BE49-F238E27FC236}">
                <a16:creationId xmlns:a16="http://schemas.microsoft.com/office/drawing/2014/main" id="{F280BCD3-1F93-433C-BFED-6804150E6EFC}"/>
              </a:ext>
            </a:extLst>
          </p:cNvPr>
          <p:cNvSpPr txBox="1"/>
          <p:nvPr/>
        </p:nvSpPr>
        <p:spPr>
          <a:xfrm>
            <a:off x="5367836" y="1500295"/>
            <a:ext cx="1324402" cy="523220"/>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nksv482</a:t>
            </a:r>
            <a:endParaRPr kumimoji="1" lang="en-US" altLang="ja-JP" sz="1400" dirty="0">
              <a:latin typeface="Calibri" panose="020F0502020204030204" pitchFamily="34" charset="0"/>
              <a:cs typeface="Calibri" panose="020F0502020204030204" pitchFamily="34" charset="0"/>
            </a:endParaRPr>
          </a:p>
          <a:p>
            <a:r>
              <a:rPr kumimoji="1" lang="en-US" altLang="ja-JP" sz="1400">
                <a:latin typeface="Calibri" panose="020F0502020204030204" pitchFamily="34" charset="0"/>
                <a:cs typeface="Calibri" panose="020F0502020204030204" pitchFamily="34" charset="0"/>
              </a:rPr>
              <a:t>172.25.233.212</a:t>
            </a:r>
            <a:endParaRPr kumimoji="1" lang="ja-JP" altLang="en-US" sz="1400" dirty="0">
              <a:latin typeface="Calibri" panose="020F0502020204030204" pitchFamily="34" charset="0"/>
              <a:cs typeface="Calibri" panose="020F0502020204030204" pitchFamily="34" charset="0"/>
            </a:endParaRPr>
          </a:p>
        </p:txBody>
      </p:sp>
      <p:cxnSp>
        <p:nvCxnSpPr>
          <p:cNvPr id="92" name="直線矢印コネクタ 91">
            <a:extLst>
              <a:ext uri="{FF2B5EF4-FFF2-40B4-BE49-F238E27FC236}">
                <a16:creationId xmlns:a16="http://schemas.microsoft.com/office/drawing/2014/main" id="{78CBA70D-DF1D-4190-AA87-C28FF28B05E7}"/>
              </a:ext>
            </a:extLst>
          </p:cNvPr>
          <p:cNvCxnSpPr>
            <a:cxnSpLocks/>
          </p:cNvCxnSpPr>
          <p:nvPr/>
        </p:nvCxnSpPr>
        <p:spPr>
          <a:xfrm flipV="1">
            <a:off x="3018538" y="2394764"/>
            <a:ext cx="0" cy="18160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95" name="直線矢印コネクタ 94">
            <a:extLst>
              <a:ext uri="{FF2B5EF4-FFF2-40B4-BE49-F238E27FC236}">
                <a16:creationId xmlns:a16="http://schemas.microsoft.com/office/drawing/2014/main" id="{4BCAA688-9668-4B17-9E43-820DF77436F3}"/>
              </a:ext>
            </a:extLst>
          </p:cNvPr>
          <p:cNvCxnSpPr>
            <a:cxnSpLocks/>
          </p:cNvCxnSpPr>
          <p:nvPr/>
        </p:nvCxnSpPr>
        <p:spPr>
          <a:xfrm flipV="1">
            <a:off x="8307415" y="2394764"/>
            <a:ext cx="0" cy="18160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96" name="テキスト ボックス 95">
            <a:extLst>
              <a:ext uri="{FF2B5EF4-FFF2-40B4-BE49-F238E27FC236}">
                <a16:creationId xmlns:a16="http://schemas.microsoft.com/office/drawing/2014/main" id="{8CEF1BF8-47E3-409D-B69B-BD54DA52498B}"/>
              </a:ext>
            </a:extLst>
          </p:cNvPr>
          <p:cNvSpPr txBox="1"/>
          <p:nvPr/>
        </p:nvSpPr>
        <p:spPr>
          <a:xfrm>
            <a:off x="3411266" y="4426755"/>
            <a:ext cx="2105063" cy="307777"/>
          </a:xfrm>
          <a:prstGeom prst="rect">
            <a:avLst/>
          </a:prstGeom>
          <a:noFill/>
        </p:spPr>
        <p:txBody>
          <a:bodyPr wrap="none" rtlCol="0">
            <a:spAutoFit/>
          </a:bodyPr>
          <a:lstStyle/>
          <a:p>
            <a:r>
              <a:rPr lang="ja-JP" altLang="en-US" sz="1400">
                <a:latin typeface="Calibri" panose="020F0502020204030204" pitchFamily="34" charset="0"/>
                <a:cs typeface="Calibri" panose="020F0502020204030204" pitchFamily="34" charset="0"/>
              </a:rPr>
              <a:t>用途</a:t>
            </a:r>
            <a:r>
              <a:rPr lang="en-US" altLang="ja-JP" sz="1400">
                <a:latin typeface="Calibri" panose="020F0502020204030204" pitchFamily="34" charset="0"/>
                <a:cs typeface="Calibri" panose="020F0502020204030204" pitchFamily="34" charset="0"/>
              </a:rPr>
              <a:t>(</a:t>
            </a:r>
            <a:r>
              <a:rPr lang="ja-JP" altLang="en-US" sz="1400">
                <a:latin typeface="Calibri" panose="020F0502020204030204" pitchFamily="34" charset="0"/>
                <a:cs typeface="Calibri" panose="020F0502020204030204" pitchFamily="34" charset="0"/>
              </a:rPr>
              <a:t>セグメント</a:t>
            </a:r>
            <a:r>
              <a:rPr lang="en-US" altLang="ja-JP" sz="1400">
                <a:latin typeface="Calibri" panose="020F0502020204030204" pitchFamily="34" charset="0"/>
                <a:cs typeface="Calibri" panose="020F0502020204030204" pitchFamily="34" charset="0"/>
              </a:rPr>
              <a:t>)</a:t>
            </a:r>
            <a:r>
              <a:rPr lang="ja-JP" altLang="en-US" sz="1400">
                <a:latin typeface="Calibri" panose="020F0502020204030204" pitchFamily="34" charset="0"/>
                <a:cs typeface="Calibri" panose="020F0502020204030204" pitchFamily="34" charset="0"/>
              </a:rPr>
              <a:t>（</a:t>
            </a:r>
            <a:r>
              <a:rPr lang="ja-JP" altLang="en-US" sz="1400" b="1">
                <a:latin typeface="Calibri" panose="020F0502020204030204" pitchFamily="34" charset="0"/>
                <a:cs typeface="Calibri" panose="020F0502020204030204" pitchFamily="34" charset="0"/>
              </a:rPr>
              <a:t>端末色</a:t>
            </a:r>
            <a:r>
              <a:rPr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97" name="Rectangle 2">
            <a:extLst>
              <a:ext uri="{FF2B5EF4-FFF2-40B4-BE49-F238E27FC236}">
                <a16:creationId xmlns:a16="http://schemas.microsoft.com/office/drawing/2014/main" id="{298196AA-8BDF-4FBA-9D7D-CF7A0F4B7518}"/>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みらい</a:t>
            </a:r>
            <a:r>
              <a:rPr lang="en-US" altLang="ja-JP" sz="2400" b="1">
                <a:solidFill>
                  <a:schemeClr val="bg1"/>
                </a:solidFill>
                <a:latin typeface="+mj-lt"/>
                <a:ea typeface="+mj-ea"/>
              </a:rPr>
              <a:t>3F</a:t>
            </a:r>
            <a:r>
              <a:rPr lang="ja-JP" altLang="en-US" sz="2400" b="1">
                <a:solidFill>
                  <a:schemeClr val="bg1"/>
                </a:solidFill>
                <a:latin typeface="+mj-ea"/>
                <a:ea typeface="+mj-ea"/>
              </a:rPr>
              <a:t>のネットワーク構成</a:t>
            </a:r>
            <a:endParaRPr lang="ja-JP" altLang="en-US" sz="2400" b="1" dirty="0">
              <a:solidFill>
                <a:schemeClr val="bg1"/>
              </a:solidFill>
              <a:latin typeface="+mj-ea"/>
              <a:ea typeface="+mj-ea"/>
            </a:endParaRPr>
          </a:p>
        </p:txBody>
      </p:sp>
    </p:spTree>
    <p:extLst>
      <p:ext uri="{BB962C8B-B14F-4D97-AF65-F5344CB8AC3E}">
        <p14:creationId xmlns:p14="http://schemas.microsoft.com/office/powerpoint/2010/main" val="501797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37A623-553A-4981-A2BA-5DAA60696D16}"/>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en-US" altLang="ja-JP" sz="2400" b="1">
                <a:solidFill>
                  <a:schemeClr val="bg1"/>
                </a:solidFill>
                <a:latin typeface="+mj-ea"/>
                <a:ea typeface="+mj-ea"/>
              </a:rPr>
              <a:t>Web</a:t>
            </a:r>
            <a:r>
              <a:rPr lang="ja-JP" altLang="en-US" sz="2400" b="1">
                <a:solidFill>
                  <a:schemeClr val="bg1"/>
                </a:solidFill>
                <a:latin typeface="+mj-ea"/>
                <a:ea typeface="+mj-ea"/>
              </a:rPr>
              <a:t>サービスの構築方法１</a:t>
            </a:r>
            <a:endParaRPr lang="ja-JP" altLang="en-US" sz="2400" b="1" dirty="0">
              <a:solidFill>
                <a:schemeClr val="bg1"/>
              </a:solidFill>
              <a:latin typeface="+mj-ea"/>
              <a:ea typeface="+mj-ea"/>
            </a:endParaRPr>
          </a:p>
        </p:txBody>
      </p:sp>
      <p:sp>
        <p:nvSpPr>
          <p:cNvPr id="6" name="コンテンツ プレースホルダー 2">
            <a:extLst>
              <a:ext uri="{FF2B5EF4-FFF2-40B4-BE49-F238E27FC236}">
                <a16:creationId xmlns:a16="http://schemas.microsoft.com/office/drawing/2014/main" id="{4F714070-A723-464A-A7F0-DB134D740114}"/>
              </a:ext>
            </a:extLst>
          </p:cNvPr>
          <p:cNvSpPr>
            <a:spLocks noGrp="1"/>
          </p:cNvSpPr>
          <p:nvPr>
            <p:ph idx="1"/>
          </p:nvPr>
        </p:nvSpPr>
        <p:spPr>
          <a:xfrm>
            <a:off x="250825" y="638690"/>
            <a:ext cx="8642350" cy="5670630"/>
          </a:xfrm>
        </p:spPr>
        <p:txBody>
          <a:bodyPr/>
          <a:lstStyle/>
          <a:p>
            <a:pPr marL="0" indent="0">
              <a:buNone/>
            </a:pPr>
            <a:r>
              <a:rPr kumimoji="1" lang="ja-JP" altLang="en-US" sz="1600" dirty="0"/>
              <a:t>概要</a:t>
            </a:r>
            <a:endParaRPr kumimoji="1" lang="en-US" altLang="ja-JP" sz="1600" dirty="0"/>
          </a:p>
          <a:p>
            <a:pPr marL="180975" indent="-180975"/>
            <a:r>
              <a:rPr kumimoji="1" lang="en-US" altLang="ja-JP" sz="1600" dirty="0"/>
              <a:t>Web</a:t>
            </a:r>
            <a:r>
              <a:rPr kumimoji="1" lang="ja-JP" altLang="en-US" sz="1600" dirty="0"/>
              <a:t>サービスは、各クライアントの</a:t>
            </a:r>
            <a:r>
              <a:rPr kumimoji="1" lang="en-US" altLang="ja-JP" sz="1600" dirty="0"/>
              <a:t>web</a:t>
            </a:r>
            <a:r>
              <a:rPr kumimoji="1" lang="ja-JP" altLang="en-US" sz="1600" dirty="0"/>
              <a:t>ブラウザを</a:t>
            </a:r>
            <a:r>
              <a:rPr lang="ja-JP" altLang="en-US" sz="1600" dirty="0"/>
              <a:t>介して、サーバの資源を利用する形態である。</a:t>
            </a:r>
            <a:endParaRPr lang="en-US" altLang="ja-JP" sz="1600" dirty="0"/>
          </a:p>
          <a:p>
            <a:pPr marL="180975" indent="-180975"/>
            <a:r>
              <a:rPr lang="ja-JP" altLang="en-US" sz="1600" dirty="0"/>
              <a:t>ブラウザによって多少の違いはあるものの、</a:t>
            </a:r>
            <a:r>
              <a:rPr lang="en-US" altLang="ja-JP" sz="1600" dirty="0"/>
              <a:t>OS</a:t>
            </a:r>
            <a:r>
              <a:rPr lang="ja-JP" altLang="en-US" sz="1600" dirty="0"/>
              <a:t>、バージョンを超えた利用互換性がある。</a:t>
            </a:r>
            <a:endParaRPr lang="en-US" altLang="ja-JP" sz="1600" dirty="0"/>
          </a:p>
          <a:p>
            <a:pPr marL="0" indent="180975">
              <a:buNone/>
            </a:pPr>
            <a:r>
              <a:rPr kumimoji="1" lang="ja-JP" altLang="en-US" sz="1600" dirty="0"/>
              <a:t>例）</a:t>
            </a:r>
            <a:endParaRPr kumimoji="1" lang="en-US" altLang="ja-JP" sz="1600" dirty="0"/>
          </a:p>
          <a:p>
            <a:pPr marL="0" indent="180975">
              <a:buNone/>
              <a:tabLst>
                <a:tab pos="452438" algn="l"/>
              </a:tabLst>
            </a:pPr>
            <a:r>
              <a:rPr kumimoji="1" lang="en-US" altLang="ja-JP" sz="1600" dirty="0"/>
              <a:t>	</a:t>
            </a:r>
            <a:r>
              <a:rPr kumimoji="1" lang="ja-JP" altLang="en-US" sz="1600" dirty="0"/>
              <a:t>ファイルの読み書き：</a:t>
            </a:r>
            <a:r>
              <a:rPr kumimoji="1" lang="en-US" altLang="ja-JP" sz="1600" dirty="0"/>
              <a:t>	web</a:t>
            </a:r>
            <a:r>
              <a:rPr kumimoji="1" lang="ja-JP" altLang="en-US" sz="1600" dirty="0"/>
              <a:t>を介したアップロード、ダウンロード</a:t>
            </a:r>
            <a:endParaRPr kumimoji="1" lang="en-US" altLang="ja-JP" sz="1600" dirty="0"/>
          </a:p>
          <a:p>
            <a:pPr marL="0" indent="180975">
              <a:buNone/>
              <a:tabLst>
                <a:tab pos="452438" algn="l"/>
              </a:tabLst>
            </a:pPr>
            <a:r>
              <a:rPr lang="en-US" altLang="ja-JP" sz="1600" dirty="0"/>
              <a:t>	</a:t>
            </a:r>
            <a:r>
              <a:rPr lang="ja-JP" altLang="en-US" sz="1600" dirty="0"/>
              <a:t>データの参照・更新：</a:t>
            </a:r>
            <a:r>
              <a:rPr lang="en-US" altLang="ja-JP" sz="1600" dirty="0"/>
              <a:t>	web</a:t>
            </a:r>
            <a:r>
              <a:rPr lang="ja-JP" altLang="en-US" sz="1600" dirty="0"/>
              <a:t>やユーティリティーを介しての</a:t>
            </a:r>
            <a:r>
              <a:rPr lang="en-US" altLang="ja-JP" sz="1600" dirty="0"/>
              <a:t>SQLDB</a:t>
            </a:r>
            <a:r>
              <a:rPr lang="ja-JP" altLang="en-US" sz="1600" dirty="0"/>
              <a:t>の参照・更新</a:t>
            </a:r>
            <a:endParaRPr lang="en-US" altLang="ja-JP" sz="1600" dirty="0"/>
          </a:p>
          <a:p>
            <a:pPr marL="180975" indent="-180975">
              <a:tabLst>
                <a:tab pos="452438" algn="l"/>
              </a:tabLst>
            </a:pPr>
            <a:r>
              <a:rPr kumimoji="1" lang="en-US" altLang="ja-JP" sz="1600" dirty="0"/>
              <a:t>Web</a:t>
            </a:r>
            <a:r>
              <a:rPr kumimoji="1" lang="ja-JP" altLang="en-US" sz="1600" dirty="0"/>
              <a:t>サービスは、ブラウザ側で動作する</a:t>
            </a:r>
            <a:r>
              <a:rPr kumimoji="1" lang="en-US" altLang="ja-JP" sz="1600" dirty="0"/>
              <a:t>html</a:t>
            </a:r>
            <a:r>
              <a:rPr kumimoji="1" lang="ja-JP" altLang="en-US" sz="1600" dirty="0"/>
              <a:t>、</a:t>
            </a:r>
            <a:r>
              <a:rPr kumimoji="1" lang="en-US" altLang="ja-JP" sz="1600" dirty="0"/>
              <a:t>javascript</a:t>
            </a:r>
            <a:r>
              <a:rPr kumimoji="1" lang="ja-JP" altLang="en-US" sz="1600" dirty="0"/>
              <a:t>と、サーバ側で </a:t>
            </a:r>
            <a:r>
              <a:rPr kumimoji="1" lang="en-US" altLang="ja-JP" sz="1600" dirty="0"/>
              <a:t>cgi </a:t>
            </a:r>
            <a:r>
              <a:rPr kumimoji="1" lang="ja-JP" altLang="en-US" sz="1600" dirty="0"/>
              <a:t>を通して動作する</a:t>
            </a:r>
            <a:r>
              <a:rPr kumimoji="1" lang="en-US" altLang="ja-JP" sz="1600" dirty="0"/>
              <a:t>perl/php/python</a:t>
            </a:r>
            <a:r>
              <a:rPr kumimoji="1" lang="ja-JP" altLang="en-US" sz="1600" dirty="0"/>
              <a:t>等の </a:t>
            </a:r>
            <a:r>
              <a:rPr kumimoji="1" lang="en-US" altLang="ja-JP" sz="1600" dirty="0"/>
              <a:t>cgi</a:t>
            </a:r>
            <a:r>
              <a:rPr lang="ja-JP" altLang="en-US" sz="1600" dirty="0"/>
              <a:t> プログラム</a:t>
            </a:r>
            <a:r>
              <a:rPr kumimoji="1" lang="ja-JP" altLang="en-US" sz="1600" dirty="0"/>
              <a:t>で構成される。</a:t>
            </a:r>
            <a:endParaRPr kumimoji="1" lang="en-US" altLang="ja-JP" sz="1600" dirty="0"/>
          </a:p>
          <a:p>
            <a:pPr marL="180975" indent="-180975">
              <a:tabLst>
                <a:tab pos="452438" algn="l"/>
              </a:tabLst>
            </a:pPr>
            <a:r>
              <a:rPr kumimoji="1" lang="ja-JP" altLang="en-US" sz="1600" dirty="0"/>
              <a:t>一般的に、 </a:t>
            </a:r>
            <a:r>
              <a:rPr kumimoji="1" lang="en-US" altLang="ja-JP" sz="1600" dirty="0"/>
              <a:t>index.html</a:t>
            </a:r>
            <a:r>
              <a:rPr kumimoji="1" lang="ja-JP" altLang="en-US" sz="1600" dirty="0"/>
              <a:t> を</a:t>
            </a:r>
            <a:r>
              <a:rPr kumimoji="1" lang="en-US" altLang="ja-JP" sz="1600" dirty="0"/>
              <a:t>web</a:t>
            </a:r>
            <a:r>
              <a:rPr kumimoji="1" lang="ja-JP" altLang="en-US" sz="1600" dirty="0"/>
              <a:t>サイトのトップページに置き、そこから必要な</a:t>
            </a:r>
            <a:r>
              <a:rPr lang="en-US" altLang="ja-JP" sz="1600" dirty="0"/>
              <a:t> cgi </a:t>
            </a:r>
            <a:r>
              <a:rPr lang="ja-JP" altLang="en-US" sz="1600" dirty="0"/>
              <a:t>へ誘導する方法を</a:t>
            </a:r>
            <a:endParaRPr lang="en-US" altLang="ja-JP" sz="1600" dirty="0"/>
          </a:p>
          <a:p>
            <a:pPr marL="0" indent="180975">
              <a:buNone/>
              <a:tabLst>
                <a:tab pos="452438" algn="l"/>
              </a:tabLst>
            </a:pPr>
            <a:r>
              <a:rPr lang="ja-JP" altLang="en-US" sz="1600" dirty="0"/>
              <a:t>取っている。</a:t>
            </a:r>
            <a:endParaRPr lang="en-US" altLang="ja-JP" sz="1600" dirty="0"/>
          </a:p>
          <a:p>
            <a:pPr marL="0" indent="180975">
              <a:buNone/>
              <a:tabLst>
                <a:tab pos="452438" algn="l"/>
              </a:tabLst>
            </a:pPr>
            <a:r>
              <a:rPr lang="en-US" altLang="ja-JP" sz="1600" dirty="0"/>
              <a:t>web</a:t>
            </a:r>
            <a:r>
              <a:rPr lang="ja-JP" altLang="en-US" sz="1600" dirty="0"/>
              <a:t>サイトのトップページは</a:t>
            </a:r>
            <a:endParaRPr lang="en-US" altLang="ja-JP" sz="1600" dirty="0"/>
          </a:p>
          <a:p>
            <a:pPr marL="0" indent="180975">
              <a:buNone/>
              <a:tabLst>
                <a:tab pos="452438" algn="l"/>
              </a:tabLst>
            </a:pPr>
            <a:r>
              <a:rPr lang="en-US" altLang="ja-JP" sz="1600" dirty="0"/>
              <a:t>	http://</a:t>
            </a:r>
            <a:r>
              <a:rPr lang="ja-JP" altLang="en-US" sz="1600" dirty="0"/>
              <a:t>（サーバ名）</a:t>
            </a:r>
            <a:r>
              <a:rPr lang="en-US" altLang="ja-JP" sz="1600" dirty="0"/>
              <a:t>/</a:t>
            </a:r>
            <a:r>
              <a:rPr lang="ja-JP" altLang="en-US" sz="1600" dirty="0"/>
              <a:t>（</a:t>
            </a:r>
            <a:r>
              <a:rPr kumimoji="1" lang="ja-JP" altLang="en-US" sz="1600" dirty="0"/>
              <a:t>サービス</a:t>
            </a:r>
            <a:r>
              <a:rPr lang="ja-JP" altLang="en-US" sz="1600" dirty="0"/>
              <a:t>名）</a:t>
            </a:r>
            <a:r>
              <a:rPr lang="en-US" altLang="ja-JP" sz="1600" dirty="0"/>
              <a:t>/index.html</a:t>
            </a:r>
          </a:p>
          <a:p>
            <a:pPr marL="0" indent="180975">
              <a:buNone/>
              <a:tabLst>
                <a:tab pos="452438" algn="l"/>
              </a:tabLst>
            </a:pPr>
            <a:r>
              <a:rPr lang="ja-JP" altLang="en-US" sz="1600" dirty="0"/>
              <a:t>とし、誘導先は、</a:t>
            </a:r>
            <a:endParaRPr lang="en-US" altLang="ja-JP" sz="1600" dirty="0"/>
          </a:p>
          <a:p>
            <a:pPr marL="0" indent="180975">
              <a:buNone/>
              <a:tabLst>
                <a:tab pos="452438" algn="l"/>
              </a:tabLst>
            </a:pPr>
            <a:r>
              <a:rPr lang="en-US" altLang="ja-JP" sz="1600" dirty="0"/>
              <a:t>	http://</a:t>
            </a:r>
            <a:r>
              <a:rPr lang="ja-JP" altLang="en-US" sz="1600" dirty="0"/>
              <a:t>（サーバ名）</a:t>
            </a:r>
            <a:r>
              <a:rPr lang="en-US" altLang="ja-JP" sz="1600" dirty="0"/>
              <a:t>/cgi/</a:t>
            </a:r>
            <a:r>
              <a:rPr lang="ja-JP" altLang="en-US" sz="1600" dirty="0"/>
              <a:t>（</a:t>
            </a:r>
            <a:r>
              <a:rPr kumimoji="1" lang="ja-JP" altLang="en-US" sz="1600" dirty="0"/>
              <a:t>サービス</a:t>
            </a:r>
            <a:r>
              <a:rPr lang="ja-JP" altLang="en-US" sz="1600" dirty="0"/>
              <a:t>名）</a:t>
            </a:r>
            <a:r>
              <a:rPr lang="en-US" altLang="ja-JP" sz="1600" dirty="0"/>
              <a:t>/</a:t>
            </a:r>
            <a:r>
              <a:rPr lang="ja-JP" altLang="en-US" sz="1600" dirty="0"/>
              <a:t>（画面・機能名）</a:t>
            </a:r>
            <a:r>
              <a:rPr lang="en-US" altLang="ja-JP" sz="1600" dirty="0"/>
              <a:t>.cgi</a:t>
            </a:r>
            <a:r>
              <a:rPr lang="ja-JP" altLang="en-US" sz="1600" dirty="0"/>
              <a:t> または ～</a:t>
            </a:r>
            <a:r>
              <a:rPr lang="en-US" altLang="ja-JP" sz="1600" dirty="0"/>
              <a:t>.php</a:t>
            </a:r>
            <a:r>
              <a:rPr lang="ja-JP" altLang="en-US" sz="1600" dirty="0"/>
              <a:t> または ～</a:t>
            </a:r>
            <a:r>
              <a:rPr lang="en-US" altLang="ja-JP" sz="1600" dirty="0"/>
              <a:t>.</a:t>
            </a:r>
            <a:r>
              <a:rPr lang="en-US" altLang="ja-JP" sz="1600" dirty="0" err="1"/>
              <a:t>py</a:t>
            </a:r>
            <a:endParaRPr lang="en-US" altLang="ja-JP" sz="1600" dirty="0"/>
          </a:p>
          <a:p>
            <a:pPr marL="0" indent="180975">
              <a:buNone/>
              <a:tabLst>
                <a:tab pos="452438" algn="l"/>
              </a:tabLst>
            </a:pPr>
            <a:r>
              <a:rPr kumimoji="1" lang="ja-JP" altLang="en-US" sz="1600" dirty="0"/>
              <a:t>とする。</a:t>
            </a:r>
            <a:endParaRPr kumimoji="1" lang="en-US" altLang="ja-JP" sz="1600" dirty="0"/>
          </a:p>
          <a:p>
            <a:pPr marL="0" indent="180975">
              <a:buNone/>
              <a:tabLst>
                <a:tab pos="452438" algn="l"/>
              </a:tabLst>
            </a:pPr>
            <a:r>
              <a:rPr kumimoji="1" lang="ja-JP" altLang="en-US" sz="1600" dirty="0"/>
              <a:t>例）</a:t>
            </a:r>
            <a:endParaRPr kumimoji="1" lang="en-US" altLang="ja-JP" sz="1600" dirty="0"/>
          </a:p>
          <a:p>
            <a:pPr marL="0" indent="180975">
              <a:buNone/>
              <a:tabLst>
                <a:tab pos="452438" algn="l"/>
              </a:tabLst>
            </a:pPr>
            <a:r>
              <a:rPr lang="en-US" altLang="ja-JP" sz="1600" dirty="0"/>
              <a:t>	http://nksv560.ad.nkc.co.jp/hello/index.html	</a:t>
            </a:r>
            <a:r>
              <a:rPr lang="en-US" altLang="ja-JP" sz="1600" dirty="0">
                <a:sym typeface="Wingdings" panose="05000000000000000000" pitchFamily="2" charset="2"/>
              </a:rPr>
              <a:t> ~/cgi/hello/page1.cgi</a:t>
            </a:r>
            <a:endParaRPr lang="en-US" altLang="ja-JP" sz="1600" dirty="0"/>
          </a:p>
        </p:txBody>
      </p:sp>
    </p:spTree>
    <p:extLst>
      <p:ext uri="{BB962C8B-B14F-4D97-AF65-F5344CB8AC3E}">
        <p14:creationId xmlns:p14="http://schemas.microsoft.com/office/powerpoint/2010/main" val="3692147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37A623-553A-4981-A2BA-5DAA60696D16}"/>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en-US" altLang="ja-JP" sz="2400" b="1">
                <a:solidFill>
                  <a:schemeClr val="bg1"/>
                </a:solidFill>
                <a:latin typeface="+mj-ea"/>
                <a:ea typeface="+mj-ea"/>
              </a:rPr>
              <a:t>Web</a:t>
            </a:r>
            <a:r>
              <a:rPr lang="ja-JP" altLang="en-US" sz="2400" b="1">
                <a:solidFill>
                  <a:schemeClr val="bg1"/>
                </a:solidFill>
                <a:latin typeface="+mj-ea"/>
                <a:ea typeface="+mj-ea"/>
              </a:rPr>
              <a:t>サービスの構築方法２</a:t>
            </a:r>
            <a:endParaRPr lang="ja-JP" altLang="en-US" sz="2400" b="1" dirty="0">
              <a:solidFill>
                <a:schemeClr val="bg1"/>
              </a:solidFill>
              <a:latin typeface="+mj-ea"/>
              <a:ea typeface="+mj-ea"/>
            </a:endParaRPr>
          </a:p>
        </p:txBody>
      </p:sp>
      <p:sp>
        <p:nvSpPr>
          <p:cNvPr id="6" name="コンテンツ プレースホルダー 2">
            <a:extLst>
              <a:ext uri="{FF2B5EF4-FFF2-40B4-BE49-F238E27FC236}">
                <a16:creationId xmlns:a16="http://schemas.microsoft.com/office/drawing/2014/main" id="{4F714070-A723-464A-A7F0-DB134D740114}"/>
              </a:ext>
            </a:extLst>
          </p:cNvPr>
          <p:cNvSpPr>
            <a:spLocks noGrp="1"/>
          </p:cNvSpPr>
          <p:nvPr>
            <p:ph idx="1"/>
          </p:nvPr>
        </p:nvSpPr>
        <p:spPr>
          <a:xfrm>
            <a:off x="250825" y="638689"/>
            <a:ext cx="8642350" cy="5805645"/>
          </a:xfrm>
        </p:spPr>
        <p:txBody>
          <a:bodyPr/>
          <a:lstStyle/>
          <a:p>
            <a:pPr marL="180975" indent="-180975">
              <a:tabLst>
                <a:tab pos="3048000" algn="l"/>
              </a:tabLst>
            </a:pPr>
            <a:r>
              <a:rPr kumimoji="1" lang="en-US" altLang="ja-JP" sz="1600"/>
              <a:t>web</a:t>
            </a:r>
            <a:r>
              <a:rPr kumimoji="1" lang="ja-JP" altLang="en-US" sz="1600"/>
              <a:t>ブラウザから見た画面構成の階層は以下のように見える</a:t>
            </a:r>
            <a:r>
              <a:rPr lang="ja-JP" altLang="en-US" sz="1600"/>
              <a:t>。</a:t>
            </a:r>
            <a:br>
              <a:rPr lang="en-US" altLang="ja-JP" sz="1600"/>
            </a:br>
            <a:r>
              <a:rPr lang="en-US" altLang="ja-JP" sz="1600"/>
              <a:t>http://</a:t>
            </a:r>
            <a:r>
              <a:rPr lang="ja-JP" altLang="en-US" sz="1600">
                <a:solidFill>
                  <a:srgbClr val="FF0000"/>
                </a:solidFill>
              </a:rPr>
              <a:t>（サーバ名）</a:t>
            </a:r>
            <a:r>
              <a:rPr lang="en-US" altLang="ja-JP" sz="1600"/>
              <a:t>/</a:t>
            </a:r>
            <a:r>
              <a:rPr lang="ja-JP" altLang="en-US" sz="1600"/>
              <a:t>（</a:t>
            </a:r>
            <a:r>
              <a:rPr kumimoji="1" lang="ja-JP" altLang="en-US" sz="1600"/>
              <a:t>サービス</a:t>
            </a:r>
            <a:r>
              <a:rPr lang="ja-JP" altLang="en-US" sz="1600"/>
              <a:t>名）</a:t>
            </a:r>
            <a:r>
              <a:rPr lang="en-US" altLang="ja-JP" sz="1600"/>
              <a:t>/	index.html</a:t>
            </a:r>
          </a:p>
          <a:p>
            <a:pPr marL="0" indent="0">
              <a:buNone/>
              <a:tabLst>
                <a:tab pos="3048000" algn="l"/>
              </a:tabLst>
            </a:pPr>
            <a:r>
              <a:rPr lang="en-US" altLang="ja-JP" sz="1600"/>
              <a:t>	index2.html</a:t>
            </a:r>
            <a:br>
              <a:rPr lang="en-US" altLang="ja-JP" sz="1600"/>
            </a:b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1</a:t>
            </a:r>
            <a:r>
              <a:rPr lang="ja-JP" altLang="en-US" sz="1600"/>
              <a:t>）</a:t>
            </a:r>
            <a:r>
              <a:rPr lang="en-US" altLang="ja-JP" sz="1600"/>
              <a:t>.cgi</a:t>
            </a:r>
          </a:p>
          <a:p>
            <a:pPr marL="0" indent="0">
              <a:buNone/>
              <a:tabLst>
                <a:tab pos="3048000" algn="l"/>
              </a:tabLst>
            </a:pP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2</a:t>
            </a:r>
            <a:r>
              <a:rPr lang="ja-JP" altLang="en-US" sz="1600"/>
              <a:t>）</a:t>
            </a:r>
            <a:r>
              <a:rPr lang="en-US" altLang="ja-JP" sz="1600"/>
              <a:t>.cgi</a:t>
            </a:r>
          </a:p>
          <a:p>
            <a:pPr marL="180975" indent="0">
              <a:buNone/>
              <a:tabLst>
                <a:tab pos="2781300" algn="l"/>
              </a:tabLst>
            </a:pPr>
            <a:r>
              <a:rPr lang="ja-JP" altLang="en-US" sz="1600"/>
              <a:t>この時、</a:t>
            </a:r>
            <a:r>
              <a:rPr lang="en-US" altLang="ja-JP" sz="1600"/>
              <a:t>cgi</a:t>
            </a:r>
            <a:r>
              <a:rPr lang="ja-JP" altLang="en-US" sz="1600"/>
              <a:t>が実行して生成するファイルは、所有者</a:t>
            </a:r>
            <a:r>
              <a:rPr lang="en-US" altLang="ja-JP" sz="1600"/>
              <a:t>”</a:t>
            </a:r>
            <a:r>
              <a:rPr lang="en-US" altLang="ja-JP" sz="1600">
                <a:solidFill>
                  <a:srgbClr val="FF0000"/>
                </a:solidFill>
              </a:rPr>
              <a:t>www-data</a:t>
            </a:r>
            <a:r>
              <a:rPr lang="en-US" altLang="ja-JP" sz="1600"/>
              <a:t>”</a:t>
            </a:r>
            <a:r>
              <a:rPr lang="ja-JP" altLang="en-US" sz="1600"/>
              <a:t>として生成される。</a:t>
            </a:r>
            <a:endParaRPr lang="en-US" altLang="ja-JP" sz="1600"/>
          </a:p>
          <a:p>
            <a:pPr marL="180975" indent="-180975">
              <a:tabLst>
                <a:tab pos="542925" algn="l"/>
                <a:tab pos="2867025" algn="l"/>
              </a:tabLst>
            </a:pPr>
            <a:r>
              <a:rPr lang="ja-JP" altLang="en-US" sz="1600"/>
              <a:t>実際のサーバ側のディレクトリの階層は、以下のようになっている。</a:t>
            </a:r>
            <a:br>
              <a:rPr lang="en-US" altLang="ja-JP" sz="1600"/>
            </a:br>
            <a:r>
              <a:rPr lang="en-US" altLang="ja-JP" sz="1600"/>
              <a:t>/</a:t>
            </a:r>
            <a:r>
              <a:rPr lang="en-US" altLang="ja-JP" sz="1600" u="sng">
                <a:solidFill>
                  <a:srgbClr val="FF0000"/>
                </a:solidFill>
              </a:rPr>
              <a:t>var/www/html</a:t>
            </a:r>
            <a:r>
              <a:rPr lang="en-US" altLang="ja-JP" sz="1600"/>
              <a:t>/</a:t>
            </a:r>
            <a:r>
              <a:rPr lang="ja-JP" altLang="en-US" sz="1600"/>
              <a:t>（</a:t>
            </a:r>
            <a:r>
              <a:rPr kumimoji="1" lang="ja-JP" altLang="en-US" sz="1600"/>
              <a:t>サービス</a:t>
            </a:r>
            <a:r>
              <a:rPr lang="ja-JP" altLang="en-US" sz="1600"/>
              <a:t>名）</a:t>
            </a:r>
            <a:r>
              <a:rPr lang="en-US" altLang="ja-JP" sz="1600"/>
              <a:t>/	index.html</a:t>
            </a:r>
          </a:p>
          <a:p>
            <a:pPr marL="0" indent="0">
              <a:buNone/>
              <a:tabLst>
                <a:tab pos="542925" algn="l"/>
                <a:tab pos="2867025" algn="l"/>
              </a:tabLst>
            </a:pPr>
            <a:r>
              <a:rPr lang="en-US" altLang="ja-JP" sz="1600"/>
              <a:t>		index2.html</a:t>
            </a:r>
          </a:p>
          <a:p>
            <a:pPr marL="0" indent="0">
              <a:buNone/>
              <a:tabLst>
                <a:tab pos="542925" algn="l"/>
                <a:tab pos="2867025" algn="l"/>
              </a:tabLst>
            </a:pPr>
            <a:r>
              <a:rPr lang="en-US" altLang="ja-JP" sz="1600"/>
              <a:t>	</a:t>
            </a:r>
            <a:r>
              <a:rPr lang="ja-JP" altLang="en-US" sz="1600"/>
              <a:t>（サーバ名）</a:t>
            </a: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1</a:t>
            </a:r>
            <a:r>
              <a:rPr lang="ja-JP" altLang="en-US" sz="1600"/>
              <a:t>）</a:t>
            </a:r>
            <a:r>
              <a:rPr lang="en-US" altLang="ja-JP" sz="1600"/>
              <a:t>.cgi</a:t>
            </a:r>
          </a:p>
          <a:p>
            <a:pPr marL="0" indent="0">
              <a:buNone/>
              <a:tabLst>
                <a:tab pos="542925" algn="l"/>
                <a:tab pos="2867025" algn="l"/>
              </a:tabLst>
            </a:pP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2</a:t>
            </a:r>
            <a:r>
              <a:rPr lang="ja-JP" altLang="en-US" sz="1600"/>
              <a:t>）</a:t>
            </a:r>
            <a:r>
              <a:rPr lang="en-US" altLang="ja-JP" sz="1600"/>
              <a:t>.cgi</a:t>
            </a:r>
          </a:p>
          <a:p>
            <a:pPr marL="180975" indent="0">
              <a:buNone/>
            </a:pPr>
            <a:r>
              <a:rPr lang="ja-JP" altLang="en-US" sz="1600"/>
              <a:t>この時、</a:t>
            </a:r>
            <a:r>
              <a:rPr lang="en-US" altLang="ja-JP" sz="1600"/>
              <a:t>cgi</a:t>
            </a:r>
            <a:r>
              <a:rPr lang="ja-JP" altLang="en-US" sz="1600"/>
              <a:t>が実行して生成するファイルは、ログインした</a:t>
            </a:r>
            <a:r>
              <a:rPr lang="ja-JP" altLang="en-US" sz="1600">
                <a:solidFill>
                  <a:srgbClr val="FF0000"/>
                </a:solidFill>
              </a:rPr>
              <a:t>ユーザ</a:t>
            </a:r>
            <a:r>
              <a:rPr lang="ja-JP" altLang="en-US" sz="1600"/>
              <a:t>が所有者として生成される。</a:t>
            </a:r>
            <a:endParaRPr lang="en-US" altLang="ja-JP" sz="1600"/>
          </a:p>
          <a:p>
            <a:pPr marL="180975" indent="-180975">
              <a:tabLst>
                <a:tab pos="3409950" algn="l"/>
              </a:tabLst>
            </a:pPr>
            <a:r>
              <a:rPr lang="en-US" altLang="ja-JP" sz="1600"/>
              <a:t>Windows</a:t>
            </a:r>
            <a:r>
              <a:rPr lang="ja-JP" altLang="en-US" sz="1600"/>
              <a:t>共有フォルダから見た場合のフォルダ階層は、以下のようになっている。</a:t>
            </a:r>
            <a:br>
              <a:rPr lang="en-US" altLang="ja-JP" sz="1600"/>
            </a:br>
            <a:r>
              <a:rPr lang="en-US" altLang="ja-JP" sz="1600"/>
              <a:t>\\</a:t>
            </a:r>
            <a:r>
              <a:rPr lang="ja-JP" altLang="en-US" sz="1600">
                <a:solidFill>
                  <a:srgbClr val="FF0000"/>
                </a:solidFill>
              </a:rPr>
              <a:t>（サーバ名）</a:t>
            </a:r>
            <a:r>
              <a:rPr lang="en-US" altLang="ja-JP" sz="1600">
                <a:solidFill>
                  <a:srgbClr val="FF0000"/>
                </a:solidFill>
              </a:rPr>
              <a:t>\www</a:t>
            </a:r>
            <a:r>
              <a:rPr lang="en-US" altLang="ja-JP" sz="1600"/>
              <a:t>\</a:t>
            </a:r>
            <a:r>
              <a:rPr lang="ja-JP" altLang="en-US" sz="1600"/>
              <a:t> （</a:t>
            </a:r>
            <a:r>
              <a:rPr kumimoji="1" lang="ja-JP" altLang="en-US" sz="1600"/>
              <a:t>サービス</a:t>
            </a:r>
            <a:r>
              <a:rPr lang="ja-JP" altLang="en-US" sz="1600"/>
              <a:t>名）</a:t>
            </a:r>
            <a:r>
              <a:rPr lang="en-US" altLang="ja-JP" sz="1600"/>
              <a:t>/	index.html</a:t>
            </a:r>
          </a:p>
          <a:p>
            <a:pPr marL="0" indent="0">
              <a:buNone/>
              <a:tabLst>
                <a:tab pos="3409950" algn="l"/>
              </a:tabLst>
            </a:pPr>
            <a:r>
              <a:rPr lang="en-US" altLang="ja-JP" sz="1600"/>
              <a:t>	index2.html</a:t>
            </a:r>
          </a:p>
          <a:p>
            <a:pPr marL="0" indent="0">
              <a:buNone/>
              <a:tabLst>
                <a:tab pos="3409950" algn="l"/>
              </a:tabLst>
            </a:pP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1</a:t>
            </a:r>
            <a:r>
              <a:rPr lang="ja-JP" altLang="en-US" sz="1600"/>
              <a:t>）</a:t>
            </a:r>
            <a:r>
              <a:rPr lang="en-US" altLang="ja-JP" sz="1600"/>
              <a:t>.cgi</a:t>
            </a:r>
          </a:p>
          <a:p>
            <a:pPr marL="0" indent="0">
              <a:buNone/>
              <a:tabLst>
                <a:tab pos="3409950" algn="l"/>
              </a:tabLst>
            </a:pP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2</a:t>
            </a:r>
            <a:r>
              <a:rPr lang="ja-JP" altLang="en-US" sz="1600"/>
              <a:t>）</a:t>
            </a:r>
            <a:r>
              <a:rPr lang="en-US" altLang="ja-JP" sz="1600"/>
              <a:t>.cgi</a:t>
            </a:r>
          </a:p>
          <a:p>
            <a:pPr marL="180975" indent="0">
              <a:buNone/>
              <a:tabLst>
                <a:tab pos="3143250" algn="l"/>
              </a:tabLst>
            </a:pPr>
            <a:r>
              <a:rPr lang="ja-JP" altLang="en-US" sz="1600"/>
              <a:t>この時、クライアントがファイルを書込みしたファイルは、所有者</a:t>
            </a:r>
            <a:r>
              <a:rPr lang="en-US" altLang="ja-JP" sz="1600"/>
              <a:t>”</a:t>
            </a:r>
            <a:r>
              <a:rPr lang="en-US" altLang="ja-JP" sz="1600">
                <a:solidFill>
                  <a:srgbClr val="FF0000"/>
                </a:solidFill>
              </a:rPr>
              <a:t>nobody</a:t>
            </a:r>
            <a:r>
              <a:rPr lang="en-US" altLang="ja-JP" sz="1600"/>
              <a:t>”</a:t>
            </a:r>
            <a:r>
              <a:rPr lang="ja-JP" altLang="en-US" sz="1600"/>
              <a:t>として生成される。</a:t>
            </a:r>
            <a:endParaRPr lang="en-US" altLang="ja-JP" sz="1600"/>
          </a:p>
          <a:p>
            <a:pPr marL="0" indent="0">
              <a:buNone/>
              <a:tabLst>
                <a:tab pos="3143250" algn="l"/>
              </a:tabLst>
            </a:pPr>
            <a:r>
              <a:rPr lang="ja-JP" altLang="en-US" sz="1600"/>
              <a:t>構築の際は、これらファイルの場所と所有者に注意する。配下にサブディレクトリを作成した時、</a:t>
            </a:r>
            <a:br>
              <a:rPr lang="en-US" altLang="ja-JP" sz="1600"/>
            </a:br>
            <a:r>
              <a:rPr lang="ja-JP" altLang="en-US" sz="1600"/>
              <a:t>所有者が異なる場合にモードを変更しないと書き込みできない。</a:t>
            </a:r>
            <a:endParaRPr lang="en-US" altLang="ja-JP" sz="1600"/>
          </a:p>
        </p:txBody>
      </p:sp>
      <p:sp>
        <p:nvSpPr>
          <p:cNvPr id="2" name="矢印: 下 1">
            <a:extLst>
              <a:ext uri="{FF2B5EF4-FFF2-40B4-BE49-F238E27FC236}">
                <a16:creationId xmlns:a16="http://schemas.microsoft.com/office/drawing/2014/main" id="{091291C2-6CF6-4AE7-87C2-9F226A9A50B4}"/>
              </a:ext>
            </a:extLst>
          </p:cNvPr>
          <p:cNvSpPr/>
          <p:nvPr/>
        </p:nvSpPr>
        <p:spPr>
          <a:xfrm>
            <a:off x="1151620" y="2888940"/>
            <a:ext cx="225025" cy="2250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66535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37A623-553A-4981-A2BA-5DAA60696D16}"/>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en-US" altLang="ja-JP" sz="2400" b="1">
                <a:solidFill>
                  <a:schemeClr val="bg1"/>
                </a:solidFill>
                <a:latin typeface="+mj-ea"/>
                <a:ea typeface="+mj-ea"/>
              </a:rPr>
              <a:t>Web</a:t>
            </a:r>
            <a:r>
              <a:rPr lang="ja-JP" altLang="en-US" sz="2400" b="1">
                <a:solidFill>
                  <a:schemeClr val="bg1"/>
                </a:solidFill>
                <a:latin typeface="+mj-ea"/>
                <a:ea typeface="+mj-ea"/>
              </a:rPr>
              <a:t>サービスの構築方法３</a:t>
            </a:r>
            <a:endParaRPr lang="ja-JP" altLang="en-US" sz="2400" b="1" dirty="0">
              <a:solidFill>
                <a:schemeClr val="bg1"/>
              </a:solidFill>
              <a:latin typeface="+mj-ea"/>
              <a:ea typeface="+mj-ea"/>
            </a:endParaRPr>
          </a:p>
        </p:txBody>
      </p:sp>
      <p:sp>
        <p:nvSpPr>
          <p:cNvPr id="6" name="コンテンツ プレースホルダー 2">
            <a:extLst>
              <a:ext uri="{FF2B5EF4-FFF2-40B4-BE49-F238E27FC236}">
                <a16:creationId xmlns:a16="http://schemas.microsoft.com/office/drawing/2014/main" id="{4F714070-A723-464A-A7F0-DB134D740114}"/>
              </a:ext>
            </a:extLst>
          </p:cNvPr>
          <p:cNvSpPr>
            <a:spLocks noGrp="1"/>
          </p:cNvSpPr>
          <p:nvPr>
            <p:ph idx="1"/>
          </p:nvPr>
        </p:nvSpPr>
        <p:spPr>
          <a:xfrm>
            <a:off x="250825" y="638689"/>
            <a:ext cx="8642350" cy="5805645"/>
          </a:xfrm>
        </p:spPr>
        <p:txBody>
          <a:bodyPr/>
          <a:lstStyle/>
          <a:p>
            <a:pPr marL="180975" indent="-180975">
              <a:tabLst>
                <a:tab pos="3048000" algn="l"/>
              </a:tabLst>
            </a:pPr>
            <a:r>
              <a:rPr kumimoji="1" lang="ja-JP" altLang="en-US" sz="1600" dirty="0"/>
              <a:t>社外に向けた</a:t>
            </a:r>
            <a:r>
              <a:rPr kumimoji="1" lang="en-US" altLang="ja-JP" sz="1600" dirty="0"/>
              <a:t>web</a:t>
            </a:r>
            <a:r>
              <a:rPr kumimoji="1" lang="ja-JP" altLang="en-US" sz="1600" dirty="0"/>
              <a:t>サービス</a:t>
            </a:r>
            <a:endParaRPr lang="en-US" altLang="ja-JP" sz="1600" dirty="0"/>
          </a:p>
          <a:p>
            <a:pPr marL="180975" indent="0">
              <a:buNone/>
              <a:tabLst>
                <a:tab pos="2781300" algn="l"/>
              </a:tabLst>
            </a:pPr>
            <a:r>
              <a:rPr lang="ja-JP" altLang="en-US" sz="1600" dirty="0"/>
              <a:t>現在、社外協力会社との情報交換は、メール、あるいは添付ファイル、会社によっては</a:t>
            </a:r>
            <a:r>
              <a:rPr lang="en-US" altLang="ja-JP" sz="1600" dirty="0" err="1"/>
              <a:t>vpn</a:t>
            </a:r>
            <a:r>
              <a:rPr lang="ja-JP" altLang="en-US" sz="1600" dirty="0"/>
              <a:t>回線を使って行っている。</a:t>
            </a:r>
            <a:endParaRPr lang="en-US" altLang="ja-JP" sz="1600" dirty="0"/>
          </a:p>
          <a:p>
            <a:pPr marL="180975" indent="0">
              <a:buNone/>
              <a:tabLst>
                <a:tab pos="2781300" algn="l"/>
              </a:tabLst>
            </a:pPr>
            <a:r>
              <a:rPr lang="ja-JP" altLang="en-US" sz="1600" dirty="0"/>
              <a:t>富岡サーバでは、すでに</a:t>
            </a:r>
            <a:r>
              <a:rPr lang="en-US" altLang="ja-JP" sz="1600" dirty="0"/>
              <a:t>nksv560</a:t>
            </a:r>
            <a:r>
              <a:rPr lang="ja-JP" altLang="en-US" sz="1600" dirty="0"/>
              <a:t>に対して社外から</a:t>
            </a:r>
            <a:r>
              <a:rPr lang="en-US" altLang="ja-JP" sz="1600" dirty="0"/>
              <a:t>https</a:t>
            </a:r>
            <a:r>
              <a:rPr lang="ja-JP" altLang="en-US" sz="1600" dirty="0"/>
              <a:t>通信（暗号化通信）によって</a:t>
            </a:r>
            <a:r>
              <a:rPr lang="en-US" altLang="ja-JP" sz="1600" dirty="0"/>
              <a:t>web</a:t>
            </a:r>
            <a:r>
              <a:rPr lang="ja-JP" altLang="en-US" sz="1600" dirty="0"/>
              <a:t>アクセスできるように準備されている。（</a:t>
            </a:r>
            <a:r>
              <a:rPr lang="en-US" altLang="ja-JP" sz="1600" dirty="0"/>
              <a:t>https://nktomioka.nkc.co.jp</a:t>
            </a:r>
            <a:r>
              <a:rPr lang="ja-JP" altLang="en-US" sz="1600" dirty="0"/>
              <a:t>）</a:t>
            </a:r>
            <a:endParaRPr lang="en-US" altLang="ja-JP" sz="1600" dirty="0"/>
          </a:p>
          <a:p>
            <a:pPr marL="180975" indent="0">
              <a:buNone/>
              <a:tabLst>
                <a:tab pos="2781300" algn="l"/>
              </a:tabLst>
            </a:pPr>
            <a:r>
              <a:rPr lang="ja-JP" altLang="en-US" sz="1600" dirty="0"/>
              <a:t>当初は、</a:t>
            </a:r>
            <a:r>
              <a:rPr lang="en-US" altLang="ja-JP" sz="1600" dirty="0"/>
              <a:t>SpO2</a:t>
            </a:r>
            <a:r>
              <a:rPr lang="ja-JP" altLang="en-US" sz="1600" dirty="0"/>
              <a:t>ディスポプローブがひっ迫した時、生産計画と納品予定を日ビと共有する目的で構築したシステムで、現在は、これをシステム品の生産時に予め</a:t>
            </a:r>
            <a:r>
              <a:rPr lang="en-US" altLang="ja-JP" sz="1600" dirty="0"/>
              <a:t>PFU</a:t>
            </a:r>
            <a:r>
              <a:rPr lang="ja-JP" altLang="en-US" sz="1600" dirty="0"/>
              <a:t>から納品物の構成情報をアップロードして、システム品自動生産システム（現在開発中</a:t>
            </a:r>
            <a:r>
              <a:rPr lang="en-US" altLang="ja-JP" sz="1600" dirty="0"/>
              <a:t>…</a:t>
            </a:r>
            <a:r>
              <a:rPr lang="ja-JP" altLang="en-US" sz="1600" dirty="0"/>
              <a:t>だった。）と連携することで、生産の効率化、ミスの回避を行うことを目的としていた。</a:t>
            </a:r>
            <a:endParaRPr lang="en-US" altLang="ja-JP" sz="1600" dirty="0"/>
          </a:p>
          <a:p>
            <a:pPr marL="180975" indent="0">
              <a:buNone/>
              <a:tabLst>
                <a:tab pos="2781300" algn="l"/>
              </a:tabLst>
            </a:pPr>
            <a:r>
              <a:rPr lang="en-US" altLang="ja-JP" sz="1600" dirty="0"/>
              <a:t>2021/8</a:t>
            </a:r>
            <a:r>
              <a:rPr lang="ja-JP" altLang="en-US" sz="1600" dirty="0"/>
              <a:t>現在、大東運輸～富岡間の製品入出庫連携ツールとして利用中。</a:t>
            </a:r>
            <a:endParaRPr lang="en-US" altLang="ja-JP" sz="1600" dirty="0"/>
          </a:p>
          <a:p>
            <a:pPr marL="180975" indent="0">
              <a:buNone/>
              <a:tabLst>
                <a:tab pos="2781300" algn="l"/>
              </a:tabLst>
            </a:pPr>
            <a:r>
              <a:rPr lang="ja-JP" altLang="en-US" sz="1600" dirty="0"/>
              <a:t>この</a:t>
            </a:r>
            <a:r>
              <a:rPr lang="en-US" altLang="ja-JP" sz="1600" dirty="0"/>
              <a:t>http</a:t>
            </a:r>
            <a:r>
              <a:rPr lang="ja-JP" altLang="en-US" sz="1600" dirty="0"/>
              <a:t>通信を行うため、「</a:t>
            </a:r>
            <a:r>
              <a:rPr lang="en-US" altLang="ja-JP" sz="1600" dirty="0"/>
              <a:t>SSL</a:t>
            </a:r>
            <a:r>
              <a:rPr lang="ja-JP" altLang="en-US" sz="1600" dirty="0"/>
              <a:t>サーバ証明書」を証明機関から発行してもらう必要があり、費用発生（今期は</a:t>
            </a:r>
            <a:r>
              <a:rPr lang="en-US" altLang="ja-JP" sz="1600" dirty="0"/>
              <a:t>\25,800</a:t>
            </a:r>
            <a:r>
              <a:rPr lang="ja-JP" altLang="en-US" sz="1600" dirty="0"/>
              <a:t>）する。次回は、来年の</a:t>
            </a:r>
            <a:r>
              <a:rPr lang="en-US" altLang="ja-JP" sz="1600" dirty="0"/>
              <a:t>1</a:t>
            </a:r>
            <a:r>
              <a:rPr lang="ja-JP" altLang="en-US" sz="1600" dirty="0"/>
              <a:t>月頃更新通知が来る予定。</a:t>
            </a:r>
            <a:endParaRPr lang="en-US" altLang="ja-JP" sz="1600" dirty="0"/>
          </a:p>
          <a:p>
            <a:pPr marL="180975" indent="0">
              <a:buNone/>
              <a:tabLst>
                <a:tab pos="2781300" algn="l"/>
              </a:tabLst>
            </a:pPr>
            <a:endParaRPr lang="en-US" altLang="ja-JP" sz="1600" dirty="0"/>
          </a:p>
        </p:txBody>
      </p:sp>
      <p:pic>
        <p:nvPicPr>
          <p:cNvPr id="8" name="図 7">
            <a:extLst>
              <a:ext uri="{FF2B5EF4-FFF2-40B4-BE49-F238E27FC236}">
                <a16:creationId xmlns:a16="http://schemas.microsoft.com/office/drawing/2014/main" id="{51187DD5-3325-4762-A18D-1464C4734890}"/>
              </a:ext>
            </a:extLst>
          </p:cNvPr>
          <p:cNvPicPr>
            <a:picLocks noChangeAspect="1"/>
          </p:cNvPicPr>
          <p:nvPr/>
        </p:nvPicPr>
        <p:blipFill rotWithShape="1">
          <a:blip r:embed="rId2"/>
          <a:srcRect b="22689"/>
          <a:stretch/>
        </p:blipFill>
        <p:spPr>
          <a:xfrm>
            <a:off x="521550" y="4044707"/>
            <a:ext cx="2495851" cy="2276136"/>
          </a:xfrm>
          <a:prstGeom prst="rect">
            <a:avLst/>
          </a:prstGeom>
        </p:spPr>
      </p:pic>
      <p:pic>
        <p:nvPicPr>
          <p:cNvPr id="5" name="図 4">
            <a:extLst>
              <a:ext uri="{FF2B5EF4-FFF2-40B4-BE49-F238E27FC236}">
                <a16:creationId xmlns:a16="http://schemas.microsoft.com/office/drawing/2014/main" id="{33035781-215F-46D8-B6DC-D3E5B4DDA932}"/>
              </a:ext>
            </a:extLst>
          </p:cNvPr>
          <p:cNvPicPr>
            <a:picLocks noChangeAspect="1"/>
          </p:cNvPicPr>
          <p:nvPr/>
        </p:nvPicPr>
        <p:blipFill>
          <a:blip r:embed="rId3"/>
          <a:stretch>
            <a:fillRect/>
          </a:stretch>
        </p:blipFill>
        <p:spPr>
          <a:xfrm>
            <a:off x="3193331" y="4959170"/>
            <a:ext cx="5408780" cy="1126118"/>
          </a:xfrm>
          <a:prstGeom prst="rect">
            <a:avLst/>
          </a:prstGeom>
        </p:spPr>
      </p:pic>
    </p:spTree>
    <p:extLst>
      <p:ext uri="{BB962C8B-B14F-4D97-AF65-F5344CB8AC3E}">
        <p14:creationId xmlns:p14="http://schemas.microsoft.com/office/powerpoint/2010/main" val="269369084"/>
      </p:ext>
    </p:extLst>
  </p:cSld>
  <p:clrMapOvr>
    <a:masterClrMapping/>
  </p:clrMapOvr>
</p:sld>
</file>

<file path=ppt/theme/theme1.xml><?xml version="1.0" encoding="utf-8"?>
<a:theme xmlns:a="http://schemas.openxmlformats.org/drawingml/2006/main" name="テーマ1">
  <a:themeElements>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1_NKstandard-A">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1_NKstandard-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1_NKstandard-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1_NKstandard-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1_NKstandard-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1_NKstandard-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1_NKstandard-A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1_NKstandard-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1_NKstandard-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1_NKstandard-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1_NKstandard-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1_NKstandard-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テーマ1</Template>
  <TotalTime>28861</TotalTime>
  <Words>2518</Words>
  <Application>Microsoft Office PowerPoint</Application>
  <PresentationFormat>画面に合わせる (4:3)</PresentationFormat>
  <Paragraphs>265</Paragraphs>
  <Slides>15</Slides>
  <Notes>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ＭＳ Ｐゴシック</vt:lpstr>
      <vt:lpstr>Noto Sans CJK JP Bold</vt:lpstr>
      <vt:lpstr>Arial</vt:lpstr>
      <vt:lpstr>Calibri</vt:lpstr>
      <vt:lpstr>テーマ1</vt:lpstr>
      <vt:lpstr>日本光電富岡株式会社 サーバシステムについて</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日本光電工業株式会社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小松　茂男</dc:creator>
  <cp:lastModifiedBy>IGARASHI Junichi (五十嵐 淳一)</cp:lastModifiedBy>
  <cp:revision>1065</cp:revision>
  <dcterms:created xsi:type="dcterms:W3CDTF">2013-10-09T06:30:30Z</dcterms:created>
  <dcterms:modified xsi:type="dcterms:W3CDTF">2022-02-02T08:39:15Z</dcterms:modified>
</cp:coreProperties>
</file>