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313" r:id="rId2"/>
    <p:sldId id="314" r:id="rId3"/>
    <p:sldId id="315" r:id="rId4"/>
    <p:sldId id="322" r:id="rId5"/>
    <p:sldId id="325" r:id="rId6"/>
    <p:sldId id="316" r:id="rId7"/>
    <p:sldId id="311" r:id="rId8"/>
    <p:sldId id="312" r:id="rId9"/>
    <p:sldId id="317" r:id="rId10"/>
    <p:sldId id="318" r:id="rId11"/>
    <p:sldId id="319" r:id="rId12"/>
    <p:sldId id="320" r:id="rId13"/>
    <p:sldId id="321" r:id="rId14"/>
    <p:sldId id="323" r:id="rId15"/>
    <p:sldId id="324" r:id="rId16"/>
  </p:sldIdLst>
  <p:sldSz cx="9144000" cy="6858000" type="screen4x3"/>
  <p:notesSz cx="6858000" cy="9144000"/>
  <p:defaultTex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E0E3"/>
    <a:srgbClr val="FFFF99"/>
    <a:srgbClr val="A0C8C8"/>
    <a:srgbClr val="FFFFCC"/>
    <a:srgbClr val="0000FF"/>
    <a:srgbClr val="FFCCFF"/>
    <a:srgbClr val="009900"/>
    <a:srgbClr val="FFCC66"/>
    <a:srgbClr val="B280B0"/>
    <a:srgbClr val="C56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2" autoAdjust="0"/>
    <p:restoredTop sz="94352" autoAdjust="0"/>
  </p:normalViewPr>
  <p:slideViewPr>
    <p:cSldViewPr>
      <p:cViewPr varScale="1">
        <p:scale>
          <a:sx n="106" d="100"/>
          <a:sy n="106" d="100"/>
        </p:scale>
        <p:origin x="516" y="11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50" charset="-128"/>
              </a:defRPr>
            </a:lvl1pPr>
          </a:lstStyle>
          <a:p>
            <a:pPr>
              <a:defRPr/>
            </a:pPr>
            <a:endParaRPr lang="en-US" altLang="ja-JP"/>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50" charset="-128"/>
              </a:defRPr>
            </a:lvl1pPr>
          </a:lstStyle>
          <a:p>
            <a:pPr>
              <a:defRPr/>
            </a:pPr>
            <a:endParaRPr lang="en-US" altLang="ja-JP"/>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50" charset="-128"/>
              </a:defRPr>
            </a:lvl1pPr>
          </a:lstStyle>
          <a:p>
            <a:pPr>
              <a:defRPr/>
            </a:pPr>
            <a:endParaRPr lang="en-US" altLang="ja-JP"/>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ＭＳ Ｐゴシック" pitchFamily="50" charset="-128"/>
              </a:defRPr>
            </a:lvl1pPr>
          </a:lstStyle>
          <a:p>
            <a:pPr>
              <a:defRPr/>
            </a:pPr>
            <a:fld id="{3B6EC29E-9641-4C37-87C7-08342DA865C6}" type="slidenum">
              <a:rPr lang="en-US" altLang="ja-JP"/>
              <a:pPr>
                <a:defRPr/>
              </a:pPr>
              <a:t>‹#›</a:t>
            </a:fld>
            <a:endParaRPr lang="en-US" altLang="ja-JP"/>
          </a:p>
        </p:txBody>
      </p:sp>
    </p:spTree>
    <p:extLst>
      <p:ext uri="{BB962C8B-B14F-4D97-AF65-F5344CB8AC3E}">
        <p14:creationId xmlns:p14="http://schemas.microsoft.com/office/powerpoint/2010/main" val="32309940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3B6EC29E-9641-4C37-87C7-08342DA865C6}" type="slidenum">
              <a:rPr lang="en-US" altLang="ja-JP" smtClean="0"/>
              <a:pPr>
                <a:defRPr/>
              </a:pPr>
              <a:t>1</a:t>
            </a:fld>
            <a:endParaRPr lang="en-US" altLang="ja-JP" dirty="0"/>
          </a:p>
        </p:txBody>
      </p:sp>
    </p:spTree>
    <p:extLst>
      <p:ext uri="{BB962C8B-B14F-4D97-AF65-F5344CB8AC3E}">
        <p14:creationId xmlns:p14="http://schemas.microsoft.com/office/powerpoint/2010/main" val="1684144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3B6EC29E-9641-4C37-87C7-08342DA865C6}" type="slidenum">
              <a:rPr lang="en-US" altLang="ja-JP" smtClean="0"/>
              <a:pPr>
                <a:defRPr/>
              </a:pPr>
              <a:t>6</a:t>
            </a:fld>
            <a:endParaRPr lang="en-US" altLang="ja-JP"/>
          </a:p>
        </p:txBody>
      </p:sp>
    </p:spTree>
    <p:extLst>
      <p:ext uri="{BB962C8B-B14F-4D97-AF65-F5344CB8AC3E}">
        <p14:creationId xmlns:p14="http://schemas.microsoft.com/office/powerpoint/2010/main" val="1684144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3B6EC29E-9641-4C37-87C7-08342DA865C6}" type="slidenum">
              <a:rPr lang="en-US" altLang="ja-JP" smtClean="0"/>
              <a:pPr>
                <a:defRPr/>
              </a:pPr>
              <a:t>10</a:t>
            </a:fld>
            <a:endParaRPr lang="en-US" altLang="ja-JP"/>
          </a:p>
        </p:txBody>
      </p:sp>
    </p:spTree>
    <p:extLst>
      <p:ext uri="{BB962C8B-B14F-4D97-AF65-F5344CB8AC3E}">
        <p14:creationId xmlns:p14="http://schemas.microsoft.com/office/powerpoint/2010/main" val="26047768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4" name="Picture 2" descr="01_NKstandard-A_01-Title"/>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9219" name="Rectangle 3"/>
          <p:cNvSpPr>
            <a:spLocks noGrp="1" noChangeArrowheads="1"/>
          </p:cNvSpPr>
          <p:nvPr>
            <p:ph type="ctrTitle"/>
          </p:nvPr>
        </p:nvSpPr>
        <p:spPr>
          <a:xfrm>
            <a:off x="395288" y="1700213"/>
            <a:ext cx="8353425" cy="1225550"/>
          </a:xfrm>
        </p:spPr>
        <p:txBody>
          <a:bodyPr/>
          <a:lstStyle>
            <a:lvl1pPr algn="ctr">
              <a:defRPr sz="4800">
                <a:solidFill>
                  <a:srgbClr val="3333CC"/>
                </a:solidFill>
              </a:defRPr>
            </a:lvl1pPr>
          </a:lstStyle>
          <a:p>
            <a:r>
              <a:rPr lang="ja-JP" altLang="en-US"/>
              <a:t>マスタ タイトルの書式設定</a:t>
            </a:r>
          </a:p>
        </p:txBody>
      </p:sp>
      <p:sp>
        <p:nvSpPr>
          <p:cNvPr id="9220" name="Rectangle 4"/>
          <p:cNvSpPr>
            <a:spLocks noGrp="1" noChangeArrowheads="1"/>
          </p:cNvSpPr>
          <p:nvPr>
            <p:ph type="subTitle" idx="1"/>
          </p:nvPr>
        </p:nvSpPr>
        <p:spPr>
          <a:xfrm>
            <a:off x="395288" y="3213100"/>
            <a:ext cx="8316912" cy="1752600"/>
          </a:xfrm>
        </p:spPr>
        <p:txBody>
          <a:bodyPr/>
          <a:lstStyle>
            <a:lvl1pPr marL="0" indent="0" algn="ctr">
              <a:buFontTx/>
              <a:buNone/>
              <a:defRPr>
                <a:solidFill>
                  <a:schemeClr val="bg2"/>
                </a:solidFill>
              </a:defRPr>
            </a:lvl1pPr>
          </a:lstStyle>
          <a:p>
            <a:r>
              <a:rPr lang="ja-JP" altLang="en-US"/>
              <a:t>マスタ サブタイトルの書式設定</a:t>
            </a:r>
          </a:p>
        </p:txBody>
      </p:sp>
      <p:sp>
        <p:nvSpPr>
          <p:cNvPr id="5" name="Rectangle 5"/>
          <p:cNvSpPr>
            <a:spLocks noGrp="1" noChangeArrowheads="1"/>
          </p:cNvSpPr>
          <p:nvPr>
            <p:ph type="dt" sz="half" idx="10"/>
          </p:nvPr>
        </p:nvSpPr>
        <p:spPr/>
        <p:txBody>
          <a:bodyPr/>
          <a:lstStyle>
            <a:lvl1pPr>
              <a:defRPr/>
            </a:lvl1pPr>
          </a:lstStyle>
          <a:p>
            <a:pPr>
              <a:defRPr/>
            </a:pPr>
            <a:endParaRPr lang="en-US" altLang="ja-JP"/>
          </a:p>
        </p:txBody>
      </p:sp>
      <p:sp>
        <p:nvSpPr>
          <p:cNvPr id="6" name="Rectangle 6"/>
          <p:cNvSpPr>
            <a:spLocks noGrp="1" noChangeArrowheads="1"/>
          </p:cNvSpPr>
          <p:nvPr>
            <p:ph type="ftr" sz="quarter" idx="11"/>
          </p:nvPr>
        </p:nvSpPr>
        <p:spPr/>
        <p:txBody>
          <a:bodyPr/>
          <a:lstStyle>
            <a:lvl1pPr>
              <a:defRPr/>
            </a:lvl1pPr>
          </a:lstStyle>
          <a:p>
            <a:pPr>
              <a:defRPr/>
            </a:pPr>
            <a:endParaRPr lang="en-US" altLang="ja-JP"/>
          </a:p>
        </p:txBody>
      </p:sp>
      <p:sp>
        <p:nvSpPr>
          <p:cNvPr id="7" name="Rectangle 7"/>
          <p:cNvSpPr>
            <a:spLocks noGrp="1" noChangeArrowheads="1"/>
          </p:cNvSpPr>
          <p:nvPr>
            <p:ph type="sldNum" sz="quarter" idx="12"/>
          </p:nvPr>
        </p:nvSpPr>
        <p:spPr/>
        <p:txBody>
          <a:bodyPr/>
          <a:lstStyle>
            <a:lvl1pPr>
              <a:defRPr/>
            </a:lvl1pPr>
          </a:lstStyle>
          <a:p>
            <a:pPr>
              <a:defRPr/>
            </a:pPr>
            <a:fld id="{103FA6B2-72D5-4EFE-BC13-069A5F8F43A4}" type="slidenum">
              <a:rPr lang="en-US" altLang="ja-JP"/>
              <a:pPr>
                <a:defRPr/>
              </a:pPr>
              <a:t>‹#›</a:t>
            </a:fld>
            <a:endParaRPr lang="en-US" altLang="ja-JP"/>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7"/>
          <p:cNvSpPr>
            <a:spLocks noGrp="1" noChangeArrowheads="1"/>
          </p:cNvSpPr>
          <p:nvPr>
            <p:ph type="sldNum" sz="quarter" idx="12"/>
          </p:nvPr>
        </p:nvSpPr>
        <p:spPr>
          <a:ln/>
        </p:spPr>
        <p:txBody>
          <a:bodyPr/>
          <a:lstStyle>
            <a:lvl1pPr>
              <a:defRPr/>
            </a:lvl1pPr>
          </a:lstStyle>
          <a:p>
            <a:pPr>
              <a:defRPr/>
            </a:pPr>
            <a:fld id="{0D9757FE-F7D9-4C4F-856F-1548F21BD0F7}" type="slidenum">
              <a:rPr lang="en-US" altLang="ja-JP"/>
              <a:pPr>
                <a:defRPr/>
              </a:pPr>
              <a:t>‹#›</a:t>
            </a:fld>
            <a:endParaRPr lang="en-US" altLang="ja-JP"/>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7"/>
          <p:cNvSpPr>
            <a:spLocks noGrp="1" noChangeArrowheads="1"/>
          </p:cNvSpPr>
          <p:nvPr>
            <p:ph type="sldNum" sz="quarter" idx="12"/>
          </p:nvPr>
        </p:nvSpPr>
        <p:spPr>
          <a:ln/>
        </p:spPr>
        <p:txBody>
          <a:bodyPr/>
          <a:lstStyle>
            <a:lvl1pPr>
              <a:defRPr/>
            </a:lvl1pPr>
          </a:lstStyle>
          <a:p>
            <a:pPr>
              <a:defRPr/>
            </a:pPr>
            <a:fld id="{5F38EEC3-EF44-4D68-9CCF-401D1904E61A}" type="slidenum">
              <a:rPr lang="en-US" altLang="ja-JP"/>
              <a:pPr>
                <a:defRPr/>
              </a:pPr>
              <a:t>‹#›</a:t>
            </a:fld>
            <a:endParaRPr lang="en-US" altLang="ja-JP"/>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250825" y="1773238"/>
            <a:ext cx="4244975"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773238"/>
            <a:ext cx="4244975"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7"/>
          <p:cNvSpPr>
            <a:spLocks noGrp="1" noChangeArrowheads="1"/>
          </p:cNvSpPr>
          <p:nvPr>
            <p:ph type="sldNum" sz="quarter" idx="12"/>
          </p:nvPr>
        </p:nvSpPr>
        <p:spPr>
          <a:ln/>
        </p:spPr>
        <p:txBody>
          <a:bodyPr/>
          <a:lstStyle>
            <a:lvl1pPr>
              <a:defRPr/>
            </a:lvl1pPr>
          </a:lstStyle>
          <a:p>
            <a:pPr>
              <a:defRPr/>
            </a:pPr>
            <a:fld id="{A9C7D51F-66B9-43BF-9D5F-F8D7B25EF5AA}" type="slidenum">
              <a:rPr lang="en-US" altLang="ja-JP"/>
              <a:pPr>
                <a:defRPr/>
              </a:pPr>
              <a:t>‹#›</a:t>
            </a:fld>
            <a:endParaRPr lang="en-US" altLang="ja-JP"/>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7"/>
          <p:cNvSpPr>
            <a:spLocks noGrp="1" noChangeArrowheads="1"/>
          </p:cNvSpPr>
          <p:nvPr>
            <p:ph type="sldNum" sz="quarter" idx="12"/>
          </p:nvPr>
        </p:nvSpPr>
        <p:spPr>
          <a:ln/>
        </p:spPr>
        <p:txBody>
          <a:bodyPr/>
          <a:lstStyle>
            <a:lvl1pPr>
              <a:defRPr/>
            </a:lvl1pPr>
          </a:lstStyle>
          <a:p>
            <a:pPr>
              <a:defRPr/>
            </a:pPr>
            <a:fld id="{AC1AA848-B7AA-42EB-928E-A7E727A9027A}" type="slidenum">
              <a:rPr lang="en-US" altLang="ja-JP"/>
              <a:pPr>
                <a:defRPr/>
              </a:pPr>
              <a:t>‹#›</a:t>
            </a:fld>
            <a:endParaRPr lang="en-US" altLang="ja-JP"/>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7"/>
          <p:cNvSpPr>
            <a:spLocks noGrp="1" noChangeArrowheads="1"/>
          </p:cNvSpPr>
          <p:nvPr>
            <p:ph type="sldNum" sz="quarter" idx="12"/>
          </p:nvPr>
        </p:nvSpPr>
        <p:spPr>
          <a:ln/>
        </p:spPr>
        <p:txBody>
          <a:bodyPr/>
          <a:lstStyle>
            <a:lvl1pPr>
              <a:defRPr/>
            </a:lvl1pPr>
          </a:lstStyle>
          <a:p>
            <a:pPr>
              <a:defRPr/>
            </a:pPr>
            <a:fld id="{9ACAAB38-DB72-4622-B23B-6903E3205F9A}" type="slidenum">
              <a:rPr lang="en-US" altLang="ja-JP"/>
              <a:pPr>
                <a:defRPr/>
              </a:pPr>
              <a:t>‹#›</a:t>
            </a:fld>
            <a:endParaRPr lang="en-US" altLang="ja-JP"/>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7"/>
          <p:cNvSpPr>
            <a:spLocks noGrp="1" noChangeArrowheads="1"/>
          </p:cNvSpPr>
          <p:nvPr>
            <p:ph type="sldNum" sz="quarter" idx="12"/>
          </p:nvPr>
        </p:nvSpPr>
        <p:spPr>
          <a:ln/>
        </p:spPr>
        <p:txBody>
          <a:bodyPr/>
          <a:lstStyle>
            <a:lvl1pPr>
              <a:defRPr/>
            </a:lvl1pPr>
          </a:lstStyle>
          <a:p>
            <a:pPr>
              <a:defRPr/>
            </a:pPr>
            <a:fld id="{6DF3C7E5-FC90-4A3B-87F8-61E130FE963E}" type="slidenum">
              <a:rPr lang="en-US" altLang="ja-JP"/>
              <a:pPr>
                <a:defRPr/>
              </a:pPr>
              <a:t>‹#›</a:t>
            </a:fld>
            <a:endParaRPr lang="en-US" altLang="ja-JP"/>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7"/>
          <p:cNvSpPr>
            <a:spLocks noGrp="1" noChangeArrowheads="1"/>
          </p:cNvSpPr>
          <p:nvPr>
            <p:ph type="sldNum" sz="quarter" idx="12"/>
          </p:nvPr>
        </p:nvSpPr>
        <p:spPr>
          <a:ln/>
        </p:spPr>
        <p:txBody>
          <a:bodyPr/>
          <a:lstStyle>
            <a:lvl1pPr>
              <a:defRPr/>
            </a:lvl1pPr>
          </a:lstStyle>
          <a:p>
            <a:pPr>
              <a:defRPr/>
            </a:pPr>
            <a:fld id="{C1989332-1F5F-41B7-A0A6-14CA46B01DC1}" type="slidenum">
              <a:rPr lang="en-US" altLang="ja-JP"/>
              <a:pPr>
                <a:defRPr/>
              </a:pPr>
              <a:t>‹#›</a:t>
            </a:fld>
            <a:endParaRPr lang="en-US" altLang="ja-JP"/>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7"/>
          <p:cNvSpPr>
            <a:spLocks noGrp="1" noChangeArrowheads="1"/>
          </p:cNvSpPr>
          <p:nvPr>
            <p:ph type="sldNum" sz="quarter" idx="12"/>
          </p:nvPr>
        </p:nvSpPr>
        <p:spPr>
          <a:ln/>
        </p:spPr>
        <p:txBody>
          <a:bodyPr/>
          <a:lstStyle>
            <a:lvl1pPr>
              <a:defRPr/>
            </a:lvl1pPr>
          </a:lstStyle>
          <a:p>
            <a:pPr>
              <a:defRPr/>
            </a:pPr>
            <a:fld id="{D9FA14E1-6641-428D-A8E0-4F2B2EDBC13C}" type="slidenum">
              <a:rPr lang="en-US" altLang="ja-JP"/>
              <a:pPr>
                <a:defRPr/>
              </a:pPr>
              <a:t>‹#›</a:t>
            </a:fld>
            <a:endParaRPr lang="en-US" altLang="ja-JP"/>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7"/>
          <p:cNvSpPr>
            <a:spLocks noGrp="1" noChangeArrowheads="1"/>
          </p:cNvSpPr>
          <p:nvPr>
            <p:ph type="sldNum" sz="quarter" idx="12"/>
          </p:nvPr>
        </p:nvSpPr>
        <p:spPr>
          <a:ln/>
        </p:spPr>
        <p:txBody>
          <a:bodyPr/>
          <a:lstStyle>
            <a:lvl1pPr>
              <a:defRPr/>
            </a:lvl1pPr>
          </a:lstStyle>
          <a:p>
            <a:pPr>
              <a:defRPr/>
            </a:pPr>
            <a:fld id="{5DD592D6-2CD2-4E74-9E3F-AC57E9799A6F}" type="slidenum">
              <a:rPr lang="en-US" altLang="ja-JP"/>
              <a:pPr>
                <a:defRPr/>
              </a:pPr>
              <a:t>‹#›</a:t>
            </a:fld>
            <a:endParaRPr lang="en-US" altLang="ja-JP"/>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732588" y="549275"/>
            <a:ext cx="2160587" cy="583247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250825" y="549275"/>
            <a:ext cx="6329363" cy="583247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7"/>
          <p:cNvSpPr>
            <a:spLocks noGrp="1" noChangeArrowheads="1"/>
          </p:cNvSpPr>
          <p:nvPr>
            <p:ph type="sldNum" sz="quarter" idx="12"/>
          </p:nvPr>
        </p:nvSpPr>
        <p:spPr>
          <a:ln/>
        </p:spPr>
        <p:txBody>
          <a:bodyPr/>
          <a:lstStyle>
            <a:lvl1pPr>
              <a:defRPr/>
            </a:lvl1pPr>
          </a:lstStyle>
          <a:p>
            <a:pPr>
              <a:defRPr/>
            </a:pPr>
            <a:fld id="{4CB6ADF1-5A5B-4244-8BBA-6A2E87D117DF}" type="slidenum">
              <a:rPr lang="en-US" altLang="ja-JP"/>
              <a:pPr>
                <a:defRPr/>
              </a:pPr>
              <a:t>‹#›</a:t>
            </a:fld>
            <a:endParaRPr lang="en-US" altLang="ja-JP"/>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01_NKstandard-A_02-Contents"/>
          <p:cNvPicPr>
            <a:picLocks noChangeAspect="1" noChangeArrowheads="1"/>
          </p:cNvPicPr>
          <p:nvPr/>
        </p:nvPicPr>
        <p:blipFill>
          <a:blip r:embed="rId13" cstate="print"/>
          <a:srcRect/>
          <a:stretch>
            <a:fillRect/>
          </a:stretch>
        </p:blipFill>
        <p:spPr bwMode="auto">
          <a:xfrm>
            <a:off x="0" y="0"/>
            <a:ext cx="9144000" cy="6858000"/>
          </a:xfrm>
          <a:prstGeom prst="rect">
            <a:avLst/>
          </a:prstGeom>
          <a:noFill/>
          <a:ln w="9525">
            <a:noFill/>
            <a:miter lim="800000"/>
            <a:headEnd/>
            <a:tailEnd/>
          </a:ln>
        </p:spPr>
      </p:pic>
      <p:sp>
        <p:nvSpPr>
          <p:cNvPr id="1027" name="Rectangle 3"/>
          <p:cNvSpPr>
            <a:spLocks noGrp="1" noChangeArrowheads="1"/>
          </p:cNvSpPr>
          <p:nvPr>
            <p:ph type="title"/>
          </p:nvPr>
        </p:nvSpPr>
        <p:spPr bwMode="auto">
          <a:xfrm>
            <a:off x="250825" y="549275"/>
            <a:ext cx="8642350" cy="108108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8" name="Rectangle 4"/>
          <p:cNvSpPr>
            <a:spLocks noGrp="1" noChangeArrowheads="1"/>
          </p:cNvSpPr>
          <p:nvPr>
            <p:ph type="body" idx="1"/>
          </p:nvPr>
        </p:nvSpPr>
        <p:spPr bwMode="auto">
          <a:xfrm>
            <a:off x="250825" y="1773238"/>
            <a:ext cx="8642350" cy="46085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8197" name="Rectangle 5"/>
          <p:cNvSpPr>
            <a:spLocks noGrp="1" noChangeArrowheads="1"/>
          </p:cNvSpPr>
          <p:nvPr>
            <p:ph type="dt" sz="half" idx="2"/>
          </p:nvPr>
        </p:nvSpPr>
        <p:spPr bwMode="auto">
          <a:xfrm>
            <a:off x="6948488" y="65088"/>
            <a:ext cx="2133600" cy="26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ＭＳ Ｐゴシック" pitchFamily="50" charset="-128"/>
              </a:defRPr>
            </a:lvl1pPr>
          </a:lstStyle>
          <a:p>
            <a:pPr>
              <a:defRPr/>
            </a:pPr>
            <a:endParaRPr lang="en-US" altLang="ja-JP"/>
          </a:p>
        </p:txBody>
      </p:sp>
      <p:sp>
        <p:nvSpPr>
          <p:cNvPr id="8198" name="Rectangle 6"/>
          <p:cNvSpPr>
            <a:spLocks noGrp="1" noChangeArrowheads="1"/>
          </p:cNvSpPr>
          <p:nvPr>
            <p:ph type="ftr" sz="quarter" idx="3"/>
          </p:nvPr>
        </p:nvSpPr>
        <p:spPr bwMode="auto">
          <a:xfrm>
            <a:off x="107950" y="6524625"/>
            <a:ext cx="316865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bg1"/>
                </a:solidFill>
                <a:latin typeface="Arial" pitchFamily="34" charset="0"/>
                <a:ea typeface="ＭＳ Ｐゴシック" pitchFamily="50" charset="-128"/>
              </a:defRPr>
            </a:lvl1pPr>
          </a:lstStyle>
          <a:p>
            <a:pPr>
              <a:defRPr/>
            </a:pPr>
            <a:endParaRPr lang="en-US" altLang="ja-JP"/>
          </a:p>
        </p:txBody>
      </p:sp>
      <p:sp>
        <p:nvSpPr>
          <p:cNvPr id="8199" name="Rectangle 7"/>
          <p:cNvSpPr>
            <a:spLocks noGrp="1" noChangeArrowheads="1"/>
          </p:cNvSpPr>
          <p:nvPr>
            <p:ph type="sldNum" sz="quarter" idx="4"/>
          </p:nvPr>
        </p:nvSpPr>
        <p:spPr bwMode="auto">
          <a:xfrm>
            <a:off x="4116388" y="6524625"/>
            <a:ext cx="909637" cy="2603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solidFill>
                  <a:schemeClr val="bg1"/>
                </a:solidFill>
                <a:latin typeface="Arial" pitchFamily="34" charset="0"/>
                <a:ea typeface="ＭＳ Ｐゴシック" pitchFamily="50" charset="-128"/>
              </a:defRPr>
            </a:lvl1pPr>
          </a:lstStyle>
          <a:p>
            <a:pPr>
              <a:defRPr/>
            </a:pPr>
            <a:fld id="{666C3027-2A3B-4171-ABC0-5EA484D65267}"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3851"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p:txStyles>
    <p:titleStyle>
      <a:lvl1pPr algn="l" rtl="0" eaLnBrk="0" fontAlgn="base" hangingPunct="0">
        <a:spcBef>
          <a:spcPct val="0"/>
        </a:spcBef>
        <a:spcAft>
          <a:spcPct val="0"/>
        </a:spcAft>
        <a:defRPr kumimoji="1" sz="4400">
          <a:solidFill>
            <a:schemeClr val="tx1"/>
          </a:solidFill>
          <a:latin typeface="+mj-lt"/>
          <a:ea typeface="+mj-ea"/>
          <a:cs typeface="+mj-cs"/>
        </a:defRPr>
      </a:lvl1pPr>
      <a:lvl2pPr algn="l" rtl="0" eaLnBrk="0" fontAlgn="base" hangingPunct="0">
        <a:spcBef>
          <a:spcPct val="0"/>
        </a:spcBef>
        <a:spcAft>
          <a:spcPct val="0"/>
        </a:spcAft>
        <a:defRPr kumimoji="1" sz="4400">
          <a:solidFill>
            <a:schemeClr val="tx1"/>
          </a:solidFill>
          <a:latin typeface="Arial" charset="0"/>
          <a:ea typeface="ＭＳ Ｐゴシック" charset="-128"/>
        </a:defRPr>
      </a:lvl2pPr>
      <a:lvl3pPr algn="l" rtl="0" eaLnBrk="0" fontAlgn="base" hangingPunct="0">
        <a:spcBef>
          <a:spcPct val="0"/>
        </a:spcBef>
        <a:spcAft>
          <a:spcPct val="0"/>
        </a:spcAft>
        <a:defRPr kumimoji="1" sz="4400">
          <a:solidFill>
            <a:schemeClr val="tx1"/>
          </a:solidFill>
          <a:latin typeface="Arial" charset="0"/>
          <a:ea typeface="ＭＳ Ｐゴシック" charset="-128"/>
        </a:defRPr>
      </a:lvl3pPr>
      <a:lvl4pPr algn="l" rtl="0" eaLnBrk="0" fontAlgn="base" hangingPunct="0">
        <a:spcBef>
          <a:spcPct val="0"/>
        </a:spcBef>
        <a:spcAft>
          <a:spcPct val="0"/>
        </a:spcAft>
        <a:defRPr kumimoji="1" sz="4400">
          <a:solidFill>
            <a:schemeClr val="tx1"/>
          </a:solidFill>
          <a:latin typeface="Arial" charset="0"/>
          <a:ea typeface="ＭＳ Ｐゴシック" charset="-128"/>
        </a:defRPr>
      </a:lvl4pPr>
      <a:lvl5pPr algn="l" rtl="0" eaLnBrk="0" fontAlgn="base" hangingPunct="0">
        <a:spcBef>
          <a:spcPct val="0"/>
        </a:spcBef>
        <a:spcAft>
          <a:spcPct val="0"/>
        </a:spcAft>
        <a:defRPr kumimoji="1" sz="4400">
          <a:solidFill>
            <a:schemeClr val="tx1"/>
          </a:solidFill>
          <a:latin typeface="Arial" charset="0"/>
          <a:ea typeface="ＭＳ Ｐゴシック" charset="-128"/>
        </a:defRPr>
      </a:lvl5pPr>
      <a:lvl6pPr marL="457200" algn="l" rtl="0" eaLnBrk="1" fontAlgn="base" hangingPunct="1">
        <a:spcBef>
          <a:spcPct val="0"/>
        </a:spcBef>
        <a:spcAft>
          <a:spcPct val="0"/>
        </a:spcAft>
        <a:defRPr kumimoji="1" sz="4400">
          <a:solidFill>
            <a:schemeClr val="tx1"/>
          </a:solidFill>
          <a:latin typeface="Arial" charset="0"/>
          <a:ea typeface="ＭＳ Ｐゴシック" charset="-128"/>
        </a:defRPr>
      </a:lvl6pPr>
      <a:lvl7pPr marL="914400" algn="l" rtl="0" eaLnBrk="1" fontAlgn="base" hangingPunct="1">
        <a:spcBef>
          <a:spcPct val="0"/>
        </a:spcBef>
        <a:spcAft>
          <a:spcPct val="0"/>
        </a:spcAft>
        <a:defRPr kumimoji="1" sz="4400">
          <a:solidFill>
            <a:schemeClr val="tx1"/>
          </a:solidFill>
          <a:latin typeface="Arial" charset="0"/>
          <a:ea typeface="ＭＳ Ｐゴシック" charset="-128"/>
        </a:defRPr>
      </a:lvl7pPr>
      <a:lvl8pPr marL="1371600" algn="l" rtl="0" eaLnBrk="1" fontAlgn="base" hangingPunct="1">
        <a:spcBef>
          <a:spcPct val="0"/>
        </a:spcBef>
        <a:spcAft>
          <a:spcPct val="0"/>
        </a:spcAft>
        <a:defRPr kumimoji="1" sz="4400">
          <a:solidFill>
            <a:schemeClr val="tx1"/>
          </a:solidFill>
          <a:latin typeface="Arial" charset="0"/>
          <a:ea typeface="ＭＳ Ｐゴシック" charset="-128"/>
        </a:defRPr>
      </a:lvl8pPr>
      <a:lvl9pPr marL="1828800" algn="l" rtl="0" eaLnBrk="1" fontAlgn="base" hangingPunct="1">
        <a:spcBef>
          <a:spcPct val="0"/>
        </a:spcBef>
        <a:spcAft>
          <a:spcPct val="0"/>
        </a:spcAft>
        <a:defRPr kumimoji="1" sz="4400">
          <a:solidFill>
            <a:schemeClr val="tx1"/>
          </a:solidFill>
          <a:latin typeface="Arial" charset="0"/>
          <a:ea typeface="ＭＳ Ｐゴシック"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 Id="rId9" Type="http://schemas.openxmlformats.org/officeDocument/2006/relationships/image" Target="../media/image1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395288" y="1358770"/>
            <a:ext cx="8353425" cy="1566993"/>
          </a:xfrm>
        </p:spPr>
        <p:txBody>
          <a:bodyPr/>
          <a:lstStyle/>
          <a:p>
            <a:r>
              <a:rPr kumimoji="1" lang="ja-JP" altLang="en-US" dirty="0"/>
              <a:t>日本光電富岡株式会社</a:t>
            </a:r>
            <a:br>
              <a:rPr kumimoji="1" lang="en-US" altLang="ja-JP" dirty="0"/>
            </a:br>
            <a:r>
              <a:rPr kumimoji="1" lang="ja-JP" altLang="en-US" dirty="0"/>
              <a:t>サーバシステムについて</a:t>
            </a:r>
          </a:p>
        </p:txBody>
      </p:sp>
      <p:sp>
        <p:nvSpPr>
          <p:cNvPr id="3" name="サブタイトル 2"/>
          <p:cNvSpPr>
            <a:spLocks noGrp="1"/>
          </p:cNvSpPr>
          <p:nvPr>
            <p:ph type="subTitle" idx="1"/>
          </p:nvPr>
        </p:nvSpPr>
        <p:spPr/>
        <p:txBody>
          <a:bodyPr/>
          <a:lstStyle/>
          <a:p>
            <a:r>
              <a:rPr kumimoji="1" lang="en-US" altLang="ja-JP" dirty="0"/>
              <a:t>2021/03/11</a:t>
            </a:r>
            <a:r>
              <a:rPr kumimoji="1" lang="ja-JP" altLang="en-US"/>
              <a:t>改訂</a:t>
            </a:r>
            <a:endParaRPr kumimoji="1" lang="en-US" altLang="ja-JP" dirty="0"/>
          </a:p>
          <a:p>
            <a:r>
              <a:rPr lang="en-US" altLang="ja-JP" dirty="0"/>
              <a:t>J. Igarashi</a:t>
            </a:r>
            <a:endParaRPr kumimoji="1" lang="ja-JP" altLang="en-US" dirty="0"/>
          </a:p>
        </p:txBody>
      </p:sp>
    </p:spTree>
    <p:extLst>
      <p:ext uri="{BB962C8B-B14F-4D97-AF65-F5344CB8AC3E}">
        <p14:creationId xmlns:p14="http://schemas.microsoft.com/office/powerpoint/2010/main" val="4222817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250825" y="548680"/>
            <a:ext cx="8642350" cy="5805645"/>
          </a:xfrm>
        </p:spPr>
        <p:txBody>
          <a:bodyPr/>
          <a:lstStyle/>
          <a:p>
            <a:pPr marL="0" indent="0">
              <a:buNone/>
            </a:pPr>
            <a:r>
              <a:rPr kumimoji="1" lang="ja-JP" altLang="en-US" sz="2400" dirty="0"/>
              <a:t>はじめに</a:t>
            </a:r>
            <a:endParaRPr kumimoji="1" lang="en-US" altLang="ja-JP" sz="2400" dirty="0"/>
          </a:p>
          <a:p>
            <a:r>
              <a:rPr kumimoji="1" lang="ja-JP" altLang="en-US" sz="1600" dirty="0"/>
              <a:t>生産における競争は年々その激しさを増し、生産性・品質の悪い生産は急速に淘汰されてきている。一方、近年の</a:t>
            </a:r>
            <a:r>
              <a:rPr kumimoji="1" lang="en-US" altLang="ja-JP" sz="1600" dirty="0"/>
              <a:t>IT</a:t>
            </a:r>
            <a:r>
              <a:rPr kumimoji="1" lang="ja-JP" altLang="en-US" sz="1600" dirty="0"/>
              <a:t>技術の進歩や普及によって、生産現場で収集できる情報を容易にネットワーク化することができるようになり、リアルタイムデータとして、またビッグデータの活用で、</a:t>
            </a:r>
            <a:r>
              <a:rPr lang="ja-JP" altLang="en-US" sz="1600" dirty="0"/>
              <a:t>現場のニーズに即したツールのタイムリーな投入、情報のフィードバックをすることで、生産改善活動や品質改善活動に大きく寄与する可能性がある。そのため</a:t>
            </a:r>
            <a:r>
              <a:rPr lang="ja-JP" altLang="en-US" sz="1600"/>
              <a:t>には、現場</a:t>
            </a:r>
            <a:r>
              <a:rPr lang="ja-JP" altLang="en-US" sz="1600" dirty="0"/>
              <a:t>自らがこれら情報を処理し、利用できるスキルを持たなければ</a:t>
            </a:r>
            <a:r>
              <a:rPr lang="ja-JP" altLang="en-US" sz="1600"/>
              <a:t>ならない。</a:t>
            </a:r>
            <a:endParaRPr lang="en-US" altLang="ja-JP" sz="1600" dirty="0"/>
          </a:p>
          <a:p>
            <a:pPr marL="0" indent="0">
              <a:buNone/>
            </a:pPr>
            <a:endParaRPr lang="en-US" altLang="ja-JP" sz="1600" dirty="0"/>
          </a:p>
          <a:p>
            <a:r>
              <a:rPr kumimoji="1" lang="ja-JP" altLang="en-US" sz="1600" dirty="0"/>
              <a:t>その</a:t>
            </a:r>
            <a:r>
              <a:rPr kumimoji="1" lang="ja-JP" altLang="en-US" sz="1600"/>
              <a:t>ため、富岡各部門</a:t>
            </a:r>
            <a:r>
              <a:rPr kumimoji="1" lang="ja-JP" altLang="en-US" sz="1600" dirty="0"/>
              <a:t>にこれら活動を</a:t>
            </a:r>
            <a:r>
              <a:rPr kumimoji="1" lang="ja-JP" altLang="en-US" sz="1600"/>
              <a:t>行う部署（ものづくり、改善、</a:t>
            </a:r>
            <a:r>
              <a:rPr kumimoji="1" lang="en-US" altLang="ja-JP" sz="1600" dirty="0"/>
              <a:t>IE</a:t>
            </a:r>
            <a:r>
              <a:rPr kumimoji="1" lang="ja-JP" altLang="en-US" sz="1600"/>
              <a:t>チーム等）を</a:t>
            </a:r>
            <a:r>
              <a:rPr kumimoji="1" lang="ja-JP" altLang="en-US" sz="1600" dirty="0"/>
              <a:t>設置するとともに、これを実行するための自由で柔軟性ある環境として、通セが運営するサーバとは</a:t>
            </a:r>
            <a:r>
              <a:rPr kumimoji="1" lang="ja-JP" altLang="en-US" sz="1600"/>
              <a:t>別に、</a:t>
            </a:r>
            <a:r>
              <a:rPr lang="ja-JP" altLang="en-US" sz="1600"/>
              <a:t>富岡内</a:t>
            </a:r>
            <a:r>
              <a:rPr lang="ja-JP" altLang="en-US" sz="1600" dirty="0"/>
              <a:t>で独自管理運営</a:t>
            </a:r>
            <a:r>
              <a:rPr lang="ja-JP" altLang="en-US" sz="1600"/>
              <a:t>を行うオン・プレミスな</a:t>
            </a:r>
            <a:r>
              <a:rPr kumimoji="1" lang="ja-JP" altLang="en-US" sz="1600"/>
              <a:t>サーバシステム</a:t>
            </a:r>
            <a:r>
              <a:rPr kumimoji="1" lang="ja-JP" altLang="en-US" sz="1600" dirty="0"/>
              <a:t>を設置することと</a:t>
            </a:r>
            <a:r>
              <a:rPr kumimoji="1" lang="ja-JP" altLang="en-US" sz="1600"/>
              <a:t>した。</a:t>
            </a:r>
            <a:endParaRPr kumimoji="1" lang="en-US" altLang="ja-JP" sz="1600" dirty="0"/>
          </a:p>
          <a:p>
            <a:pPr marL="0" indent="0">
              <a:buNone/>
            </a:pPr>
            <a:endParaRPr kumimoji="1" lang="en-US" altLang="ja-JP" sz="1600" dirty="0"/>
          </a:p>
          <a:p>
            <a:r>
              <a:rPr kumimoji="1" lang="ja-JP" altLang="en-US" sz="1600" dirty="0"/>
              <a:t>本システムの利用は生産性改善、品質向上を目的とするものであり、汎用の事務処理のためのデータ保存を目的とするものではない。</a:t>
            </a:r>
            <a:br>
              <a:rPr kumimoji="1" lang="en-US" altLang="ja-JP" sz="1600" dirty="0"/>
            </a:br>
            <a:r>
              <a:rPr kumimoji="1" lang="ja-JP" altLang="en-US" sz="1600" dirty="0"/>
              <a:t>また、</a:t>
            </a:r>
            <a:r>
              <a:rPr kumimoji="1" lang="ja-JP" altLang="en-US" sz="1600"/>
              <a:t>本サーバは真正性</a:t>
            </a:r>
            <a:r>
              <a:rPr kumimoji="1" lang="ja-JP" altLang="en-US" sz="1600" dirty="0"/>
              <a:t>、堅牢性（改ざんされない能力）等の保証はないので、</a:t>
            </a:r>
            <a:r>
              <a:rPr lang="en-US" altLang="ja-JP" sz="1600" dirty="0"/>
              <a:t>DMR</a:t>
            </a:r>
            <a:r>
              <a:rPr lang="ja-JP" altLang="en-US" sz="1600" dirty="0"/>
              <a:t>や</a:t>
            </a:r>
            <a:r>
              <a:rPr lang="en-US" altLang="ja-JP" sz="1600" dirty="0"/>
              <a:t>DHR</a:t>
            </a:r>
            <a:r>
              <a:rPr lang="ja-JP" altLang="en-US" sz="1600"/>
              <a:t>等の品質文書・記録の原本</a:t>
            </a:r>
            <a:r>
              <a:rPr lang="ja-JP" altLang="en-US" sz="1600" dirty="0"/>
              <a:t>を保存する目的で使用</a:t>
            </a:r>
            <a:r>
              <a:rPr lang="ja-JP" altLang="en-US" sz="1600"/>
              <a:t>してはならない</a:t>
            </a:r>
            <a:r>
              <a:rPr lang="ja-JP" altLang="en-US" sz="1600" dirty="0"/>
              <a:t>。（</a:t>
            </a:r>
            <a:r>
              <a:rPr lang="ja-JP" altLang="en-US" sz="1600"/>
              <a:t>同内容の複写データ保存、</a:t>
            </a:r>
            <a:r>
              <a:rPr lang="ja-JP" altLang="en-US" sz="1600" dirty="0"/>
              <a:t>利用することは妨げない</a:t>
            </a:r>
            <a:r>
              <a:rPr lang="ja-JP" altLang="en-US" sz="1600"/>
              <a:t>。）</a:t>
            </a:r>
            <a:endParaRPr lang="en-US" altLang="ja-JP" sz="1600" dirty="0"/>
          </a:p>
          <a:p>
            <a:endParaRPr lang="en-US" altLang="ja-JP" sz="1600" dirty="0"/>
          </a:p>
          <a:p>
            <a:r>
              <a:rPr lang="ja-JP" altLang="en-US" sz="1600" dirty="0"/>
              <a:t>本システムの環境は“善良なる市民”の利用を前提にしている</a:t>
            </a:r>
            <a:r>
              <a:rPr lang="ja-JP" altLang="en-US" sz="1600"/>
              <a:t>が、故意</a:t>
            </a:r>
            <a:r>
              <a:rPr lang="ja-JP" altLang="en-US" sz="1600" dirty="0"/>
              <a:t>、過失に</a:t>
            </a:r>
            <a:r>
              <a:rPr lang="ja-JP" altLang="en-US" sz="1600"/>
              <a:t>関わらず、本システムの影響が</a:t>
            </a:r>
            <a:r>
              <a:rPr lang="en-US" altLang="ja-JP" sz="1600" dirty="0"/>
              <a:t>NK</a:t>
            </a:r>
            <a:r>
              <a:rPr lang="ja-JP" altLang="en-US" sz="1600" dirty="0"/>
              <a:t>の全システムに波及しないような対策を講ずる</a:t>
            </a:r>
            <a:r>
              <a:rPr lang="ja-JP" altLang="en-US" sz="1600"/>
              <a:t>ことは利用者に対する必須条件で</a:t>
            </a:r>
            <a:r>
              <a:rPr lang="ja-JP" altLang="en-US" sz="1600" dirty="0"/>
              <a:t>ある。</a:t>
            </a:r>
            <a:endParaRPr lang="en-US" altLang="ja-JP" sz="1600" dirty="0"/>
          </a:p>
        </p:txBody>
      </p:sp>
      <p:sp>
        <p:nvSpPr>
          <p:cNvPr id="4" name="Rectangle 2"/>
          <p:cNvSpPr>
            <a:spLocks noChangeArrowheads="1"/>
          </p:cNvSpPr>
          <p:nvPr/>
        </p:nvSpPr>
        <p:spPr bwMode="auto">
          <a:xfrm>
            <a:off x="1784394" y="23664"/>
            <a:ext cx="530788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サーバシステムの設置コンセプト</a:t>
            </a:r>
          </a:p>
        </p:txBody>
      </p:sp>
    </p:spTree>
    <p:extLst>
      <p:ext uri="{BB962C8B-B14F-4D97-AF65-F5344CB8AC3E}">
        <p14:creationId xmlns:p14="http://schemas.microsoft.com/office/powerpoint/2010/main" val="239507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250825" y="548680"/>
            <a:ext cx="8642350" cy="5985665"/>
          </a:xfrm>
        </p:spPr>
        <p:txBody>
          <a:bodyPr/>
          <a:lstStyle/>
          <a:p>
            <a:pPr marL="0" indent="0">
              <a:buNone/>
            </a:pPr>
            <a:r>
              <a:rPr kumimoji="1" lang="ja-JP" altLang="en-US" sz="2400" dirty="0"/>
              <a:t>基本構成</a:t>
            </a:r>
            <a:endParaRPr kumimoji="1" lang="en-US" altLang="ja-JP" sz="2400" dirty="0"/>
          </a:p>
          <a:p>
            <a:r>
              <a:rPr lang="ja-JP" altLang="en-US" sz="1600" dirty="0"/>
              <a:t>サーバのハードウエアは、業統が除却処分するシステム製品のうちで利用できるもの（サーバ本体</a:t>
            </a:r>
            <a:r>
              <a:rPr lang="en-US" altLang="ja-JP" sz="1600" dirty="0"/>
              <a:t>… WindowsOS </a:t>
            </a:r>
            <a:r>
              <a:rPr lang="ja-JP" altLang="en-US" sz="1600" dirty="0"/>
              <a:t>付き、</a:t>
            </a:r>
            <a:r>
              <a:rPr lang="en-US" altLang="ja-JP" sz="1600" dirty="0"/>
              <a:t>UPS</a:t>
            </a:r>
            <a:r>
              <a:rPr lang="ja-JP" altLang="en-US" sz="1600"/>
              <a:t>等）を</a:t>
            </a:r>
            <a:r>
              <a:rPr lang="ja-JP" altLang="en-US" sz="1600" dirty="0"/>
              <a:t>購入し構築している。また、サーバラックは“みらい”</a:t>
            </a:r>
            <a:r>
              <a:rPr lang="ja-JP" altLang="en-US" sz="1600"/>
              <a:t>移転時の残置品にアングルを特注製作</a:t>
            </a:r>
            <a:r>
              <a:rPr lang="ja-JP" altLang="en-US" sz="1600" dirty="0"/>
              <a:t>し、サーバのラックレールを取り付けられるよう改造</a:t>
            </a:r>
            <a:r>
              <a:rPr lang="ja-JP" altLang="en-US" sz="1600"/>
              <a:t>した。</a:t>
            </a:r>
            <a:br>
              <a:rPr lang="en-US" altLang="ja-JP" sz="1600" dirty="0"/>
            </a:br>
            <a:r>
              <a:rPr lang="en-US" altLang="ja-JP" sz="1600" dirty="0"/>
              <a:t>KVM</a:t>
            </a:r>
            <a:r>
              <a:rPr lang="ja-JP" altLang="en-US" sz="1600"/>
              <a:t>スイッチは富士通純正の市販品</a:t>
            </a:r>
            <a:r>
              <a:rPr lang="ja-JP" altLang="en-US" sz="1600" dirty="0"/>
              <a:t>を</a:t>
            </a:r>
            <a:r>
              <a:rPr lang="ja-JP" altLang="en-US" sz="1600"/>
              <a:t>購入し、すべてのサーバのコンソールを、１台のディスプレイ、</a:t>
            </a:r>
            <a:r>
              <a:rPr lang="en-US" altLang="ja-JP" sz="1600" dirty="0"/>
              <a:t>KBD</a:t>
            </a:r>
            <a:r>
              <a:rPr lang="ja-JP" altLang="en-US" sz="1600"/>
              <a:t>、マウスで操作可能になっている。</a:t>
            </a:r>
            <a:br>
              <a:rPr lang="en-US" altLang="ja-JP" sz="1600" dirty="0"/>
            </a:br>
            <a:r>
              <a:rPr lang="en-US" altLang="ja-JP" sz="1600" dirty="0"/>
              <a:t>HDD</a:t>
            </a:r>
            <a:r>
              <a:rPr lang="ja-JP" altLang="en-US" sz="1600"/>
              <a:t>は</a:t>
            </a:r>
            <a:r>
              <a:rPr lang="en-US" altLang="ja-JP" sz="1600" dirty="0"/>
              <a:t>RAID6</a:t>
            </a:r>
            <a:r>
              <a:rPr lang="ja-JP" altLang="en-US" sz="1600"/>
              <a:t>になっているので、</a:t>
            </a:r>
            <a:r>
              <a:rPr lang="en-US" altLang="ja-JP" sz="1600" dirty="0"/>
              <a:t>2</a:t>
            </a:r>
            <a:r>
              <a:rPr lang="ja-JP" altLang="en-US" sz="1600"/>
              <a:t>台までの</a:t>
            </a:r>
            <a:r>
              <a:rPr lang="en-US" altLang="ja-JP" sz="1600" dirty="0"/>
              <a:t>HDD</a:t>
            </a:r>
            <a:r>
              <a:rPr lang="ja-JP" altLang="en-US" sz="1600"/>
              <a:t>障害は回避できる。</a:t>
            </a:r>
            <a:br>
              <a:rPr lang="en-US" altLang="ja-JP" sz="1600" dirty="0"/>
            </a:br>
            <a:r>
              <a:rPr lang="ja-JP" altLang="en-US" sz="1600"/>
              <a:t>現在、データのバックアップは取っていないので、</a:t>
            </a:r>
            <a:r>
              <a:rPr lang="en-US" altLang="ja-JP" sz="1600" dirty="0">
                <a:solidFill>
                  <a:srgbClr val="FF0000"/>
                </a:solidFill>
              </a:rPr>
              <a:t>nksv567</a:t>
            </a:r>
            <a:r>
              <a:rPr lang="ja-JP" altLang="en-US" sz="1600">
                <a:solidFill>
                  <a:srgbClr val="FF0000"/>
                </a:solidFill>
              </a:rPr>
              <a:t>～</a:t>
            </a:r>
            <a:r>
              <a:rPr lang="en-US" altLang="ja-JP" sz="1600" dirty="0">
                <a:solidFill>
                  <a:srgbClr val="FF0000"/>
                </a:solidFill>
              </a:rPr>
              <a:t>569</a:t>
            </a:r>
            <a:r>
              <a:rPr lang="ja-JP" altLang="en-US" sz="1600">
                <a:solidFill>
                  <a:srgbClr val="FF0000"/>
                </a:solidFill>
              </a:rPr>
              <a:t>には内蔵されているテープドライブを使ってバックアップを取る必要があるかも知れない。（テープメディアもあり。）</a:t>
            </a:r>
            <a:endParaRPr lang="en-US" altLang="ja-JP" sz="1600" dirty="0">
              <a:solidFill>
                <a:srgbClr val="FF0000"/>
              </a:solidFill>
            </a:endParaRPr>
          </a:p>
          <a:p>
            <a:endParaRPr lang="en-US" altLang="ja-JP" sz="1600" dirty="0"/>
          </a:p>
          <a:p>
            <a:r>
              <a:rPr lang="ja-JP" altLang="en-US" sz="1600" dirty="0"/>
              <a:t>ソフトウエア環境は、維持費用や堅牢性、動作環境の軽さなどから</a:t>
            </a:r>
            <a:r>
              <a:rPr lang="en-US" altLang="ja-JP" sz="1600" dirty="0"/>
              <a:t>Linux</a:t>
            </a:r>
            <a:r>
              <a:rPr lang="ja-JP" altLang="en-US" sz="1600" dirty="0"/>
              <a:t> （</a:t>
            </a:r>
            <a:r>
              <a:rPr lang="en-US" altLang="ja-JP" sz="1600" dirty="0"/>
              <a:t>Ubuntu</a:t>
            </a:r>
            <a:r>
              <a:rPr lang="ja-JP" altLang="en-US" sz="1600"/>
              <a:t> </a:t>
            </a:r>
            <a:r>
              <a:rPr lang="en-US" altLang="ja-JP" sz="1600" dirty="0"/>
              <a:t>16.04LTS-32bit/64bit</a:t>
            </a:r>
            <a:r>
              <a:rPr lang="ja-JP" altLang="en-US" sz="1600"/>
              <a:t>、</a:t>
            </a:r>
            <a:r>
              <a:rPr lang="en-US" altLang="ja-JP" sz="1600" dirty="0"/>
              <a:t>18.04LTS-64bit</a:t>
            </a:r>
            <a:r>
              <a:rPr lang="ja-JP" altLang="en-US" sz="1600"/>
              <a:t> ）</a:t>
            </a:r>
            <a:r>
              <a:rPr lang="ja-JP" altLang="en-US" sz="1600" dirty="0"/>
              <a:t>による</a:t>
            </a:r>
            <a:r>
              <a:rPr lang="en-US" altLang="ja-JP" sz="1600" dirty="0"/>
              <a:t>LAMP</a:t>
            </a:r>
            <a:r>
              <a:rPr lang="ja-JP" altLang="en-US" sz="1600"/>
              <a:t>（ </a:t>
            </a:r>
            <a:r>
              <a:rPr lang="en-US" altLang="ja-JP" sz="1600" dirty="0"/>
              <a:t>Linux-Apache-MySQL-Perl/php</a:t>
            </a:r>
            <a:r>
              <a:rPr lang="ja-JP" altLang="en-US" sz="1600" dirty="0"/>
              <a:t>）</a:t>
            </a:r>
            <a:r>
              <a:rPr lang="ja-JP" altLang="en-US" sz="1600"/>
              <a:t>環境で動作する</a:t>
            </a:r>
            <a:r>
              <a:rPr lang="en-US" altLang="ja-JP" sz="1600" dirty="0"/>
              <a:t>Perl/php/Python</a:t>
            </a:r>
            <a:r>
              <a:rPr lang="ja-JP" altLang="en-US" sz="1600"/>
              <a:t>（</a:t>
            </a:r>
            <a:r>
              <a:rPr lang="en-US" altLang="ja-JP" sz="1600" dirty="0"/>
              <a:t>Linux</a:t>
            </a:r>
            <a:r>
              <a:rPr lang="ja-JP" altLang="en-US" sz="1600"/>
              <a:t>）を第一選択とするが、利便性も考えて</a:t>
            </a:r>
            <a:r>
              <a:rPr lang="en-US" altLang="ja-JP" sz="1600" dirty="0"/>
              <a:t>Windows</a:t>
            </a:r>
            <a:r>
              <a:rPr lang="ja-JP" altLang="en-US" sz="1600"/>
              <a:t>（</a:t>
            </a:r>
            <a:r>
              <a:rPr lang="en-US" altLang="ja-JP" sz="1600" dirty="0"/>
              <a:t>server2008 R2</a:t>
            </a:r>
            <a:r>
              <a:rPr lang="ja-JP" altLang="en-US" sz="1600"/>
              <a:t>。</a:t>
            </a:r>
            <a:r>
              <a:rPr lang="en-US" altLang="ja-JP" sz="1600" dirty="0">
                <a:solidFill>
                  <a:srgbClr val="FF0000"/>
                </a:solidFill>
              </a:rPr>
              <a:t>server2016</a:t>
            </a:r>
            <a:r>
              <a:rPr lang="ja-JP" altLang="en-US" sz="1600">
                <a:solidFill>
                  <a:srgbClr val="FF0000"/>
                </a:solidFill>
              </a:rPr>
              <a:t>を総務新井さんに手配依頼中</a:t>
            </a:r>
            <a:r>
              <a:rPr lang="ja-JP" altLang="en-US" sz="1600"/>
              <a:t>）での</a:t>
            </a:r>
            <a:r>
              <a:rPr lang="en-US" altLang="ja-JP" sz="1600" dirty="0"/>
              <a:t>Visual</a:t>
            </a:r>
            <a:r>
              <a:rPr lang="ja-JP" altLang="en-US" sz="1600"/>
              <a:t> </a:t>
            </a:r>
            <a:r>
              <a:rPr lang="en-US" altLang="ja-JP" sz="1600" dirty="0"/>
              <a:t>Studio</a:t>
            </a:r>
            <a:r>
              <a:rPr lang="ja-JP" altLang="en-US" sz="1600"/>
              <a:t> でサポートしている</a:t>
            </a:r>
            <a:r>
              <a:rPr lang="en-US" altLang="ja-JP" sz="1600" dirty="0" err="1"/>
              <a:t>VB.Net</a:t>
            </a:r>
            <a:r>
              <a:rPr lang="en-US" altLang="ja-JP" sz="1600"/>
              <a:t> / C+ / C++</a:t>
            </a:r>
            <a:r>
              <a:rPr lang="ja-JP" altLang="en-US" sz="1600"/>
              <a:t>も選択肢として残す。</a:t>
            </a:r>
            <a:endParaRPr lang="en-US" altLang="ja-JP" sz="1600"/>
          </a:p>
          <a:p>
            <a:pPr marL="0" indent="0">
              <a:buNone/>
            </a:pPr>
            <a:endParaRPr lang="en-US" altLang="ja-JP" sz="1600"/>
          </a:p>
          <a:p>
            <a:r>
              <a:rPr lang="ja-JP" altLang="en-US" sz="1600"/>
              <a:t>電源は、それぞれの電源消費量に応じて、富士通</a:t>
            </a:r>
            <a:r>
              <a:rPr lang="en-US" altLang="ja-JP" sz="1600"/>
              <a:t>/APC</a:t>
            </a:r>
            <a:r>
              <a:rPr lang="ja-JP" altLang="en-US" sz="1600"/>
              <a:t>の</a:t>
            </a:r>
            <a:r>
              <a:rPr lang="en-US" altLang="ja-JP" sz="1600"/>
              <a:t>3</a:t>
            </a:r>
            <a:r>
              <a:rPr lang="ja-JP" altLang="en-US" sz="1600"/>
              <a:t>台の</a:t>
            </a:r>
            <a:r>
              <a:rPr lang="en-US" altLang="ja-JP" sz="1600"/>
              <a:t>UPS</a:t>
            </a:r>
            <a:r>
              <a:rPr lang="ja-JP" altLang="en-US" sz="1600"/>
              <a:t>に分けて供給している。</a:t>
            </a:r>
            <a:br>
              <a:rPr lang="en-US" altLang="ja-JP" sz="1600"/>
            </a:br>
            <a:r>
              <a:rPr lang="ja-JP" altLang="en-US" sz="1600"/>
              <a:t>通常動作時の負荷率は</a:t>
            </a:r>
            <a:r>
              <a:rPr lang="en-US" altLang="ja-JP" sz="1600"/>
              <a:t>20%</a:t>
            </a:r>
            <a:r>
              <a:rPr lang="ja-JP" altLang="en-US" sz="1600"/>
              <a:t>～</a:t>
            </a:r>
            <a:r>
              <a:rPr lang="en-US" altLang="ja-JP" sz="1600"/>
              <a:t>30%</a:t>
            </a:r>
            <a:r>
              <a:rPr lang="ja-JP" altLang="en-US" sz="1600"/>
              <a:t>程度。</a:t>
            </a:r>
            <a:br>
              <a:rPr lang="en-US" altLang="ja-JP" sz="1600"/>
            </a:br>
            <a:r>
              <a:rPr lang="ja-JP" altLang="en-US" sz="1600"/>
              <a:t>現在、電源断時の自動シャットダウンに対応していないので、停電時は手動でシャットダウンさせないと、</a:t>
            </a:r>
            <a:r>
              <a:rPr lang="en-US" altLang="ja-JP" sz="1600"/>
              <a:t>HDD</a:t>
            </a:r>
            <a:r>
              <a:rPr lang="ja-JP" altLang="en-US" sz="1600"/>
              <a:t>を破損させる可能性あり。（</a:t>
            </a:r>
            <a:r>
              <a:rPr lang="en-US" altLang="ja-JP" sz="1600"/>
              <a:t>nksv567</a:t>
            </a:r>
            <a:r>
              <a:rPr lang="ja-JP" altLang="en-US" sz="1600"/>
              <a:t>で</a:t>
            </a:r>
            <a:r>
              <a:rPr lang="en-US" altLang="ja-JP" sz="1600"/>
              <a:t>HDD1</a:t>
            </a:r>
            <a:r>
              <a:rPr lang="ja-JP" altLang="en-US" sz="1600"/>
              <a:t>基破損）</a:t>
            </a:r>
            <a:br>
              <a:rPr lang="en-US" altLang="ja-JP" sz="1600"/>
            </a:br>
            <a:r>
              <a:rPr lang="en-US" altLang="ja-JP" sz="1600"/>
              <a:t>	</a:t>
            </a:r>
            <a:r>
              <a:rPr lang="en-US" altLang="ja-JP" sz="1600">
                <a:sym typeface="Wingdings" panose="05000000000000000000" pitchFamily="2" charset="2"/>
              </a:rPr>
              <a:t></a:t>
            </a:r>
            <a:r>
              <a:rPr lang="ja-JP" altLang="en-US" sz="1600">
                <a:solidFill>
                  <a:srgbClr val="FF0000"/>
                </a:solidFill>
                <a:sym typeface="Wingdings" panose="05000000000000000000" pitchFamily="2" charset="2"/>
              </a:rPr>
              <a:t>自動シャットダウン化が必要</a:t>
            </a:r>
            <a:r>
              <a:rPr lang="ja-JP" altLang="en-US" sz="1600">
                <a:sym typeface="Wingdings" panose="05000000000000000000" pitchFamily="2" charset="2"/>
              </a:rPr>
              <a:t>。</a:t>
            </a:r>
            <a:br>
              <a:rPr lang="en-US" altLang="ja-JP" sz="1600">
                <a:sym typeface="Wingdings" panose="05000000000000000000" pitchFamily="2" charset="2"/>
              </a:rPr>
            </a:br>
            <a:r>
              <a:rPr lang="ja-JP" altLang="en-US" sz="1600"/>
              <a:t>ただし、現状は情報</a:t>
            </a:r>
            <a:r>
              <a:rPr lang="en-US" altLang="ja-JP" sz="1600"/>
              <a:t>BOX</a:t>
            </a:r>
            <a:r>
              <a:rPr lang="ja-JP" altLang="en-US" sz="1600"/>
              <a:t>内のスイッチが</a:t>
            </a:r>
            <a:r>
              <a:rPr lang="en-US" altLang="ja-JP" sz="1600"/>
              <a:t>UPS</a:t>
            </a:r>
            <a:r>
              <a:rPr lang="ja-JP" altLang="en-US" sz="1600"/>
              <a:t>未対策なので、停電中は利用はできない。</a:t>
            </a:r>
            <a:endParaRPr lang="en-US" altLang="ja-JP" sz="1600"/>
          </a:p>
        </p:txBody>
      </p:sp>
      <p:sp>
        <p:nvSpPr>
          <p:cNvPr id="4" name="Rectangle 2"/>
          <p:cNvSpPr>
            <a:spLocks noChangeArrowheads="1"/>
          </p:cNvSpPr>
          <p:nvPr/>
        </p:nvSpPr>
        <p:spPr bwMode="auto">
          <a:xfrm>
            <a:off x="1784394" y="23664"/>
            <a:ext cx="530788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サーバシステムの設置コンセプト</a:t>
            </a:r>
          </a:p>
        </p:txBody>
      </p:sp>
    </p:spTree>
    <p:extLst>
      <p:ext uri="{BB962C8B-B14F-4D97-AF65-F5344CB8AC3E}">
        <p14:creationId xmlns:p14="http://schemas.microsoft.com/office/powerpoint/2010/main" val="532724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250825" y="548680"/>
            <a:ext cx="8642350" cy="5805645"/>
          </a:xfrm>
        </p:spPr>
        <p:txBody>
          <a:bodyPr/>
          <a:lstStyle/>
          <a:p>
            <a:pPr marL="0" indent="0">
              <a:buNone/>
            </a:pPr>
            <a:r>
              <a:rPr kumimoji="1" lang="ja-JP" altLang="en-US" sz="2400"/>
              <a:t>データの入出力</a:t>
            </a:r>
            <a:endParaRPr kumimoji="1" lang="en-US" altLang="ja-JP" sz="2400" dirty="0"/>
          </a:p>
          <a:p>
            <a:r>
              <a:rPr lang="ja-JP" altLang="en-US" sz="1600"/>
              <a:t>クライアント（ユーザ）とのインタフェースは、</a:t>
            </a:r>
            <a:br>
              <a:rPr lang="en-US" altLang="ja-JP" sz="1600"/>
            </a:br>
            <a:r>
              <a:rPr lang="ja-JP" altLang="en-US" sz="1600"/>
              <a:t>管理者（</a:t>
            </a:r>
            <a:r>
              <a:rPr lang="en-US" altLang="ja-JP" sz="1600"/>
              <a:t>Administrator</a:t>
            </a:r>
            <a:r>
              <a:rPr lang="ja-JP" altLang="en-US" sz="1600"/>
              <a:t>）は</a:t>
            </a:r>
            <a:endParaRPr lang="en-US" altLang="ja-JP" sz="1600"/>
          </a:p>
          <a:p>
            <a:pPr lvl="1"/>
            <a:r>
              <a:rPr lang="en-US" altLang="ja-JP" sz="1600"/>
              <a:t>SSH</a:t>
            </a:r>
            <a:r>
              <a:rPr lang="ja-JP" altLang="en-US" sz="1600"/>
              <a:t>によるターミナル接続</a:t>
            </a:r>
            <a:endParaRPr lang="en-US" altLang="ja-JP" sz="1600"/>
          </a:p>
          <a:p>
            <a:pPr lvl="1"/>
            <a:r>
              <a:rPr lang="ja-JP" altLang="en-US" sz="1600"/>
              <a:t>ユーティリティー</a:t>
            </a:r>
            <a:r>
              <a:rPr lang="en-US" altLang="ja-JP" sz="1600"/>
              <a:t>Web</a:t>
            </a:r>
            <a:r>
              <a:rPr lang="ja-JP" altLang="en-US" sz="1600"/>
              <a:t>サービス（</a:t>
            </a:r>
            <a:r>
              <a:rPr lang="en-US" altLang="ja-JP" sz="1600"/>
              <a:t>phpMyAdmin</a:t>
            </a:r>
            <a:r>
              <a:rPr lang="ja-JP" altLang="en-US" sz="1600"/>
              <a:t>、</a:t>
            </a:r>
            <a:r>
              <a:rPr lang="en-US" altLang="ja-JP" sz="1600"/>
              <a:t>cockpit</a:t>
            </a:r>
            <a:r>
              <a:rPr lang="ja-JP" altLang="en-US" sz="1600"/>
              <a:t>、</a:t>
            </a:r>
            <a:r>
              <a:rPr lang="en-US" altLang="ja-JP" sz="1600"/>
              <a:t>awstats</a:t>
            </a:r>
            <a:r>
              <a:rPr lang="ja-JP" altLang="en-US" sz="1600"/>
              <a:t>）</a:t>
            </a:r>
            <a:endParaRPr lang="en-US" altLang="ja-JP" sz="1600"/>
          </a:p>
          <a:p>
            <a:pPr marL="361950" lvl="1" indent="0">
              <a:buNone/>
            </a:pPr>
            <a:r>
              <a:rPr lang="ja-JP" altLang="en-US" sz="1600"/>
              <a:t>のほか、一般ユーザは、</a:t>
            </a:r>
            <a:endParaRPr lang="en-US" altLang="ja-JP" sz="1600"/>
          </a:p>
          <a:p>
            <a:pPr marL="714375" lvl="1" indent="-266700"/>
            <a:r>
              <a:rPr lang="en-US" altLang="ja-JP" sz="1600"/>
              <a:t>Apache Web</a:t>
            </a:r>
            <a:r>
              <a:rPr lang="ja-JP" altLang="en-US" sz="1600"/>
              <a:t>サーバによる</a:t>
            </a:r>
            <a:r>
              <a:rPr lang="en-US" altLang="ja-JP" sz="1600"/>
              <a:t>Web</a:t>
            </a:r>
            <a:r>
              <a:rPr lang="ja-JP" altLang="en-US" sz="1600"/>
              <a:t>サービス（</a:t>
            </a:r>
            <a:r>
              <a:rPr lang="en-US" altLang="ja-JP" sz="1600"/>
              <a:t>cgi</a:t>
            </a:r>
            <a:r>
              <a:rPr lang="ja-JP" altLang="en-US" sz="1600"/>
              <a:t>）</a:t>
            </a:r>
            <a:endParaRPr lang="en-US" altLang="ja-JP" sz="1600"/>
          </a:p>
          <a:p>
            <a:pPr marL="714375" lvl="1" indent="-266700"/>
            <a:r>
              <a:rPr lang="en-US" altLang="ja-JP" sz="1600"/>
              <a:t>SAMBA</a:t>
            </a:r>
            <a:r>
              <a:rPr lang="ja-JP" altLang="en-US" sz="1600" dirty="0"/>
              <a:t>共有フォルダを</a:t>
            </a:r>
            <a:r>
              <a:rPr lang="ja-JP" altLang="en-US" sz="1600"/>
              <a:t>介するファイルの読み書き、仮想プリンタへのリモート印刷</a:t>
            </a:r>
            <a:endParaRPr lang="en-US" altLang="ja-JP" sz="1600"/>
          </a:p>
          <a:p>
            <a:pPr marL="714375" lvl="1" indent="-266700"/>
            <a:r>
              <a:rPr lang="en-US" altLang="ja-JP" sz="1600"/>
              <a:t>Windows </a:t>
            </a:r>
            <a:r>
              <a:rPr lang="en-US" altLang="ja-JP" sz="1600" dirty="0"/>
              <a:t>/ </a:t>
            </a:r>
            <a:r>
              <a:rPr lang="en-US" altLang="ja-JP" sz="1600"/>
              <a:t>LAMP</a:t>
            </a:r>
            <a:r>
              <a:rPr lang="ja-JP" altLang="en-US" sz="1600"/>
              <a:t>環境で稼働する仮想プリンタへのリモート印刷</a:t>
            </a:r>
            <a:endParaRPr lang="en-US" altLang="ja-JP" sz="1600"/>
          </a:p>
          <a:p>
            <a:pPr marL="361950" lvl="1" indent="0">
              <a:buNone/>
            </a:pPr>
            <a:r>
              <a:rPr lang="ja-JP" altLang="en-US" sz="1600"/>
              <a:t>に</a:t>
            </a:r>
            <a:r>
              <a:rPr lang="ja-JP" altLang="en-US" sz="1600" dirty="0"/>
              <a:t>よるデータ交換を</a:t>
            </a:r>
            <a:r>
              <a:rPr lang="ja-JP" altLang="en-US" sz="1600"/>
              <a:t>窓口とする。</a:t>
            </a:r>
            <a:endParaRPr lang="en-US" altLang="ja-JP" sz="1600"/>
          </a:p>
          <a:p>
            <a:pPr marL="361950" indent="-361950"/>
            <a:r>
              <a:rPr lang="ja-JP" altLang="en-US" sz="1600"/>
              <a:t>他サーバ（</a:t>
            </a:r>
            <a:r>
              <a:rPr lang="en-US" altLang="ja-JP" sz="1600"/>
              <a:t>nksv56x</a:t>
            </a:r>
            <a:r>
              <a:rPr lang="ja-JP" altLang="en-US" sz="1600"/>
              <a:t>間、</a:t>
            </a:r>
            <a:r>
              <a:rPr lang="en-US" altLang="ja-JP" sz="1600"/>
              <a:t>nksv250</a:t>
            </a:r>
            <a:r>
              <a:rPr lang="ja-JP" altLang="en-US" sz="1600"/>
              <a:t>、</a:t>
            </a:r>
            <a:r>
              <a:rPr lang="en-US" altLang="ja-JP" sz="1600"/>
              <a:t>nksvasp23</a:t>
            </a:r>
            <a:r>
              <a:rPr lang="ja-JP" altLang="en-US" sz="1600"/>
              <a:t>等）やデバイス間は、アカウントが持つ権限の</a:t>
            </a:r>
            <a:br>
              <a:rPr lang="en-US" altLang="ja-JP" sz="1600"/>
            </a:br>
            <a:r>
              <a:rPr lang="ja-JP" altLang="en-US" sz="1600"/>
              <a:t>ディレクトリに対する</a:t>
            </a:r>
            <a:endParaRPr lang="en-US" altLang="ja-JP" sz="1600"/>
          </a:p>
          <a:p>
            <a:pPr marL="714375" lvl="1" indent="-266700"/>
            <a:r>
              <a:rPr lang="en-US" altLang="ja-JP" sz="1600"/>
              <a:t>ftp</a:t>
            </a:r>
            <a:r>
              <a:rPr lang="ja-JP" altLang="en-US" sz="1600"/>
              <a:t>ファイル転送</a:t>
            </a:r>
            <a:endParaRPr lang="en-US" altLang="ja-JP" sz="1600"/>
          </a:p>
          <a:p>
            <a:pPr marL="714375" lvl="1" indent="-266700"/>
            <a:r>
              <a:rPr lang="ja-JP" altLang="en-US" sz="1600"/>
              <a:t>マウント</a:t>
            </a:r>
            <a:r>
              <a:rPr lang="en-US" altLang="ja-JP" sz="1600"/>
              <a:t>(nfs</a:t>
            </a:r>
            <a:r>
              <a:rPr lang="ja-JP" altLang="en-US" sz="1600"/>
              <a:t> </a:t>
            </a:r>
            <a:r>
              <a:rPr lang="en-US" altLang="ja-JP" sz="1600"/>
              <a:t>/</a:t>
            </a:r>
            <a:r>
              <a:rPr lang="ja-JP" altLang="en-US" sz="1600"/>
              <a:t> </a:t>
            </a:r>
            <a:r>
              <a:rPr lang="en-US" altLang="ja-JP" sz="1600"/>
              <a:t>cifs)</a:t>
            </a:r>
          </a:p>
          <a:p>
            <a:pPr marL="361950" lvl="1" indent="0">
              <a:buNone/>
            </a:pPr>
            <a:r>
              <a:rPr lang="ja-JP" altLang="en-US" sz="1600"/>
              <a:t>等によるデータ交換、ファイル交換を行う。</a:t>
            </a:r>
            <a:endParaRPr lang="en-US" altLang="ja-JP" sz="1600" dirty="0"/>
          </a:p>
        </p:txBody>
      </p:sp>
      <p:sp>
        <p:nvSpPr>
          <p:cNvPr id="4" name="Rectangle 2"/>
          <p:cNvSpPr>
            <a:spLocks noChangeArrowheads="1"/>
          </p:cNvSpPr>
          <p:nvPr/>
        </p:nvSpPr>
        <p:spPr bwMode="auto">
          <a:xfrm>
            <a:off x="1784394" y="23664"/>
            <a:ext cx="530788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サーバシステムのコンセプト</a:t>
            </a:r>
            <a:endParaRPr lang="ja-JP" altLang="en-US" sz="2400" b="1" dirty="0">
              <a:solidFill>
                <a:schemeClr val="bg1"/>
              </a:solidFill>
              <a:latin typeface="+mj-ea"/>
              <a:ea typeface="+mj-ea"/>
            </a:endParaRPr>
          </a:p>
        </p:txBody>
      </p:sp>
      <p:pic>
        <p:nvPicPr>
          <p:cNvPr id="5" name="図 4">
            <a:extLst>
              <a:ext uri="{FF2B5EF4-FFF2-40B4-BE49-F238E27FC236}">
                <a16:creationId xmlns:a16="http://schemas.microsoft.com/office/drawing/2014/main" id="{412C016C-F88D-4C9E-A1FE-15C469B13D25}"/>
              </a:ext>
            </a:extLst>
          </p:cNvPr>
          <p:cNvPicPr>
            <a:picLocks noChangeAspect="1"/>
          </p:cNvPicPr>
          <p:nvPr/>
        </p:nvPicPr>
        <p:blipFill>
          <a:blip r:embed="rId2"/>
          <a:stretch>
            <a:fillRect/>
          </a:stretch>
        </p:blipFill>
        <p:spPr>
          <a:xfrm>
            <a:off x="612278" y="4952113"/>
            <a:ext cx="3968379" cy="1402212"/>
          </a:xfrm>
          <a:prstGeom prst="rect">
            <a:avLst/>
          </a:prstGeom>
        </p:spPr>
      </p:pic>
    </p:spTree>
    <p:extLst>
      <p:ext uri="{BB962C8B-B14F-4D97-AF65-F5344CB8AC3E}">
        <p14:creationId xmlns:p14="http://schemas.microsoft.com/office/powerpoint/2010/main" val="4197544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937A623-553A-4981-A2BA-5DAA60696D16}"/>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サーバのセキュリティ</a:t>
            </a:r>
            <a:endParaRPr lang="ja-JP" altLang="en-US" sz="2400" b="1" dirty="0">
              <a:solidFill>
                <a:schemeClr val="bg1"/>
              </a:solidFill>
              <a:latin typeface="+mj-ea"/>
              <a:ea typeface="+mj-ea"/>
            </a:endParaRPr>
          </a:p>
        </p:txBody>
      </p:sp>
      <p:sp>
        <p:nvSpPr>
          <p:cNvPr id="6" name="コンテンツ プレースホルダー 2">
            <a:extLst>
              <a:ext uri="{FF2B5EF4-FFF2-40B4-BE49-F238E27FC236}">
                <a16:creationId xmlns:a16="http://schemas.microsoft.com/office/drawing/2014/main" id="{4F714070-A723-464A-A7F0-DB134D740114}"/>
              </a:ext>
            </a:extLst>
          </p:cNvPr>
          <p:cNvSpPr>
            <a:spLocks noGrp="1"/>
          </p:cNvSpPr>
          <p:nvPr>
            <p:ph idx="1"/>
          </p:nvPr>
        </p:nvSpPr>
        <p:spPr>
          <a:xfrm>
            <a:off x="250825" y="638689"/>
            <a:ext cx="8642350" cy="5805645"/>
          </a:xfrm>
        </p:spPr>
        <p:txBody>
          <a:bodyPr/>
          <a:lstStyle/>
          <a:p>
            <a:pPr marL="180975" indent="-180975">
              <a:tabLst>
                <a:tab pos="3048000" algn="l"/>
              </a:tabLst>
            </a:pPr>
            <a:r>
              <a:rPr kumimoji="1" lang="ja-JP" altLang="en-US" sz="1600"/>
              <a:t>本サーバは、多くが</a:t>
            </a:r>
            <a:r>
              <a:rPr kumimoji="1" lang="en-US" altLang="ja-JP" sz="1600"/>
              <a:t>Linux</a:t>
            </a:r>
            <a:r>
              <a:rPr kumimoji="1" lang="ja-JP" altLang="en-US" sz="1600"/>
              <a:t>環境で動作しているので、元来不正ソフトの存在機会が少ないことに</a:t>
            </a:r>
            <a:br>
              <a:rPr kumimoji="1" lang="en-US" altLang="ja-JP" sz="1600"/>
            </a:br>
            <a:r>
              <a:rPr kumimoji="1" lang="ja-JP" altLang="en-US" sz="1600"/>
              <a:t>加え、「善良なる市民」の利用を前提にしているので、不正アクセスに対する防御手段としては</a:t>
            </a:r>
            <a:br>
              <a:rPr kumimoji="1" lang="en-US" altLang="ja-JP" sz="1600"/>
            </a:br>
            <a:r>
              <a:rPr kumimoji="1" lang="ja-JP" altLang="en-US" sz="1600"/>
              <a:t>自サーバ内に持つアカウント情報のみである。</a:t>
            </a:r>
            <a:br>
              <a:rPr kumimoji="1" lang="en-US" altLang="ja-JP" sz="1600"/>
            </a:br>
            <a:r>
              <a:rPr kumimoji="1" lang="ja-JP" altLang="en-US" sz="1600"/>
              <a:t>本件に関しては、通セ通達にもあるように全社的にセキュリティ強化を求められているので、</a:t>
            </a:r>
            <a:br>
              <a:rPr kumimoji="1" lang="en-US" altLang="ja-JP" sz="1600"/>
            </a:br>
            <a:r>
              <a:rPr kumimoji="1" lang="en-US" altLang="ja-JP" sz="1600"/>
              <a:t>AD</a:t>
            </a:r>
            <a:r>
              <a:rPr kumimoji="1" lang="ja-JP" altLang="en-US" sz="1600"/>
              <a:t>＝アクティブ・ディレクトリ連携を行うよう、通セに資源提供を要請する必要あり。</a:t>
            </a:r>
            <a:endParaRPr kumimoji="1" lang="en-US" altLang="ja-JP" sz="1600"/>
          </a:p>
          <a:p>
            <a:pPr marL="180975" indent="-180975">
              <a:tabLst>
                <a:tab pos="3048000" algn="l"/>
              </a:tabLst>
            </a:pPr>
            <a:endParaRPr lang="en-US" altLang="ja-JP" sz="1600"/>
          </a:p>
          <a:p>
            <a:pPr marL="180975" indent="-180975">
              <a:tabLst>
                <a:tab pos="3048000" algn="l"/>
              </a:tabLst>
            </a:pPr>
            <a:r>
              <a:rPr lang="ja-JP" altLang="en-US" sz="1600"/>
              <a:t>一方で、社内サーバに対する通セの求める要件、また不正ファイルによる感染を防ぐため、フリーの</a:t>
            </a:r>
            <a:r>
              <a:rPr lang="en-US" altLang="ja-JP" sz="1600"/>
              <a:t>Linux</a:t>
            </a:r>
            <a:r>
              <a:rPr lang="ja-JP" altLang="en-US" sz="1600"/>
              <a:t>向けアンチウィルスソフト</a:t>
            </a:r>
            <a:r>
              <a:rPr lang="en-US" altLang="ja-JP" sz="1600"/>
              <a:t>(Sophos AV)</a:t>
            </a:r>
            <a:r>
              <a:rPr lang="ja-JP" altLang="en-US" sz="1600"/>
              <a:t>を稼働させている。</a:t>
            </a:r>
            <a:br>
              <a:rPr lang="en-US" altLang="ja-JP" sz="1600"/>
            </a:br>
            <a:r>
              <a:rPr lang="en-US" altLang="ja-JP" sz="1600"/>
              <a:t>Windows</a:t>
            </a:r>
            <a:r>
              <a:rPr lang="ja-JP" altLang="en-US" sz="1600"/>
              <a:t>（</a:t>
            </a:r>
            <a:r>
              <a:rPr lang="en-US" altLang="ja-JP" sz="1600"/>
              <a:t>nksv559,561</a:t>
            </a:r>
            <a:r>
              <a:rPr lang="ja-JP" altLang="en-US" sz="1600"/>
              <a:t>）は、ウィルスバスターコーポレート版を使用。</a:t>
            </a:r>
            <a:endParaRPr lang="en-US" altLang="ja-JP" sz="1600"/>
          </a:p>
          <a:p>
            <a:pPr marL="715963" indent="-354013">
              <a:buNone/>
              <a:tabLst>
                <a:tab pos="3048000" algn="l"/>
              </a:tabLst>
            </a:pPr>
            <a:r>
              <a:rPr lang="ja-JP" altLang="en-US" sz="1600"/>
              <a:t>　</a:t>
            </a:r>
            <a:r>
              <a:rPr lang="en-US" altLang="ja-JP" sz="1600">
                <a:sym typeface="Wingdings" panose="05000000000000000000" pitchFamily="2" charset="2"/>
              </a:rPr>
              <a:t></a:t>
            </a:r>
            <a:r>
              <a:rPr lang="ja-JP" altLang="en-US" sz="1600"/>
              <a:t>パターンファイルに引っかかり、インストールできないフリーソフトあり。</a:t>
            </a:r>
            <a:br>
              <a:rPr lang="en-US" altLang="ja-JP" sz="1600"/>
            </a:br>
            <a:r>
              <a:rPr lang="ja-JP" altLang="en-US" sz="1600"/>
              <a:t>１例として、ネットワークプリンタソフトの</a:t>
            </a:r>
            <a:r>
              <a:rPr lang="en-US" altLang="ja-JP" sz="1600"/>
              <a:t>PDFCreator</a:t>
            </a:r>
            <a:r>
              <a:rPr lang="ja-JP" altLang="en-US" sz="1600"/>
              <a:t>最新バージョン。</a:t>
            </a:r>
            <a:br>
              <a:rPr lang="en-US" altLang="ja-JP" sz="1600"/>
            </a:br>
            <a:r>
              <a:rPr lang="ja-JP" altLang="en-US" sz="1600"/>
              <a:t>旧版は引っかからないので、現在</a:t>
            </a:r>
            <a:r>
              <a:rPr lang="en-US" altLang="ja-JP" sz="1600"/>
              <a:t>nksv561</a:t>
            </a:r>
            <a:r>
              <a:rPr lang="ja-JP" altLang="en-US" sz="1600"/>
              <a:t>上では旧版が稼働中。</a:t>
            </a:r>
            <a:endParaRPr lang="en-US" altLang="ja-JP" sz="1600"/>
          </a:p>
          <a:p>
            <a:pPr marL="180975" indent="-180975">
              <a:tabLst>
                <a:tab pos="3048000" algn="l"/>
              </a:tabLst>
            </a:pPr>
            <a:endParaRPr lang="en-US" altLang="ja-JP" sz="1600"/>
          </a:p>
          <a:p>
            <a:pPr marL="180975" indent="-180975">
              <a:tabLst>
                <a:tab pos="3048000" algn="l"/>
              </a:tabLst>
            </a:pPr>
            <a:r>
              <a:rPr lang="ja-JP" altLang="en-US" sz="1600"/>
              <a:t>作成した</a:t>
            </a:r>
            <a:r>
              <a:rPr lang="en-US" altLang="ja-JP" sz="1600"/>
              <a:t>web</a:t>
            </a:r>
            <a:r>
              <a:rPr lang="ja-JP" altLang="en-US" sz="1600"/>
              <a:t>ページの堅牢性を確認するため、</a:t>
            </a:r>
            <a:r>
              <a:rPr lang="en-US" altLang="ja-JP" sz="1600"/>
              <a:t>IPA</a:t>
            </a:r>
            <a:r>
              <a:rPr lang="ja-JP" altLang="en-US" sz="1600"/>
              <a:t>のガイドラインに基づくチェックリストがあるので、それを使って確認する。</a:t>
            </a:r>
            <a:endParaRPr lang="en-US" altLang="ja-JP" sz="1600"/>
          </a:p>
        </p:txBody>
      </p:sp>
    </p:spTree>
    <p:extLst>
      <p:ext uri="{BB962C8B-B14F-4D97-AF65-F5344CB8AC3E}">
        <p14:creationId xmlns:p14="http://schemas.microsoft.com/office/powerpoint/2010/main" val="1188328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
          <p:cNvSpPr>
            <a:spLocks noChangeArrowheads="1"/>
          </p:cNvSpPr>
          <p:nvPr/>
        </p:nvSpPr>
        <p:spPr bwMode="auto">
          <a:xfrm>
            <a:off x="2207361" y="23664"/>
            <a:ext cx="4461952"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サーバラックの構成</a:t>
            </a:r>
          </a:p>
        </p:txBody>
      </p:sp>
      <p:sp>
        <p:nvSpPr>
          <p:cNvPr id="12" name="コンテンツ プレースホルダー 2"/>
          <p:cNvSpPr>
            <a:spLocks noGrp="1"/>
          </p:cNvSpPr>
          <p:nvPr>
            <p:ph idx="1"/>
          </p:nvPr>
        </p:nvSpPr>
        <p:spPr>
          <a:xfrm>
            <a:off x="250824" y="548681"/>
            <a:ext cx="8641655" cy="810090"/>
          </a:xfrm>
        </p:spPr>
        <p:txBody>
          <a:bodyPr/>
          <a:lstStyle/>
          <a:p>
            <a:pPr marL="0" indent="0">
              <a:buNone/>
            </a:pPr>
            <a:r>
              <a:rPr lang="ja-JP" altLang="en-US" sz="1600"/>
              <a:t>富岡サーバ室には計</a:t>
            </a:r>
            <a:r>
              <a:rPr lang="en-US" altLang="ja-JP" sz="1600"/>
              <a:t>6</a:t>
            </a:r>
            <a:r>
              <a:rPr lang="ja-JP" altLang="en-US" sz="1600" dirty="0"/>
              <a:t>台のサーバがサーバラックに収容されていて、</a:t>
            </a:r>
            <a:r>
              <a:rPr lang="ja-JP" altLang="en-US" sz="1600"/>
              <a:t>いずれも、</a:t>
            </a:r>
            <a:r>
              <a:rPr lang="en-US" altLang="ja-JP" sz="1600"/>
              <a:t>NK</a:t>
            </a:r>
            <a:r>
              <a:rPr lang="ja-JP" altLang="en-US" sz="1600" dirty="0"/>
              <a:t>ネットワーク</a:t>
            </a:r>
            <a:r>
              <a:rPr lang="ja-JP" altLang="en-US" sz="1600"/>
              <a:t>の富岡基幹ネットワークのスイッチ</a:t>
            </a:r>
            <a:r>
              <a:rPr lang="ja-JP" altLang="en-US" sz="1600" dirty="0"/>
              <a:t>に接続されている。</a:t>
            </a:r>
            <a:endParaRPr lang="en-US" altLang="ja-JP" sz="1600" dirty="0"/>
          </a:p>
        </p:txBody>
      </p:sp>
      <p:grpSp>
        <p:nvGrpSpPr>
          <p:cNvPr id="10" name="グループ化 9"/>
          <p:cNvGrpSpPr/>
          <p:nvPr/>
        </p:nvGrpSpPr>
        <p:grpSpPr>
          <a:xfrm>
            <a:off x="1919867" y="1350550"/>
            <a:ext cx="6939451" cy="4848720"/>
            <a:chOff x="1682999" y="1460600"/>
            <a:chExt cx="6939451" cy="4848720"/>
          </a:xfrm>
        </p:grpSpPr>
        <p:sp>
          <p:nvSpPr>
            <p:cNvPr id="2" name="正方形/長方形 1"/>
            <p:cNvSpPr/>
            <p:nvPr/>
          </p:nvSpPr>
          <p:spPr>
            <a:xfrm>
              <a:off x="1682999" y="1460600"/>
              <a:ext cx="2250250" cy="4848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p:nvSpPr>
          <p:spPr>
            <a:xfrm>
              <a:off x="1761955" y="6072495"/>
              <a:ext cx="2089965"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effectLst>
                    <a:outerShdw blurRad="38100" dist="38100" dir="2700000" algn="tl">
                      <a:srgbClr val="000000">
                        <a:alpha val="43137"/>
                      </a:srgbClr>
                    </a:outerShdw>
                  </a:effectLst>
                </a:rPr>
                <a:t>UPS</a:t>
              </a:r>
              <a:endParaRPr kumimoji="1" lang="ja-JP" altLang="en-US" sz="1400" dirty="0">
                <a:solidFill>
                  <a:schemeClr val="tx1"/>
                </a:solidFill>
                <a:effectLst>
                  <a:outerShdw blurRad="38100" dist="38100" dir="2700000" algn="tl">
                    <a:srgbClr val="000000">
                      <a:alpha val="43137"/>
                    </a:srgbClr>
                  </a:outerShdw>
                </a:effectLst>
              </a:endParaRPr>
            </a:p>
          </p:txBody>
        </p:sp>
        <p:sp>
          <p:nvSpPr>
            <p:cNvPr id="24" name="正方形/長方形 23"/>
            <p:cNvSpPr/>
            <p:nvPr/>
          </p:nvSpPr>
          <p:spPr>
            <a:xfrm>
              <a:off x="1761955" y="5859290"/>
              <a:ext cx="2089965"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effectLst>
                    <a:outerShdw blurRad="38100" dist="38100" dir="2700000" algn="tl">
                      <a:srgbClr val="000000">
                        <a:alpha val="43137"/>
                      </a:srgbClr>
                    </a:outerShdw>
                  </a:effectLst>
                </a:rPr>
                <a:t>UPS</a:t>
              </a:r>
              <a:endParaRPr kumimoji="1" lang="ja-JP" altLang="en-US" sz="1400" dirty="0">
                <a:solidFill>
                  <a:schemeClr val="tx1"/>
                </a:solidFill>
                <a:effectLst>
                  <a:outerShdw blurRad="38100" dist="38100" dir="2700000" algn="tl">
                    <a:srgbClr val="000000">
                      <a:alpha val="43137"/>
                    </a:srgbClr>
                  </a:outerShdw>
                </a:effectLst>
              </a:endParaRPr>
            </a:p>
          </p:txBody>
        </p:sp>
        <p:sp>
          <p:nvSpPr>
            <p:cNvPr id="25" name="正方形/長方形 24"/>
            <p:cNvSpPr/>
            <p:nvPr/>
          </p:nvSpPr>
          <p:spPr>
            <a:xfrm>
              <a:off x="1761955" y="5634265"/>
              <a:ext cx="2089965"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effectLst>
                    <a:outerShdw blurRad="38100" dist="38100" dir="2700000" algn="tl">
                      <a:srgbClr val="000000">
                        <a:alpha val="43137"/>
                      </a:srgbClr>
                    </a:outerShdw>
                  </a:effectLst>
                </a:rPr>
                <a:t>UPS</a:t>
              </a:r>
              <a:endParaRPr kumimoji="1" lang="ja-JP" altLang="en-US" sz="1400" dirty="0">
                <a:solidFill>
                  <a:schemeClr val="tx1"/>
                </a:solidFill>
                <a:effectLst>
                  <a:outerShdw blurRad="38100" dist="38100" dir="2700000" algn="tl">
                    <a:srgbClr val="000000">
                      <a:alpha val="43137"/>
                    </a:srgbClr>
                  </a:outerShdw>
                </a:effectLst>
              </a:endParaRPr>
            </a:p>
          </p:txBody>
        </p:sp>
        <p:grpSp>
          <p:nvGrpSpPr>
            <p:cNvPr id="4" name="グループ化 3"/>
            <p:cNvGrpSpPr/>
            <p:nvPr/>
          </p:nvGrpSpPr>
          <p:grpSpPr>
            <a:xfrm>
              <a:off x="1761955" y="2078851"/>
              <a:ext cx="6860495" cy="270030"/>
              <a:chOff x="681835" y="2078851"/>
              <a:chExt cx="6860495" cy="270030"/>
            </a:xfrm>
          </p:grpSpPr>
          <p:sp>
            <p:nvSpPr>
              <p:cNvPr id="14" name="正方形/長方形 13"/>
              <p:cNvSpPr/>
              <p:nvPr/>
            </p:nvSpPr>
            <p:spPr>
              <a:xfrm>
                <a:off x="681835" y="2078851"/>
                <a:ext cx="2089965" cy="27003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nksv559</a:t>
                </a:r>
                <a:endParaRPr kumimoji="1" lang="ja-JP" altLang="en-US" dirty="0">
                  <a:solidFill>
                    <a:schemeClr val="tx1"/>
                  </a:solidFill>
                  <a:effectLst>
                    <a:outerShdw blurRad="38100" dist="38100" dir="2700000" algn="tl">
                      <a:srgbClr val="000000">
                        <a:alpha val="43137"/>
                      </a:srgbClr>
                    </a:outerShdw>
                  </a:effectLst>
                </a:endParaRPr>
              </a:p>
            </p:txBody>
          </p:sp>
          <p:sp>
            <p:nvSpPr>
              <p:cNvPr id="3" name="線吹き出し 1 2"/>
              <p:cNvSpPr/>
              <p:nvPr/>
            </p:nvSpPr>
            <p:spPr>
              <a:xfrm>
                <a:off x="3162320" y="2101352"/>
                <a:ext cx="4380010" cy="247528"/>
              </a:xfrm>
              <a:prstGeom prst="callout1">
                <a:avLst>
                  <a:gd name="adj1" fmla="val 52612"/>
                  <a:gd name="adj2" fmla="val -290"/>
                  <a:gd name="adj3" fmla="val 52342"/>
                  <a:gd name="adj4" fmla="val -8915"/>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172.25.201.11</a:t>
                </a:r>
                <a:r>
                  <a:rPr kumimoji="1" lang="ja-JP" altLang="en-US" sz="1200" dirty="0">
                    <a:solidFill>
                      <a:schemeClr val="tx1"/>
                    </a:solidFill>
                  </a:rPr>
                  <a:t>（川本 </a:t>
                </a:r>
                <a:r>
                  <a:rPr kumimoji="1" lang="en-US" altLang="ja-JP" sz="1200" dirty="0" err="1">
                    <a:solidFill>
                      <a:schemeClr val="tx1"/>
                    </a:solidFill>
                  </a:rPr>
                  <a:t>i</a:t>
                </a:r>
                <a:r>
                  <a:rPr kumimoji="1" lang="en-US" altLang="ja-JP" sz="1200" dirty="0">
                    <a:solidFill>
                      <a:schemeClr val="tx1"/>
                    </a:solidFill>
                  </a:rPr>
                  <a:t>-Reporter</a:t>
                </a:r>
                <a:r>
                  <a:rPr kumimoji="1" lang="ja-JP" altLang="en-US" sz="1200" dirty="0">
                    <a:solidFill>
                      <a:schemeClr val="tx1"/>
                    </a:solidFill>
                  </a:rPr>
                  <a:t>用、</a:t>
                </a:r>
                <a:r>
                  <a:rPr kumimoji="1" lang="en-US" altLang="ja-JP" sz="1200" dirty="0">
                    <a:solidFill>
                      <a:schemeClr val="tx1"/>
                    </a:solidFill>
                  </a:rPr>
                  <a:t>Windows Server 2008R2</a:t>
                </a:r>
                <a:r>
                  <a:rPr kumimoji="1" lang="ja-JP" altLang="en-US" sz="1200" dirty="0">
                    <a:solidFill>
                      <a:schemeClr val="tx1"/>
                    </a:solidFill>
                  </a:rPr>
                  <a:t>）</a:t>
                </a:r>
              </a:p>
            </p:txBody>
          </p:sp>
        </p:grpSp>
        <p:grpSp>
          <p:nvGrpSpPr>
            <p:cNvPr id="5" name="グループ化 4"/>
            <p:cNvGrpSpPr/>
            <p:nvPr/>
          </p:nvGrpSpPr>
          <p:grpSpPr>
            <a:xfrm>
              <a:off x="1761955" y="2438889"/>
              <a:ext cx="6860495" cy="576000"/>
              <a:chOff x="1761955" y="2438889"/>
              <a:chExt cx="6860495" cy="576000"/>
            </a:xfrm>
          </p:grpSpPr>
          <p:sp>
            <p:nvSpPr>
              <p:cNvPr id="15" name="正方形/長方形 14"/>
              <p:cNvSpPr/>
              <p:nvPr/>
            </p:nvSpPr>
            <p:spPr>
              <a:xfrm>
                <a:off x="1761955" y="2438889"/>
                <a:ext cx="2089965"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nksv560</a:t>
                </a:r>
                <a:endParaRPr kumimoji="1" lang="ja-JP" altLang="en-US" dirty="0">
                  <a:solidFill>
                    <a:schemeClr val="tx1"/>
                  </a:solidFill>
                  <a:effectLst>
                    <a:outerShdw blurRad="38100" dist="38100" dir="2700000" algn="tl">
                      <a:srgbClr val="000000">
                        <a:alpha val="43137"/>
                      </a:srgbClr>
                    </a:outerShdw>
                  </a:effectLst>
                </a:endParaRPr>
              </a:p>
            </p:txBody>
          </p:sp>
          <p:sp>
            <p:nvSpPr>
              <p:cNvPr id="26" name="線吹き出し 1 25"/>
              <p:cNvSpPr/>
              <p:nvPr/>
            </p:nvSpPr>
            <p:spPr>
              <a:xfrm>
                <a:off x="4242440" y="2494978"/>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172.25.201.12</a:t>
                </a:r>
                <a:r>
                  <a:rPr kumimoji="1" lang="ja-JP" altLang="en-US" sz="1200" dirty="0">
                    <a:solidFill>
                      <a:schemeClr val="tx1"/>
                    </a:solidFill>
                  </a:rPr>
                  <a:t>（富岡共通用、</a:t>
                </a:r>
                <a:r>
                  <a:rPr kumimoji="1" lang="en-US" altLang="ja-JP" sz="1200" dirty="0">
                    <a:solidFill>
                      <a:schemeClr val="tx1"/>
                    </a:solidFill>
                  </a:rPr>
                  <a:t>Ubuntu</a:t>
                </a:r>
                <a:r>
                  <a:rPr kumimoji="1" lang="ja-JP" altLang="en-US" sz="1200" dirty="0">
                    <a:solidFill>
                      <a:schemeClr val="tx1"/>
                    </a:solidFill>
                  </a:rPr>
                  <a:t> </a:t>
                </a:r>
                <a:r>
                  <a:rPr kumimoji="1" lang="en-US" altLang="ja-JP" sz="1200" dirty="0">
                    <a:solidFill>
                      <a:schemeClr val="tx1"/>
                    </a:solidFill>
                  </a:rPr>
                  <a:t>16.04LTS/32bit</a:t>
                </a:r>
                <a:r>
                  <a:rPr kumimoji="1" lang="ja-JP" altLang="en-US" sz="1200" dirty="0">
                    <a:solidFill>
                      <a:schemeClr val="tx1"/>
                    </a:solidFill>
                  </a:rPr>
                  <a:t>）／</a:t>
                </a:r>
                <a:endParaRPr kumimoji="1" lang="en-US" altLang="ja-JP" sz="1200" dirty="0">
                  <a:solidFill>
                    <a:schemeClr val="tx1"/>
                  </a:solidFill>
                </a:endParaRPr>
              </a:p>
              <a:p>
                <a:r>
                  <a:rPr lang="en-US" altLang="ja-JP" sz="1200" dirty="0">
                    <a:solidFill>
                      <a:schemeClr val="tx1"/>
                    </a:solidFill>
                  </a:rPr>
                  <a:t>210.233.120.151  </a:t>
                </a:r>
                <a:r>
                  <a:rPr kumimoji="1" lang="en-US" altLang="ja-JP" sz="1200" dirty="0">
                    <a:solidFill>
                      <a:schemeClr val="tx1"/>
                    </a:solidFill>
                  </a:rPr>
                  <a:t>nktomioka.nkc.co.jp (https</a:t>
                </a:r>
                <a:r>
                  <a:rPr lang="ja-JP" altLang="en-US" sz="1200" dirty="0">
                    <a:solidFill>
                      <a:schemeClr val="tx1"/>
                    </a:solidFill>
                  </a:rPr>
                  <a:t>で社外公開）</a:t>
                </a:r>
                <a:endParaRPr kumimoji="1" lang="ja-JP" altLang="en-US" sz="1200" dirty="0">
                  <a:solidFill>
                    <a:schemeClr val="tx1"/>
                  </a:solidFill>
                </a:endParaRPr>
              </a:p>
            </p:txBody>
          </p:sp>
        </p:grpSp>
        <p:grpSp>
          <p:nvGrpSpPr>
            <p:cNvPr id="6" name="グループ化 5"/>
            <p:cNvGrpSpPr/>
            <p:nvPr/>
          </p:nvGrpSpPr>
          <p:grpSpPr>
            <a:xfrm>
              <a:off x="1761955" y="3080210"/>
              <a:ext cx="6860495" cy="576000"/>
              <a:chOff x="1761955" y="3080210"/>
              <a:chExt cx="6860495" cy="576000"/>
            </a:xfrm>
          </p:grpSpPr>
          <p:sp>
            <p:nvSpPr>
              <p:cNvPr id="16" name="正方形/長方形 15"/>
              <p:cNvSpPr/>
              <p:nvPr/>
            </p:nvSpPr>
            <p:spPr>
              <a:xfrm>
                <a:off x="1761955" y="3080210"/>
                <a:ext cx="2089965" cy="5760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nksv561</a:t>
                </a:r>
                <a:endParaRPr kumimoji="1" lang="ja-JP" altLang="en-US" dirty="0">
                  <a:solidFill>
                    <a:schemeClr val="tx1"/>
                  </a:solidFill>
                  <a:effectLst>
                    <a:outerShdw blurRad="38100" dist="38100" dir="2700000" algn="tl">
                      <a:srgbClr val="000000">
                        <a:alpha val="43137"/>
                      </a:srgbClr>
                    </a:outerShdw>
                  </a:effectLst>
                </a:endParaRPr>
              </a:p>
            </p:txBody>
          </p:sp>
          <p:sp>
            <p:nvSpPr>
              <p:cNvPr id="28" name="線吹き出し 1 27"/>
              <p:cNvSpPr/>
              <p:nvPr/>
            </p:nvSpPr>
            <p:spPr>
              <a:xfrm>
                <a:off x="4242440" y="3171229"/>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172.25.201.13</a:t>
                </a:r>
                <a:r>
                  <a:rPr kumimoji="1" lang="ja-JP" altLang="en-US" sz="1200" dirty="0">
                    <a:solidFill>
                      <a:schemeClr val="tx1"/>
                    </a:solidFill>
                  </a:rPr>
                  <a:t>（富岡アプリ用、</a:t>
                </a:r>
                <a:r>
                  <a:rPr lang="en-US" altLang="ja-JP" sz="1200" dirty="0">
                    <a:solidFill>
                      <a:schemeClr val="tx1"/>
                    </a:solidFill>
                  </a:rPr>
                  <a:t> Windows Server 2008R2 </a:t>
                </a:r>
                <a:r>
                  <a:rPr kumimoji="1" lang="ja-JP" altLang="en-US" sz="1200" dirty="0">
                    <a:solidFill>
                      <a:schemeClr val="tx1"/>
                    </a:solidFill>
                  </a:rPr>
                  <a:t>）</a:t>
                </a:r>
              </a:p>
            </p:txBody>
          </p:sp>
        </p:grpSp>
        <p:grpSp>
          <p:nvGrpSpPr>
            <p:cNvPr id="7" name="グループ化 6"/>
            <p:cNvGrpSpPr/>
            <p:nvPr/>
          </p:nvGrpSpPr>
          <p:grpSpPr>
            <a:xfrm>
              <a:off x="1761955" y="3721531"/>
              <a:ext cx="6860495" cy="576000"/>
              <a:chOff x="1761955" y="3721531"/>
              <a:chExt cx="6860495" cy="576000"/>
            </a:xfrm>
          </p:grpSpPr>
          <p:sp>
            <p:nvSpPr>
              <p:cNvPr id="17" name="正方形/長方形 16"/>
              <p:cNvSpPr/>
              <p:nvPr/>
            </p:nvSpPr>
            <p:spPr>
              <a:xfrm>
                <a:off x="1761955" y="3721531"/>
                <a:ext cx="2089965"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nksv567</a:t>
                </a:r>
                <a:endParaRPr kumimoji="1" lang="ja-JP" altLang="en-US" dirty="0">
                  <a:solidFill>
                    <a:schemeClr val="tx1"/>
                  </a:solidFill>
                  <a:effectLst>
                    <a:outerShdw blurRad="38100" dist="38100" dir="2700000" algn="tl">
                      <a:srgbClr val="000000">
                        <a:alpha val="43137"/>
                      </a:srgbClr>
                    </a:outerShdw>
                  </a:effectLst>
                </a:endParaRPr>
              </a:p>
            </p:txBody>
          </p:sp>
          <p:sp>
            <p:nvSpPr>
              <p:cNvPr id="29" name="線吹き出し 1 28"/>
              <p:cNvSpPr/>
              <p:nvPr/>
            </p:nvSpPr>
            <p:spPr>
              <a:xfrm>
                <a:off x="4242440" y="3812550"/>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172.25.201.14</a:t>
                </a:r>
                <a:r>
                  <a:rPr kumimoji="1" lang="ja-JP" altLang="en-US" sz="1200" dirty="0">
                    <a:solidFill>
                      <a:schemeClr val="tx1"/>
                    </a:solidFill>
                  </a:rPr>
                  <a:t>（富岡</a:t>
                </a:r>
                <a:r>
                  <a:rPr lang="ja-JP" altLang="en-US" sz="1200" dirty="0">
                    <a:solidFill>
                      <a:schemeClr val="tx1"/>
                    </a:solidFill>
                  </a:rPr>
                  <a:t>生産技術用</a:t>
                </a:r>
                <a:r>
                  <a:rPr kumimoji="1" lang="ja-JP" altLang="en-US" sz="1200" dirty="0">
                    <a:solidFill>
                      <a:schemeClr val="tx1"/>
                    </a:solidFill>
                  </a:rPr>
                  <a:t>、</a:t>
                </a:r>
                <a:r>
                  <a:rPr kumimoji="1" lang="en-US" altLang="ja-JP" sz="1200" dirty="0">
                    <a:solidFill>
                      <a:schemeClr val="tx1"/>
                    </a:solidFill>
                  </a:rPr>
                  <a:t>Ubuntu</a:t>
                </a:r>
                <a:r>
                  <a:rPr kumimoji="1" lang="ja-JP" altLang="en-US" sz="1200" dirty="0">
                    <a:solidFill>
                      <a:schemeClr val="tx1"/>
                    </a:solidFill>
                  </a:rPr>
                  <a:t> </a:t>
                </a:r>
                <a:r>
                  <a:rPr lang="en-US" altLang="ja-JP" sz="1200" dirty="0">
                    <a:solidFill>
                      <a:schemeClr val="tx1"/>
                    </a:solidFill>
                  </a:rPr>
                  <a:t>16.04LTS/32bit</a:t>
                </a:r>
                <a:r>
                  <a:rPr kumimoji="1" lang="ja-JP" altLang="en-US" sz="1200" dirty="0">
                    <a:solidFill>
                      <a:schemeClr val="tx1"/>
                    </a:solidFill>
                  </a:rPr>
                  <a:t>）</a:t>
                </a:r>
              </a:p>
            </p:txBody>
          </p:sp>
        </p:grpSp>
        <p:grpSp>
          <p:nvGrpSpPr>
            <p:cNvPr id="8" name="グループ化 7"/>
            <p:cNvGrpSpPr/>
            <p:nvPr/>
          </p:nvGrpSpPr>
          <p:grpSpPr>
            <a:xfrm>
              <a:off x="1761955" y="4362852"/>
              <a:ext cx="6860495" cy="576000"/>
              <a:chOff x="1761955" y="4362852"/>
              <a:chExt cx="6860495" cy="576000"/>
            </a:xfrm>
          </p:grpSpPr>
          <p:sp>
            <p:nvSpPr>
              <p:cNvPr id="18" name="正方形/長方形 17"/>
              <p:cNvSpPr/>
              <p:nvPr/>
            </p:nvSpPr>
            <p:spPr>
              <a:xfrm>
                <a:off x="1761955" y="4362852"/>
                <a:ext cx="2089965"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nksv568</a:t>
                </a:r>
                <a:endParaRPr kumimoji="1" lang="ja-JP" altLang="en-US" dirty="0">
                  <a:solidFill>
                    <a:schemeClr val="tx1"/>
                  </a:solidFill>
                  <a:effectLst>
                    <a:outerShdw blurRad="38100" dist="38100" dir="2700000" algn="tl">
                      <a:srgbClr val="000000">
                        <a:alpha val="43137"/>
                      </a:srgbClr>
                    </a:outerShdw>
                  </a:effectLst>
                </a:endParaRPr>
              </a:p>
            </p:txBody>
          </p:sp>
          <p:sp>
            <p:nvSpPr>
              <p:cNvPr id="30" name="線吹き出し 1 29"/>
              <p:cNvSpPr/>
              <p:nvPr/>
            </p:nvSpPr>
            <p:spPr>
              <a:xfrm>
                <a:off x="4242440" y="4453871"/>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172.25.201.15</a:t>
                </a:r>
                <a:r>
                  <a:rPr kumimoji="1" lang="ja-JP" altLang="en-US" sz="1200" dirty="0">
                    <a:solidFill>
                      <a:schemeClr val="tx1"/>
                    </a:solidFill>
                  </a:rPr>
                  <a:t>（川本共通用、</a:t>
                </a:r>
                <a:r>
                  <a:rPr kumimoji="1" lang="en-US" altLang="ja-JP" sz="1200" dirty="0">
                    <a:solidFill>
                      <a:schemeClr val="tx1"/>
                    </a:solidFill>
                  </a:rPr>
                  <a:t>Ubuntu</a:t>
                </a:r>
                <a:r>
                  <a:rPr kumimoji="1" lang="ja-JP" altLang="en-US" sz="1200" dirty="0">
                    <a:solidFill>
                      <a:schemeClr val="tx1"/>
                    </a:solidFill>
                  </a:rPr>
                  <a:t> </a:t>
                </a:r>
                <a:r>
                  <a:rPr lang="en-US" altLang="ja-JP" sz="1200" dirty="0">
                    <a:solidFill>
                      <a:schemeClr val="tx1"/>
                    </a:solidFill>
                  </a:rPr>
                  <a:t>16.04LTS/64bit</a:t>
                </a:r>
                <a:r>
                  <a:rPr kumimoji="1" lang="ja-JP" altLang="en-US" sz="1200" dirty="0">
                    <a:solidFill>
                      <a:schemeClr val="tx1"/>
                    </a:solidFill>
                  </a:rPr>
                  <a:t>）</a:t>
                </a:r>
              </a:p>
            </p:txBody>
          </p:sp>
        </p:grpSp>
        <p:grpSp>
          <p:nvGrpSpPr>
            <p:cNvPr id="9" name="グループ化 8"/>
            <p:cNvGrpSpPr/>
            <p:nvPr/>
          </p:nvGrpSpPr>
          <p:grpSpPr>
            <a:xfrm>
              <a:off x="1761955" y="5004175"/>
              <a:ext cx="6860495" cy="576000"/>
              <a:chOff x="1761955" y="5004175"/>
              <a:chExt cx="6860495" cy="576000"/>
            </a:xfrm>
          </p:grpSpPr>
          <p:sp>
            <p:nvSpPr>
              <p:cNvPr id="22" name="正方形/長方形 21"/>
              <p:cNvSpPr/>
              <p:nvPr/>
            </p:nvSpPr>
            <p:spPr>
              <a:xfrm>
                <a:off x="1761955" y="5004175"/>
                <a:ext cx="2089965"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nksv569</a:t>
                </a:r>
                <a:endParaRPr kumimoji="1" lang="ja-JP" altLang="en-US" dirty="0">
                  <a:solidFill>
                    <a:schemeClr val="tx1"/>
                  </a:solidFill>
                  <a:effectLst>
                    <a:outerShdw blurRad="38100" dist="38100" dir="2700000" algn="tl">
                      <a:srgbClr val="000000">
                        <a:alpha val="43137"/>
                      </a:srgbClr>
                    </a:outerShdw>
                  </a:effectLst>
                </a:endParaRPr>
              </a:p>
            </p:txBody>
          </p:sp>
          <p:sp>
            <p:nvSpPr>
              <p:cNvPr id="31" name="線吹き出し 1 30"/>
              <p:cNvSpPr/>
              <p:nvPr/>
            </p:nvSpPr>
            <p:spPr>
              <a:xfrm>
                <a:off x="4242440" y="5095194"/>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172.25.201.16</a:t>
                </a:r>
                <a:r>
                  <a:rPr kumimoji="1" lang="ja-JP" altLang="en-US" sz="1200">
                    <a:solidFill>
                      <a:schemeClr val="tx1"/>
                    </a:solidFill>
                  </a:rPr>
                  <a:t>（富岡共通用</a:t>
                </a:r>
                <a:r>
                  <a:rPr kumimoji="1" lang="ja-JP" altLang="en-US" sz="1200" dirty="0">
                    <a:solidFill>
                      <a:schemeClr val="tx1"/>
                    </a:solidFill>
                  </a:rPr>
                  <a:t>、</a:t>
                </a:r>
                <a:r>
                  <a:rPr kumimoji="1" lang="en-US" altLang="ja-JP" sz="1200">
                    <a:solidFill>
                      <a:schemeClr val="tx1"/>
                    </a:solidFill>
                  </a:rPr>
                  <a:t>Ubuntu</a:t>
                </a:r>
                <a:r>
                  <a:rPr kumimoji="1" lang="ja-JP" altLang="en-US" sz="1200">
                    <a:solidFill>
                      <a:schemeClr val="tx1"/>
                    </a:solidFill>
                  </a:rPr>
                  <a:t> </a:t>
                </a:r>
                <a:r>
                  <a:rPr lang="en-US" altLang="ja-JP" sz="1200">
                    <a:solidFill>
                      <a:schemeClr val="tx1"/>
                    </a:solidFill>
                  </a:rPr>
                  <a:t>18.04LTS</a:t>
                </a:r>
                <a:r>
                  <a:rPr lang="en-US" altLang="ja-JP" sz="1200" dirty="0">
                    <a:solidFill>
                      <a:schemeClr val="tx1"/>
                    </a:solidFill>
                  </a:rPr>
                  <a:t>/64bit</a:t>
                </a:r>
                <a:r>
                  <a:rPr kumimoji="1" lang="ja-JP" altLang="en-US" sz="1200" dirty="0">
                    <a:solidFill>
                      <a:schemeClr val="tx1"/>
                    </a:solidFill>
                  </a:rPr>
                  <a:t>）</a:t>
                </a:r>
              </a:p>
            </p:txBody>
          </p:sp>
        </p:grpSp>
      </p:grpSp>
    </p:spTree>
    <p:extLst>
      <p:ext uri="{BB962C8B-B14F-4D97-AF65-F5344CB8AC3E}">
        <p14:creationId xmlns:p14="http://schemas.microsoft.com/office/powerpoint/2010/main" val="2580660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872864" y="23664"/>
            <a:ext cx="313094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サーバシステム構造</a:t>
            </a:r>
          </a:p>
        </p:txBody>
      </p:sp>
      <p:sp>
        <p:nvSpPr>
          <p:cNvPr id="5" name="正方形/長方形 4"/>
          <p:cNvSpPr/>
          <p:nvPr/>
        </p:nvSpPr>
        <p:spPr>
          <a:xfrm>
            <a:off x="611560" y="2528900"/>
            <a:ext cx="2160240" cy="2418405"/>
          </a:xfrm>
          <a:prstGeom prst="rect">
            <a:avLst/>
          </a:prstGeom>
          <a:solidFill>
            <a:srgbClr val="FFC000"/>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ja-JP" dirty="0"/>
              <a:t>&lt;</a:t>
            </a:r>
            <a:r>
              <a:rPr lang="ja-JP" altLang="en-US" dirty="0"/>
              <a:t>クライアント</a:t>
            </a:r>
            <a:r>
              <a:rPr lang="en-US" altLang="ja-JP" dirty="0"/>
              <a:t>PC&gt;</a:t>
            </a:r>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6697" y="2937151"/>
            <a:ext cx="355805"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7316" y="2937152"/>
            <a:ext cx="3429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16705" y="2937151"/>
            <a:ext cx="3429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1032"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21749" y="2937151"/>
            <a:ext cx="342901" cy="3429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3"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3069" y="2937153"/>
            <a:ext cx="320777"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テキスト ボックス 13"/>
          <p:cNvSpPr txBox="1"/>
          <p:nvPr/>
        </p:nvSpPr>
        <p:spPr>
          <a:xfrm>
            <a:off x="3527459" y="2808744"/>
            <a:ext cx="428536" cy="226591"/>
          </a:xfrm>
          <a:prstGeom prst="rect">
            <a:avLst/>
          </a:prstGeom>
          <a:noFill/>
        </p:spPr>
        <p:txBody>
          <a:bodyPr wrap="none" lIns="36000" tIns="36000" rIns="36000" bIns="36000" rtlCol="0" anchor="ctr" anchorCtr="0">
            <a:spAutoFit/>
          </a:bodyPr>
          <a:lstStyle/>
          <a:p>
            <a:pPr algn="ctr"/>
            <a:r>
              <a:rPr lang="ja-JP" altLang="en-US" sz="1000" dirty="0"/>
              <a:t>ﾘｸｴｽﾄ</a:t>
            </a:r>
            <a:endParaRPr lang="en-US" altLang="ja-JP" sz="1000" dirty="0"/>
          </a:p>
        </p:txBody>
      </p:sp>
      <p:sp>
        <p:nvSpPr>
          <p:cNvPr id="16" name="テキスト ボックス 15"/>
          <p:cNvSpPr txBox="1"/>
          <p:nvPr/>
        </p:nvSpPr>
        <p:spPr>
          <a:xfrm>
            <a:off x="3489627" y="3113965"/>
            <a:ext cx="491087" cy="226591"/>
          </a:xfrm>
          <a:prstGeom prst="rect">
            <a:avLst/>
          </a:prstGeom>
          <a:noFill/>
        </p:spPr>
        <p:txBody>
          <a:bodyPr wrap="none" lIns="36000" tIns="36000" rIns="36000" bIns="36000" rtlCol="0" anchor="ctr" anchorCtr="0">
            <a:spAutoFit/>
          </a:bodyPr>
          <a:lstStyle/>
          <a:p>
            <a:r>
              <a:rPr lang="ja-JP" altLang="en-US" sz="1000" dirty="0"/>
              <a:t>ﾚｽﾎﾟﾝｽ</a:t>
            </a:r>
            <a:endParaRPr lang="en-US" altLang="ja-JP" sz="1000" dirty="0"/>
          </a:p>
        </p:txBody>
      </p:sp>
      <p:sp>
        <p:nvSpPr>
          <p:cNvPr id="17" name="正方形/長方形 16"/>
          <p:cNvSpPr/>
          <p:nvPr/>
        </p:nvSpPr>
        <p:spPr>
          <a:xfrm>
            <a:off x="4655501" y="638689"/>
            <a:ext cx="4191974" cy="5445605"/>
          </a:xfrm>
          <a:prstGeom prst="rect">
            <a:avLst/>
          </a:prstGeom>
          <a:solidFill>
            <a:srgbClr val="92D050"/>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ja-JP" altLang="en-US" dirty="0"/>
              <a:t>富岡サーバ（サーバハードウエア本体）</a:t>
            </a:r>
            <a:endParaRPr lang="en-US" altLang="ja-JP" dirty="0"/>
          </a:p>
          <a:p>
            <a:pPr algn="l"/>
            <a:r>
              <a:rPr lang="ja-JP" altLang="en-US" dirty="0"/>
              <a:t>事務棟</a:t>
            </a:r>
            <a:r>
              <a:rPr lang="en-US" altLang="ja-JP" dirty="0"/>
              <a:t>2</a:t>
            </a:r>
            <a:r>
              <a:rPr lang="ja-JP" altLang="en-US" dirty="0"/>
              <a:t>階の</a:t>
            </a:r>
            <a:r>
              <a:rPr lang="ja-JP" altLang="en-US"/>
              <a:t>サーバ室に</a:t>
            </a:r>
            <a:r>
              <a:rPr lang="en-US" altLang="ja-JP" dirty="0"/>
              <a:t>6</a:t>
            </a:r>
            <a:r>
              <a:rPr lang="ja-JP" altLang="en-US"/>
              <a:t>台</a:t>
            </a:r>
            <a:r>
              <a:rPr lang="ja-JP" altLang="en-US" dirty="0"/>
              <a:t>設置されている。</a:t>
            </a:r>
            <a:endParaRPr lang="en-US" altLang="ja-JP" dirty="0"/>
          </a:p>
        </p:txBody>
      </p:sp>
      <p:cxnSp>
        <p:nvCxnSpPr>
          <p:cNvPr id="13" name="直線矢印コネクタ 12"/>
          <p:cNvCxnSpPr/>
          <p:nvPr/>
        </p:nvCxnSpPr>
        <p:spPr>
          <a:xfrm>
            <a:off x="2771800" y="3045151"/>
            <a:ext cx="2115235"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矢印コネクタ 14"/>
          <p:cNvCxnSpPr/>
          <p:nvPr/>
        </p:nvCxnSpPr>
        <p:spPr>
          <a:xfrm flipH="1">
            <a:off x="2771800" y="3342684"/>
            <a:ext cx="2115235"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フローチャート : 磁気ディスク 31"/>
          <p:cNvSpPr/>
          <p:nvPr/>
        </p:nvSpPr>
        <p:spPr>
          <a:xfrm>
            <a:off x="1781690" y="5077279"/>
            <a:ext cx="1035115" cy="84461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lIns="0" tIns="612000" rIns="0" bIns="36000" rtlCol="0" anchor="b" anchorCtr="1"/>
          <a:lstStyle/>
          <a:p>
            <a:pPr algn="ctr">
              <a:lnSpc>
                <a:spcPts val="1800"/>
              </a:lnSpc>
            </a:pPr>
            <a:r>
              <a:rPr lang="en-US" altLang="ja-JP" dirty="0">
                <a:solidFill>
                  <a:schemeClr val="tx1"/>
                </a:solidFill>
                <a:effectLst>
                  <a:outerShdw blurRad="38100" dist="38100" dir="2700000" algn="tl">
                    <a:srgbClr val="000000">
                      <a:alpha val="43137"/>
                    </a:srgbClr>
                  </a:outerShdw>
                </a:effectLst>
              </a:rPr>
              <a:t>BOSS</a:t>
            </a:r>
            <a:br>
              <a:rPr lang="en-US" altLang="ja-JP" dirty="0">
                <a:solidFill>
                  <a:schemeClr val="tx1"/>
                </a:solidFill>
                <a:effectLst>
                  <a:outerShdw blurRad="38100" dist="38100" dir="2700000" algn="tl">
                    <a:srgbClr val="000000">
                      <a:alpha val="43137"/>
                    </a:srgbClr>
                  </a:outerShdw>
                </a:effectLst>
              </a:rPr>
            </a:br>
            <a:r>
              <a:rPr lang="en-US" altLang="ja-JP" dirty="0">
                <a:solidFill>
                  <a:schemeClr val="tx1"/>
                </a:solidFill>
                <a:effectLst>
                  <a:outerShdw blurRad="38100" dist="38100" dir="2700000" algn="tl">
                    <a:srgbClr val="000000">
                      <a:alpha val="43137"/>
                    </a:srgbClr>
                  </a:outerShdw>
                </a:effectLst>
              </a:rPr>
              <a:t>/DWH</a:t>
            </a:r>
          </a:p>
        </p:txBody>
      </p:sp>
      <p:sp>
        <p:nvSpPr>
          <p:cNvPr id="40" name="正方形/長方形 39"/>
          <p:cNvSpPr/>
          <p:nvPr/>
        </p:nvSpPr>
        <p:spPr>
          <a:xfrm>
            <a:off x="6912260" y="2879178"/>
            <a:ext cx="1665185" cy="9226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cgi</a:t>
            </a:r>
            <a:br>
              <a:rPr kumimoji="1" lang="en-US" altLang="ja-JP" dirty="0">
                <a:solidFill>
                  <a:schemeClr val="tx1"/>
                </a:solidFill>
                <a:effectLst>
                  <a:outerShdw blurRad="38100" dist="38100" dir="2700000" algn="tl">
                    <a:srgbClr val="000000">
                      <a:alpha val="43137"/>
                    </a:srgbClr>
                  </a:outerShdw>
                </a:effectLst>
              </a:rPr>
            </a:br>
            <a:r>
              <a:rPr kumimoji="1" lang="ja-JP" altLang="en-US" dirty="0">
                <a:solidFill>
                  <a:schemeClr val="tx1"/>
                </a:solidFill>
                <a:effectLst>
                  <a:outerShdw blurRad="38100" dist="38100" dir="2700000" algn="tl">
                    <a:srgbClr val="000000">
                      <a:alpha val="43137"/>
                    </a:srgbClr>
                  </a:outerShdw>
                </a:effectLst>
              </a:rPr>
              <a:t>プログラム</a:t>
            </a:r>
          </a:p>
        </p:txBody>
      </p:sp>
      <p:sp>
        <p:nvSpPr>
          <p:cNvPr id="41" name="正方形/長方形 40"/>
          <p:cNvSpPr/>
          <p:nvPr/>
        </p:nvSpPr>
        <p:spPr>
          <a:xfrm>
            <a:off x="5039434" y="4281580"/>
            <a:ext cx="3529639" cy="63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MySQL</a:t>
            </a:r>
          </a:p>
          <a:p>
            <a:pPr algn="ctr"/>
            <a:r>
              <a:rPr lang="en-US" altLang="ja-JP" dirty="0">
                <a:solidFill>
                  <a:schemeClr val="tx1"/>
                </a:solidFill>
                <a:effectLst>
                  <a:outerShdw blurRad="38100" dist="38100" dir="2700000" algn="tl">
                    <a:srgbClr val="000000">
                      <a:alpha val="43137"/>
                    </a:srgbClr>
                  </a:outerShdw>
                </a:effectLst>
              </a:rPr>
              <a:t>DB</a:t>
            </a:r>
            <a:r>
              <a:rPr lang="ja-JP" altLang="en-US" dirty="0">
                <a:solidFill>
                  <a:schemeClr val="tx1"/>
                </a:solidFill>
                <a:effectLst>
                  <a:outerShdw blurRad="38100" dist="38100" dir="2700000" algn="tl">
                    <a:srgbClr val="000000">
                      <a:alpha val="43137"/>
                    </a:srgbClr>
                  </a:outerShdw>
                </a:effectLst>
              </a:rPr>
              <a:t>サーバ</a:t>
            </a:r>
            <a:endParaRPr kumimoji="1" lang="ja-JP" altLang="en-US" dirty="0">
              <a:solidFill>
                <a:schemeClr val="tx1"/>
              </a:solidFill>
              <a:effectLst>
                <a:outerShdw blurRad="38100" dist="38100" dir="2700000" algn="tl">
                  <a:srgbClr val="000000">
                    <a:alpha val="43137"/>
                  </a:srgbClr>
                </a:outerShdw>
              </a:effectLst>
            </a:endParaRPr>
          </a:p>
        </p:txBody>
      </p:sp>
      <p:sp>
        <p:nvSpPr>
          <p:cNvPr id="43" name="フローチャート : 磁気ディスク 42"/>
          <p:cNvSpPr/>
          <p:nvPr/>
        </p:nvSpPr>
        <p:spPr>
          <a:xfrm>
            <a:off x="5202510" y="1631519"/>
            <a:ext cx="1035115" cy="84461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tIns="144000" bIns="36000" rtlCol="0" anchor="ctr" anchorCtr="0"/>
          <a:lstStyle/>
          <a:p>
            <a:pPr algn="ctr"/>
            <a:r>
              <a:rPr lang="en-US" altLang="ja-JP" dirty="0">
                <a:solidFill>
                  <a:schemeClr val="tx1"/>
                </a:solidFill>
                <a:effectLst>
                  <a:outerShdw blurRad="38100" dist="38100" dir="2700000" algn="tl">
                    <a:srgbClr val="000000">
                      <a:alpha val="43137"/>
                    </a:srgbClr>
                  </a:outerShdw>
                </a:effectLst>
              </a:rPr>
              <a:t>html</a:t>
            </a:r>
            <a:br>
              <a:rPr kumimoji="1" lang="en-US" altLang="ja-JP" dirty="0">
                <a:solidFill>
                  <a:schemeClr val="tx1"/>
                </a:solidFill>
                <a:effectLst>
                  <a:outerShdw blurRad="38100" dist="38100" dir="2700000" algn="tl">
                    <a:srgbClr val="000000">
                      <a:alpha val="43137"/>
                    </a:srgbClr>
                  </a:outerShdw>
                </a:effectLst>
              </a:rPr>
            </a:br>
            <a:r>
              <a:rPr lang="en-US" altLang="ja-JP" dirty="0">
                <a:solidFill>
                  <a:schemeClr val="tx1"/>
                </a:solidFill>
                <a:effectLst>
                  <a:outerShdw blurRad="38100" dist="38100" dir="2700000" algn="tl">
                    <a:srgbClr val="000000">
                      <a:alpha val="43137"/>
                    </a:srgbClr>
                  </a:outerShdw>
                </a:effectLst>
              </a:rPr>
              <a:t>/</a:t>
            </a:r>
            <a:r>
              <a:rPr lang="en-US" altLang="ja-JP" dirty="0" err="1">
                <a:solidFill>
                  <a:schemeClr val="tx1"/>
                </a:solidFill>
                <a:effectLst>
                  <a:outerShdw blurRad="38100" dist="38100" dir="2700000" algn="tl">
                    <a:srgbClr val="000000">
                      <a:alpha val="43137"/>
                    </a:srgbClr>
                  </a:outerShdw>
                </a:effectLst>
              </a:rPr>
              <a:t>css</a:t>
            </a:r>
            <a:endParaRPr kumimoji="1" lang="ja-JP" altLang="en-US" dirty="0">
              <a:solidFill>
                <a:schemeClr val="tx1"/>
              </a:solidFill>
              <a:effectLst>
                <a:outerShdw blurRad="38100" dist="38100" dir="2700000" algn="tl">
                  <a:srgbClr val="000000">
                    <a:alpha val="43137"/>
                  </a:srgbClr>
                </a:outerShdw>
              </a:effectLst>
            </a:endParaRPr>
          </a:p>
        </p:txBody>
      </p:sp>
      <p:sp>
        <p:nvSpPr>
          <p:cNvPr id="20" name="フローチャート : 磁気ディスク 19"/>
          <p:cNvSpPr/>
          <p:nvPr/>
        </p:nvSpPr>
        <p:spPr>
          <a:xfrm>
            <a:off x="5067054" y="1448780"/>
            <a:ext cx="1035115" cy="84461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tIns="144000" bIns="36000" rtlCol="0" anchor="ctr" anchorCtr="0"/>
          <a:lstStyle/>
          <a:p>
            <a:pPr algn="ctr"/>
            <a:r>
              <a:rPr lang="en-US" altLang="ja-JP" dirty="0">
                <a:solidFill>
                  <a:schemeClr val="tx1"/>
                </a:solidFill>
                <a:effectLst>
                  <a:outerShdw blurRad="38100" dist="38100" dir="2700000" algn="tl">
                    <a:srgbClr val="000000">
                      <a:alpha val="43137"/>
                    </a:srgbClr>
                  </a:outerShdw>
                </a:effectLst>
              </a:rPr>
              <a:t>h</a:t>
            </a:r>
            <a:r>
              <a:rPr kumimoji="1" lang="en-US" altLang="ja-JP" dirty="0">
                <a:solidFill>
                  <a:schemeClr val="tx1"/>
                </a:solidFill>
                <a:effectLst>
                  <a:outerShdw blurRad="38100" dist="38100" dir="2700000" algn="tl">
                    <a:srgbClr val="000000">
                      <a:alpha val="43137"/>
                    </a:srgbClr>
                  </a:outerShdw>
                </a:effectLst>
              </a:rPr>
              <a:t>tml</a:t>
            </a:r>
            <a:br>
              <a:rPr kumimoji="1" lang="en-US" altLang="ja-JP" dirty="0">
                <a:solidFill>
                  <a:schemeClr val="tx1"/>
                </a:solidFill>
                <a:effectLst>
                  <a:outerShdw blurRad="38100" dist="38100" dir="2700000" algn="tl">
                    <a:srgbClr val="000000">
                      <a:alpha val="43137"/>
                    </a:srgbClr>
                  </a:outerShdw>
                </a:effectLst>
              </a:rPr>
            </a:br>
            <a:r>
              <a:rPr lang="en-US" altLang="ja-JP" dirty="0">
                <a:solidFill>
                  <a:schemeClr val="tx1"/>
                </a:solidFill>
                <a:effectLst>
                  <a:outerShdw blurRad="38100" dist="38100" dir="2700000" algn="tl">
                    <a:srgbClr val="000000">
                      <a:alpha val="43137"/>
                    </a:srgbClr>
                  </a:outerShdw>
                </a:effectLst>
              </a:rPr>
              <a:t>/</a:t>
            </a:r>
            <a:r>
              <a:rPr lang="en-US" altLang="ja-JP" dirty="0" err="1">
                <a:solidFill>
                  <a:schemeClr val="tx1"/>
                </a:solidFill>
                <a:effectLst>
                  <a:outerShdw blurRad="38100" dist="38100" dir="2700000" algn="tl">
                    <a:srgbClr val="000000">
                      <a:alpha val="43137"/>
                    </a:srgbClr>
                  </a:outerShdw>
                </a:effectLst>
              </a:rPr>
              <a:t>css</a:t>
            </a:r>
            <a:endParaRPr kumimoji="1" lang="ja-JP" altLang="en-US" dirty="0">
              <a:solidFill>
                <a:schemeClr val="tx1"/>
              </a:solidFill>
              <a:effectLst>
                <a:outerShdw blurRad="38100" dist="38100" dir="2700000" algn="tl">
                  <a:srgbClr val="000000">
                    <a:alpha val="43137"/>
                  </a:srgbClr>
                </a:outerShdw>
              </a:effectLst>
            </a:endParaRPr>
          </a:p>
        </p:txBody>
      </p:sp>
      <p:cxnSp>
        <p:nvCxnSpPr>
          <p:cNvPr id="33" name="直線矢印コネクタ 32"/>
          <p:cNvCxnSpPr>
            <a:stCxn id="39" idx="0"/>
            <a:endCxn id="43" idx="3"/>
          </p:cNvCxnSpPr>
          <p:nvPr/>
        </p:nvCxnSpPr>
        <p:spPr>
          <a:xfrm flipH="1" flipV="1">
            <a:off x="5720068" y="2476134"/>
            <a:ext cx="1471" cy="332685"/>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9" name="正方形/長方形 38"/>
          <p:cNvSpPr/>
          <p:nvPr/>
        </p:nvSpPr>
        <p:spPr>
          <a:xfrm>
            <a:off x="5023961" y="2808819"/>
            <a:ext cx="1395155" cy="9226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effectLst>
                  <a:outerShdw blurRad="38100" dist="38100" dir="2700000" algn="tl">
                    <a:srgbClr val="000000">
                      <a:alpha val="43137"/>
                    </a:srgbClr>
                  </a:outerShdw>
                </a:effectLst>
              </a:rPr>
              <a:t>Apache2</a:t>
            </a:r>
          </a:p>
          <a:p>
            <a:pPr algn="ctr"/>
            <a:r>
              <a:rPr kumimoji="1" lang="en-US" altLang="ja-JP" dirty="0">
                <a:solidFill>
                  <a:schemeClr val="tx1"/>
                </a:solidFill>
                <a:effectLst>
                  <a:outerShdw blurRad="38100" dist="38100" dir="2700000" algn="tl">
                    <a:srgbClr val="000000">
                      <a:alpha val="43137"/>
                    </a:srgbClr>
                  </a:outerShdw>
                </a:effectLst>
              </a:rPr>
              <a:t>web</a:t>
            </a:r>
            <a:r>
              <a:rPr kumimoji="1" lang="ja-JP" altLang="en-US" dirty="0">
                <a:solidFill>
                  <a:schemeClr val="tx1"/>
                </a:solidFill>
                <a:effectLst>
                  <a:outerShdw blurRad="38100" dist="38100" dir="2700000" algn="tl">
                    <a:srgbClr val="000000">
                      <a:alpha val="43137"/>
                    </a:srgbClr>
                  </a:outerShdw>
                </a:effectLst>
              </a:rPr>
              <a:t>サーバ</a:t>
            </a:r>
          </a:p>
        </p:txBody>
      </p:sp>
      <p:sp>
        <p:nvSpPr>
          <p:cNvPr id="7" name="正方形/長方形 6"/>
          <p:cNvSpPr/>
          <p:nvPr/>
        </p:nvSpPr>
        <p:spPr>
          <a:xfrm>
            <a:off x="4887035" y="2658874"/>
            <a:ext cx="1395155" cy="9226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effectLst>
                  <a:outerShdw blurRad="38100" dist="38100" dir="2700000" algn="tl">
                    <a:srgbClr val="000000">
                      <a:alpha val="43137"/>
                    </a:srgbClr>
                  </a:outerShdw>
                </a:effectLst>
              </a:rPr>
              <a:t>Apache2</a:t>
            </a:r>
          </a:p>
          <a:p>
            <a:pPr algn="ctr"/>
            <a:r>
              <a:rPr kumimoji="1" lang="en-US" altLang="ja-JP" dirty="0">
                <a:solidFill>
                  <a:schemeClr val="tx1"/>
                </a:solidFill>
                <a:effectLst>
                  <a:outerShdw blurRad="38100" dist="38100" dir="2700000" algn="tl">
                    <a:srgbClr val="000000">
                      <a:alpha val="43137"/>
                    </a:srgbClr>
                  </a:outerShdw>
                </a:effectLst>
              </a:rPr>
              <a:t>web</a:t>
            </a:r>
            <a:r>
              <a:rPr kumimoji="1" lang="ja-JP" altLang="en-US" dirty="0">
                <a:solidFill>
                  <a:schemeClr val="tx1"/>
                </a:solidFill>
                <a:effectLst>
                  <a:outerShdw blurRad="38100" dist="38100" dir="2700000" algn="tl">
                    <a:srgbClr val="000000">
                      <a:alpha val="43137"/>
                    </a:srgbClr>
                  </a:outerShdw>
                </a:effectLst>
              </a:rPr>
              <a:t>サーバ</a:t>
            </a:r>
          </a:p>
        </p:txBody>
      </p:sp>
      <p:cxnSp>
        <p:nvCxnSpPr>
          <p:cNvPr id="47" name="直線矢印コネクタ 46"/>
          <p:cNvCxnSpPr>
            <a:stCxn id="7" idx="0"/>
            <a:endCxn id="20" idx="3"/>
          </p:cNvCxnSpPr>
          <p:nvPr/>
        </p:nvCxnSpPr>
        <p:spPr>
          <a:xfrm flipH="1" flipV="1">
            <a:off x="5584612" y="2293395"/>
            <a:ext cx="1" cy="365479"/>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6" name="直線矢印コネクタ 25"/>
          <p:cNvCxnSpPr>
            <a:stCxn id="7" idx="3"/>
            <a:endCxn id="24" idx="1"/>
          </p:cNvCxnSpPr>
          <p:nvPr/>
        </p:nvCxnSpPr>
        <p:spPr>
          <a:xfrm>
            <a:off x="6282190" y="3120175"/>
            <a:ext cx="469298" cy="0"/>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0" name="直線矢印コネクタ 49"/>
          <p:cNvCxnSpPr>
            <a:endCxn id="24" idx="2"/>
          </p:cNvCxnSpPr>
          <p:nvPr/>
        </p:nvCxnSpPr>
        <p:spPr>
          <a:xfrm flipV="1">
            <a:off x="7584080" y="3581476"/>
            <a:ext cx="1" cy="445330"/>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9" name="直線矢印コネクタ 58"/>
          <p:cNvCxnSpPr>
            <a:endCxn id="40" idx="2"/>
          </p:cNvCxnSpPr>
          <p:nvPr/>
        </p:nvCxnSpPr>
        <p:spPr>
          <a:xfrm flipH="1" flipV="1">
            <a:off x="7744853" y="3801780"/>
            <a:ext cx="2961" cy="445330"/>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5" name="正方形/長方形 24"/>
          <p:cNvSpPr/>
          <p:nvPr/>
        </p:nvSpPr>
        <p:spPr>
          <a:xfrm>
            <a:off x="4887033" y="4026805"/>
            <a:ext cx="3529639" cy="63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MySQL</a:t>
            </a:r>
          </a:p>
          <a:p>
            <a:pPr algn="ctr"/>
            <a:r>
              <a:rPr lang="en-US" altLang="ja-JP" dirty="0">
                <a:solidFill>
                  <a:schemeClr val="tx1"/>
                </a:solidFill>
                <a:effectLst>
                  <a:outerShdw blurRad="38100" dist="38100" dir="2700000" algn="tl">
                    <a:srgbClr val="000000">
                      <a:alpha val="43137"/>
                    </a:srgbClr>
                  </a:outerShdw>
                </a:effectLst>
              </a:rPr>
              <a:t>DB</a:t>
            </a:r>
            <a:r>
              <a:rPr lang="ja-JP" altLang="en-US" dirty="0">
                <a:solidFill>
                  <a:schemeClr val="tx1"/>
                </a:solidFill>
                <a:effectLst>
                  <a:outerShdw blurRad="38100" dist="38100" dir="2700000" algn="tl">
                    <a:srgbClr val="000000">
                      <a:alpha val="43137"/>
                    </a:srgbClr>
                  </a:outerShdw>
                </a:effectLst>
              </a:rPr>
              <a:t>サーバ</a:t>
            </a:r>
            <a:endParaRPr kumimoji="1" lang="ja-JP" altLang="en-US" dirty="0">
              <a:solidFill>
                <a:schemeClr val="tx1"/>
              </a:solidFill>
              <a:effectLst>
                <a:outerShdw blurRad="38100" dist="38100" dir="2700000" algn="tl">
                  <a:srgbClr val="000000">
                    <a:alpha val="43137"/>
                  </a:srgbClr>
                </a:outerShdw>
              </a:effectLst>
            </a:endParaRPr>
          </a:p>
        </p:txBody>
      </p:sp>
      <p:cxnSp>
        <p:nvCxnSpPr>
          <p:cNvPr id="62" name="直線矢印コネクタ 61"/>
          <p:cNvCxnSpPr>
            <a:endCxn id="39" idx="3"/>
          </p:cNvCxnSpPr>
          <p:nvPr/>
        </p:nvCxnSpPr>
        <p:spPr>
          <a:xfrm flipH="1">
            <a:off x="6419116" y="3257562"/>
            <a:ext cx="477671" cy="1255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正方形/長方形 23"/>
          <p:cNvSpPr/>
          <p:nvPr/>
        </p:nvSpPr>
        <p:spPr>
          <a:xfrm>
            <a:off x="6751488" y="2658874"/>
            <a:ext cx="1665185" cy="9226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perl/</a:t>
            </a:r>
            <a:r>
              <a:rPr kumimoji="1" lang="en-US" altLang="ja-JP" dirty="0" err="1">
                <a:solidFill>
                  <a:schemeClr val="tx1"/>
                </a:solidFill>
                <a:effectLst>
                  <a:outerShdw blurRad="38100" dist="38100" dir="2700000" algn="tl">
                    <a:srgbClr val="000000">
                      <a:alpha val="43137"/>
                    </a:srgbClr>
                  </a:outerShdw>
                </a:effectLst>
              </a:rPr>
              <a:t>php</a:t>
            </a:r>
            <a:r>
              <a:rPr kumimoji="1" lang="ja-JP" altLang="en-US" dirty="0">
                <a:solidFill>
                  <a:schemeClr val="tx1"/>
                </a:solidFill>
                <a:effectLst>
                  <a:outerShdw blurRad="38100" dist="38100" dir="2700000" algn="tl">
                    <a:srgbClr val="000000">
                      <a:alpha val="43137"/>
                    </a:srgbClr>
                  </a:outerShdw>
                </a:effectLst>
              </a:rPr>
              <a:t>（</a:t>
            </a:r>
            <a:r>
              <a:rPr kumimoji="1" lang="en-US" altLang="ja-JP" dirty="0">
                <a:solidFill>
                  <a:schemeClr val="tx1"/>
                </a:solidFill>
                <a:effectLst>
                  <a:outerShdw blurRad="38100" dist="38100" dir="2700000" algn="tl">
                    <a:srgbClr val="000000">
                      <a:alpha val="43137"/>
                    </a:srgbClr>
                  </a:outerShdw>
                </a:effectLst>
              </a:rPr>
              <a:t>cgi</a:t>
            </a:r>
            <a:r>
              <a:rPr kumimoji="1" lang="ja-JP" altLang="en-US" dirty="0">
                <a:solidFill>
                  <a:schemeClr val="tx1"/>
                </a:solidFill>
                <a:effectLst>
                  <a:outerShdw blurRad="38100" dist="38100" dir="2700000" algn="tl">
                    <a:srgbClr val="000000">
                      <a:alpha val="43137"/>
                    </a:srgbClr>
                  </a:outerShdw>
                </a:effectLst>
              </a:rPr>
              <a:t>）</a:t>
            </a:r>
            <a:br>
              <a:rPr kumimoji="1" lang="en-US" altLang="ja-JP" dirty="0">
                <a:solidFill>
                  <a:schemeClr val="tx1"/>
                </a:solidFill>
                <a:effectLst>
                  <a:outerShdw blurRad="38100" dist="38100" dir="2700000" algn="tl">
                    <a:srgbClr val="000000">
                      <a:alpha val="43137"/>
                    </a:srgbClr>
                  </a:outerShdw>
                </a:effectLst>
              </a:rPr>
            </a:br>
            <a:r>
              <a:rPr kumimoji="1" lang="ja-JP" altLang="en-US" dirty="0">
                <a:solidFill>
                  <a:schemeClr val="tx1"/>
                </a:solidFill>
                <a:effectLst>
                  <a:outerShdw blurRad="38100" dist="38100" dir="2700000" algn="tl">
                    <a:srgbClr val="000000">
                      <a:alpha val="43137"/>
                    </a:srgbClr>
                  </a:outerShdw>
                </a:effectLst>
              </a:rPr>
              <a:t>プログラム</a:t>
            </a:r>
          </a:p>
        </p:txBody>
      </p:sp>
      <p:cxnSp>
        <p:nvCxnSpPr>
          <p:cNvPr id="69" name="直線矢印コネクタ 68"/>
          <p:cNvCxnSpPr/>
          <p:nvPr/>
        </p:nvCxnSpPr>
        <p:spPr>
          <a:xfrm flipV="1">
            <a:off x="5606626" y="4653765"/>
            <a:ext cx="0" cy="542574"/>
          </a:xfrm>
          <a:prstGeom prst="straightConnector1">
            <a:avLst/>
          </a:prstGeom>
          <a:ln w="381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71" name="直線矢印コネクタ 70"/>
          <p:cNvCxnSpPr>
            <a:stCxn id="32" idx="4"/>
            <a:endCxn id="49" idx="1"/>
          </p:cNvCxnSpPr>
          <p:nvPr/>
        </p:nvCxnSpPr>
        <p:spPr>
          <a:xfrm flipV="1">
            <a:off x="2816805" y="5499586"/>
            <a:ext cx="260042" cy="1"/>
          </a:xfrm>
          <a:prstGeom prst="straightConnector1">
            <a:avLst/>
          </a:prstGeom>
          <a:ln w="381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74" name="直線矢印コネクタ 73"/>
          <p:cNvCxnSpPr/>
          <p:nvPr/>
        </p:nvCxnSpPr>
        <p:spPr>
          <a:xfrm flipV="1">
            <a:off x="6234026" y="4911650"/>
            <a:ext cx="0" cy="542574"/>
          </a:xfrm>
          <a:prstGeom prst="straightConnector1">
            <a:avLst/>
          </a:prstGeom>
          <a:ln w="381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68" name="正方形/長方形 67"/>
          <p:cNvSpPr/>
          <p:nvPr/>
        </p:nvSpPr>
        <p:spPr>
          <a:xfrm>
            <a:off x="5023962" y="5139189"/>
            <a:ext cx="1660750" cy="720797"/>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ja-JP" altLang="en-US" dirty="0">
                <a:solidFill>
                  <a:schemeClr val="tx1"/>
                </a:solidFill>
                <a:effectLst>
                  <a:outerShdw blurRad="38100" dist="38100" dir="2700000" algn="tl">
                    <a:srgbClr val="000000">
                      <a:alpha val="43137"/>
                    </a:srgbClr>
                  </a:outerShdw>
                </a:effectLst>
              </a:rPr>
              <a:t>アプリケーションプログラム</a:t>
            </a:r>
          </a:p>
        </p:txBody>
      </p:sp>
      <p:sp>
        <p:nvSpPr>
          <p:cNvPr id="65" name="テキスト ボックス 64"/>
          <p:cNvSpPr txBox="1"/>
          <p:nvPr/>
        </p:nvSpPr>
        <p:spPr>
          <a:xfrm>
            <a:off x="4709985" y="1088740"/>
            <a:ext cx="1702958" cy="169277"/>
          </a:xfrm>
          <a:prstGeom prst="rect">
            <a:avLst/>
          </a:prstGeom>
          <a:solidFill>
            <a:srgbClr val="FFFF99"/>
          </a:solidFill>
        </p:spPr>
        <p:txBody>
          <a:bodyPr wrap="none" lIns="36000" tIns="0" rIns="36000" bIns="0" rtlCol="0">
            <a:spAutoFit/>
          </a:bodyPr>
          <a:lstStyle/>
          <a:p>
            <a:r>
              <a:rPr kumimoji="1" lang="en-US" altLang="ja-JP" sz="1100" dirty="0"/>
              <a:t>Windows</a:t>
            </a:r>
            <a:r>
              <a:rPr kumimoji="1" lang="ja-JP" altLang="en-US" sz="1100" dirty="0"/>
              <a:t>：</a:t>
            </a:r>
            <a:r>
              <a:rPr lang="ja-JP" altLang="en-US" sz="1100" dirty="0"/>
              <a:t>　</a:t>
            </a:r>
            <a:r>
              <a:rPr lang="en-US" altLang="ja-JP" sz="1100" dirty="0"/>
              <a:t>(nksv</a:t>
            </a:r>
            <a:r>
              <a:rPr lang="en-US" altLang="ja-JP" sz="1100" dirty="0">
                <a:solidFill>
                  <a:schemeClr val="bg1">
                    <a:lumMod val="50000"/>
                  </a:schemeClr>
                </a:solidFill>
              </a:rPr>
              <a:t>559,</a:t>
            </a:r>
            <a:r>
              <a:rPr lang="en-US" altLang="ja-JP" sz="1100" dirty="0"/>
              <a:t>561)</a:t>
            </a:r>
            <a:endParaRPr kumimoji="1" lang="ja-JP" altLang="en-US" sz="1100" dirty="0"/>
          </a:p>
        </p:txBody>
      </p:sp>
      <p:sp>
        <p:nvSpPr>
          <p:cNvPr id="76" name="テキスト ボックス 75"/>
          <p:cNvSpPr txBox="1"/>
          <p:nvPr/>
        </p:nvSpPr>
        <p:spPr>
          <a:xfrm>
            <a:off x="6516897" y="1088740"/>
            <a:ext cx="2015543" cy="169277"/>
          </a:xfrm>
          <a:prstGeom prst="rect">
            <a:avLst/>
          </a:prstGeom>
          <a:solidFill>
            <a:schemeClr val="accent1"/>
          </a:solidFill>
        </p:spPr>
        <p:txBody>
          <a:bodyPr wrap="none" lIns="36000" tIns="0" rIns="36000" bIns="0" rtlCol="0">
            <a:spAutoFit/>
          </a:bodyPr>
          <a:lstStyle/>
          <a:p>
            <a:r>
              <a:rPr kumimoji="1" lang="en-US" altLang="ja-JP" sz="1100" dirty="0"/>
              <a:t>Linux</a:t>
            </a:r>
            <a:r>
              <a:rPr kumimoji="1" lang="ja-JP" altLang="en-US" sz="1100" dirty="0"/>
              <a:t>：</a:t>
            </a:r>
            <a:r>
              <a:rPr lang="ja-JP" altLang="en-US" sz="1100" dirty="0"/>
              <a:t>　</a:t>
            </a:r>
            <a:r>
              <a:rPr lang="en-US" altLang="ja-JP" sz="1100" dirty="0"/>
              <a:t>(nksv560,567,568,569)</a:t>
            </a:r>
          </a:p>
        </p:txBody>
      </p:sp>
      <p:pic>
        <p:nvPicPr>
          <p:cNvPr id="1035"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81511" y="971463"/>
            <a:ext cx="1274484" cy="954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4" name="Picture 1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23069" y="1094380"/>
            <a:ext cx="747970" cy="747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3" name="直線矢印コネクタ 82"/>
          <p:cNvCxnSpPr/>
          <p:nvPr/>
        </p:nvCxnSpPr>
        <p:spPr>
          <a:xfrm>
            <a:off x="1481465" y="1468365"/>
            <a:ext cx="1560365" cy="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3" name="フリーフォーム 72"/>
          <p:cNvSpPr/>
          <p:nvPr/>
        </p:nvSpPr>
        <p:spPr>
          <a:xfrm>
            <a:off x="3446875" y="1459390"/>
            <a:ext cx="1440158" cy="1339540"/>
          </a:xfrm>
          <a:custGeom>
            <a:avLst/>
            <a:gdLst>
              <a:gd name="connsiteX0" fmla="*/ 0 w 2755900"/>
              <a:gd name="connsiteY0" fmla="*/ 0 h 1212850"/>
              <a:gd name="connsiteX1" fmla="*/ 1346200 w 2755900"/>
              <a:gd name="connsiteY1" fmla="*/ 0 h 1212850"/>
              <a:gd name="connsiteX2" fmla="*/ 1346200 w 2755900"/>
              <a:gd name="connsiteY2" fmla="*/ 1212850 h 1212850"/>
              <a:gd name="connsiteX3" fmla="*/ 2755900 w 2755900"/>
              <a:gd name="connsiteY3" fmla="*/ 1212850 h 1212850"/>
            </a:gdLst>
            <a:ahLst/>
            <a:cxnLst>
              <a:cxn ang="0">
                <a:pos x="connsiteX0" y="connsiteY0"/>
              </a:cxn>
              <a:cxn ang="0">
                <a:pos x="connsiteX1" y="connsiteY1"/>
              </a:cxn>
              <a:cxn ang="0">
                <a:pos x="connsiteX2" y="connsiteY2"/>
              </a:cxn>
              <a:cxn ang="0">
                <a:pos x="connsiteX3" y="connsiteY3"/>
              </a:cxn>
            </a:cxnLst>
            <a:rect l="l" t="t" r="r" b="b"/>
            <a:pathLst>
              <a:path w="2755900" h="1212850">
                <a:moveTo>
                  <a:pt x="0" y="0"/>
                </a:moveTo>
                <a:lnTo>
                  <a:pt x="1346200" y="0"/>
                </a:lnTo>
                <a:lnTo>
                  <a:pt x="1346200" y="1212850"/>
                </a:lnTo>
                <a:lnTo>
                  <a:pt x="2755900" y="1212850"/>
                </a:lnTo>
              </a:path>
            </a:pathLst>
          </a:custGeom>
          <a:noFill/>
          <a:ln w="38100">
            <a:solidFill>
              <a:schemeClr val="tx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6" name="テキスト ボックス 85"/>
          <p:cNvSpPr txBox="1"/>
          <p:nvPr/>
        </p:nvSpPr>
        <p:spPr>
          <a:xfrm>
            <a:off x="1522716" y="1221609"/>
            <a:ext cx="1554131" cy="246221"/>
          </a:xfrm>
          <a:prstGeom prst="rect">
            <a:avLst/>
          </a:prstGeom>
          <a:noFill/>
        </p:spPr>
        <p:txBody>
          <a:bodyPr wrap="square" lIns="0" rIns="0" rtlCol="0" anchor="ctr" anchorCtr="0">
            <a:spAutoFit/>
          </a:bodyPr>
          <a:lstStyle/>
          <a:p>
            <a:r>
              <a:rPr lang="en-US" altLang="ja-JP" sz="1000" dirty="0"/>
              <a:t>https://nktomioka.nkc.co.jp</a:t>
            </a:r>
          </a:p>
        </p:txBody>
      </p:sp>
      <p:pic>
        <p:nvPicPr>
          <p:cNvPr id="1039" name="Picture 15" descr="C:\Users\ji2525.AD\Desktop\ネットワークフォルダ.gif"/>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51112" y="3904422"/>
            <a:ext cx="744910" cy="744910"/>
          </a:xfrm>
          <a:prstGeom prst="rect">
            <a:avLst/>
          </a:prstGeom>
          <a:noFill/>
          <a:extLst>
            <a:ext uri="{909E8E84-426E-40DD-AFC4-6F175D3DCCD1}">
              <a14:hiddenFill xmlns:a14="http://schemas.microsoft.com/office/drawing/2010/main">
                <a:solidFill>
                  <a:srgbClr val="FFFFFF"/>
                </a:solidFill>
              </a14:hiddenFill>
            </a:ext>
          </a:extLst>
        </p:spPr>
      </p:pic>
      <p:sp>
        <p:nvSpPr>
          <p:cNvPr id="99" name="フローチャート : カード 98"/>
          <p:cNvSpPr/>
          <p:nvPr/>
        </p:nvSpPr>
        <p:spPr>
          <a:xfrm>
            <a:off x="7523083" y="5318493"/>
            <a:ext cx="1279387" cy="720797"/>
          </a:xfrm>
          <a:prstGeom prst="flowChartPunchedCard">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dirty="0">
                <a:solidFill>
                  <a:schemeClr val="tx1"/>
                </a:solidFill>
                <a:effectLst>
                  <a:outerShdw blurRad="38100" dist="38100" dir="2700000" algn="tl">
                    <a:srgbClr val="000000">
                      <a:alpha val="43137"/>
                    </a:srgbClr>
                  </a:outerShdw>
                </a:effectLst>
              </a:rPr>
              <a:t>共有フォルダ</a:t>
            </a:r>
          </a:p>
        </p:txBody>
      </p:sp>
      <p:sp>
        <p:nvSpPr>
          <p:cNvPr id="80" name="フローチャート : カード 79"/>
          <p:cNvSpPr/>
          <p:nvPr/>
        </p:nvSpPr>
        <p:spPr>
          <a:xfrm>
            <a:off x="7118038" y="5004175"/>
            <a:ext cx="1279387" cy="720797"/>
          </a:xfrm>
          <a:prstGeom prst="flowChartPunchedCard">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dirty="0">
                <a:solidFill>
                  <a:schemeClr val="tx1"/>
                </a:solidFill>
                <a:effectLst>
                  <a:outerShdw blurRad="38100" dist="38100" dir="2700000" algn="tl">
                    <a:srgbClr val="000000">
                      <a:alpha val="43137"/>
                    </a:srgbClr>
                  </a:outerShdw>
                </a:effectLst>
              </a:rPr>
              <a:t>共有フォルダ</a:t>
            </a:r>
          </a:p>
        </p:txBody>
      </p:sp>
      <p:sp>
        <p:nvSpPr>
          <p:cNvPr id="85" name="フリーフォーム 84"/>
          <p:cNvSpPr/>
          <p:nvPr/>
        </p:nvSpPr>
        <p:spPr>
          <a:xfrm>
            <a:off x="1266825" y="4649332"/>
            <a:ext cx="6572250" cy="1627643"/>
          </a:xfrm>
          <a:custGeom>
            <a:avLst/>
            <a:gdLst>
              <a:gd name="connsiteX0" fmla="*/ 0 w 6572250"/>
              <a:gd name="connsiteY0" fmla="*/ 0 h 1495425"/>
              <a:gd name="connsiteX1" fmla="*/ 0 w 6572250"/>
              <a:gd name="connsiteY1" fmla="*/ 1495425 h 1495425"/>
              <a:gd name="connsiteX2" fmla="*/ 6572250 w 6572250"/>
              <a:gd name="connsiteY2" fmla="*/ 1495425 h 1495425"/>
              <a:gd name="connsiteX3" fmla="*/ 6572250 w 6572250"/>
              <a:gd name="connsiteY3" fmla="*/ 1057275 h 1495425"/>
            </a:gdLst>
            <a:ahLst/>
            <a:cxnLst>
              <a:cxn ang="0">
                <a:pos x="connsiteX0" y="connsiteY0"/>
              </a:cxn>
              <a:cxn ang="0">
                <a:pos x="connsiteX1" y="connsiteY1"/>
              </a:cxn>
              <a:cxn ang="0">
                <a:pos x="connsiteX2" y="connsiteY2"/>
              </a:cxn>
              <a:cxn ang="0">
                <a:pos x="connsiteX3" y="connsiteY3"/>
              </a:cxn>
            </a:cxnLst>
            <a:rect l="l" t="t" r="r" b="b"/>
            <a:pathLst>
              <a:path w="6572250" h="1495425">
                <a:moveTo>
                  <a:pt x="0" y="0"/>
                </a:moveTo>
                <a:lnTo>
                  <a:pt x="0" y="1495425"/>
                </a:lnTo>
                <a:lnTo>
                  <a:pt x="6572250" y="1495425"/>
                </a:lnTo>
                <a:lnTo>
                  <a:pt x="6572250" y="1057275"/>
                </a:lnTo>
              </a:path>
            </a:pathLst>
          </a:custGeom>
          <a:noFill/>
          <a:ln w="38100">
            <a:solidFill>
              <a:schemeClr val="tx1"/>
            </a:solidFill>
            <a:headEnd type="arrow"/>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p:cNvSpPr txBox="1"/>
          <p:nvPr/>
        </p:nvSpPr>
        <p:spPr>
          <a:xfrm>
            <a:off x="6353393" y="2726719"/>
            <a:ext cx="367656" cy="349702"/>
          </a:xfrm>
          <a:prstGeom prst="rect">
            <a:avLst/>
          </a:prstGeom>
          <a:noFill/>
        </p:spPr>
        <p:txBody>
          <a:bodyPr wrap="none" lIns="36000" tIns="36000" rIns="36000" bIns="36000" rtlCol="0" anchor="ctr" anchorCtr="0">
            <a:spAutoFit/>
          </a:bodyPr>
          <a:lstStyle/>
          <a:p>
            <a:pPr algn="ctr"/>
            <a:r>
              <a:rPr lang="en-US" altLang="ja-JP" dirty="0">
                <a:effectLst>
                  <a:outerShdw blurRad="38100" dist="38100" dir="2700000" algn="tl">
                    <a:srgbClr val="000000">
                      <a:alpha val="43137"/>
                    </a:srgbClr>
                  </a:outerShdw>
                </a:effectLst>
              </a:rPr>
              <a:t>cgi</a:t>
            </a:r>
          </a:p>
        </p:txBody>
      </p:sp>
      <p:sp>
        <p:nvSpPr>
          <p:cNvPr id="49" name="フローチャート : カード 48"/>
          <p:cNvSpPr/>
          <p:nvPr/>
        </p:nvSpPr>
        <p:spPr>
          <a:xfrm>
            <a:off x="3076847" y="5139187"/>
            <a:ext cx="1279387" cy="720797"/>
          </a:xfrm>
          <a:prstGeom prst="flowChartPunchedCard">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dirty="0">
                <a:solidFill>
                  <a:schemeClr val="tx1"/>
                </a:solidFill>
                <a:effectLst>
                  <a:outerShdw blurRad="38100" dist="38100" dir="2700000" algn="tl">
                    <a:srgbClr val="000000">
                      <a:alpha val="43137"/>
                    </a:srgbClr>
                  </a:outerShdw>
                </a:effectLst>
              </a:rPr>
              <a:t>共有フォルダ</a:t>
            </a:r>
          </a:p>
        </p:txBody>
      </p:sp>
      <p:cxnSp>
        <p:nvCxnSpPr>
          <p:cNvPr id="51" name="直線矢印コネクタ 50"/>
          <p:cNvCxnSpPr>
            <a:stCxn id="49" idx="3"/>
            <a:endCxn id="68" idx="1"/>
          </p:cNvCxnSpPr>
          <p:nvPr/>
        </p:nvCxnSpPr>
        <p:spPr>
          <a:xfrm>
            <a:off x="4356234" y="5499586"/>
            <a:ext cx="667728" cy="2"/>
          </a:xfrm>
          <a:prstGeom prst="straightConnector1">
            <a:avLst/>
          </a:prstGeom>
          <a:ln w="381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a:stCxn id="68" idx="3"/>
          </p:cNvCxnSpPr>
          <p:nvPr/>
        </p:nvCxnSpPr>
        <p:spPr>
          <a:xfrm>
            <a:off x="6684712" y="5499588"/>
            <a:ext cx="433326" cy="0"/>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0692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872864" y="23664"/>
            <a:ext cx="313094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サーバシステム諸元</a:t>
            </a:r>
          </a:p>
        </p:txBody>
      </p:sp>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graphicFrame>
        <p:nvGraphicFramePr>
          <p:cNvPr id="49" name="コンテンツ プレースホルダー 3"/>
          <p:cNvGraphicFramePr>
            <a:graphicFrameLocks noGrp="1"/>
          </p:cNvGraphicFramePr>
          <p:nvPr>
            <p:ph idx="1"/>
            <p:extLst>
              <p:ext uri="{D42A27DB-BD31-4B8C-83A1-F6EECF244321}">
                <p14:modId xmlns:p14="http://schemas.microsoft.com/office/powerpoint/2010/main" val="2956525199"/>
              </p:ext>
            </p:extLst>
          </p:nvPr>
        </p:nvGraphicFramePr>
        <p:xfrm>
          <a:off x="250825" y="728700"/>
          <a:ext cx="8642350" cy="5186680"/>
        </p:xfrm>
        <a:graphic>
          <a:graphicData uri="http://schemas.openxmlformats.org/drawingml/2006/table">
            <a:tbl>
              <a:tblPr firstRow="1" bandRow="1">
                <a:tableStyleId>{5C22544A-7EE6-4342-B048-85BDC9FD1C3A}</a:tableStyleId>
              </a:tblPr>
              <a:tblGrid>
                <a:gridCol w="1575870">
                  <a:extLst>
                    <a:ext uri="{9D8B030D-6E8A-4147-A177-3AD203B41FA5}">
                      <a16:colId xmlns:a16="http://schemas.microsoft.com/office/drawing/2014/main" val="20000"/>
                    </a:ext>
                  </a:extLst>
                </a:gridCol>
                <a:gridCol w="1575175">
                  <a:extLst>
                    <a:ext uri="{9D8B030D-6E8A-4147-A177-3AD203B41FA5}">
                      <a16:colId xmlns:a16="http://schemas.microsoft.com/office/drawing/2014/main" val="20001"/>
                    </a:ext>
                  </a:extLst>
                </a:gridCol>
                <a:gridCol w="2205245">
                  <a:extLst>
                    <a:ext uri="{9D8B030D-6E8A-4147-A177-3AD203B41FA5}">
                      <a16:colId xmlns:a16="http://schemas.microsoft.com/office/drawing/2014/main" val="20002"/>
                    </a:ext>
                  </a:extLst>
                </a:gridCol>
                <a:gridCol w="3286060">
                  <a:extLst>
                    <a:ext uri="{9D8B030D-6E8A-4147-A177-3AD203B41FA5}">
                      <a16:colId xmlns:a16="http://schemas.microsoft.com/office/drawing/2014/main" val="20003"/>
                    </a:ext>
                  </a:extLst>
                </a:gridCol>
              </a:tblGrid>
              <a:tr h="370840">
                <a:tc>
                  <a:txBody>
                    <a:bodyPr/>
                    <a:lstStyle/>
                    <a:p>
                      <a:r>
                        <a:rPr kumimoji="1" lang="ja-JP" altLang="en-US" sz="1400" dirty="0">
                          <a:solidFill>
                            <a:schemeClr val="tx1"/>
                          </a:solidFill>
                          <a:effectLst>
                            <a:outerShdw blurRad="38100" dist="38100" dir="2700000" algn="tl">
                              <a:srgbClr val="000000">
                                <a:alpha val="43137"/>
                              </a:srgbClr>
                            </a:outerShdw>
                          </a:effectLst>
                          <a:latin typeface="+mn-lt"/>
                          <a:ea typeface="Noto Sans CJK JP Bold" pitchFamily="34" charset="-128"/>
                        </a:rPr>
                        <a:t>サーバ名</a:t>
                      </a:r>
                    </a:p>
                  </a:txBody>
                  <a:tcPr anchor="ctr">
                    <a:solidFill>
                      <a:srgbClr val="A0C8C8"/>
                    </a:solidFill>
                  </a:tcPr>
                </a:tc>
                <a:tc>
                  <a:txBody>
                    <a:bodyPr/>
                    <a:lstStyle/>
                    <a:p>
                      <a:r>
                        <a:rPr kumimoji="1" lang="en-US" altLang="ja-JP" sz="1400" dirty="0">
                          <a:solidFill>
                            <a:schemeClr val="tx1"/>
                          </a:solidFill>
                          <a:effectLst>
                            <a:outerShdw blurRad="38100" dist="38100" dir="2700000" algn="tl">
                              <a:srgbClr val="000000">
                                <a:alpha val="43137"/>
                              </a:srgbClr>
                            </a:outerShdw>
                          </a:effectLst>
                          <a:latin typeface="+mn-lt"/>
                          <a:ea typeface="Noto Sans CJK JP Bold" pitchFamily="34" charset="-128"/>
                        </a:rPr>
                        <a:t>OS</a:t>
                      </a:r>
                      <a:endParaRPr kumimoji="1" lang="ja-JP" altLang="en-US" sz="1400" dirty="0">
                        <a:solidFill>
                          <a:schemeClr val="tx1"/>
                        </a:solidFill>
                        <a:effectLst>
                          <a:outerShdw blurRad="38100" dist="38100" dir="2700000" algn="tl">
                            <a:srgbClr val="000000">
                              <a:alpha val="43137"/>
                            </a:srgbClr>
                          </a:outerShdw>
                        </a:effectLst>
                        <a:latin typeface="+mn-lt"/>
                        <a:ea typeface="Noto Sans CJK JP Bold" pitchFamily="34" charset="-128"/>
                      </a:endParaRPr>
                    </a:p>
                  </a:txBody>
                  <a:tcPr anchor="ctr">
                    <a:solidFill>
                      <a:srgbClr val="A0C8C8"/>
                    </a:solidFill>
                  </a:tcPr>
                </a:tc>
                <a:tc>
                  <a:txBody>
                    <a:bodyPr/>
                    <a:lstStyle/>
                    <a:p>
                      <a:r>
                        <a:rPr kumimoji="1" lang="ja-JP" altLang="en-US" sz="1400" dirty="0">
                          <a:solidFill>
                            <a:schemeClr val="tx1"/>
                          </a:solidFill>
                          <a:effectLst>
                            <a:outerShdw blurRad="38100" dist="38100" dir="2700000" algn="tl">
                              <a:srgbClr val="000000">
                                <a:alpha val="43137"/>
                              </a:srgbClr>
                            </a:outerShdw>
                          </a:effectLst>
                          <a:latin typeface="+mn-lt"/>
                          <a:ea typeface="Noto Sans CJK JP Bold" pitchFamily="34" charset="-128"/>
                        </a:rPr>
                        <a:t>ハード</a:t>
                      </a:r>
                    </a:p>
                  </a:txBody>
                  <a:tcPr anchor="ctr">
                    <a:solidFill>
                      <a:srgbClr val="A0C8C8"/>
                    </a:solidFill>
                  </a:tcPr>
                </a:tc>
                <a:tc>
                  <a:txBody>
                    <a:bodyPr/>
                    <a:lstStyle/>
                    <a:p>
                      <a:r>
                        <a:rPr kumimoji="1" lang="ja-JP" altLang="en-US" sz="1400" dirty="0">
                          <a:solidFill>
                            <a:schemeClr val="tx1"/>
                          </a:solidFill>
                          <a:effectLst>
                            <a:outerShdw blurRad="38100" dist="38100" dir="2700000" algn="tl">
                              <a:srgbClr val="000000">
                                <a:alpha val="43137"/>
                              </a:srgbClr>
                            </a:outerShdw>
                          </a:effectLst>
                          <a:latin typeface="+mn-lt"/>
                          <a:ea typeface="Noto Sans CJK JP Bold" pitchFamily="34" charset="-128"/>
                        </a:rPr>
                        <a:t>用途</a:t>
                      </a:r>
                    </a:p>
                  </a:txBody>
                  <a:tcPr anchor="ctr">
                    <a:solidFill>
                      <a:srgbClr val="A0C8C8"/>
                    </a:solidFill>
                  </a:tcPr>
                </a:tc>
                <a:extLst>
                  <a:ext uri="{0D108BD9-81ED-4DB2-BD59-A6C34878D82A}">
                    <a16:rowId xmlns:a16="http://schemas.microsoft.com/office/drawing/2014/main" val="10000"/>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nksv559</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(172.25.201.11)</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Windows Server</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2008</a:t>
                      </a:r>
                      <a:r>
                        <a:rPr kumimoji="1" lang="en-US" altLang="ja-JP" sz="1400" baseline="0" dirty="0">
                          <a:effectLst>
                            <a:outerShdw blurRad="38100" dist="38100" dir="2700000" algn="tl">
                              <a:srgbClr val="000000">
                                <a:alpha val="43137"/>
                              </a:srgbClr>
                            </a:outerShdw>
                          </a:effectLst>
                          <a:latin typeface="+mn-lt"/>
                          <a:ea typeface="Noto Sans CJK JP Bold" pitchFamily="34" charset="-128"/>
                        </a:rPr>
                        <a:t> R2</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 </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a:t>
                      </a:r>
                      <a:r>
                        <a:rPr kumimoji="1" lang="en-US" altLang="ja-JP" sz="1400" baseline="0" dirty="0">
                          <a:effectLst>
                            <a:outerShdw blurRad="38100" dist="38100" dir="2700000" algn="tl">
                              <a:srgbClr val="000000">
                                <a:alpha val="43137"/>
                              </a:srgbClr>
                            </a:outerShdw>
                          </a:effectLst>
                          <a:latin typeface="+mn-lt"/>
                          <a:ea typeface="Noto Sans CJK JP Bold" pitchFamily="34" charset="-128"/>
                        </a:rPr>
                        <a:t> RX100S7</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川本 </a:t>
                      </a:r>
                      <a:r>
                        <a:rPr kumimoji="1" lang="en-US" altLang="ja-JP" sz="1400" dirty="0" err="1">
                          <a:effectLst>
                            <a:outerShdw blurRad="38100" dist="38100" dir="2700000" algn="tl">
                              <a:srgbClr val="000000">
                                <a:alpha val="43137"/>
                              </a:srgbClr>
                            </a:outerShdw>
                          </a:effectLst>
                          <a:latin typeface="+mn-lt"/>
                          <a:ea typeface="Noto Sans CJK JP Bold" pitchFamily="34" charset="-128"/>
                        </a:rPr>
                        <a:t>i</a:t>
                      </a:r>
                      <a:r>
                        <a:rPr kumimoji="1" lang="en-US" altLang="ja-JP" sz="1400" dirty="0">
                          <a:effectLst>
                            <a:outerShdw blurRad="38100" dist="38100" dir="2700000" algn="tl">
                              <a:srgbClr val="000000">
                                <a:alpha val="43137"/>
                              </a:srgbClr>
                            </a:outerShdw>
                          </a:effectLst>
                          <a:latin typeface="+mn-lt"/>
                          <a:ea typeface="Noto Sans CJK JP Bold" pitchFamily="34" charset="-128"/>
                        </a:rPr>
                        <a:t>-Reporter</a:t>
                      </a:r>
                      <a:r>
                        <a:rPr kumimoji="1" lang="ja-JP" altLang="en-US" sz="1400" dirty="0">
                          <a:effectLst>
                            <a:outerShdw blurRad="38100" dist="38100" dir="2700000" algn="tl">
                              <a:srgbClr val="000000">
                                <a:alpha val="43137"/>
                              </a:srgbClr>
                            </a:outerShdw>
                          </a:effectLst>
                          <a:latin typeface="+mn-lt"/>
                          <a:ea typeface="Noto Sans CJK JP Bold" pitchFamily="34" charset="-128"/>
                        </a:rPr>
                        <a:t>用サーバ</a:t>
                      </a:r>
                    </a:p>
                  </a:txBody>
                  <a:tcPr anchor="ctr">
                    <a:solidFill>
                      <a:srgbClr val="FFFFCC"/>
                    </a:solidFill>
                  </a:tcPr>
                </a:tc>
                <a:extLst>
                  <a:ext uri="{0D108BD9-81ED-4DB2-BD59-A6C34878D82A}">
                    <a16:rowId xmlns:a16="http://schemas.microsoft.com/office/drawing/2014/main" val="10001"/>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nksv560</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(172.25.201.12)</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Ubuntu16.04LTS /32bit</a:t>
                      </a:r>
                      <a:r>
                        <a:rPr kumimoji="1" lang="ja-JP" altLang="en-US" sz="1400" baseline="0" dirty="0">
                          <a:effectLst>
                            <a:outerShdw blurRad="38100" dist="38100" dir="2700000" algn="tl">
                              <a:srgbClr val="000000">
                                <a:alpha val="43137"/>
                              </a:srgbClr>
                            </a:outerShdw>
                          </a:effectLst>
                          <a:latin typeface="+mn-lt"/>
                          <a:ea typeface="Noto Sans CJK JP Bold" pitchFamily="34" charset="-128"/>
                        </a:rPr>
                        <a:t> </a:t>
                      </a:r>
                      <a:r>
                        <a:rPr kumimoji="1" lang="en-US" altLang="ja-JP" sz="1400" dirty="0">
                          <a:effectLst>
                            <a:outerShdw blurRad="38100" dist="38100" dir="2700000" algn="tl">
                              <a:srgbClr val="000000">
                                <a:alpha val="43137"/>
                              </a:srgbClr>
                            </a:outerShdw>
                          </a:effectLst>
                          <a:latin typeface="+mn-lt"/>
                          <a:ea typeface="Noto Sans CJK JP Bold" pitchFamily="34" charset="-128"/>
                        </a:rPr>
                        <a:t>+ LAMP</a:t>
                      </a: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TX200S7</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Xeon E5-2403 x1</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12GB +</a:t>
                      </a:r>
                      <a:r>
                        <a:rPr kumimoji="1" lang="en-US" altLang="ja-JP" sz="1400" baseline="0" dirty="0">
                          <a:effectLst>
                            <a:outerShdw blurRad="38100" dist="38100" dir="2700000" algn="tl">
                              <a:srgbClr val="000000">
                                <a:alpha val="43137"/>
                              </a:srgbClr>
                            </a:outerShdw>
                          </a:effectLst>
                          <a:latin typeface="+mn-lt"/>
                          <a:ea typeface="Noto Sans CJK JP Bold" pitchFamily="34" charset="-128"/>
                        </a:rPr>
                        <a:t> 300GB RAID6</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富岡生産系</a:t>
                      </a:r>
                      <a:r>
                        <a:rPr kumimoji="1" lang="en-US" altLang="ja-JP" sz="1400" dirty="0">
                          <a:effectLst>
                            <a:outerShdw blurRad="38100" dist="38100" dir="2700000" algn="tl">
                              <a:srgbClr val="000000">
                                <a:alpha val="43137"/>
                              </a:srgbClr>
                            </a:outerShdw>
                          </a:effectLst>
                          <a:latin typeface="+mn-lt"/>
                          <a:ea typeface="Noto Sans CJK JP Bold" pitchFamily="34" charset="-128"/>
                        </a:rPr>
                        <a:t>Web</a:t>
                      </a:r>
                      <a:r>
                        <a:rPr kumimoji="1" lang="ja-JP" altLang="en-US" sz="1400" dirty="0">
                          <a:effectLst>
                            <a:outerShdw blurRad="38100" dist="38100" dir="2700000" algn="tl">
                              <a:srgbClr val="000000">
                                <a:alpha val="43137"/>
                              </a:srgbClr>
                            </a:outerShdw>
                          </a:effectLst>
                          <a:latin typeface="+mn-lt"/>
                          <a:ea typeface="Noto Sans CJK JP Bold" pitchFamily="34" charset="-128"/>
                        </a:rPr>
                        <a:t>サーバ</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p>
                      <a:r>
                        <a:rPr kumimoji="1" lang="ja-JP" altLang="en-US" sz="1400" dirty="0">
                          <a:effectLst>
                            <a:outerShdw blurRad="38100" dist="38100" dir="2700000" algn="tl">
                              <a:srgbClr val="000000">
                                <a:alpha val="43137"/>
                              </a:srgbClr>
                            </a:outerShdw>
                          </a:effectLst>
                          <a:latin typeface="+mn-lt"/>
                          <a:ea typeface="Noto Sans CJK JP Bold" pitchFamily="34" charset="-128"/>
                        </a:rPr>
                        <a:t>富岡生産系</a:t>
                      </a:r>
                      <a:r>
                        <a:rPr kumimoji="1" lang="en-US" altLang="ja-JP" sz="1400" dirty="0">
                          <a:effectLst>
                            <a:outerShdw blurRad="38100" dist="38100" dir="2700000" algn="tl">
                              <a:srgbClr val="000000">
                                <a:alpha val="43137"/>
                              </a:srgbClr>
                            </a:outerShdw>
                          </a:effectLst>
                          <a:latin typeface="+mn-lt"/>
                          <a:ea typeface="Noto Sans CJK JP Bold" pitchFamily="34" charset="-128"/>
                        </a:rPr>
                        <a:t>SQL</a:t>
                      </a:r>
                      <a:r>
                        <a:rPr kumimoji="1" lang="ja-JP" altLang="en-US" sz="1400" dirty="0">
                          <a:effectLst>
                            <a:outerShdw blurRad="38100" dist="38100" dir="2700000" algn="tl">
                              <a:srgbClr val="000000">
                                <a:alpha val="43137"/>
                              </a:srgbClr>
                            </a:outerShdw>
                          </a:effectLst>
                          <a:latin typeface="+mn-lt"/>
                          <a:ea typeface="Noto Sans CJK JP Bold" pitchFamily="34" charset="-128"/>
                        </a:rPr>
                        <a:t>サーバ</a:t>
                      </a:r>
                    </a:p>
                  </a:txBody>
                  <a:tcPr anchor="ctr">
                    <a:solidFill>
                      <a:srgbClr val="BBE0E3"/>
                    </a:solidFill>
                  </a:tcPr>
                </a:tc>
                <a:extLst>
                  <a:ext uri="{0D108BD9-81ED-4DB2-BD59-A6C34878D82A}">
                    <a16:rowId xmlns:a16="http://schemas.microsoft.com/office/drawing/2014/main" val="10002"/>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nksv561</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(172.25.201.13)</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Windows Server</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2008</a:t>
                      </a:r>
                      <a:r>
                        <a:rPr kumimoji="1" lang="en-US" altLang="ja-JP" sz="1400" baseline="0" dirty="0">
                          <a:effectLst>
                            <a:outerShdw blurRad="38100" dist="38100" dir="2700000" algn="tl">
                              <a:srgbClr val="000000">
                                <a:alpha val="43137"/>
                              </a:srgbClr>
                            </a:outerShdw>
                          </a:effectLst>
                          <a:latin typeface="+mn-lt"/>
                          <a:ea typeface="Noto Sans CJK JP Bold" pitchFamily="34" charset="-128"/>
                        </a:rPr>
                        <a:t> R2</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TX200S7</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Xeon E5-2403 x1</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32GB +</a:t>
                      </a:r>
                      <a:r>
                        <a:rPr kumimoji="1" lang="en-US" altLang="ja-JP" sz="1400" baseline="0" dirty="0">
                          <a:effectLst>
                            <a:outerShdw blurRad="38100" dist="38100" dir="2700000" algn="tl">
                              <a:srgbClr val="000000">
                                <a:alpha val="43137"/>
                              </a:srgbClr>
                            </a:outerShdw>
                          </a:effectLst>
                          <a:latin typeface="+mn-lt"/>
                          <a:ea typeface="Noto Sans CJK JP Bold" pitchFamily="34" charset="-128"/>
                        </a:rPr>
                        <a:t> 300GB RAID6</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富岡アプリケーションサーバ</a:t>
                      </a:r>
                    </a:p>
                  </a:txBody>
                  <a:tcPr anchor="ctr">
                    <a:solidFill>
                      <a:srgbClr val="FFFFCC"/>
                    </a:solidFill>
                  </a:tcPr>
                </a:tc>
                <a:extLst>
                  <a:ext uri="{0D108BD9-81ED-4DB2-BD59-A6C34878D82A}">
                    <a16:rowId xmlns:a16="http://schemas.microsoft.com/office/drawing/2014/main" val="10003"/>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nksv567</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(172.25.201.14)</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effectLst>
                            <a:outerShdw blurRad="38100" dist="38100" dir="2700000" algn="tl">
                              <a:srgbClr val="000000">
                                <a:alpha val="43137"/>
                              </a:srgbClr>
                            </a:outerShdw>
                          </a:effectLst>
                          <a:latin typeface="+mn-lt"/>
                          <a:ea typeface="Noto Sans CJK JP Bold" pitchFamily="34" charset="-128"/>
                        </a:rPr>
                        <a:t>Ubuntu16.04LTS /32bit + LAMP</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TX350S7</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Xeon E5-2403 x1</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32GB +</a:t>
                      </a:r>
                      <a:r>
                        <a:rPr kumimoji="1" lang="en-US" altLang="ja-JP" sz="1400" baseline="0" dirty="0">
                          <a:effectLst>
                            <a:outerShdw blurRad="38100" dist="38100" dir="2700000" algn="tl">
                              <a:srgbClr val="000000">
                                <a:alpha val="43137"/>
                              </a:srgbClr>
                            </a:outerShdw>
                          </a:effectLst>
                          <a:latin typeface="+mn-lt"/>
                          <a:ea typeface="Noto Sans CJK JP Bold" pitchFamily="34" charset="-128"/>
                        </a:rPr>
                        <a:t> 8.5TB RAID6</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生産技術用サーバ</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p>
                      <a:r>
                        <a:rPr kumimoji="1" lang="en-US" altLang="ja-JP" sz="1400" dirty="0">
                          <a:effectLst>
                            <a:outerShdw blurRad="38100" dist="38100" dir="2700000" algn="tl">
                              <a:srgbClr val="000000">
                                <a:alpha val="43137"/>
                              </a:srgbClr>
                            </a:outerShdw>
                          </a:effectLst>
                          <a:latin typeface="+mn-lt"/>
                          <a:ea typeface="Noto Sans CJK JP Bold" pitchFamily="34" charset="-128"/>
                        </a:rPr>
                        <a:t>Redmine</a:t>
                      </a:r>
                      <a:r>
                        <a:rPr kumimoji="1" lang="ja-JP" altLang="en-US" sz="1400" dirty="0">
                          <a:effectLst>
                            <a:outerShdw blurRad="38100" dist="38100" dir="2700000" algn="tl">
                              <a:srgbClr val="000000">
                                <a:alpha val="43137"/>
                              </a:srgbClr>
                            </a:outerShdw>
                          </a:effectLst>
                          <a:latin typeface="+mn-lt"/>
                          <a:ea typeface="Noto Sans CJK JP Bold" pitchFamily="34" charset="-128"/>
                        </a:rPr>
                        <a:t>サーバ</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extLst>
                  <a:ext uri="{0D108BD9-81ED-4DB2-BD59-A6C34878D82A}">
                    <a16:rowId xmlns:a16="http://schemas.microsoft.com/office/drawing/2014/main" val="10004"/>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nksv568</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(172.25.201.15)</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effectLst>
                            <a:outerShdw blurRad="38100" dist="38100" dir="2700000" algn="tl">
                              <a:srgbClr val="000000">
                                <a:alpha val="43137"/>
                              </a:srgbClr>
                            </a:outerShdw>
                          </a:effectLst>
                          <a:latin typeface="+mn-lt"/>
                          <a:ea typeface="Noto Sans CJK JP Bold" pitchFamily="34" charset="-128"/>
                        </a:rPr>
                        <a:t>Ubuntu16.04LTS</a:t>
                      </a:r>
                      <a:br>
                        <a:rPr kumimoji="1" lang="en-US" altLang="ja-JP" sz="1400" dirty="0">
                          <a:effectLst>
                            <a:outerShdw blurRad="38100" dist="38100" dir="2700000" algn="tl">
                              <a:srgbClr val="000000">
                                <a:alpha val="43137"/>
                              </a:srgbClr>
                            </a:outerShdw>
                          </a:effectLst>
                          <a:latin typeface="+mn-lt"/>
                          <a:ea typeface="Noto Sans CJK JP Bold" pitchFamily="34" charset="-128"/>
                        </a:rPr>
                      </a:br>
                      <a:r>
                        <a:rPr kumimoji="1" lang="en-US" altLang="ja-JP" sz="1400" dirty="0">
                          <a:effectLst>
                            <a:outerShdw blurRad="38100" dist="38100" dir="2700000" algn="tl">
                              <a:srgbClr val="000000">
                                <a:alpha val="43137"/>
                              </a:srgbClr>
                            </a:outerShdw>
                          </a:effectLst>
                          <a:latin typeface="+mn-lt"/>
                          <a:ea typeface="Noto Sans CJK JP Bold" pitchFamily="34" charset="-128"/>
                        </a:rPr>
                        <a:t>/64bit + LAMP</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TX350S7</a:t>
                      </a:r>
                    </a:p>
                    <a:p>
                      <a:r>
                        <a:rPr kumimoji="1" lang="ja-JP" altLang="en-US" sz="1400" dirty="0">
                          <a:effectLst>
                            <a:outerShdw blurRad="38100" dist="38100" dir="2700000" algn="tl">
                              <a:srgbClr val="000000">
                                <a:alpha val="43137"/>
                              </a:srgbClr>
                            </a:outerShdw>
                          </a:effectLst>
                          <a:latin typeface="+mn-lt"/>
                          <a:ea typeface="Noto Sans CJK JP Bold" pitchFamily="34" charset="-128"/>
                        </a:rPr>
                        <a:t>（同上）</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川本用サーバ</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p>
                      <a:r>
                        <a:rPr kumimoji="1" lang="en-US" altLang="ja-JP" sz="1400" dirty="0">
                          <a:effectLst>
                            <a:outerShdw blurRad="38100" dist="38100" dir="2700000" algn="tl">
                              <a:srgbClr val="000000">
                                <a:alpha val="43137"/>
                              </a:srgbClr>
                            </a:outerShdw>
                          </a:effectLst>
                          <a:latin typeface="+mn-lt"/>
                          <a:ea typeface="Noto Sans CJK JP Bold" pitchFamily="34" charset="-128"/>
                        </a:rPr>
                        <a:t>Redmine</a:t>
                      </a:r>
                      <a:r>
                        <a:rPr kumimoji="1" lang="ja-JP" altLang="en-US" sz="1400" dirty="0">
                          <a:effectLst>
                            <a:outerShdw blurRad="38100" dist="38100" dir="2700000" algn="tl">
                              <a:srgbClr val="000000">
                                <a:alpha val="43137"/>
                              </a:srgbClr>
                            </a:outerShdw>
                          </a:effectLst>
                          <a:latin typeface="+mn-lt"/>
                          <a:ea typeface="Noto Sans CJK JP Bold" pitchFamily="34" charset="-128"/>
                        </a:rPr>
                        <a:t>サーバ</a:t>
                      </a:r>
                    </a:p>
                  </a:txBody>
                  <a:tcPr anchor="ctr">
                    <a:solidFill>
                      <a:srgbClr val="BBE0E3"/>
                    </a:solidFill>
                  </a:tcPr>
                </a:tc>
                <a:extLst>
                  <a:ext uri="{0D108BD9-81ED-4DB2-BD59-A6C34878D82A}">
                    <a16:rowId xmlns:a16="http://schemas.microsoft.com/office/drawing/2014/main" val="10005"/>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nksv569</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(172.25.201.16)</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effectLst>
                            <a:outerShdw blurRad="38100" dist="38100" dir="2700000" algn="tl">
                              <a:srgbClr val="000000">
                                <a:alpha val="43137"/>
                              </a:srgbClr>
                            </a:outerShdw>
                          </a:effectLst>
                          <a:latin typeface="+mn-lt"/>
                          <a:ea typeface="Noto Sans CJK JP Bold" pitchFamily="34" charset="-128"/>
                        </a:rPr>
                        <a:t>Ubuntu18.04LTS </a:t>
                      </a:r>
                      <a:r>
                        <a:rPr kumimoji="1" lang="en-US" altLang="ja-JP" sz="1400" dirty="0">
                          <a:effectLst>
                            <a:outerShdw blurRad="38100" dist="38100" dir="2700000" algn="tl">
                              <a:srgbClr val="000000">
                                <a:alpha val="43137"/>
                              </a:srgbClr>
                            </a:outerShdw>
                          </a:effectLst>
                          <a:latin typeface="+mn-lt"/>
                          <a:ea typeface="Noto Sans CJK JP Bold" pitchFamily="34" charset="-128"/>
                        </a:rPr>
                        <a:t>/64bit + LAMP</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TX350S7</a:t>
                      </a:r>
                    </a:p>
                    <a:p>
                      <a:r>
                        <a:rPr kumimoji="1" lang="ja-JP" altLang="en-US" sz="1400" dirty="0">
                          <a:effectLst>
                            <a:outerShdw blurRad="38100" dist="38100" dir="2700000" algn="tl">
                              <a:srgbClr val="000000">
                                <a:alpha val="43137"/>
                              </a:srgbClr>
                            </a:outerShdw>
                          </a:effectLst>
                          <a:latin typeface="+mn-lt"/>
                          <a:ea typeface="Noto Sans CJK JP Bold" pitchFamily="34" charset="-128"/>
                        </a:rPr>
                        <a:t>（同上）</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富岡用</a:t>
                      </a:r>
                      <a:r>
                        <a:rPr kumimoji="1" lang="ja-JP" altLang="en-US" sz="1400" dirty="0">
                          <a:effectLst>
                            <a:outerShdw blurRad="38100" dist="38100" dir="2700000" algn="tl">
                              <a:srgbClr val="000000">
                                <a:alpha val="43137"/>
                              </a:srgbClr>
                            </a:outerShdw>
                          </a:effectLst>
                          <a:latin typeface="+mn-lt"/>
                          <a:ea typeface="Noto Sans CJK JP Bold" pitchFamily="34" charset="-128"/>
                        </a:rPr>
                        <a:t>サーバ</a:t>
                      </a:r>
                    </a:p>
                  </a:txBody>
                  <a:tcPr anchor="ctr">
                    <a:solidFill>
                      <a:srgbClr val="BBE0E3"/>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34134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872864" y="23664"/>
            <a:ext cx="313094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主な稼働中のシステム</a:t>
            </a:r>
          </a:p>
        </p:txBody>
      </p:sp>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graphicFrame>
        <p:nvGraphicFramePr>
          <p:cNvPr id="49" name="コンテンツ プレースホルダー 3"/>
          <p:cNvGraphicFramePr>
            <a:graphicFrameLocks noGrp="1"/>
          </p:cNvGraphicFramePr>
          <p:nvPr>
            <p:ph idx="1"/>
            <p:extLst>
              <p:ext uri="{D42A27DB-BD31-4B8C-83A1-F6EECF244321}">
                <p14:modId xmlns:p14="http://schemas.microsoft.com/office/powerpoint/2010/main" val="704562387"/>
              </p:ext>
            </p:extLst>
          </p:nvPr>
        </p:nvGraphicFramePr>
        <p:xfrm>
          <a:off x="250825" y="728700"/>
          <a:ext cx="8642350" cy="3271520"/>
        </p:xfrm>
        <a:graphic>
          <a:graphicData uri="http://schemas.openxmlformats.org/drawingml/2006/table">
            <a:tbl>
              <a:tblPr firstRow="1" bandRow="1">
                <a:tableStyleId>{5C22544A-7EE6-4342-B048-85BDC9FD1C3A}</a:tableStyleId>
              </a:tblPr>
              <a:tblGrid>
                <a:gridCol w="2475969">
                  <a:extLst>
                    <a:ext uri="{9D8B030D-6E8A-4147-A177-3AD203B41FA5}">
                      <a16:colId xmlns:a16="http://schemas.microsoft.com/office/drawing/2014/main" val="20000"/>
                    </a:ext>
                  </a:extLst>
                </a:gridCol>
                <a:gridCol w="2025225">
                  <a:extLst>
                    <a:ext uri="{9D8B030D-6E8A-4147-A177-3AD203B41FA5}">
                      <a16:colId xmlns:a16="http://schemas.microsoft.com/office/drawing/2014/main" val="20001"/>
                    </a:ext>
                  </a:extLst>
                </a:gridCol>
                <a:gridCol w="4141156">
                  <a:extLst>
                    <a:ext uri="{9D8B030D-6E8A-4147-A177-3AD203B41FA5}">
                      <a16:colId xmlns:a16="http://schemas.microsoft.com/office/drawing/2014/main" val="20002"/>
                    </a:ext>
                  </a:extLst>
                </a:gridCol>
              </a:tblGrid>
              <a:tr h="370840">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稼働システム</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サービス形態</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用途</a:t>
                      </a:r>
                    </a:p>
                  </a:txBody>
                  <a:tcPr anchor="ctr">
                    <a:solidFill>
                      <a:srgbClr val="A0C8C8"/>
                    </a:solidFill>
                  </a:tcPr>
                </a:tc>
                <a:extLst>
                  <a:ext uri="{0D108BD9-81ED-4DB2-BD59-A6C34878D82A}">
                    <a16:rowId xmlns:a16="http://schemas.microsoft.com/office/drawing/2014/main" val="10000"/>
                  </a:ext>
                </a:extLst>
              </a:tr>
              <a:tr h="259230">
                <a:tc gridSpan="3">
                  <a:txBody>
                    <a:bodyPr/>
                    <a:lstStyle/>
                    <a:p>
                      <a:pPr algn="ctr"/>
                      <a:r>
                        <a:rPr kumimoji="1" lang="en-US" altLang="ja-JP" sz="1400">
                          <a:effectLst>
                            <a:outerShdw blurRad="38100" dist="38100" dir="2700000" algn="tl">
                              <a:srgbClr val="000000">
                                <a:alpha val="43137"/>
                              </a:srgbClr>
                            </a:outerShdw>
                          </a:effectLst>
                          <a:latin typeface="+mn-lt"/>
                          <a:ea typeface="Noto Sans CJK JP Bold" pitchFamily="34" charset="-128"/>
                        </a:rPr>
                        <a:t>nksv559</a:t>
                      </a:r>
                    </a:p>
                  </a:txBody>
                  <a:tcPr anchor="ct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kumimoji="1" lang="en-US" altLang="ja-JP" sz="1400" dirty="0" err="1">
                          <a:effectLst>
                            <a:outerShdw blurRad="38100" dist="38100" dir="2700000" algn="tl">
                              <a:srgbClr val="000000">
                                <a:alpha val="43137"/>
                              </a:srgbClr>
                            </a:outerShdw>
                          </a:effectLst>
                          <a:latin typeface="+mn-lt"/>
                          <a:ea typeface="Noto Sans CJK JP Bold" pitchFamily="34" charset="-128"/>
                        </a:rPr>
                        <a:t>i</a:t>
                      </a:r>
                      <a:r>
                        <a:rPr kumimoji="1" lang="en-US" altLang="ja-JP" sz="1400" dirty="0">
                          <a:effectLst>
                            <a:outerShdw blurRad="38100" dist="38100" dir="2700000" algn="tl">
                              <a:srgbClr val="000000">
                                <a:alpha val="43137"/>
                              </a:srgbClr>
                            </a:outerShdw>
                          </a:effectLst>
                          <a:latin typeface="+mn-lt"/>
                          <a:ea typeface="Noto Sans CJK JP Bold" pitchFamily="34" charset="-128"/>
                        </a:rPr>
                        <a:t>-Reporter</a:t>
                      </a:r>
                      <a:r>
                        <a:rPr kumimoji="1" lang="ja-JP" altLang="en-US" sz="1400" dirty="0">
                          <a:effectLst>
                            <a:outerShdw blurRad="38100" dist="38100" dir="2700000" algn="tl">
                              <a:srgbClr val="000000">
                                <a:alpha val="43137"/>
                              </a:srgbClr>
                            </a:outerShdw>
                          </a:effectLst>
                          <a:latin typeface="+mn-lt"/>
                          <a:ea typeface="Noto Sans CJK JP Bold" pitchFamily="34" charset="-128"/>
                        </a:rPr>
                        <a:t>サーバ</a:t>
                      </a: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IIS/aspx</a:t>
                      </a:r>
                      <a:r>
                        <a:rPr kumimoji="1" lang="ja-JP" altLang="en-US" sz="1400">
                          <a:effectLst>
                            <a:outerShdw blurRad="38100" dist="38100" dir="2700000" algn="tl">
                              <a:srgbClr val="000000">
                                <a:alpha val="43137"/>
                              </a:srgbClr>
                            </a:outerShdw>
                          </a:effectLst>
                          <a:latin typeface="+mn-lt"/>
                          <a:ea typeface="Noto Sans CJK JP Bold" pitchFamily="34" charset="-128"/>
                        </a:rPr>
                        <a:t>サービス</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err="1">
                          <a:effectLst>
                            <a:outerShdw blurRad="38100" dist="38100" dir="2700000" algn="tl">
                              <a:srgbClr val="000000">
                                <a:alpha val="43137"/>
                              </a:srgbClr>
                            </a:outerShdw>
                          </a:effectLst>
                          <a:latin typeface="+mn-lt"/>
                          <a:ea typeface="Noto Sans CJK JP Bold" pitchFamily="34" charset="-128"/>
                        </a:rPr>
                        <a:t>i</a:t>
                      </a:r>
                      <a:r>
                        <a:rPr kumimoji="1" lang="en-US" altLang="ja-JP" sz="1400" dirty="0">
                          <a:effectLst>
                            <a:outerShdw blurRad="38100" dist="38100" dir="2700000" algn="tl">
                              <a:srgbClr val="000000">
                                <a:alpha val="43137"/>
                              </a:srgbClr>
                            </a:outerShdw>
                          </a:effectLst>
                          <a:latin typeface="+mn-lt"/>
                          <a:ea typeface="Noto Sans CJK JP Bold" pitchFamily="34" charset="-128"/>
                        </a:rPr>
                        <a:t>-Reporter(Xerox</a:t>
                      </a:r>
                      <a:r>
                        <a:rPr kumimoji="1" lang="ja-JP" altLang="en-US" sz="1400" dirty="0">
                          <a:effectLst>
                            <a:outerShdw blurRad="38100" dist="38100" dir="2700000" algn="tl">
                              <a:srgbClr val="000000">
                                <a:alpha val="43137"/>
                              </a:srgbClr>
                            </a:outerShdw>
                          </a:effectLst>
                          <a:latin typeface="+mn-lt"/>
                          <a:ea typeface="Noto Sans CJK JP Bold" pitchFamily="34" charset="-128"/>
                        </a:rPr>
                        <a:t>製</a:t>
                      </a:r>
                      <a:r>
                        <a:rPr kumimoji="1" lang="en-US" altLang="ja-JP" sz="1400" dirty="0">
                          <a:effectLst>
                            <a:outerShdw blurRad="38100" dist="38100" dir="2700000" algn="tl">
                              <a:srgbClr val="000000">
                                <a:alpha val="43137"/>
                              </a:srgbClr>
                            </a:outerShdw>
                          </a:effectLst>
                          <a:latin typeface="+mn-lt"/>
                          <a:ea typeface="Noto Sans CJK JP Bold" pitchFamily="34" charset="-128"/>
                        </a:rPr>
                        <a:t>)</a:t>
                      </a:r>
                      <a:r>
                        <a:rPr kumimoji="1" lang="ja-JP" altLang="en-US" sz="1400" dirty="0">
                          <a:effectLst>
                            <a:outerShdw blurRad="38100" dist="38100" dir="2700000" algn="tl">
                              <a:srgbClr val="000000">
                                <a:alpha val="43137"/>
                              </a:srgbClr>
                            </a:outerShdw>
                          </a:effectLst>
                          <a:latin typeface="+mn-lt"/>
                          <a:ea typeface="Noto Sans CJK JP Bold" pitchFamily="34" charset="-128"/>
                        </a:rPr>
                        <a:t>のサポート</a:t>
                      </a:r>
                    </a:p>
                  </a:txBody>
                  <a:tcPr anchor="ctr">
                    <a:solidFill>
                      <a:srgbClr val="BBE0E3"/>
                    </a:solidFill>
                  </a:tcPr>
                </a:tc>
                <a:extLst>
                  <a:ext uri="{0D108BD9-81ED-4DB2-BD59-A6C34878D82A}">
                    <a16:rowId xmlns:a16="http://schemas.microsoft.com/office/drawing/2014/main" val="10002"/>
                  </a:ext>
                </a:extLst>
              </a:tr>
              <a:tr h="370840">
                <a:tc gridSpan="3">
                  <a:txBody>
                    <a:bodyPr/>
                    <a:lstStyle/>
                    <a:p>
                      <a:pPr algn="ctr"/>
                      <a:r>
                        <a:rPr kumimoji="1" lang="en-US" altLang="ja-JP" sz="1400">
                          <a:effectLst>
                            <a:outerShdw blurRad="38100" dist="38100" dir="2700000" algn="tl">
                              <a:srgbClr val="000000">
                                <a:alpha val="43137"/>
                              </a:srgbClr>
                            </a:outerShdw>
                          </a:effectLst>
                          <a:latin typeface="+mn-lt"/>
                          <a:ea typeface="Noto Sans CJK JP Bold" pitchFamily="34" charset="-128"/>
                        </a:rPr>
                        <a:t>nksv561</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3"/>
                  </a:ext>
                </a:extLst>
              </a:tr>
              <a:tr h="370840">
                <a:tc>
                  <a:txBody>
                    <a:bodyPr/>
                    <a:lstStyle/>
                    <a:p>
                      <a:r>
                        <a:rPr kumimoji="1" lang="en-US" altLang="ja-JP" sz="1400" baseline="0">
                          <a:effectLst>
                            <a:outerShdw blurRad="38100" dist="38100" dir="2700000" algn="tl">
                              <a:srgbClr val="000000">
                                <a:alpha val="43137"/>
                              </a:srgbClr>
                            </a:outerShdw>
                          </a:effectLst>
                          <a:latin typeface="+mn-lt"/>
                          <a:ea typeface="Noto Sans CJK JP Bold" pitchFamily="34" charset="-128"/>
                        </a:rPr>
                        <a:t>Windows App</a:t>
                      </a:r>
                      <a:r>
                        <a:rPr kumimoji="1" lang="ja-JP" altLang="en-US" sz="1400" baseline="0">
                          <a:effectLst>
                            <a:outerShdw blurRad="38100" dist="38100" dir="2700000" algn="tl">
                              <a:srgbClr val="000000">
                                <a:alpha val="43137"/>
                              </a:srgbClr>
                            </a:outerShdw>
                          </a:effectLst>
                          <a:latin typeface="+mn-lt"/>
                          <a:ea typeface="Noto Sans CJK JP Bold" pitchFamily="34" charset="-128"/>
                        </a:rPr>
                        <a:t>サーバ</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Windows</a:t>
                      </a:r>
                      <a:r>
                        <a:rPr kumimoji="1" lang="ja-JP" altLang="en-US" sz="1400">
                          <a:effectLst>
                            <a:outerShdw blurRad="38100" dist="38100" dir="2700000" algn="tl">
                              <a:srgbClr val="000000">
                                <a:alpha val="43137"/>
                              </a:srgbClr>
                            </a:outerShdw>
                          </a:effectLst>
                          <a:latin typeface="+mn-lt"/>
                          <a:ea typeface="Noto Sans CJK JP Bold" pitchFamily="34" charset="-128"/>
                        </a:rPr>
                        <a:t>アプリ</a:t>
                      </a: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Windows</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ベースのアプリの実行</a:t>
                      </a:r>
                    </a:p>
                  </a:txBody>
                  <a:tcPr anchor="ctr">
                    <a:solidFill>
                      <a:srgbClr val="BBE0E3"/>
                    </a:solidFill>
                  </a:tcPr>
                </a:tc>
                <a:extLst>
                  <a:ext uri="{0D108BD9-81ED-4DB2-BD59-A6C34878D82A}">
                    <a16:rowId xmlns:a16="http://schemas.microsoft.com/office/drawing/2014/main" val="10004"/>
                  </a:ext>
                </a:extLst>
              </a:tr>
              <a:tr h="370840">
                <a:tc gridSpan="3">
                  <a:txBody>
                    <a:bodyPr/>
                    <a:lstStyle/>
                    <a:p>
                      <a:pPr algn="ctr"/>
                      <a:r>
                        <a:rPr kumimoji="1" lang="en-US" altLang="ja-JP" sz="1400">
                          <a:effectLst>
                            <a:outerShdw blurRad="38100" dist="38100" dir="2700000" algn="tl">
                              <a:srgbClr val="000000">
                                <a:alpha val="43137"/>
                              </a:srgbClr>
                            </a:outerShdw>
                          </a:effectLst>
                          <a:latin typeface="+mn-lt"/>
                          <a:ea typeface="Noto Sans CJK JP Bold" pitchFamily="34" charset="-128"/>
                        </a:rPr>
                        <a:t>nksv560/567/568/569</a:t>
                      </a:r>
                      <a:r>
                        <a:rPr kumimoji="1" lang="ja-JP" altLang="en-US" sz="1400">
                          <a:effectLst>
                            <a:outerShdw blurRad="38100" dist="38100" dir="2700000" algn="tl">
                              <a:srgbClr val="000000">
                                <a:alpha val="43137"/>
                              </a:srgbClr>
                            </a:outerShdw>
                          </a:effectLst>
                          <a:latin typeface="+mn-lt"/>
                          <a:ea typeface="Noto Sans CJK JP Bold" pitchFamily="34" charset="-128"/>
                        </a:rPr>
                        <a:t>共通</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hMerge="1">
                  <a:txBody>
                    <a:bodyPr/>
                    <a:lstStyle/>
                    <a:p>
                      <a:endParaRPr kumimoji="1" lang="ja-JP" altLang="en-US" sz="1400" dirty="0">
                        <a:latin typeface="Noto Sans CJK JP Bold" pitchFamily="34" charset="-128"/>
                        <a:ea typeface="Noto Sans CJK JP Bold" pitchFamily="34" charset="-128"/>
                      </a:endParaRPr>
                    </a:p>
                  </a:txBody>
                  <a:tcPr anchor="ctr">
                    <a:solidFill>
                      <a:srgbClr val="FFFFCC"/>
                    </a:solidFill>
                  </a:tcPr>
                </a:tc>
                <a:tc hMerge="1">
                  <a:txBody>
                    <a:bodyPr/>
                    <a:lstStyle/>
                    <a:p>
                      <a:endParaRPr kumimoji="1" lang="ja-JP" altLang="en-US"/>
                    </a:p>
                  </a:txBody>
                  <a:tcPr anchor="ctr">
                    <a:solidFill>
                      <a:srgbClr val="FFFFCC"/>
                    </a:solidFill>
                  </a:tcPr>
                </a:tc>
                <a:extLst>
                  <a:ext uri="{0D108BD9-81ED-4DB2-BD59-A6C34878D82A}">
                    <a16:rowId xmlns:a16="http://schemas.microsoft.com/office/drawing/2014/main" val="10005"/>
                  </a:ext>
                </a:extLst>
              </a:tr>
              <a:tr h="370840">
                <a:tc>
                  <a:txBody>
                    <a:bodyPr/>
                    <a:lstStyle/>
                    <a:p>
                      <a:r>
                        <a:rPr kumimoji="1" lang="en-US" altLang="ja-JP" sz="1400" baseline="0">
                          <a:effectLst>
                            <a:outerShdw blurRad="38100" dist="38100" dir="2700000" algn="tl">
                              <a:srgbClr val="000000">
                                <a:alpha val="43137"/>
                              </a:srgbClr>
                            </a:outerShdw>
                          </a:effectLst>
                          <a:latin typeface="+mn-lt"/>
                          <a:ea typeface="Noto Sans CJK JP Bold" pitchFamily="34" charset="-128"/>
                        </a:rPr>
                        <a:t>MySQL RDBMS</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データベース</a:t>
                      </a: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各アプリのデータベース</a:t>
                      </a:r>
                    </a:p>
                  </a:txBody>
                  <a:tcPr anchor="ctr">
                    <a:solidFill>
                      <a:srgbClr val="BBE0E3"/>
                    </a:solidFill>
                  </a:tcPr>
                </a:tc>
                <a:extLst>
                  <a:ext uri="{0D108BD9-81ED-4DB2-BD59-A6C34878D82A}">
                    <a16:rowId xmlns:a16="http://schemas.microsoft.com/office/drawing/2014/main" val="10006"/>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Apache2 Web</a:t>
                      </a:r>
                      <a:r>
                        <a:rPr kumimoji="1" lang="ja-JP" altLang="en-US" sz="1400">
                          <a:effectLst>
                            <a:outerShdw blurRad="38100" dist="38100" dir="2700000" algn="tl">
                              <a:srgbClr val="000000">
                                <a:alpha val="43137"/>
                              </a:srgbClr>
                            </a:outerShdw>
                          </a:effectLst>
                          <a:latin typeface="+mn-lt"/>
                          <a:ea typeface="Noto Sans CJK JP Bold" pitchFamily="34" charset="-128"/>
                        </a:rPr>
                        <a:t>サーバ</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Web</a:t>
                      </a:r>
                      <a:r>
                        <a:rPr kumimoji="1" lang="ja-JP" altLang="en-US" sz="1400">
                          <a:effectLst>
                            <a:outerShdw blurRad="38100" dist="38100" dir="2700000" algn="tl">
                              <a:srgbClr val="000000">
                                <a:alpha val="43137"/>
                              </a:srgbClr>
                            </a:outerShdw>
                          </a:effectLst>
                          <a:latin typeface="+mn-lt"/>
                          <a:ea typeface="Noto Sans CJK JP Bold" pitchFamily="34" charset="-128"/>
                        </a:rPr>
                        <a:t>サービス</a:t>
                      </a: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各アプリの</a:t>
                      </a:r>
                      <a:r>
                        <a:rPr kumimoji="1" lang="en-US" altLang="ja-JP" sz="1400">
                          <a:effectLst>
                            <a:outerShdw blurRad="38100" dist="38100" dir="2700000" algn="tl">
                              <a:srgbClr val="000000">
                                <a:alpha val="43137"/>
                              </a:srgbClr>
                            </a:outerShdw>
                          </a:effectLst>
                          <a:latin typeface="+mn-lt"/>
                          <a:ea typeface="Noto Sans CJK JP Bold" pitchFamily="34" charset="-128"/>
                        </a:rPr>
                        <a:t>Web</a:t>
                      </a:r>
                      <a:r>
                        <a:rPr kumimoji="1" lang="ja-JP" altLang="en-US" sz="1400">
                          <a:effectLst>
                            <a:outerShdw blurRad="38100" dist="38100" dir="2700000" algn="tl">
                              <a:srgbClr val="000000">
                                <a:alpha val="43137"/>
                              </a:srgbClr>
                            </a:outerShdw>
                          </a:effectLst>
                          <a:latin typeface="+mn-lt"/>
                          <a:ea typeface="Noto Sans CJK JP Bold" pitchFamily="34" charset="-128"/>
                        </a:rPr>
                        <a:t>サービス</a:t>
                      </a:r>
                    </a:p>
                  </a:txBody>
                  <a:tcPr anchor="ctr">
                    <a:solidFill>
                      <a:srgbClr val="BBE0E3"/>
                    </a:solidFill>
                  </a:tcPr>
                </a:tc>
                <a:extLst>
                  <a:ext uri="{0D108BD9-81ED-4DB2-BD59-A6C34878D82A}">
                    <a16:rowId xmlns:a16="http://schemas.microsoft.com/office/drawing/2014/main" val="10007"/>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SAMBA</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ファイル共有</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Windows</a:t>
                      </a:r>
                      <a:r>
                        <a:rPr kumimoji="1" lang="ja-JP" altLang="en-US" sz="1400">
                          <a:effectLst>
                            <a:outerShdw blurRad="38100" dist="38100" dir="2700000" algn="tl">
                              <a:srgbClr val="000000">
                                <a:alpha val="43137"/>
                              </a:srgbClr>
                            </a:outerShdw>
                          </a:effectLst>
                          <a:latin typeface="+mn-lt"/>
                          <a:ea typeface="Noto Sans CJK JP Bold" pitchFamily="34" charset="-128"/>
                        </a:rPr>
                        <a:t>の</a:t>
                      </a:r>
                      <a:r>
                        <a:rPr kumimoji="1" lang="en-US" altLang="ja-JP" sz="1400">
                          <a:effectLst>
                            <a:outerShdw blurRad="38100" dist="38100" dir="2700000" algn="tl">
                              <a:srgbClr val="000000">
                                <a:alpha val="43137"/>
                              </a:srgbClr>
                            </a:outerShdw>
                          </a:effectLst>
                          <a:latin typeface="+mn-lt"/>
                          <a:ea typeface="Noto Sans CJK JP Bold" pitchFamily="34" charset="-128"/>
                        </a:rPr>
                        <a:t>SMB2</a:t>
                      </a:r>
                      <a:r>
                        <a:rPr kumimoji="1" lang="ja-JP" altLang="en-US" sz="1400">
                          <a:effectLst>
                            <a:outerShdw blurRad="38100" dist="38100" dir="2700000" algn="tl">
                              <a:srgbClr val="000000">
                                <a:alpha val="43137"/>
                              </a:srgbClr>
                            </a:outerShdw>
                          </a:effectLst>
                          <a:latin typeface="+mn-lt"/>
                          <a:ea typeface="Noto Sans CJK JP Bold" pitchFamily="34" charset="-128"/>
                        </a:rPr>
                        <a:t>プロトコルによる共有フォルダ</a:t>
                      </a:r>
                    </a:p>
                  </a:txBody>
                  <a:tcPr anchor="ctr">
                    <a:solidFill>
                      <a:srgbClr val="BBE0E3"/>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837168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その他稼働中</a:t>
            </a:r>
            <a:r>
              <a:rPr lang="ja-JP" altLang="en-US" sz="2400" b="1" dirty="0">
                <a:solidFill>
                  <a:schemeClr val="bg1"/>
                </a:solidFill>
                <a:latin typeface="+mj-ea"/>
                <a:ea typeface="+mj-ea"/>
              </a:rPr>
              <a:t>のシステム</a:t>
            </a:r>
          </a:p>
        </p:txBody>
      </p:sp>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graphicFrame>
        <p:nvGraphicFramePr>
          <p:cNvPr id="49" name="コンテンツ プレースホルダー 3"/>
          <p:cNvGraphicFramePr>
            <a:graphicFrameLocks noGrp="1"/>
          </p:cNvGraphicFramePr>
          <p:nvPr>
            <p:ph idx="1"/>
            <p:extLst>
              <p:ext uri="{D42A27DB-BD31-4B8C-83A1-F6EECF244321}">
                <p14:modId xmlns:p14="http://schemas.microsoft.com/office/powerpoint/2010/main" val="767270799"/>
              </p:ext>
            </p:extLst>
          </p:nvPr>
        </p:nvGraphicFramePr>
        <p:xfrm>
          <a:off x="250825" y="728700"/>
          <a:ext cx="8642350" cy="2971800"/>
        </p:xfrm>
        <a:graphic>
          <a:graphicData uri="http://schemas.openxmlformats.org/drawingml/2006/table">
            <a:tbl>
              <a:tblPr firstRow="1" bandRow="1">
                <a:tableStyleId>{5C22544A-7EE6-4342-B048-85BDC9FD1C3A}</a:tableStyleId>
              </a:tblPr>
              <a:tblGrid>
                <a:gridCol w="2475970">
                  <a:extLst>
                    <a:ext uri="{9D8B030D-6E8A-4147-A177-3AD203B41FA5}">
                      <a16:colId xmlns:a16="http://schemas.microsoft.com/office/drawing/2014/main" val="20000"/>
                    </a:ext>
                  </a:extLst>
                </a:gridCol>
                <a:gridCol w="2025225">
                  <a:extLst>
                    <a:ext uri="{9D8B030D-6E8A-4147-A177-3AD203B41FA5}">
                      <a16:colId xmlns:a16="http://schemas.microsoft.com/office/drawing/2014/main" val="20001"/>
                    </a:ext>
                  </a:extLst>
                </a:gridCol>
                <a:gridCol w="4141155">
                  <a:extLst>
                    <a:ext uri="{9D8B030D-6E8A-4147-A177-3AD203B41FA5}">
                      <a16:colId xmlns:a16="http://schemas.microsoft.com/office/drawing/2014/main" val="20002"/>
                    </a:ext>
                  </a:extLst>
                </a:gridCol>
              </a:tblGrid>
              <a:tr h="370840">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稼働システム</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サービス形態</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用途</a:t>
                      </a:r>
                    </a:p>
                  </a:txBody>
                  <a:tcPr anchor="ctr">
                    <a:solidFill>
                      <a:srgbClr val="A0C8C8"/>
                    </a:solidFill>
                  </a:tcPr>
                </a:tc>
                <a:extLst>
                  <a:ext uri="{0D108BD9-81ED-4DB2-BD59-A6C34878D82A}">
                    <a16:rowId xmlns:a16="http://schemas.microsoft.com/office/drawing/2014/main" val="10000"/>
                  </a:ext>
                </a:extLst>
              </a:tr>
              <a:tr h="259230">
                <a:tc gridSpan="3">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Nksv560</a:t>
                      </a:r>
                    </a:p>
                  </a:txBody>
                  <a:tcPr anchor="ct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set_DLV</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Perl</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a:t>
                      </a:r>
                      <a:r>
                        <a:rPr kumimoji="1" lang="en-US" altLang="ja-JP" sz="1400">
                          <a:effectLst>
                            <a:outerShdw blurRad="38100" dist="38100" dir="2700000" algn="tl">
                              <a:srgbClr val="000000">
                                <a:alpha val="43137"/>
                              </a:srgbClr>
                            </a:outerShdw>
                          </a:effectLst>
                          <a:latin typeface="+mn-lt"/>
                          <a:ea typeface="Noto Sans CJK JP Bold" pitchFamily="34" charset="-128"/>
                        </a:rPr>
                        <a:t>crontab</a:t>
                      </a:r>
                      <a:r>
                        <a:rPr kumimoji="1" lang="ja-JP" altLang="en-US" sz="1400">
                          <a:effectLst>
                            <a:outerShdw blurRad="38100" dist="38100" dir="2700000" algn="tl">
                              <a:srgbClr val="000000">
                                <a:alpha val="43137"/>
                              </a:srgbClr>
                            </a:outerShdw>
                          </a:effectLst>
                          <a:latin typeface="+mn-lt"/>
                          <a:ea typeface="Noto Sans CJK JP Bold" pitchFamily="34" charset="-128"/>
                        </a:rPr>
                        <a:t>で定期起動）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毎</a:t>
                      </a:r>
                      <a:r>
                        <a:rPr kumimoji="1" lang="en-US" altLang="ja-JP" sz="1400" b="1">
                          <a:effectLst>
                            <a:outerShdw blurRad="38100" dist="38100" dir="2700000" algn="tl">
                              <a:srgbClr val="000000">
                                <a:alpha val="43137"/>
                              </a:srgbClr>
                            </a:outerShdw>
                          </a:effectLst>
                          <a:latin typeface="+mn-lt"/>
                          <a:ea typeface="Noto Sans CJK JP Bold" pitchFamily="34" charset="-128"/>
                        </a:rPr>
                        <a:t>04:00</a:t>
                      </a:r>
                      <a:r>
                        <a:rPr kumimoji="1" lang="ja-JP" altLang="en-US" sz="1400" b="1">
                          <a:effectLst>
                            <a:outerShdw blurRad="38100" dist="38100" dir="2700000" algn="tl">
                              <a:srgbClr val="000000">
                                <a:alpha val="43137"/>
                              </a:srgbClr>
                            </a:outerShdw>
                          </a:effectLst>
                          <a:latin typeface="+mn-lt"/>
                          <a:ea typeface="Noto Sans CJK JP Bold" pitchFamily="34" charset="-128"/>
                        </a:rPr>
                        <a:t>に</a:t>
                      </a:r>
                      <a:r>
                        <a:rPr kumimoji="1" lang="ja-JP" altLang="en-US" sz="1400">
                          <a:effectLst>
                            <a:outerShdw blurRad="38100" dist="38100" dir="2700000" algn="tl">
                              <a:srgbClr val="000000">
                                <a:alpha val="43137"/>
                              </a:srgbClr>
                            </a:outerShdw>
                          </a:effectLst>
                          <a:latin typeface="+mn-lt"/>
                          <a:ea typeface="Noto Sans CJK JP Bold" pitchFamily="34" charset="-128"/>
                        </a:rPr>
                        <a:t>更新される</a:t>
                      </a:r>
                      <a:r>
                        <a:rPr kumimoji="1" lang="en-US" altLang="ja-JP" sz="1400">
                          <a:effectLst>
                            <a:outerShdw blurRad="38100" dist="38100" dir="2700000" algn="tl">
                              <a:srgbClr val="000000">
                                <a:alpha val="43137"/>
                              </a:srgbClr>
                            </a:outerShdw>
                          </a:effectLst>
                          <a:latin typeface="+mn-lt"/>
                          <a:ea typeface="Noto Sans CJK JP Bold" pitchFamily="34" charset="-128"/>
                        </a:rPr>
                        <a:t>nksv560</a:t>
                      </a:r>
                      <a:r>
                        <a:rPr kumimoji="1" lang="ja-JP" altLang="en-US" sz="1400">
                          <a:effectLst>
                            <a:outerShdw blurRad="38100" dist="38100" dir="2700000" algn="tl">
                              <a:srgbClr val="000000">
                                <a:alpha val="43137"/>
                              </a:srgbClr>
                            </a:outerShdw>
                          </a:effectLst>
                          <a:latin typeface="+mn-lt"/>
                          <a:ea typeface="Noto Sans CJK JP Bold" pitchFamily="34" charset="-128"/>
                        </a:rPr>
                        <a:t>にある</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が持つ指図関連情報に</a:t>
                      </a:r>
                      <a:r>
                        <a:rPr kumimoji="1" lang="en-US" altLang="ja-JP" sz="1400">
                          <a:effectLst>
                            <a:outerShdw blurRad="38100" dist="38100" dir="2700000" algn="tl">
                              <a:srgbClr val="000000">
                                <a:alpha val="43137"/>
                              </a:srgbClr>
                            </a:outerShdw>
                          </a:effectLst>
                          <a:latin typeface="+mn-lt"/>
                          <a:ea typeface="Noto Sans CJK JP Bold" pitchFamily="34" charset="-128"/>
                        </a:rPr>
                        <a:t>DLV</a:t>
                      </a:r>
                      <a:r>
                        <a:rPr kumimoji="1" lang="ja-JP" altLang="en-US" sz="1400">
                          <a:effectLst>
                            <a:outerShdw blurRad="38100" dist="38100" dir="2700000" algn="tl">
                              <a:srgbClr val="000000">
                                <a:alpha val="43137"/>
                              </a:srgbClr>
                            </a:outerShdw>
                          </a:effectLst>
                          <a:latin typeface="+mn-lt"/>
                          <a:ea typeface="Noto Sans CJK JP Bold" pitchFamily="34" charset="-128"/>
                        </a:rPr>
                        <a:t>フラグを立てる。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2"/>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update_CMDIsts</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Perl</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a:t>
                      </a:r>
                      <a:r>
                        <a:rPr kumimoji="1" lang="en-US" altLang="ja-JP" sz="1400">
                          <a:effectLst>
                            <a:outerShdw blurRad="38100" dist="38100" dir="2700000" algn="tl">
                              <a:srgbClr val="000000">
                                <a:alpha val="43137"/>
                              </a:srgbClr>
                            </a:outerShdw>
                          </a:effectLst>
                          <a:latin typeface="+mn-lt"/>
                          <a:ea typeface="Noto Sans CJK JP Bold" pitchFamily="34" charset="-128"/>
                        </a:rPr>
                        <a:t>crontab</a:t>
                      </a:r>
                      <a:r>
                        <a:rPr kumimoji="1" lang="ja-JP" altLang="en-US" sz="1400">
                          <a:effectLst>
                            <a:outerShdw blurRad="38100" dist="38100" dir="2700000" algn="tl">
                              <a:srgbClr val="000000">
                                <a:alpha val="43137"/>
                              </a:srgbClr>
                            </a:outerShdw>
                          </a:effectLst>
                          <a:latin typeface="+mn-lt"/>
                          <a:ea typeface="Noto Sans CJK JP Bold" pitchFamily="34" charset="-128"/>
                        </a:rPr>
                        <a:t>で定期起動）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b="0">
                          <a:effectLst>
                            <a:outerShdw blurRad="38100" dist="38100" dir="2700000" algn="tl">
                              <a:srgbClr val="000000">
                                <a:alpha val="43137"/>
                              </a:srgbClr>
                            </a:outerShdw>
                          </a:effectLst>
                          <a:latin typeface="Noto Sans CJK JP Bold" pitchFamily="34" charset="-128"/>
                          <a:ea typeface="Noto Sans CJK JP Bold" pitchFamily="34" charset="-128"/>
                        </a:rPr>
                        <a:t>5</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分毎に</a:t>
                      </a:r>
                      <a:r>
                        <a:rPr kumimoji="1" lang="en-US" altLang="ja-JP" sz="1400" b="1">
                          <a:effectLst>
                            <a:outerShdw blurRad="38100" dist="38100" dir="2700000" algn="tl">
                              <a:srgbClr val="000000">
                                <a:alpha val="43137"/>
                              </a:srgbClr>
                            </a:outerShdw>
                          </a:effectLst>
                          <a:latin typeface="Noto Sans CJK JP Bold" pitchFamily="34" charset="-128"/>
                          <a:ea typeface="Noto Sans CJK JP Bold" pitchFamily="34" charset="-128"/>
                        </a:rPr>
                        <a:t>CMDI/CCDI</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実績収集システムの</a:t>
                      </a:r>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DB</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をアクセスし、</a:t>
                      </a:r>
                      <a:r>
                        <a:rPr kumimoji="1" lang="en-US" altLang="ja-JP" sz="1400">
                          <a:effectLst>
                            <a:outerShdw blurRad="38100" dist="38100" dir="2700000" algn="tl">
                              <a:srgbClr val="000000">
                                <a:alpha val="43137"/>
                              </a:srgbClr>
                            </a:outerShdw>
                          </a:effectLst>
                          <a:latin typeface="+mn-lt"/>
                          <a:ea typeface="Noto Sans CJK JP Bold" pitchFamily="34" charset="-128"/>
                        </a:rPr>
                        <a:t>nksv560</a:t>
                      </a:r>
                      <a:r>
                        <a:rPr kumimoji="1" lang="ja-JP" altLang="en-US" sz="1400">
                          <a:effectLst>
                            <a:outerShdw blurRad="38100" dist="38100" dir="2700000" algn="tl">
                              <a:srgbClr val="000000">
                                <a:alpha val="43137"/>
                              </a:srgbClr>
                            </a:outerShdw>
                          </a:effectLst>
                          <a:latin typeface="+mn-lt"/>
                          <a:ea typeface="Noto Sans CJK JP Bold" pitchFamily="34" charset="-128"/>
                        </a:rPr>
                        <a:t>にある</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に反映させる。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3"/>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Update_BOM</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Perl</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a:t>
                      </a:r>
                      <a:r>
                        <a:rPr kumimoji="1" lang="en-US" altLang="ja-JP" sz="1400">
                          <a:effectLst>
                            <a:outerShdw blurRad="38100" dist="38100" dir="2700000" algn="tl">
                              <a:srgbClr val="000000">
                                <a:alpha val="43137"/>
                              </a:srgbClr>
                            </a:outerShdw>
                          </a:effectLst>
                          <a:latin typeface="+mn-lt"/>
                          <a:ea typeface="Noto Sans CJK JP Bold" pitchFamily="34" charset="-128"/>
                        </a:rPr>
                        <a:t>crontab</a:t>
                      </a:r>
                      <a:r>
                        <a:rPr kumimoji="1" lang="ja-JP" altLang="en-US" sz="1400">
                          <a:effectLst>
                            <a:outerShdw blurRad="38100" dist="38100" dir="2700000" algn="tl">
                              <a:srgbClr val="000000">
                                <a:alpha val="43137"/>
                              </a:srgbClr>
                            </a:outerShdw>
                          </a:effectLst>
                          <a:latin typeface="+mn-lt"/>
                          <a:ea typeface="Noto Sans CJK JP Bold" pitchFamily="34" charset="-128"/>
                        </a:rPr>
                        <a:t>で定期起動）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BOSS</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が出力するバッチ処理後の指図</a:t>
                      </a:r>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BOM</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情報をアクセスし、</a:t>
                      </a:r>
                      <a:r>
                        <a:rPr kumimoji="1" lang="en-US" altLang="ja-JP" sz="1400">
                          <a:effectLst>
                            <a:outerShdw blurRad="38100" dist="38100" dir="2700000" algn="tl">
                              <a:srgbClr val="000000">
                                <a:alpha val="43137"/>
                              </a:srgbClr>
                            </a:outerShdw>
                          </a:effectLst>
                          <a:latin typeface="+mn-lt"/>
                          <a:ea typeface="Noto Sans CJK JP Bold" pitchFamily="34" charset="-128"/>
                        </a:rPr>
                        <a:t>nksv560</a:t>
                      </a:r>
                      <a:r>
                        <a:rPr kumimoji="1" lang="ja-JP" altLang="en-US" sz="1400">
                          <a:effectLst>
                            <a:outerShdw blurRad="38100" dist="38100" dir="2700000" algn="tl">
                              <a:srgbClr val="000000">
                                <a:alpha val="43137"/>
                              </a:srgbClr>
                            </a:outerShdw>
                          </a:effectLst>
                          <a:latin typeface="+mn-lt"/>
                          <a:ea typeface="Noto Sans CJK JP Bold" pitchFamily="34" charset="-128"/>
                        </a:rPr>
                        <a:t>にある</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に反映させる。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4"/>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5"/>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34854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その他稼働中</a:t>
            </a:r>
            <a:r>
              <a:rPr lang="ja-JP" altLang="en-US" sz="2400" b="1" dirty="0">
                <a:solidFill>
                  <a:schemeClr val="bg1"/>
                </a:solidFill>
                <a:latin typeface="+mj-ea"/>
                <a:ea typeface="+mj-ea"/>
              </a:rPr>
              <a:t>のシステム</a:t>
            </a:r>
          </a:p>
        </p:txBody>
      </p:sp>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graphicFrame>
        <p:nvGraphicFramePr>
          <p:cNvPr id="49" name="コンテンツ プレースホルダー 3"/>
          <p:cNvGraphicFramePr>
            <a:graphicFrameLocks noGrp="1"/>
          </p:cNvGraphicFramePr>
          <p:nvPr>
            <p:ph idx="1"/>
            <p:extLst>
              <p:ext uri="{D42A27DB-BD31-4B8C-83A1-F6EECF244321}">
                <p14:modId xmlns:p14="http://schemas.microsoft.com/office/powerpoint/2010/main" val="4205368460"/>
              </p:ext>
            </p:extLst>
          </p:nvPr>
        </p:nvGraphicFramePr>
        <p:xfrm>
          <a:off x="250825" y="728700"/>
          <a:ext cx="8642350" cy="4074160"/>
        </p:xfrm>
        <a:graphic>
          <a:graphicData uri="http://schemas.openxmlformats.org/drawingml/2006/table">
            <a:tbl>
              <a:tblPr firstRow="1" bandRow="1">
                <a:tableStyleId>{5C22544A-7EE6-4342-B048-85BDC9FD1C3A}</a:tableStyleId>
              </a:tblPr>
              <a:tblGrid>
                <a:gridCol w="2475970">
                  <a:extLst>
                    <a:ext uri="{9D8B030D-6E8A-4147-A177-3AD203B41FA5}">
                      <a16:colId xmlns:a16="http://schemas.microsoft.com/office/drawing/2014/main" val="20000"/>
                    </a:ext>
                  </a:extLst>
                </a:gridCol>
                <a:gridCol w="2025225">
                  <a:extLst>
                    <a:ext uri="{9D8B030D-6E8A-4147-A177-3AD203B41FA5}">
                      <a16:colId xmlns:a16="http://schemas.microsoft.com/office/drawing/2014/main" val="20001"/>
                    </a:ext>
                  </a:extLst>
                </a:gridCol>
                <a:gridCol w="4141155">
                  <a:extLst>
                    <a:ext uri="{9D8B030D-6E8A-4147-A177-3AD203B41FA5}">
                      <a16:colId xmlns:a16="http://schemas.microsoft.com/office/drawing/2014/main" val="20002"/>
                    </a:ext>
                  </a:extLst>
                </a:gridCol>
              </a:tblGrid>
              <a:tr h="370840">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稼働システム</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サービス形態</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用途</a:t>
                      </a:r>
                    </a:p>
                  </a:txBody>
                  <a:tcPr anchor="ctr">
                    <a:solidFill>
                      <a:srgbClr val="A0C8C8"/>
                    </a:solidFill>
                  </a:tcPr>
                </a:tc>
                <a:extLst>
                  <a:ext uri="{0D108BD9-81ED-4DB2-BD59-A6C34878D82A}">
                    <a16:rowId xmlns:a16="http://schemas.microsoft.com/office/drawing/2014/main" val="10000"/>
                  </a:ext>
                </a:extLst>
              </a:tr>
              <a:tr h="259230">
                <a:tc gridSpan="3">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nksv561</a:t>
                      </a:r>
                    </a:p>
                  </a:txBody>
                  <a:tcPr anchor="ct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CMDI-EMIS</a:t>
                      </a:r>
                      <a:r>
                        <a:rPr kumimoji="1" lang="ja-JP" altLang="en-US" sz="1400" baseline="0">
                          <a:effectLst>
                            <a:outerShdw blurRad="38100" dist="38100" dir="2700000" algn="tl">
                              <a:srgbClr val="000000">
                                <a:alpha val="43137"/>
                              </a:srgbClr>
                            </a:outerShdw>
                          </a:effectLst>
                          <a:latin typeface="+mn-lt"/>
                          <a:ea typeface="Noto Sans CJK JP Bold" pitchFamily="34" charset="-128"/>
                        </a:rPr>
                        <a:t> </a:t>
                      </a:r>
                      <a:r>
                        <a:rPr kumimoji="1" lang="en-US" altLang="ja-JP" sz="1400" baseline="0">
                          <a:effectLst>
                            <a:outerShdw blurRad="38100" dist="38100" dir="2700000" algn="tl">
                              <a:srgbClr val="000000">
                                <a:alpha val="43137"/>
                              </a:srgbClr>
                            </a:outerShdw>
                          </a:effectLst>
                          <a:latin typeface="+mn-lt"/>
                          <a:ea typeface="Noto Sans CJK JP Bold" pitchFamily="34" charset="-128"/>
                        </a:rPr>
                        <a:t>manager</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VB.Net</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（常時稼働）</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半製品検査の治具</a:t>
                      </a:r>
                      <a:r>
                        <a:rPr kumimoji="1" lang="en-US" altLang="ja-JP" sz="1400">
                          <a:effectLst>
                            <a:outerShdw blurRad="38100" dist="38100" dir="2700000" algn="tl">
                              <a:srgbClr val="000000">
                                <a:alpha val="43137"/>
                              </a:srgbClr>
                            </a:outerShdw>
                          </a:effectLst>
                          <a:latin typeface="+mn-lt"/>
                          <a:ea typeface="Noto Sans CJK JP Bold" pitchFamily="34" charset="-128"/>
                        </a:rPr>
                        <a:t>PC</a:t>
                      </a:r>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または、</a:t>
                      </a:r>
                      <a:r>
                        <a:rPr kumimoji="1" lang="en-US" altLang="ja-JP" sz="1400">
                          <a:effectLst>
                            <a:outerShdw blurRad="38100" dist="38100" dir="2700000" algn="tl">
                              <a:srgbClr val="000000">
                                <a:alpha val="43137"/>
                              </a:srgbClr>
                            </a:outerShdw>
                          </a:effectLst>
                          <a:latin typeface="+mn-lt"/>
                          <a:ea typeface="Noto Sans CJK JP Bold" pitchFamily="34" charset="-128"/>
                        </a:rPr>
                        <a:t>nksv561</a:t>
                      </a:r>
                      <a:r>
                        <a:rPr kumimoji="1" lang="ja-JP" altLang="en-US" sz="1400">
                          <a:effectLst>
                            <a:outerShdw blurRad="38100" dist="38100" dir="2700000" algn="tl">
                              <a:srgbClr val="000000">
                                <a:alpha val="43137"/>
                              </a:srgbClr>
                            </a:outerShdw>
                          </a:effectLst>
                          <a:latin typeface="+mn-lt"/>
                          <a:ea typeface="Noto Sans CJK JP Bold" pitchFamily="34" charset="-128"/>
                        </a:rPr>
                        <a:t>プリンタサーバ</a:t>
                      </a:r>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が</a:t>
                      </a:r>
                      <a:r>
                        <a:rPr kumimoji="1" lang="ja-JP" altLang="en-US" sz="1400">
                          <a:effectLst>
                            <a:outerShdw blurRad="38100" dist="38100" dir="2700000" algn="tl">
                              <a:srgbClr val="000000">
                                <a:alpha val="43137"/>
                              </a:srgbClr>
                            </a:outerShdw>
                          </a:effectLst>
                          <a:latin typeface="+mn-lt"/>
                          <a:ea typeface="Noto Sans CJK JP Bold" pitchFamily="34" charset="-128"/>
                        </a:rPr>
                        <a:t>出力した</a:t>
                      </a:r>
                      <a:r>
                        <a:rPr kumimoji="1" lang="en-US" altLang="ja-JP" sz="1400">
                          <a:effectLst>
                            <a:outerShdw blurRad="38100" dist="38100" dir="2700000" algn="tl">
                              <a:srgbClr val="000000">
                                <a:alpha val="43137"/>
                              </a:srgbClr>
                            </a:outerShdw>
                          </a:effectLst>
                          <a:latin typeface="+mn-lt"/>
                          <a:ea typeface="Noto Sans CJK JP Bold" pitchFamily="34" charset="-128"/>
                        </a:rPr>
                        <a:t>pdf</a:t>
                      </a:r>
                      <a:r>
                        <a:rPr kumimoji="1" lang="ja-JP" altLang="en-US" sz="1400">
                          <a:effectLst>
                            <a:outerShdw blurRad="38100" dist="38100" dir="2700000" algn="tl">
                              <a:srgbClr val="000000">
                                <a:alpha val="43137"/>
                              </a:srgbClr>
                            </a:outerShdw>
                          </a:effectLst>
                          <a:latin typeface="+mn-lt"/>
                          <a:ea typeface="Noto Sans CJK JP Bold" pitchFamily="34" charset="-128"/>
                        </a:rPr>
                        <a:t>ファイルを処理し、</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へ出力する。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3"/>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BOSS_SQL</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VB.Net</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（スケジューラ起動）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DWH</a:t>
                      </a:r>
                      <a:r>
                        <a:rPr kumimoji="1" lang="ja-JP" altLang="en-US" sz="1400">
                          <a:effectLst>
                            <a:outerShdw blurRad="38100" dist="38100" dir="2700000" algn="tl">
                              <a:srgbClr val="000000">
                                <a:alpha val="43137"/>
                              </a:srgbClr>
                            </a:outerShdw>
                          </a:effectLst>
                          <a:latin typeface="+mn-lt"/>
                          <a:ea typeface="Noto Sans CJK JP Bold" pitchFamily="34" charset="-128"/>
                        </a:rPr>
                        <a:t>にバッチ処理で出力される指図データを毎日深夜</a:t>
                      </a:r>
                      <a:r>
                        <a:rPr kumimoji="1" lang="en-US" altLang="ja-JP" sz="1400">
                          <a:effectLst>
                            <a:outerShdw blurRad="38100" dist="38100" dir="2700000" algn="tl">
                              <a:srgbClr val="000000">
                                <a:alpha val="43137"/>
                              </a:srgbClr>
                            </a:outerShdw>
                          </a:effectLst>
                          <a:latin typeface="+mn-lt"/>
                          <a:ea typeface="Noto Sans CJK JP Bold" pitchFamily="34" charset="-128"/>
                        </a:rPr>
                        <a:t>2:30</a:t>
                      </a:r>
                      <a:r>
                        <a:rPr kumimoji="1" lang="ja-JP" altLang="en-US" sz="1400">
                          <a:effectLst>
                            <a:outerShdw blurRad="38100" dist="38100" dir="2700000" algn="tl">
                              <a:srgbClr val="000000">
                                <a:alpha val="43137"/>
                              </a:srgbClr>
                            </a:outerShdw>
                          </a:effectLst>
                          <a:latin typeface="+mn-lt"/>
                          <a:ea typeface="Noto Sans CJK JP Bold" pitchFamily="34" charset="-128"/>
                        </a:rPr>
                        <a:t>に</a:t>
                      </a:r>
                      <a:r>
                        <a:rPr kumimoji="1" lang="en-US" altLang="ja-JP" sz="1400">
                          <a:effectLst>
                            <a:outerShdw blurRad="38100" dist="38100" dir="2700000" algn="tl">
                              <a:srgbClr val="000000">
                                <a:alpha val="43137"/>
                              </a:srgbClr>
                            </a:outerShdw>
                          </a:effectLst>
                          <a:latin typeface="+mn-lt"/>
                          <a:ea typeface="Noto Sans CJK JP Bold" pitchFamily="34" charset="-128"/>
                        </a:rPr>
                        <a:t>nksv560</a:t>
                      </a:r>
                      <a:r>
                        <a:rPr kumimoji="1" lang="ja-JP" altLang="en-US" sz="1400">
                          <a:effectLst>
                            <a:outerShdw blurRad="38100" dist="38100" dir="2700000" algn="tl">
                              <a:srgbClr val="000000">
                                <a:alpha val="43137"/>
                              </a:srgbClr>
                            </a:outerShdw>
                          </a:effectLst>
                          <a:latin typeface="+mn-lt"/>
                          <a:ea typeface="Noto Sans CJK JP Bold" pitchFamily="34" charset="-128"/>
                        </a:rPr>
                        <a:t> </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と同期する。</a:t>
                      </a:r>
                      <a:endParaRPr kumimoji="1" lang="en-US" altLang="ja-JP" sz="140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extLst>
                  <a:ext uri="{0D108BD9-81ED-4DB2-BD59-A6C34878D82A}">
                    <a16:rowId xmlns:a16="http://schemas.microsoft.com/office/drawing/2014/main" val="10004"/>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Application Monitor</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VB.Net</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（スケジューラ起動）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5</a:t>
                      </a:r>
                      <a:r>
                        <a:rPr kumimoji="1" lang="ja-JP" altLang="en-US" sz="1400">
                          <a:effectLst>
                            <a:outerShdw blurRad="38100" dist="38100" dir="2700000" algn="tl">
                              <a:srgbClr val="000000">
                                <a:alpha val="43137"/>
                              </a:srgbClr>
                            </a:outerShdw>
                          </a:effectLst>
                          <a:latin typeface="+mn-lt"/>
                          <a:ea typeface="Noto Sans CJK JP Bold" pitchFamily="34" charset="-128"/>
                        </a:rPr>
                        <a:t>分毎に</a:t>
                      </a:r>
                      <a:r>
                        <a:rPr kumimoji="1" lang="en-US" altLang="ja-JP" sz="1400">
                          <a:effectLst>
                            <a:outerShdw blurRad="38100" dist="38100" dir="2700000" algn="tl">
                              <a:srgbClr val="000000">
                                <a:alpha val="43137"/>
                              </a:srgbClr>
                            </a:outerShdw>
                          </a:effectLst>
                          <a:latin typeface="+mn-lt"/>
                          <a:ea typeface="Noto Sans CJK JP Bold" pitchFamily="34" charset="-128"/>
                        </a:rPr>
                        <a:t>CMDI_EMIS manager</a:t>
                      </a:r>
                      <a:r>
                        <a:rPr kumimoji="1" lang="ja-JP" altLang="en-US" sz="1400">
                          <a:effectLst>
                            <a:outerShdw blurRad="38100" dist="38100" dir="2700000" algn="tl">
                              <a:srgbClr val="000000">
                                <a:alpha val="43137"/>
                              </a:srgbClr>
                            </a:outerShdw>
                          </a:effectLst>
                          <a:latin typeface="+mn-lt"/>
                          <a:ea typeface="Noto Sans CJK JP Bold" pitchFamily="34" charset="-128"/>
                        </a:rPr>
                        <a:t>の稼働を監視し、稼動していない場合には再起動する。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5"/>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pdfCreator</a:t>
                      </a:r>
                      <a:r>
                        <a:rPr kumimoji="1" lang="ja-JP" altLang="en-US" sz="1400">
                          <a:effectLst>
                            <a:outerShdw blurRad="38100" dist="38100" dir="2700000" algn="tl">
                              <a:srgbClr val="000000">
                                <a:alpha val="43137"/>
                              </a:srgbClr>
                            </a:outerShdw>
                          </a:effectLst>
                          <a:latin typeface="+mn-lt"/>
                          <a:ea typeface="Noto Sans CJK JP Bold" pitchFamily="34" charset="-128"/>
                        </a:rPr>
                        <a:t> </a:t>
                      </a:r>
                      <a:r>
                        <a:rPr kumimoji="1" lang="en-US" altLang="ja-JP" sz="1400">
                          <a:effectLst>
                            <a:outerShdw blurRad="38100" dist="38100" dir="2700000" algn="tl">
                              <a:srgbClr val="000000">
                                <a:alpha val="43137"/>
                              </a:srgbClr>
                            </a:outerShdw>
                          </a:effectLst>
                          <a:latin typeface="+mn-lt"/>
                          <a:ea typeface="Noto Sans CJK JP Bold" pitchFamily="34" charset="-128"/>
                        </a:rPr>
                        <a:t>1.7.3</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仮想プリンタ</a:t>
                      </a:r>
                      <a:endParaRPr kumimoji="1" lang="en-US" altLang="ja-JP" sz="1400">
                        <a:effectLst>
                          <a:outerShdw blurRad="38100" dist="38100" dir="2700000" algn="tl">
                            <a:srgbClr val="000000">
                              <a:alpha val="43137"/>
                            </a:srgbClr>
                          </a:outerShdw>
                        </a:effectLst>
                        <a:latin typeface="+mn-lt"/>
                        <a:ea typeface="Noto Sans CJK JP Bold" pitchFamily="34" charset="-128"/>
                      </a:endParaRPr>
                    </a:p>
                    <a:p>
                      <a:r>
                        <a:rPr kumimoji="1" lang="ja-JP" altLang="en-US" sz="1400">
                          <a:effectLst>
                            <a:outerShdw blurRad="38100" dist="38100" dir="2700000" algn="tl">
                              <a:srgbClr val="000000">
                                <a:alpha val="43137"/>
                              </a:srgbClr>
                            </a:outerShdw>
                          </a:effectLst>
                          <a:latin typeface="+mn-lt"/>
                          <a:ea typeface="Noto Sans CJK JP Bold" pitchFamily="34" charset="-128"/>
                        </a:rPr>
                        <a:t>（常時稼働）</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半製品検査の治具</a:t>
                      </a:r>
                      <a:r>
                        <a:rPr kumimoji="1" lang="en-US" altLang="ja-JP" sz="1400">
                          <a:effectLst>
                            <a:outerShdw blurRad="38100" dist="38100" dir="2700000" algn="tl">
                              <a:srgbClr val="000000">
                                <a:alpha val="43137"/>
                              </a:srgbClr>
                            </a:outerShdw>
                          </a:effectLst>
                          <a:latin typeface="+mn-lt"/>
                          <a:ea typeface="Noto Sans CJK JP Bold" pitchFamily="34" charset="-128"/>
                        </a:rPr>
                        <a:t>PC</a:t>
                      </a:r>
                      <a:r>
                        <a:rPr kumimoji="1" lang="ja-JP" altLang="en-US" sz="1400">
                          <a:effectLst>
                            <a:outerShdw blurRad="38100" dist="38100" dir="2700000" algn="tl">
                              <a:srgbClr val="000000">
                                <a:alpha val="43137"/>
                              </a:srgbClr>
                            </a:outerShdw>
                          </a:effectLst>
                          <a:latin typeface="+mn-lt"/>
                          <a:ea typeface="Noto Sans CJK JP Bold" pitchFamily="34" charset="-128"/>
                        </a:rPr>
                        <a:t>が</a:t>
                      </a:r>
                      <a:r>
                        <a:rPr kumimoji="1" lang="en-US" altLang="ja-JP" sz="1400">
                          <a:effectLst>
                            <a:outerShdw blurRad="38100" dist="38100" dir="2700000" algn="tl">
                              <a:srgbClr val="000000">
                                <a:alpha val="43137"/>
                              </a:srgbClr>
                            </a:outerShdw>
                          </a:effectLst>
                          <a:latin typeface="+mn-lt"/>
                          <a:ea typeface="Noto Sans CJK JP Bold" pitchFamily="34" charset="-128"/>
                        </a:rPr>
                        <a:t>CMDI-EMIS</a:t>
                      </a:r>
                      <a:r>
                        <a:rPr kumimoji="1" lang="ja-JP" altLang="en-US" sz="1400">
                          <a:effectLst>
                            <a:outerShdw blurRad="38100" dist="38100" dir="2700000" algn="tl">
                              <a:srgbClr val="000000">
                                <a:alpha val="43137"/>
                              </a:srgbClr>
                            </a:outerShdw>
                          </a:effectLst>
                          <a:latin typeface="+mn-lt"/>
                          <a:ea typeface="Noto Sans CJK JP Bold" pitchFamily="34" charset="-128"/>
                        </a:rPr>
                        <a:t>システム用に印刷する仮想プリンタ。</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6"/>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7"/>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8"/>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824582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 name="グループ化 116">
            <a:extLst>
              <a:ext uri="{FF2B5EF4-FFF2-40B4-BE49-F238E27FC236}">
                <a16:creationId xmlns:a16="http://schemas.microsoft.com/office/drawing/2014/main" id="{FEB7F531-5DB6-4EE5-9606-861E783BF5DD}"/>
              </a:ext>
            </a:extLst>
          </p:cNvPr>
          <p:cNvGrpSpPr/>
          <p:nvPr/>
        </p:nvGrpSpPr>
        <p:grpSpPr>
          <a:xfrm>
            <a:off x="5832140" y="4131374"/>
            <a:ext cx="2789499" cy="457426"/>
            <a:chOff x="5832140" y="4236745"/>
            <a:chExt cx="2789499" cy="457426"/>
          </a:xfrm>
        </p:grpSpPr>
        <p:sp>
          <p:nvSpPr>
            <p:cNvPr id="53" name="正方形/長方形 52">
              <a:extLst>
                <a:ext uri="{FF2B5EF4-FFF2-40B4-BE49-F238E27FC236}">
                  <a16:creationId xmlns:a16="http://schemas.microsoft.com/office/drawing/2014/main" id="{974096EF-FBAA-42B2-B090-86C8FE159EDC}"/>
                </a:ext>
              </a:extLst>
            </p:cNvPr>
            <p:cNvSpPr/>
            <p:nvPr/>
          </p:nvSpPr>
          <p:spPr>
            <a:xfrm>
              <a:off x="5832140" y="4236745"/>
              <a:ext cx="2789499" cy="457426"/>
            </a:xfrm>
            <a:prstGeom prst="rect">
              <a:avLst/>
            </a:prstGeom>
            <a:solidFill>
              <a:schemeClr val="accent4">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EAED87F4-F33D-48A3-AE1A-F3767A76E34D}"/>
                </a:ext>
              </a:extLst>
            </p:cNvPr>
            <p:cNvSpPr/>
            <p:nvPr/>
          </p:nvSpPr>
          <p:spPr>
            <a:xfrm>
              <a:off x="6052059" y="4320774"/>
              <a:ext cx="289367" cy="289367"/>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8B0A7EAE-8869-42F7-AE39-E223EC921554}"/>
                </a:ext>
              </a:extLst>
            </p:cNvPr>
            <p:cNvSpPr/>
            <p:nvPr/>
          </p:nvSpPr>
          <p:spPr>
            <a:xfrm>
              <a:off x="6460645" y="4320774"/>
              <a:ext cx="289367" cy="2893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a:extLst>
                <a:ext uri="{FF2B5EF4-FFF2-40B4-BE49-F238E27FC236}">
                  <a16:creationId xmlns:a16="http://schemas.microsoft.com/office/drawing/2014/main" id="{6904A35C-82B1-4F9C-83AD-0CFA3B2C642C}"/>
                </a:ext>
              </a:extLst>
            </p:cNvPr>
            <p:cNvSpPr/>
            <p:nvPr/>
          </p:nvSpPr>
          <p:spPr>
            <a:xfrm>
              <a:off x="7277817" y="4320774"/>
              <a:ext cx="289367" cy="289367"/>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7862885A-5079-45F7-A89C-EFB064A7444A}"/>
                </a:ext>
              </a:extLst>
            </p:cNvPr>
            <p:cNvSpPr/>
            <p:nvPr/>
          </p:nvSpPr>
          <p:spPr>
            <a:xfrm>
              <a:off x="7686403" y="4320774"/>
              <a:ext cx="289367" cy="289367"/>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正方形/長方形 57">
              <a:extLst>
                <a:ext uri="{FF2B5EF4-FFF2-40B4-BE49-F238E27FC236}">
                  <a16:creationId xmlns:a16="http://schemas.microsoft.com/office/drawing/2014/main" id="{9FD4798A-BEA2-41FA-AEAF-65B6724E81BE}"/>
                </a:ext>
              </a:extLst>
            </p:cNvPr>
            <p:cNvSpPr/>
            <p:nvPr/>
          </p:nvSpPr>
          <p:spPr>
            <a:xfrm>
              <a:off x="8094989" y="4320774"/>
              <a:ext cx="289365" cy="28936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a:extLst>
                <a:ext uri="{FF2B5EF4-FFF2-40B4-BE49-F238E27FC236}">
                  <a16:creationId xmlns:a16="http://schemas.microsoft.com/office/drawing/2014/main" id="{BDEA2782-10D0-4E4D-BAF1-23595437DA6C}"/>
                </a:ext>
              </a:extLst>
            </p:cNvPr>
            <p:cNvSpPr/>
            <p:nvPr/>
          </p:nvSpPr>
          <p:spPr>
            <a:xfrm>
              <a:off x="6869231" y="4320774"/>
              <a:ext cx="289367" cy="289367"/>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直角三角形 93">
              <a:extLst>
                <a:ext uri="{FF2B5EF4-FFF2-40B4-BE49-F238E27FC236}">
                  <a16:creationId xmlns:a16="http://schemas.microsoft.com/office/drawing/2014/main" id="{5D7CEE22-42B1-4AFD-B71A-08531CE10CFE}"/>
                </a:ext>
              </a:extLst>
            </p:cNvPr>
            <p:cNvSpPr/>
            <p:nvPr/>
          </p:nvSpPr>
          <p:spPr>
            <a:xfrm flipH="1">
              <a:off x="8101732" y="4328216"/>
              <a:ext cx="282622" cy="281923"/>
            </a:xfrm>
            <a:prstGeom prst="rtTriangl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5" name="グループ化 114">
            <a:extLst>
              <a:ext uri="{FF2B5EF4-FFF2-40B4-BE49-F238E27FC236}">
                <a16:creationId xmlns:a16="http://schemas.microsoft.com/office/drawing/2014/main" id="{07404BD3-855B-4BFB-A5C4-E149F4CCF1C4}"/>
              </a:ext>
            </a:extLst>
          </p:cNvPr>
          <p:cNvGrpSpPr/>
          <p:nvPr/>
        </p:nvGrpSpPr>
        <p:grpSpPr>
          <a:xfrm>
            <a:off x="514684" y="4131374"/>
            <a:ext cx="2789499" cy="457426"/>
            <a:chOff x="514684" y="4227096"/>
            <a:chExt cx="2789499" cy="457426"/>
          </a:xfrm>
        </p:grpSpPr>
        <p:sp>
          <p:nvSpPr>
            <p:cNvPr id="22" name="正方形/長方形 21">
              <a:extLst>
                <a:ext uri="{FF2B5EF4-FFF2-40B4-BE49-F238E27FC236}">
                  <a16:creationId xmlns:a16="http://schemas.microsoft.com/office/drawing/2014/main" id="{7024B970-E1F6-46C1-8DE3-F30273698506}"/>
                </a:ext>
              </a:extLst>
            </p:cNvPr>
            <p:cNvSpPr/>
            <p:nvPr/>
          </p:nvSpPr>
          <p:spPr>
            <a:xfrm>
              <a:off x="514684" y="4227096"/>
              <a:ext cx="2789499" cy="457426"/>
            </a:xfrm>
            <a:prstGeom prst="rect">
              <a:avLst/>
            </a:prstGeom>
            <a:solidFill>
              <a:schemeClr val="accent4">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8F79D0B8-485C-48A5-8C00-51814EA1E702}"/>
                </a:ext>
              </a:extLst>
            </p:cNvPr>
            <p:cNvSpPr/>
            <p:nvPr/>
          </p:nvSpPr>
          <p:spPr>
            <a:xfrm>
              <a:off x="734603" y="4329100"/>
              <a:ext cx="289367" cy="289367"/>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2F8283AC-08B3-4C41-BF27-8C36CE2B8016}"/>
                </a:ext>
              </a:extLst>
            </p:cNvPr>
            <p:cNvSpPr/>
            <p:nvPr/>
          </p:nvSpPr>
          <p:spPr>
            <a:xfrm>
              <a:off x="1143189" y="4329100"/>
              <a:ext cx="289367" cy="2893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C51CBC1F-CF97-44FB-93B7-17E8F03AAB09}"/>
                </a:ext>
              </a:extLst>
            </p:cNvPr>
            <p:cNvSpPr/>
            <p:nvPr/>
          </p:nvSpPr>
          <p:spPr>
            <a:xfrm>
              <a:off x="1960361" y="4329100"/>
              <a:ext cx="289367" cy="289367"/>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A9465AF1-2E91-49FA-9A56-43A493DC19E9}"/>
                </a:ext>
              </a:extLst>
            </p:cNvPr>
            <p:cNvSpPr/>
            <p:nvPr/>
          </p:nvSpPr>
          <p:spPr>
            <a:xfrm>
              <a:off x="2368947" y="4329100"/>
              <a:ext cx="289367" cy="289367"/>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F3292132-0509-4E89-884E-30943E630C7C}"/>
                </a:ext>
              </a:extLst>
            </p:cNvPr>
            <p:cNvSpPr/>
            <p:nvPr/>
          </p:nvSpPr>
          <p:spPr>
            <a:xfrm>
              <a:off x="2806719" y="4329100"/>
              <a:ext cx="286374" cy="28936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8B331EB7-1F9C-4F17-81A7-7AA838B4D8FD}"/>
                </a:ext>
              </a:extLst>
            </p:cNvPr>
            <p:cNvSpPr/>
            <p:nvPr/>
          </p:nvSpPr>
          <p:spPr>
            <a:xfrm>
              <a:off x="1551775" y="4329100"/>
              <a:ext cx="289367" cy="289367"/>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直角三角形 92">
              <a:extLst>
                <a:ext uri="{FF2B5EF4-FFF2-40B4-BE49-F238E27FC236}">
                  <a16:creationId xmlns:a16="http://schemas.microsoft.com/office/drawing/2014/main" id="{7D8E1966-F1F2-4AF9-8472-74CEF9C7F32C}"/>
                </a:ext>
              </a:extLst>
            </p:cNvPr>
            <p:cNvSpPr/>
            <p:nvPr/>
          </p:nvSpPr>
          <p:spPr>
            <a:xfrm flipH="1">
              <a:off x="2809498" y="4336542"/>
              <a:ext cx="279871" cy="281922"/>
            </a:xfrm>
            <a:prstGeom prst="rtTriangl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 name="グループ化 3">
            <a:extLst>
              <a:ext uri="{FF2B5EF4-FFF2-40B4-BE49-F238E27FC236}">
                <a16:creationId xmlns:a16="http://schemas.microsoft.com/office/drawing/2014/main" id="{575E766C-CBB8-40D9-9A07-F4051C1F71D7}"/>
              </a:ext>
            </a:extLst>
          </p:cNvPr>
          <p:cNvGrpSpPr/>
          <p:nvPr/>
        </p:nvGrpSpPr>
        <p:grpSpPr>
          <a:xfrm>
            <a:off x="6423150" y="514218"/>
            <a:ext cx="1366612" cy="1028632"/>
            <a:chOff x="7931814" y="77121"/>
            <a:chExt cx="1578298" cy="1028632"/>
          </a:xfrm>
        </p:grpSpPr>
        <p:sp>
          <p:nvSpPr>
            <p:cNvPr id="5" name="フローチャート: 磁気ディスク 4">
              <a:extLst>
                <a:ext uri="{FF2B5EF4-FFF2-40B4-BE49-F238E27FC236}">
                  <a16:creationId xmlns:a16="http://schemas.microsoft.com/office/drawing/2014/main" id="{87478593-7452-4459-8253-DEB963B6BA1F}"/>
                </a:ext>
              </a:extLst>
            </p:cNvPr>
            <p:cNvSpPr/>
            <p:nvPr/>
          </p:nvSpPr>
          <p:spPr>
            <a:xfrm>
              <a:off x="8423725" y="319341"/>
              <a:ext cx="1086387"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endParaRPr>
            </a:p>
          </p:txBody>
        </p:sp>
        <p:sp>
          <p:nvSpPr>
            <p:cNvPr id="6" name="フローチャート: 磁気ディスク 5">
              <a:extLst>
                <a:ext uri="{FF2B5EF4-FFF2-40B4-BE49-F238E27FC236}">
                  <a16:creationId xmlns:a16="http://schemas.microsoft.com/office/drawing/2014/main" id="{11741F7B-19C2-4245-BDD6-1ADA776F0234}"/>
                </a:ext>
              </a:extLst>
            </p:cNvPr>
            <p:cNvSpPr/>
            <p:nvPr/>
          </p:nvSpPr>
          <p:spPr>
            <a:xfrm>
              <a:off x="8299502" y="233763"/>
              <a:ext cx="1086387"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endParaRPr>
            </a:p>
          </p:txBody>
        </p:sp>
        <p:sp>
          <p:nvSpPr>
            <p:cNvPr id="7" name="フローチャート: 磁気ディスク 6">
              <a:extLst>
                <a:ext uri="{FF2B5EF4-FFF2-40B4-BE49-F238E27FC236}">
                  <a16:creationId xmlns:a16="http://schemas.microsoft.com/office/drawing/2014/main" id="{164BD663-43CE-40DF-9D63-EE41991C66BE}"/>
                </a:ext>
              </a:extLst>
            </p:cNvPr>
            <p:cNvSpPr/>
            <p:nvPr/>
          </p:nvSpPr>
          <p:spPr>
            <a:xfrm>
              <a:off x="8111331" y="162699"/>
              <a:ext cx="1086387"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endParaRPr>
            </a:p>
          </p:txBody>
        </p:sp>
        <p:sp>
          <p:nvSpPr>
            <p:cNvPr id="8" name="フローチャート: 磁気ディスク 7">
              <a:extLst>
                <a:ext uri="{FF2B5EF4-FFF2-40B4-BE49-F238E27FC236}">
                  <a16:creationId xmlns:a16="http://schemas.microsoft.com/office/drawing/2014/main" id="{93AD81F5-D939-4165-85AB-0C6512888BC1}"/>
                </a:ext>
              </a:extLst>
            </p:cNvPr>
            <p:cNvSpPr/>
            <p:nvPr/>
          </p:nvSpPr>
          <p:spPr>
            <a:xfrm>
              <a:off x="7931814" y="77121"/>
              <a:ext cx="1086387"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富岡</a:t>
              </a:r>
              <a:endParaRPr kumimoji="1" lang="en-US" altLang="ja-JP" sz="1400" dirty="0">
                <a:solidFill>
                  <a:schemeClr val="tx1"/>
                </a:solidFill>
              </a:endParaRPr>
            </a:p>
            <a:p>
              <a:pPr algn="ctr"/>
              <a:r>
                <a:rPr lang="en-US" altLang="ja-JP" sz="1400" dirty="0">
                  <a:solidFill>
                    <a:schemeClr val="tx1"/>
                  </a:solidFill>
                </a:rPr>
                <a:t>se</a:t>
              </a:r>
              <a:r>
                <a:rPr kumimoji="1" lang="en-US" altLang="ja-JP" sz="1400" dirty="0">
                  <a:solidFill>
                    <a:schemeClr val="tx1"/>
                  </a:solidFill>
                </a:rPr>
                <a:t>rvers</a:t>
              </a:r>
              <a:endParaRPr kumimoji="1" lang="ja-JP" altLang="en-US" sz="1400" dirty="0">
                <a:solidFill>
                  <a:schemeClr val="tx1"/>
                </a:solidFill>
              </a:endParaRPr>
            </a:p>
          </p:txBody>
        </p:sp>
      </p:grpSp>
      <p:cxnSp>
        <p:nvCxnSpPr>
          <p:cNvPr id="9" name="直線矢印コネクタ 8">
            <a:extLst>
              <a:ext uri="{FF2B5EF4-FFF2-40B4-BE49-F238E27FC236}">
                <a16:creationId xmlns:a16="http://schemas.microsoft.com/office/drawing/2014/main" id="{43240D24-99B4-4286-A8FF-F21B4A8E4BBA}"/>
              </a:ext>
            </a:extLst>
          </p:cNvPr>
          <p:cNvCxnSpPr>
            <a:cxnSpLocks/>
          </p:cNvCxnSpPr>
          <p:nvPr/>
        </p:nvCxnSpPr>
        <p:spPr>
          <a:xfrm flipV="1">
            <a:off x="7298731" y="1457272"/>
            <a:ext cx="0" cy="184959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10" name="直線矢印コネクタ 9">
            <a:extLst>
              <a:ext uri="{FF2B5EF4-FFF2-40B4-BE49-F238E27FC236}">
                <a16:creationId xmlns:a16="http://schemas.microsoft.com/office/drawing/2014/main" id="{D899EA4E-899D-4CB1-A931-68CE62905496}"/>
              </a:ext>
            </a:extLst>
          </p:cNvPr>
          <p:cNvCxnSpPr>
            <a:cxnSpLocks/>
          </p:cNvCxnSpPr>
          <p:nvPr/>
        </p:nvCxnSpPr>
        <p:spPr>
          <a:xfrm flipV="1">
            <a:off x="7167302" y="1457272"/>
            <a:ext cx="0" cy="1503198"/>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11" name="直線矢印コネクタ 10">
            <a:extLst>
              <a:ext uri="{FF2B5EF4-FFF2-40B4-BE49-F238E27FC236}">
                <a16:creationId xmlns:a16="http://schemas.microsoft.com/office/drawing/2014/main" id="{F4FD2144-4EDB-40A3-BDAD-018DB6F382A4}"/>
              </a:ext>
            </a:extLst>
          </p:cNvPr>
          <p:cNvCxnSpPr>
            <a:cxnSpLocks/>
          </p:cNvCxnSpPr>
          <p:nvPr/>
        </p:nvCxnSpPr>
        <p:spPr>
          <a:xfrm flipV="1">
            <a:off x="5337085" y="1399193"/>
            <a:ext cx="0" cy="225406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12" name="直線矢印コネクタ 11">
            <a:extLst>
              <a:ext uri="{FF2B5EF4-FFF2-40B4-BE49-F238E27FC236}">
                <a16:creationId xmlns:a16="http://schemas.microsoft.com/office/drawing/2014/main" id="{E1D3463B-4283-4616-8208-411CAAB8EC72}"/>
              </a:ext>
            </a:extLst>
          </p:cNvPr>
          <p:cNvCxnSpPr>
            <a:cxnSpLocks/>
          </p:cNvCxnSpPr>
          <p:nvPr/>
        </p:nvCxnSpPr>
        <p:spPr>
          <a:xfrm flipV="1">
            <a:off x="3632142" y="1375686"/>
            <a:ext cx="0" cy="2277568"/>
          </a:xfrm>
          <a:prstGeom prst="straightConnector1">
            <a:avLst/>
          </a:prstGeom>
          <a:ln w="19050">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3" name="直線矢印コネクタ 12">
            <a:extLst>
              <a:ext uri="{FF2B5EF4-FFF2-40B4-BE49-F238E27FC236}">
                <a16:creationId xmlns:a16="http://schemas.microsoft.com/office/drawing/2014/main" id="{1C764FDF-35C4-4F9D-809C-F8E35204CFCE}"/>
              </a:ext>
            </a:extLst>
          </p:cNvPr>
          <p:cNvCxnSpPr>
            <a:cxnSpLocks/>
          </p:cNvCxnSpPr>
          <p:nvPr/>
        </p:nvCxnSpPr>
        <p:spPr>
          <a:xfrm flipV="1">
            <a:off x="2368947" y="1399196"/>
            <a:ext cx="0" cy="15612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14" name="矢印: 左右 13">
            <a:extLst>
              <a:ext uri="{FF2B5EF4-FFF2-40B4-BE49-F238E27FC236}">
                <a16:creationId xmlns:a16="http://schemas.microsoft.com/office/drawing/2014/main" id="{791AD185-3EF6-4CFE-B42C-F46286E64B05}"/>
              </a:ext>
            </a:extLst>
          </p:cNvPr>
          <p:cNvSpPr/>
          <p:nvPr/>
        </p:nvSpPr>
        <p:spPr>
          <a:xfrm>
            <a:off x="404696" y="3653254"/>
            <a:ext cx="8506707" cy="204006"/>
          </a:xfrm>
          <a:prstGeom prst="leftRightArrow">
            <a:avLst>
              <a:gd name="adj1" fmla="val 100000"/>
              <a:gd name="adj2" fmla="val 50000"/>
            </a:avLst>
          </a:prstGeom>
          <a:solidFill>
            <a:srgbClr val="FFFF00"/>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Calibri" panose="020F0502020204030204" pitchFamily="34" charset="0"/>
                <a:cs typeface="Calibri" panose="020F0502020204030204" pitchFamily="34" charset="0"/>
              </a:rPr>
              <a:t>segment#</a:t>
            </a:r>
            <a:r>
              <a:rPr kumimoji="1" lang="ja-JP" altLang="en-US" sz="1200" dirty="0">
                <a:solidFill>
                  <a:schemeClr val="tx1"/>
                </a:solidFill>
                <a:latin typeface="Calibri" panose="020F0502020204030204" pitchFamily="34" charset="0"/>
                <a:cs typeface="Calibri" panose="020F0502020204030204" pitchFamily="34" charset="0"/>
              </a:rPr>
              <a:t>おんどとり</a:t>
            </a:r>
            <a:r>
              <a:rPr kumimoji="1" lang="en-US" altLang="ja-JP" sz="1400">
                <a:solidFill>
                  <a:schemeClr val="tx1"/>
                </a:solidFill>
                <a:latin typeface="Calibri" panose="020F0502020204030204" pitchFamily="34" charset="0"/>
                <a:cs typeface="Calibri" panose="020F0502020204030204" pitchFamily="34" charset="0"/>
              </a:rPr>
              <a:t>(172.25.214.0)/NKnet(172.25.232~233.0)</a:t>
            </a:r>
            <a:endParaRPr kumimoji="1" lang="ja-JP" altLang="en-US" sz="1400" dirty="0">
              <a:solidFill>
                <a:schemeClr val="tx1"/>
              </a:solidFill>
              <a:latin typeface="Calibri" panose="020F0502020204030204" pitchFamily="34" charset="0"/>
              <a:cs typeface="Calibri" panose="020F0502020204030204" pitchFamily="34" charset="0"/>
            </a:endParaRPr>
          </a:p>
        </p:txBody>
      </p:sp>
      <p:cxnSp>
        <p:nvCxnSpPr>
          <p:cNvPr id="16" name="直線矢印コネクタ 15">
            <a:extLst>
              <a:ext uri="{FF2B5EF4-FFF2-40B4-BE49-F238E27FC236}">
                <a16:creationId xmlns:a16="http://schemas.microsoft.com/office/drawing/2014/main" id="{63B2D1A0-6436-434B-A9DA-0D4FE0C9BA93}"/>
              </a:ext>
            </a:extLst>
          </p:cNvPr>
          <p:cNvCxnSpPr>
            <a:cxnSpLocks/>
          </p:cNvCxnSpPr>
          <p:nvPr/>
        </p:nvCxnSpPr>
        <p:spPr>
          <a:xfrm flipV="1">
            <a:off x="3304183" y="1375690"/>
            <a:ext cx="0" cy="1238387"/>
          </a:xfrm>
          <a:prstGeom prst="straightConnector1">
            <a:avLst/>
          </a:prstGeom>
          <a:ln w="19050">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7" name="直線矢印コネクタ 16">
            <a:extLst>
              <a:ext uri="{FF2B5EF4-FFF2-40B4-BE49-F238E27FC236}">
                <a16:creationId xmlns:a16="http://schemas.microsoft.com/office/drawing/2014/main" id="{37E62DFC-80C6-4E7C-B5CC-0276F219F8AE}"/>
              </a:ext>
            </a:extLst>
          </p:cNvPr>
          <p:cNvCxnSpPr>
            <a:cxnSpLocks/>
          </p:cNvCxnSpPr>
          <p:nvPr/>
        </p:nvCxnSpPr>
        <p:spPr>
          <a:xfrm flipV="1">
            <a:off x="3411266" y="1375688"/>
            <a:ext cx="0" cy="1584782"/>
          </a:xfrm>
          <a:prstGeom prst="straightConnector1">
            <a:avLst/>
          </a:prstGeom>
          <a:ln w="19050">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8" name="直線矢印コネクタ 17">
            <a:extLst>
              <a:ext uri="{FF2B5EF4-FFF2-40B4-BE49-F238E27FC236}">
                <a16:creationId xmlns:a16="http://schemas.microsoft.com/office/drawing/2014/main" id="{9BEF2864-24CD-4EBB-B78F-6AD9C57F4A45}"/>
              </a:ext>
            </a:extLst>
          </p:cNvPr>
          <p:cNvCxnSpPr>
            <a:cxnSpLocks/>
          </p:cNvCxnSpPr>
          <p:nvPr/>
        </p:nvCxnSpPr>
        <p:spPr>
          <a:xfrm flipV="1">
            <a:off x="3536885" y="1375686"/>
            <a:ext cx="0" cy="1931176"/>
          </a:xfrm>
          <a:prstGeom prst="straightConnector1">
            <a:avLst/>
          </a:prstGeom>
          <a:ln w="19050">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9" name="直線矢印コネクタ 18">
            <a:extLst>
              <a:ext uri="{FF2B5EF4-FFF2-40B4-BE49-F238E27FC236}">
                <a16:creationId xmlns:a16="http://schemas.microsoft.com/office/drawing/2014/main" id="{DE974A07-57E7-4148-BEC0-CB8513D3C72F}"/>
              </a:ext>
            </a:extLst>
          </p:cNvPr>
          <p:cNvCxnSpPr>
            <a:cxnSpLocks/>
          </p:cNvCxnSpPr>
          <p:nvPr/>
        </p:nvCxnSpPr>
        <p:spPr>
          <a:xfrm flipV="1">
            <a:off x="1432556" y="1399193"/>
            <a:ext cx="0" cy="122786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0" name="直線矢印コネクタ 19">
            <a:extLst>
              <a:ext uri="{FF2B5EF4-FFF2-40B4-BE49-F238E27FC236}">
                <a16:creationId xmlns:a16="http://schemas.microsoft.com/office/drawing/2014/main" id="{46D70610-6938-4EA8-87F4-3BA107D499AF}"/>
              </a:ext>
            </a:extLst>
          </p:cNvPr>
          <p:cNvCxnSpPr>
            <a:cxnSpLocks/>
          </p:cNvCxnSpPr>
          <p:nvPr/>
        </p:nvCxnSpPr>
        <p:spPr>
          <a:xfrm flipV="1">
            <a:off x="2517451" y="1399196"/>
            <a:ext cx="0" cy="190766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29" name="矢印: 左右 28">
            <a:extLst>
              <a:ext uri="{FF2B5EF4-FFF2-40B4-BE49-F238E27FC236}">
                <a16:creationId xmlns:a16="http://schemas.microsoft.com/office/drawing/2014/main" id="{029A5372-5CE0-4F94-BA1D-D6EA6730D817}"/>
              </a:ext>
            </a:extLst>
          </p:cNvPr>
          <p:cNvSpPr/>
          <p:nvPr/>
        </p:nvSpPr>
        <p:spPr>
          <a:xfrm>
            <a:off x="407803" y="2090929"/>
            <a:ext cx="8506707" cy="303835"/>
          </a:xfrm>
          <a:prstGeom prst="leftRightArrow">
            <a:avLst>
              <a:gd name="adj1" fmla="val 100000"/>
              <a:gd name="adj2" fmla="val 50000"/>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a:solidFill>
                  <a:schemeClr val="tx1"/>
                </a:solidFill>
                <a:latin typeface="Calibri" panose="020F0502020204030204" pitchFamily="34" charset="0"/>
                <a:cs typeface="Calibri" panose="020F0502020204030204" pitchFamily="34" charset="0"/>
              </a:rPr>
              <a:t>NKnet/</a:t>
            </a:r>
            <a:r>
              <a:rPr kumimoji="1" lang="en-US" altLang="ja-JP">
                <a:solidFill>
                  <a:schemeClr val="tx1"/>
                </a:solidFill>
                <a:latin typeface="Calibri" panose="020F0502020204030204" pitchFamily="34" charset="0"/>
                <a:cs typeface="Calibri" panose="020F0502020204030204" pitchFamily="34" charset="0"/>
              </a:rPr>
              <a:t>WLAN(172.25.200.0)</a:t>
            </a:r>
            <a:endParaRPr kumimoji="1" lang="ja-JP" altLang="en-US">
              <a:solidFill>
                <a:schemeClr val="tx1"/>
              </a:solidFill>
              <a:latin typeface="Calibri" panose="020F0502020204030204" pitchFamily="34" charset="0"/>
              <a:cs typeface="Calibri" panose="020F0502020204030204" pitchFamily="34" charset="0"/>
            </a:endParaRPr>
          </a:p>
        </p:txBody>
      </p:sp>
      <p:sp>
        <p:nvSpPr>
          <p:cNvPr id="30" name="矢印: 左右 29">
            <a:extLst>
              <a:ext uri="{FF2B5EF4-FFF2-40B4-BE49-F238E27FC236}">
                <a16:creationId xmlns:a16="http://schemas.microsoft.com/office/drawing/2014/main" id="{6FF019FC-1CFF-4923-938D-BCC4887EF46F}"/>
              </a:ext>
            </a:extLst>
          </p:cNvPr>
          <p:cNvSpPr/>
          <p:nvPr/>
        </p:nvSpPr>
        <p:spPr>
          <a:xfrm>
            <a:off x="407803" y="2614078"/>
            <a:ext cx="8506707" cy="204006"/>
          </a:xfrm>
          <a:prstGeom prst="leftRightArrow">
            <a:avLst>
              <a:gd name="adj1" fmla="val 100000"/>
              <a:gd name="adj2" fmla="val 50000"/>
            </a:avLst>
          </a:prstGeom>
          <a:solidFill>
            <a:schemeClr val="accent6">
              <a:lumMod val="40000"/>
              <a:lumOff val="60000"/>
            </a:schemeClr>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err="1">
                <a:solidFill>
                  <a:schemeClr val="tx1"/>
                </a:solidFill>
                <a:latin typeface="Calibri" panose="020F0502020204030204" pitchFamily="34" charset="0"/>
                <a:cs typeface="Calibri" panose="020F0502020204030204" pitchFamily="34" charset="0"/>
              </a:rPr>
              <a:t>segment</a:t>
            </a:r>
            <a:r>
              <a:rPr kumimoji="1" lang="en-US" altLang="ja-JP" sz="1400">
                <a:solidFill>
                  <a:schemeClr val="tx1"/>
                </a:solidFill>
                <a:latin typeface="Calibri" panose="020F0502020204030204" pitchFamily="34" charset="0"/>
                <a:cs typeface="Calibri" panose="020F0502020204030204" pitchFamily="34" charset="0"/>
              </a:rPr>
              <a:t>#PHS(172.20.44~45.0)/CMDI(172.25.246~247.0)</a:t>
            </a:r>
            <a:endParaRPr kumimoji="1" lang="ja-JP" altLang="en-US" sz="1400" dirty="0">
              <a:solidFill>
                <a:schemeClr val="tx1"/>
              </a:solidFill>
              <a:latin typeface="Calibri" panose="020F0502020204030204" pitchFamily="34" charset="0"/>
              <a:cs typeface="Calibri" panose="020F0502020204030204" pitchFamily="34" charset="0"/>
            </a:endParaRPr>
          </a:p>
        </p:txBody>
      </p:sp>
      <p:sp>
        <p:nvSpPr>
          <p:cNvPr id="31" name="矢印: 左右 30">
            <a:extLst>
              <a:ext uri="{FF2B5EF4-FFF2-40B4-BE49-F238E27FC236}">
                <a16:creationId xmlns:a16="http://schemas.microsoft.com/office/drawing/2014/main" id="{2686095A-BEC2-477F-A7E8-5DD21F9688DA}"/>
              </a:ext>
            </a:extLst>
          </p:cNvPr>
          <p:cNvSpPr/>
          <p:nvPr/>
        </p:nvSpPr>
        <p:spPr>
          <a:xfrm>
            <a:off x="407803" y="2960470"/>
            <a:ext cx="8506707" cy="204006"/>
          </a:xfrm>
          <a:prstGeom prst="leftRightArrow">
            <a:avLst>
              <a:gd name="adj1" fmla="val 100000"/>
              <a:gd name="adj2" fmla="val 50000"/>
            </a:avLst>
          </a:prstGeom>
          <a:solidFill>
            <a:schemeClr val="accent1">
              <a:lumMod val="60000"/>
              <a:lumOff val="40000"/>
            </a:schemeClr>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err="1">
                <a:solidFill>
                  <a:schemeClr val="tx1"/>
                </a:solidFill>
                <a:latin typeface="Calibri" panose="020F0502020204030204" pitchFamily="34" charset="0"/>
                <a:cs typeface="Calibri" panose="020F0502020204030204" pitchFamily="34" charset="0"/>
              </a:rPr>
              <a:t>segment#IE</a:t>
            </a:r>
            <a:r>
              <a:rPr kumimoji="1" lang="en-US" altLang="ja-JP" sz="1400">
                <a:solidFill>
                  <a:schemeClr val="tx1"/>
                </a:solidFill>
                <a:latin typeface="Calibri" panose="020F0502020204030204" pitchFamily="34" charset="0"/>
                <a:cs typeface="Calibri" panose="020F0502020204030204" pitchFamily="34" charset="0"/>
              </a:rPr>
              <a:t>(172.25.248~249.0)</a:t>
            </a:r>
            <a:endParaRPr kumimoji="1" lang="ja-JP" altLang="en-US" sz="1400" dirty="0">
              <a:solidFill>
                <a:schemeClr val="tx1"/>
              </a:solidFill>
              <a:latin typeface="Calibri" panose="020F0502020204030204" pitchFamily="34" charset="0"/>
              <a:cs typeface="Calibri" panose="020F0502020204030204" pitchFamily="34" charset="0"/>
            </a:endParaRPr>
          </a:p>
        </p:txBody>
      </p:sp>
      <p:sp>
        <p:nvSpPr>
          <p:cNvPr id="32" name="矢印: 左右 31">
            <a:extLst>
              <a:ext uri="{FF2B5EF4-FFF2-40B4-BE49-F238E27FC236}">
                <a16:creationId xmlns:a16="http://schemas.microsoft.com/office/drawing/2014/main" id="{8B8BA3F4-468E-4739-ADB6-9AD4F9B21080}"/>
              </a:ext>
            </a:extLst>
          </p:cNvPr>
          <p:cNvSpPr/>
          <p:nvPr/>
        </p:nvSpPr>
        <p:spPr>
          <a:xfrm>
            <a:off x="407803" y="3306862"/>
            <a:ext cx="8506707" cy="204006"/>
          </a:xfrm>
          <a:prstGeom prst="leftRightArrow">
            <a:avLst>
              <a:gd name="adj1" fmla="val 100000"/>
              <a:gd name="adj2" fmla="val 50000"/>
            </a:avLst>
          </a:prstGeom>
          <a:solidFill>
            <a:schemeClr val="accent2">
              <a:lumMod val="40000"/>
              <a:lumOff val="60000"/>
            </a:schemeClr>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err="1">
                <a:solidFill>
                  <a:schemeClr val="tx1"/>
                </a:solidFill>
                <a:latin typeface="Calibri" panose="020F0502020204030204" pitchFamily="34" charset="0"/>
                <a:cs typeface="Calibri" panose="020F0502020204030204" pitchFamily="34" charset="0"/>
              </a:rPr>
              <a:t>s</a:t>
            </a:r>
            <a:r>
              <a:rPr kumimoji="1" lang="en-US" altLang="ja-JP" sz="1400" dirty="0" err="1">
                <a:solidFill>
                  <a:schemeClr val="tx1"/>
                </a:solidFill>
                <a:latin typeface="Calibri" panose="020F0502020204030204" pitchFamily="34" charset="0"/>
                <a:cs typeface="Calibri" panose="020F0502020204030204" pitchFamily="34" charset="0"/>
              </a:rPr>
              <a:t>egment</a:t>
            </a:r>
            <a:r>
              <a:rPr lang="en-US" altLang="ja-JP" sz="1400" dirty="0" err="1">
                <a:solidFill>
                  <a:schemeClr val="tx1"/>
                </a:solidFill>
                <a:latin typeface="Calibri" panose="020F0502020204030204" pitchFamily="34" charset="0"/>
                <a:cs typeface="Calibri" panose="020F0502020204030204" pitchFamily="34" charset="0"/>
              </a:rPr>
              <a:t>#panasonic</a:t>
            </a:r>
            <a:r>
              <a:rPr kumimoji="1" lang="en-US" altLang="ja-JP" sz="1400">
                <a:solidFill>
                  <a:schemeClr val="tx1"/>
                </a:solidFill>
                <a:latin typeface="Calibri" panose="020F0502020204030204" pitchFamily="34" charset="0"/>
                <a:cs typeface="Calibri" panose="020F0502020204030204" pitchFamily="34" charset="0"/>
              </a:rPr>
              <a:t>(172.25.253.0)</a:t>
            </a:r>
            <a:endParaRPr kumimoji="1" lang="ja-JP" altLang="en-US" sz="1400" dirty="0">
              <a:solidFill>
                <a:schemeClr val="tx1"/>
              </a:solidFill>
              <a:latin typeface="Calibri" panose="020F0502020204030204" pitchFamily="34" charset="0"/>
              <a:cs typeface="Calibri" panose="020F0502020204030204" pitchFamily="34" charset="0"/>
            </a:endParaRPr>
          </a:p>
        </p:txBody>
      </p:sp>
      <p:sp>
        <p:nvSpPr>
          <p:cNvPr id="33" name="フリーフォーム: 図形 32">
            <a:extLst>
              <a:ext uri="{FF2B5EF4-FFF2-40B4-BE49-F238E27FC236}">
                <a16:creationId xmlns:a16="http://schemas.microsoft.com/office/drawing/2014/main" id="{571FF808-40FC-409A-9491-84EE94FA60FC}"/>
              </a:ext>
            </a:extLst>
          </p:cNvPr>
          <p:cNvSpPr/>
          <p:nvPr/>
        </p:nvSpPr>
        <p:spPr>
          <a:xfrm>
            <a:off x="879287" y="4500150"/>
            <a:ext cx="2294694" cy="352567"/>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B53F086D-7DAE-481F-88DE-6302127D6DD1}"/>
              </a:ext>
            </a:extLst>
          </p:cNvPr>
          <p:cNvSpPr txBox="1"/>
          <p:nvPr/>
        </p:nvSpPr>
        <p:spPr>
          <a:xfrm>
            <a:off x="3176845" y="4704221"/>
            <a:ext cx="3244799" cy="307777"/>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WLAN/</a:t>
            </a:r>
            <a:r>
              <a:rPr kumimoji="1" lang="ja-JP" altLang="en-US" sz="1400">
                <a:latin typeface="Calibri" panose="020F0502020204030204" pitchFamily="34" charset="0"/>
                <a:cs typeface="Calibri" panose="020F0502020204030204" pitchFamily="34" charset="0"/>
              </a:rPr>
              <a:t>事務用</a:t>
            </a:r>
            <a:r>
              <a:rPr kumimoji="1" lang="en-US" altLang="ja-JP" sz="1400">
                <a:latin typeface="Calibri" panose="020F0502020204030204" pitchFamily="34" charset="0"/>
                <a:cs typeface="Calibri" panose="020F0502020204030204" pitchFamily="34" charset="0"/>
              </a:rPr>
              <a:t>PC(172.25.233-234.0)</a:t>
            </a:r>
            <a:r>
              <a:rPr kumimoji="1" lang="ja-JP" altLang="en-US" sz="1400">
                <a:latin typeface="Calibri" panose="020F0502020204030204" pitchFamily="34" charset="0"/>
                <a:cs typeface="Calibri" panose="020F0502020204030204" pitchFamily="34" charset="0"/>
              </a:rPr>
              <a:t>（</a:t>
            </a:r>
            <a:r>
              <a:rPr kumimoji="1" lang="ja-JP" altLang="en-US" sz="1400" b="1">
                <a:solidFill>
                  <a:srgbClr val="FF00FF"/>
                </a:solidFill>
                <a:latin typeface="Calibri" panose="020F0502020204030204" pitchFamily="34" charset="0"/>
                <a:cs typeface="Calibri" panose="020F0502020204030204" pitchFamily="34" charset="0"/>
              </a:rPr>
              <a:t>桃</a:t>
            </a:r>
            <a:r>
              <a:rPr kumimoji="1"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35" name="フリーフォーム: 図形 34">
            <a:extLst>
              <a:ext uri="{FF2B5EF4-FFF2-40B4-BE49-F238E27FC236}">
                <a16:creationId xmlns:a16="http://schemas.microsoft.com/office/drawing/2014/main" id="{61CA3F81-1367-4C7F-8C21-B71D2686D599}"/>
              </a:ext>
            </a:extLst>
          </p:cNvPr>
          <p:cNvSpPr/>
          <p:nvPr/>
        </p:nvSpPr>
        <p:spPr>
          <a:xfrm>
            <a:off x="1701038" y="4521092"/>
            <a:ext cx="1472943" cy="871502"/>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フリーフォーム: 図形 35">
            <a:extLst>
              <a:ext uri="{FF2B5EF4-FFF2-40B4-BE49-F238E27FC236}">
                <a16:creationId xmlns:a16="http://schemas.microsoft.com/office/drawing/2014/main" id="{217B0724-4CBA-442A-9340-2582F28BCFD3}"/>
              </a:ext>
            </a:extLst>
          </p:cNvPr>
          <p:cNvSpPr/>
          <p:nvPr/>
        </p:nvSpPr>
        <p:spPr>
          <a:xfrm>
            <a:off x="2106634" y="4521091"/>
            <a:ext cx="1067347" cy="1177544"/>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フリーフォーム: 図形 36">
            <a:extLst>
              <a:ext uri="{FF2B5EF4-FFF2-40B4-BE49-F238E27FC236}">
                <a16:creationId xmlns:a16="http://schemas.microsoft.com/office/drawing/2014/main" id="{41DB7B05-C1DC-44AC-8BEB-913DBEDFE6E8}"/>
              </a:ext>
            </a:extLst>
          </p:cNvPr>
          <p:cNvSpPr/>
          <p:nvPr/>
        </p:nvSpPr>
        <p:spPr>
          <a:xfrm>
            <a:off x="2512230" y="4514620"/>
            <a:ext cx="661752" cy="1469529"/>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085426D5-A513-4041-9045-F7FE755C77C5}"/>
              </a:ext>
            </a:extLst>
          </p:cNvPr>
          <p:cNvSpPr txBox="1"/>
          <p:nvPr/>
        </p:nvSpPr>
        <p:spPr>
          <a:xfrm>
            <a:off x="3176845" y="5814085"/>
            <a:ext cx="2711961" cy="307777"/>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Panasonic</a:t>
            </a:r>
            <a:r>
              <a:rPr kumimoji="1" lang="ja-JP" altLang="en-US" sz="1400">
                <a:latin typeface="Calibri" panose="020F0502020204030204" pitchFamily="34" charset="0"/>
                <a:cs typeface="Calibri" panose="020F0502020204030204" pitchFamily="34" charset="0"/>
              </a:rPr>
              <a:t>用</a:t>
            </a:r>
            <a:r>
              <a:rPr lang="en-US" altLang="ja-JP" sz="1400">
                <a:latin typeface="Calibri" panose="020F0502020204030204" pitchFamily="34" charset="0"/>
                <a:cs typeface="Calibri" panose="020F0502020204030204" pitchFamily="34" charset="0"/>
              </a:rPr>
              <a:t>PC(172.25.253.0)</a:t>
            </a:r>
            <a:r>
              <a:rPr lang="ja-JP" altLang="en-US" sz="1400">
                <a:latin typeface="Calibri" panose="020F0502020204030204" pitchFamily="34" charset="0"/>
                <a:cs typeface="Calibri" panose="020F0502020204030204" pitchFamily="34" charset="0"/>
              </a:rPr>
              <a:t>（</a:t>
            </a:r>
            <a:r>
              <a:rPr lang="ja-JP" altLang="en-US" sz="1400" b="1">
                <a:solidFill>
                  <a:srgbClr val="00B050"/>
                </a:solidFill>
              </a:rPr>
              <a:t>緑</a:t>
            </a:r>
            <a:r>
              <a:rPr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39" name="テキスト ボックス 38">
            <a:extLst>
              <a:ext uri="{FF2B5EF4-FFF2-40B4-BE49-F238E27FC236}">
                <a16:creationId xmlns:a16="http://schemas.microsoft.com/office/drawing/2014/main" id="{9824D820-2AD6-4346-B69D-1316D7DEB86B}"/>
              </a:ext>
            </a:extLst>
          </p:cNvPr>
          <p:cNvSpPr txBox="1"/>
          <p:nvPr/>
        </p:nvSpPr>
        <p:spPr>
          <a:xfrm>
            <a:off x="3176845" y="5536619"/>
            <a:ext cx="2440092" cy="307777"/>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IE</a:t>
            </a:r>
            <a:r>
              <a:rPr kumimoji="1" lang="ja-JP" altLang="en-US" sz="1400">
                <a:latin typeface="Calibri" panose="020F0502020204030204" pitchFamily="34" charset="0"/>
                <a:cs typeface="Calibri" panose="020F0502020204030204" pitchFamily="34" charset="0"/>
              </a:rPr>
              <a:t>用</a:t>
            </a:r>
            <a:r>
              <a:rPr kumimoji="1" lang="en-US" altLang="ja-JP" sz="1400">
                <a:latin typeface="Calibri" panose="020F0502020204030204" pitchFamily="34" charset="0"/>
                <a:cs typeface="Calibri" panose="020F0502020204030204" pitchFamily="34" charset="0"/>
              </a:rPr>
              <a:t>PC(172.25.248-249.0)</a:t>
            </a:r>
            <a:r>
              <a:rPr kumimoji="1" lang="ja-JP" altLang="en-US" sz="1400">
                <a:latin typeface="Calibri" panose="020F0502020204030204" pitchFamily="34" charset="0"/>
                <a:cs typeface="Calibri" panose="020F0502020204030204" pitchFamily="34" charset="0"/>
              </a:rPr>
              <a:t>（</a:t>
            </a:r>
            <a:r>
              <a:rPr lang="ja-JP" altLang="en-US" sz="1400" b="1">
                <a:solidFill>
                  <a:srgbClr val="0070C0"/>
                </a:solidFill>
              </a:rPr>
              <a:t>青</a:t>
            </a:r>
            <a:r>
              <a:rPr kumimoji="1"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cxnSp>
        <p:nvCxnSpPr>
          <p:cNvPr id="40" name="直線矢印コネクタ 39">
            <a:extLst>
              <a:ext uri="{FF2B5EF4-FFF2-40B4-BE49-F238E27FC236}">
                <a16:creationId xmlns:a16="http://schemas.microsoft.com/office/drawing/2014/main" id="{B782CCA2-818D-4E3B-B880-88DA2069BEC8}"/>
              </a:ext>
            </a:extLst>
          </p:cNvPr>
          <p:cNvCxnSpPr>
            <a:cxnSpLocks/>
            <a:stCxn id="23" idx="0"/>
          </p:cNvCxnSpPr>
          <p:nvPr/>
        </p:nvCxnSpPr>
        <p:spPr>
          <a:xfrm flipV="1">
            <a:off x="879287" y="2417357"/>
            <a:ext cx="0" cy="18160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1" name="直線矢印コネクタ 40">
            <a:extLst>
              <a:ext uri="{FF2B5EF4-FFF2-40B4-BE49-F238E27FC236}">
                <a16:creationId xmlns:a16="http://schemas.microsoft.com/office/drawing/2014/main" id="{DD2FEF1B-7551-495B-8C10-195CB1D02DB6}"/>
              </a:ext>
            </a:extLst>
          </p:cNvPr>
          <p:cNvCxnSpPr>
            <a:cxnSpLocks/>
            <a:stCxn id="24" idx="0"/>
          </p:cNvCxnSpPr>
          <p:nvPr/>
        </p:nvCxnSpPr>
        <p:spPr>
          <a:xfrm flipH="1" flipV="1">
            <a:off x="1287872" y="2840677"/>
            <a:ext cx="1" cy="139270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B36BB57F-5DF4-4F51-9EAA-1A6B16BC2755}"/>
              </a:ext>
            </a:extLst>
          </p:cNvPr>
          <p:cNvCxnSpPr>
            <a:cxnSpLocks/>
            <a:stCxn id="28" idx="0"/>
          </p:cNvCxnSpPr>
          <p:nvPr/>
        </p:nvCxnSpPr>
        <p:spPr>
          <a:xfrm flipH="1" flipV="1">
            <a:off x="1696458" y="2417357"/>
            <a:ext cx="1" cy="18160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3" name="直線矢印コネクタ 42">
            <a:extLst>
              <a:ext uri="{FF2B5EF4-FFF2-40B4-BE49-F238E27FC236}">
                <a16:creationId xmlns:a16="http://schemas.microsoft.com/office/drawing/2014/main" id="{74666C00-D909-4E28-971A-23A5DD61A4B6}"/>
              </a:ext>
            </a:extLst>
          </p:cNvPr>
          <p:cNvCxnSpPr>
            <a:cxnSpLocks/>
            <a:stCxn id="25" idx="0"/>
          </p:cNvCxnSpPr>
          <p:nvPr/>
        </p:nvCxnSpPr>
        <p:spPr>
          <a:xfrm flipV="1">
            <a:off x="2105045" y="3202713"/>
            <a:ext cx="0" cy="103066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4" name="直線矢印コネクタ 43">
            <a:extLst>
              <a:ext uri="{FF2B5EF4-FFF2-40B4-BE49-F238E27FC236}">
                <a16:creationId xmlns:a16="http://schemas.microsoft.com/office/drawing/2014/main" id="{5AA2AC3F-CD71-422C-A93D-739FC01C6969}"/>
              </a:ext>
            </a:extLst>
          </p:cNvPr>
          <p:cNvCxnSpPr>
            <a:cxnSpLocks/>
            <a:stCxn id="26" idx="0"/>
          </p:cNvCxnSpPr>
          <p:nvPr/>
        </p:nvCxnSpPr>
        <p:spPr>
          <a:xfrm flipH="1" flipV="1">
            <a:off x="2512229" y="3533461"/>
            <a:ext cx="1402" cy="69991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45" name="楕円 44">
            <a:extLst>
              <a:ext uri="{FF2B5EF4-FFF2-40B4-BE49-F238E27FC236}">
                <a16:creationId xmlns:a16="http://schemas.microsoft.com/office/drawing/2014/main" id="{D0AF176E-FE34-48E9-9909-A9B738BF76E3}"/>
              </a:ext>
            </a:extLst>
          </p:cNvPr>
          <p:cNvSpPr/>
          <p:nvPr/>
        </p:nvSpPr>
        <p:spPr>
          <a:xfrm>
            <a:off x="228088" y="1879890"/>
            <a:ext cx="513704" cy="2256356"/>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6F8D14E3-4D1C-4865-B79A-09C5EAD49043}"/>
              </a:ext>
            </a:extLst>
          </p:cNvPr>
          <p:cNvSpPr txBox="1"/>
          <p:nvPr/>
        </p:nvSpPr>
        <p:spPr>
          <a:xfrm>
            <a:off x="116505" y="1449195"/>
            <a:ext cx="766557" cy="369332"/>
          </a:xfrm>
          <a:prstGeom prst="rect">
            <a:avLst/>
          </a:prstGeom>
          <a:noFill/>
        </p:spPr>
        <p:txBody>
          <a:bodyPr wrap="none" rtlCol="0">
            <a:spAutoFit/>
          </a:bodyPr>
          <a:lstStyle/>
          <a:p>
            <a:r>
              <a:rPr kumimoji="1" lang="en-US" altLang="ja-JP">
                <a:latin typeface="Calibri" panose="020F0502020204030204" pitchFamily="34" charset="0"/>
                <a:cs typeface="Calibri" panose="020F0502020204030204" pitchFamily="34" charset="0"/>
              </a:rPr>
              <a:t>V-LAN</a:t>
            </a:r>
            <a:endParaRPr kumimoji="1" lang="ja-JP" altLang="en-US">
              <a:latin typeface="Calibri" panose="020F0502020204030204" pitchFamily="34" charset="0"/>
              <a:cs typeface="Calibri" panose="020F0502020204030204" pitchFamily="34" charset="0"/>
            </a:endParaRPr>
          </a:p>
        </p:txBody>
      </p:sp>
      <p:sp>
        <p:nvSpPr>
          <p:cNvPr id="47" name="フローチャート: 磁気ディスク 46">
            <a:extLst>
              <a:ext uri="{FF2B5EF4-FFF2-40B4-BE49-F238E27FC236}">
                <a16:creationId xmlns:a16="http://schemas.microsoft.com/office/drawing/2014/main" id="{9C2B5D07-3889-448B-93E4-559D34802AE8}"/>
              </a:ext>
            </a:extLst>
          </p:cNvPr>
          <p:cNvSpPr/>
          <p:nvPr/>
        </p:nvSpPr>
        <p:spPr>
          <a:xfrm>
            <a:off x="1061610" y="612781"/>
            <a:ext cx="830960"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rPr>
              <a:t>CMDI</a:t>
            </a:r>
            <a:br>
              <a:rPr kumimoji="1" lang="en-US" altLang="ja-JP" sz="1400">
                <a:solidFill>
                  <a:schemeClr val="tx1"/>
                </a:solidFill>
              </a:rPr>
            </a:br>
            <a:r>
              <a:rPr kumimoji="1" lang="en-US" altLang="ja-JP" sz="1400">
                <a:solidFill>
                  <a:schemeClr val="tx1"/>
                </a:solidFill>
              </a:rPr>
              <a:t>server</a:t>
            </a:r>
            <a:endParaRPr kumimoji="1" lang="ja-JP" altLang="en-US" sz="1400">
              <a:solidFill>
                <a:schemeClr val="tx1"/>
              </a:solidFill>
            </a:endParaRPr>
          </a:p>
        </p:txBody>
      </p:sp>
      <p:cxnSp>
        <p:nvCxnSpPr>
          <p:cNvPr id="48" name="直線矢印コネクタ 47">
            <a:extLst>
              <a:ext uri="{FF2B5EF4-FFF2-40B4-BE49-F238E27FC236}">
                <a16:creationId xmlns:a16="http://schemas.microsoft.com/office/drawing/2014/main" id="{02E1F2D6-7E52-4B79-84DA-24A46AECEA5E}"/>
              </a:ext>
            </a:extLst>
          </p:cNvPr>
          <p:cNvCxnSpPr>
            <a:cxnSpLocks/>
          </p:cNvCxnSpPr>
          <p:nvPr/>
        </p:nvCxnSpPr>
        <p:spPr>
          <a:xfrm flipV="1">
            <a:off x="1564400" y="1399194"/>
            <a:ext cx="0" cy="69173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AA3E4D6B-AE6B-4F1F-8A45-1CC6379332E8}"/>
              </a:ext>
            </a:extLst>
          </p:cNvPr>
          <p:cNvCxnSpPr>
            <a:cxnSpLocks/>
          </p:cNvCxnSpPr>
          <p:nvPr/>
        </p:nvCxnSpPr>
        <p:spPr>
          <a:xfrm flipV="1">
            <a:off x="2208042" y="1399193"/>
            <a:ext cx="0" cy="69173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50" name="フローチャート: 磁気ディスク 49">
            <a:extLst>
              <a:ext uri="{FF2B5EF4-FFF2-40B4-BE49-F238E27FC236}">
                <a16:creationId xmlns:a16="http://schemas.microsoft.com/office/drawing/2014/main" id="{29693652-5041-43FE-B578-D6528B883344}"/>
              </a:ext>
            </a:extLst>
          </p:cNvPr>
          <p:cNvSpPr/>
          <p:nvPr/>
        </p:nvSpPr>
        <p:spPr>
          <a:xfrm>
            <a:off x="1961710" y="612781"/>
            <a:ext cx="793298"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rPr>
              <a:t>BOSS</a:t>
            </a:r>
            <a:br>
              <a:rPr kumimoji="1" lang="en-US" altLang="ja-JP" sz="1400" dirty="0">
                <a:solidFill>
                  <a:schemeClr val="tx1"/>
                </a:solidFill>
              </a:rPr>
            </a:br>
            <a:r>
              <a:rPr kumimoji="1" lang="en-US" altLang="ja-JP" sz="1400" dirty="0">
                <a:solidFill>
                  <a:schemeClr val="tx1"/>
                </a:solidFill>
              </a:rPr>
              <a:t>server</a:t>
            </a:r>
            <a:endParaRPr kumimoji="1" lang="ja-JP" altLang="en-US" sz="1400" dirty="0">
              <a:solidFill>
                <a:schemeClr val="tx1"/>
              </a:solidFill>
            </a:endParaRPr>
          </a:p>
        </p:txBody>
      </p:sp>
      <p:sp>
        <p:nvSpPr>
          <p:cNvPr id="51" name="テキスト ボックス 50">
            <a:extLst>
              <a:ext uri="{FF2B5EF4-FFF2-40B4-BE49-F238E27FC236}">
                <a16:creationId xmlns:a16="http://schemas.microsoft.com/office/drawing/2014/main" id="{C0722635-6743-4B45-8A1E-7BC48F51E296}"/>
              </a:ext>
            </a:extLst>
          </p:cNvPr>
          <p:cNvSpPr txBox="1"/>
          <p:nvPr/>
        </p:nvSpPr>
        <p:spPr>
          <a:xfrm>
            <a:off x="7236639" y="1486860"/>
            <a:ext cx="1505540" cy="523220"/>
          </a:xfrm>
          <a:prstGeom prst="rect">
            <a:avLst/>
          </a:prstGeom>
          <a:noFill/>
        </p:spPr>
        <p:txBody>
          <a:bodyPr wrap="none" rtlCol="0">
            <a:spAutoFit/>
          </a:bodyPr>
          <a:lstStyle/>
          <a:p>
            <a:r>
              <a:rPr kumimoji="1" lang="en-US" altLang="ja-JP" sz="1400" dirty="0">
                <a:latin typeface="Calibri" panose="020F0502020204030204" pitchFamily="34" charset="0"/>
                <a:cs typeface="Calibri" panose="020F0502020204030204" pitchFamily="34" charset="0"/>
              </a:rPr>
              <a:t>nksv559~569</a:t>
            </a:r>
          </a:p>
          <a:p>
            <a:r>
              <a:rPr kumimoji="1" lang="en-US" altLang="ja-JP" sz="1400">
                <a:latin typeface="Calibri" panose="020F0502020204030204" pitchFamily="34" charset="0"/>
                <a:cs typeface="Calibri" panose="020F0502020204030204" pitchFamily="34" charset="0"/>
              </a:rPr>
              <a:t>172.25.201.11~16</a:t>
            </a:r>
            <a:endParaRPr kumimoji="1" lang="ja-JP" altLang="en-US" sz="1400" dirty="0">
              <a:latin typeface="Calibri" panose="020F0502020204030204" pitchFamily="34" charset="0"/>
              <a:cs typeface="Calibri" panose="020F0502020204030204" pitchFamily="34" charset="0"/>
            </a:endParaRPr>
          </a:p>
        </p:txBody>
      </p:sp>
      <p:cxnSp>
        <p:nvCxnSpPr>
          <p:cNvPr id="60" name="直線矢印コネクタ 59">
            <a:extLst>
              <a:ext uri="{FF2B5EF4-FFF2-40B4-BE49-F238E27FC236}">
                <a16:creationId xmlns:a16="http://schemas.microsoft.com/office/drawing/2014/main" id="{F0E641AF-8AFE-4C9E-B211-366417A3E09F}"/>
              </a:ext>
            </a:extLst>
          </p:cNvPr>
          <p:cNvCxnSpPr>
            <a:cxnSpLocks/>
            <a:stCxn id="54" idx="0"/>
          </p:cNvCxnSpPr>
          <p:nvPr/>
        </p:nvCxnSpPr>
        <p:spPr>
          <a:xfrm flipV="1">
            <a:off x="6196743" y="2389733"/>
            <a:ext cx="0" cy="182567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1" name="直線矢印コネクタ 60">
            <a:extLst>
              <a:ext uri="{FF2B5EF4-FFF2-40B4-BE49-F238E27FC236}">
                <a16:creationId xmlns:a16="http://schemas.microsoft.com/office/drawing/2014/main" id="{D3FFD67A-0462-4A51-A7CF-D67F85746C77}"/>
              </a:ext>
            </a:extLst>
          </p:cNvPr>
          <p:cNvCxnSpPr>
            <a:cxnSpLocks/>
            <a:stCxn id="55" idx="0"/>
          </p:cNvCxnSpPr>
          <p:nvPr/>
        </p:nvCxnSpPr>
        <p:spPr>
          <a:xfrm flipV="1">
            <a:off x="6605329" y="2813053"/>
            <a:ext cx="0" cy="140235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AA3BC10B-7FEB-4393-A0B6-0E07A90D8103}"/>
              </a:ext>
            </a:extLst>
          </p:cNvPr>
          <p:cNvCxnSpPr>
            <a:cxnSpLocks/>
            <a:stCxn id="59" idx="0"/>
          </p:cNvCxnSpPr>
          <p:nvPr/>
        </p:nvCxnSpPr>
        <p:spPr>
          <a:xfrm flipV="1">
            <a:off x="7013915" y="2389733"/>
            <a:ext cx="0" cy="182567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D83EC8F2-A12F-4A6E-B4CA-02BB67867A53}"/>
              </a:ext>
            </a:extLst>
          </p:cNvPr>
          <p:cNvCxnSpPr>
            <a:cxnSpLocks/>
            <a:stCxn id="56" idx="0"/>
          </p:cNvCxnSpPr>
          <p:nvPr/>
        </p:nvCxnSpPr>
        <p:spPr>
          <a:xfrm flipV="1">
            <a:off x="7422501" y="3159445"/>
            <a:ext cx="0" cy="1055958"/>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4" name="直線矢印コネクタ 63">
            <a:extLst>
              <a:ext uri="{FF2B5EF4-FFF2-40B4-BE49-F238E27FC236}">
                <a16:creationId xmlns:a16="http://schemas.microsoft.com/office/drawing/2014/main" id="{82318B93-6625-40C6-B876-ED14D85E2610}"/>
              </a:ext>
            </a:extLst>
          </p:cNvPr>
          <p:cNvCxnSpPr>
            <a:cxnSpLocks/>
            <a:stCxn id="57" idx="0"/>
          </p:cNvCxnSpPr>
          <p:nvPr/>
        </p:nvCxnSpPr>
        <p:spPr>
          <a:xfrm flipV="1">
            <a:off x="7831087" y="3505837"/>
            <a:ext cx="0" cy="70956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65" name="正方形/長方形 64">
            <a:extLst>
              <a:ext uri="{FF2B5EF4-FFF2-40B4-BE49-F238E27FC236}">
                <a16:creationId xmlns:a16="http://schemas.microsoft.com/office/drawing/2014/main" id="{2C1F9427-69AF-4899-A34D-94D9AE504A45}"/>
              </a:ext>
            </a:extLst>
          </p:cNvPr>
          <p:cNvSpPr/>
          <p:nvPr/>
        </p:nvSpPr>
        <p:spPr>
          <a:xfrm>
            <a:off x="6697124" y="4813825"/>
            <a:ext cx="1464238" cy="3315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chemeClr val="tx1"/>
                </a:solidFill>
                <a:latin typeface="Calibri" panose="020F0502020204030204" pitchFamily="34" charset="0"/>
                <a:cs typeface="Calibri" panose="020F0502020204030204" pitchFamily="34" charset="0"/>
              </a:rPr>
              <a:t>HUB/Router</a:t>
            </a:r>
            <a:endParaRPr kumimoji="1" lang="ja-JP" altLang="en-US">
              <a:solidFill>
                <a:schemeClr val="tx1"/>
              </a:solidFill>
              <a:latin typeface="Calibri" panose="020F0502020204030204" pitchFamily="34" charset="0"/>
              <a:cs typeface="Calibri" panose="020F0502020204030204" pitchFamily="34" charset="0"/>
            </a:endParaRPr>
          </a:p>
        </p:txBody>
      </p:sp>
      <p:cxnSp>
        <p:nvCxnSpPr>
          <p:cNvPr id="66" name="直線矢印コネクタ 65">
            <a:extLst>
              <a:ext uri="{FF2B5EF4-FFF2-40B4-BE49-F238E27FC236}">
                <a16:creationId xmlns:a16="http://schemas.microsoft.com/office/drawing/2014/main" id="{EBDE296F-51EC-429F-902B-1E88D2FCF522}"/>
              </a:ext>
            </a:extLst>
          </p:cNvPr>
          <p:cNvCxnSpPr>
            <a:cxnSpLocks/>
            <a:stCxn id="65" idx="0"/>
            <a:endCxn id="56" idx="2"/>
          </p:cNvCxnSpPr>
          <p:nvPr/>
        </p:nvCxnSpPr>
        <p:spPr>
          <a:xfrm flipH="1" flipV="1">
            <a:off x="7422501" y="4504770"/>
            <a:ext cx="6742" cy="30905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pic>
        <p:nvPicPr>
          <p:cNvPr id="67" name="図 66" descr="電子機器, コンピュータ が含まれている画像&#10;&#10;自動的に生成された説明">
            <a:extLst>
              <a:ext uri="{FF2B5EF4-FFF2-40B4-BE49-F238E27FC236}">
                <a16:creationId xmlns:a16="http://schemas.microsoft.com/office/drawing/2014/main" id="{D244AD36-43E6-4831-8FB9-BBC32ADA93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7043" y="5357510"/>
            <a:ext cx="820828" cy="805813"/>
          </a:xfrm>
          <a:prstGeom prst="rect">
            <a:avLst/>
          </a:prstGeom>
        </p:spPr>
      </p:pic>
      <p:pic>
        <p:nvPicPr>
          <p:cNvPr id="68" name="図 67" descr="電子機器, コンピュータ が含まれている画像&#10;&#10;自動的に生成された説明">
            <a:extLst>
              <a:ext uri="{FF2B5EF4-FFF2-40B4-BE49-F238E27FC236}">
                <a16:creationId xmlns:a16="http://schemas.microsoft.com/office/drawing/2014/main" id="{EBC8C271-34C3-469C-B13E-CEDDEFB42B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2115" y="5357510"/>
            <a:ext cx="820828" cy="805813"/>
          </a:xfrm>
          <a:prstGeom prst="rect">
            <a:avLst/>
          </a:prstGeom>
        </p:spPr>
      </p:pic>
      <p:pic>
        <p:nvPicPr>
          <p:cNvPr id="69" name="図 68" descr="電子機器, コンピュータ が含まれている画像&#10;&#10;自動的に生成された説明">
            <a:extLst>
              <a:ext uri="{FF2B5EF4-FFF2-40B4-BE49-F238E27FC236}">
                <a16:creationId xmlns:a16="http://schemas.microsoft.com/office/drawing/2014/main" id="{F7F5261B-C7D3-4FCD-8C70-98D389FB62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7186" y="5357510"/>
            <a:ext cx="820828" cy="805813"/>
          </a:xfrm>
          <a:prstGeom prst="rect">
            <a:avLst/>
          </a:prstGeom>
        </p:spPr>
      </p:pic>
      <p:pic>
        <p:nvPicPr>
          <p:cNvPr id="70" name="図 69" descr="電子機器, コンピュータ が含まれている画像&#10;&#10;自動的に生成された説明">
            <a:extLst>
              <a:ext uri="{FF2B5EF4-FFF2-40B4-BE49-F238E27FC236}">
                <a16:creationId xmlns:a16="http://schemas.microsoft.com/office/drawing/2014/main" id="{06FF709B-9FBE-485C-85AD-7934D2F5A0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2257" y="5357510"/>
            <a:ext cx="820828" cy="805813"/>
          </a:xfrm>
          <a:prstGeom prst="rect">
            <a:avLst/>
          </a:prstGeom>
        </p:spPr>
      </p:pic>
      <p:pic>
        <p:nvPicPr>
          <p:cNvPr id="71" name="図 70" descr="電子機器, コンピュータ が含まれている画像&#10;&#10;自動的に生成された説明">
            <a:extLst>
              <a:ext uri="{FF2B5EF4-FFF2-40B4-BE49-F238E27FC236}">
                <a16:creationId xmlns:a16="http://schemas.microsoft.com/office/drawing/2014/main" id="{805C442B-6EDF-455C-9349-ABED1E395F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7328" y="5357510"/>
            <a:ext cx="820828" cy="805813"/>
          </a:xfrm>
          <a:prstGeom prst="rect">
            <a:avLst/>
          </a:prstGeom>
        </p:spPr>
      </p:pic>
      <p:cxnSp>
        <p:nvCxnSpPr>
          <p:cNvPr id="72" name="直線矢印コネクタ 71">
            <a:extLst>
              <a:ext uri="{FF2B5EF4-FFF2-40B4-BE49-F238E27FC236}">
                <a16:creationId xmlns:a16="http://schemas.microsoft.com/office/drawing/2014/main" id="{9ED35DFF-156D-4330-BDCD-1F82B30CA49F}"/>
              </a:ext>
            </a:extLst>
          </p:cNvPr>
          <p:cNvCxnSpPr>
            <a:cxnSpLocks/>
          </p:cNvCxnSpPr>
          <p:nvPr/>
        </p:nvCxnSpPr>
        <p:spPr>
          <a:xfrm flipV="1">
            <a:off x="6869231" y="5128860"/>
            <a:ext cx="0" cy="2660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CD0D45FF-2FCC-42F5-99AC-0887DB714992}"/>
              </a:ext>
            </a:extLst>
          </p:cNvPr>
          <p:cNvCxnSpPr>
            <a:cxnSpLocks/>
          </p:cNvCxnSpPr>
          <p:nvPr/>
        </p:nvCxnSpPr>
        <p:spPr>
          <a:xfrm flipV="1">
            <a:off x="7171406" y="5128860"/>
            <a:ext cx="0" cy="2660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F4B7F8E1-6EBD-4D22-9C69-15EB72150C04}"/>
              </a:ext>
            </a:extLst>
          </p:cNvPr>
          <p:cNvCxnSpPr>
            <a:cxnSpLocks/>
          </p:cNvCxnSpPr>
          <p:nvPr/>
        </p:nvCxnSpPr>
        <p:spPr>
          <a:xfrm flipV="1">
            <a:off x="7473581" y="5128860"/>
            <a:ext cx="0" cy="2660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5" name="直線矢印コネクタ 74">
            <a:extLst>
              <a:ext uri="{FF2B5EF4-FFF2-40B4-BE49-F238E27FC236}">
                <a16:creationId xmlns:a16="http://schemas.microsoft.com/office/drawing/2014/main" id="{F9DB3839-FB2A-4D12-95E1-6083273EA82D}"/>
              </a:ext>
            </a:extLst>
          </p:cNvPr>
          <p:cNvCxnSpPr>
            <a:cxnSpLocks/>
          </p:cNvCxnSpPr>
          <p:nvPr/>
        </p:nvCxnSpPr>
        <p:spPr>
          <a:xfrm flipV="1">
            <a:off x="7775756" y="5128860"/>
            <a:ext cx="0" cy="2660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6" name="直線矢印コネクタ 75">
            <a:extLst>
              <a:ext uri="{FF2B5EF4-FFF2-40B4-BE49-F238E27FC236}">
                <a16:creationId xmlns:a16="http://schemas.microsoft.com/office/drawing/2014/main" id="{683B7B78-28B4-47C6-97EC-0EB55EBF8E9E}"/>
              </a:ext>
            </a:extLst>
          </p:cNvPr>
          <p:cNvCxnSpPr>
            <a:cxnSpLocks/>
          </p:cNvCxnSpPr>
          <p:nvPr/>
        </p:nvCxnSpPr>
        <p:spPr>
          <a:xfrm flipV="1">
            <a:off x="8077932" y="5133823"/>
            <a:ext cx="0" cy="26111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77" name="テキスト ボックス 76">
            <a:extLst>
              <a:ext uri="{FF2B5EF4-FFF2-40B4-BE49-F238E27FC236}">
                <a16:creationId xmlns:a16="http://schemas.microsoft.com/office/drawing/2014/main" id="{75C66885-D9A8-4A86-8218-10F50227CA64}"/>
              </a:ext>
            </a:extLst>
          </p:cNvPr>
          <p:cNvSpPr txBox="1"/>
          <p:nvPr/>
        </p:nvSpPr>
        <p:spPr>
          <a:xfrm>
            <a:off x="8067199" y="5154207"/>
            <a:ext cx="912429" cy="307777"/>
          </a:xfrm>
          <a:prstGeom prst="rect">
            <a:avLst/>
          </a:prstGeom>
          <a:noFill/>
        </p:spPr>
        <p:txBody>
          <a:bodyPr wrap="none" rtlCol="0">
            <a:spAutoFit/>
          </a:bodyPr>
          <a:lstStyle/>
          <a:p>
            <a:r>
              <a:rPr lang="ja-JP" altLang="en-US" sz="1400">
                <a:latin typeface="Calibri" panose="020F0502020204030204" pitchFamily="34" charset="0"/>
                <a:cs typeface="Calibri" panose="020F0502020204030204" pitchFamily="34" charset="0"/>
              </a:rPr>
              <a:t>治</a:t>
            </a:r>
            <a:r>
              <a:rPr lang="ja-JP" altLang="en-US" sz="1400" dirty="0">
                <a:latin typeface="Calibri" panose="020F0502020204030204" pitchFamily="34" charset="0"/>
                <a:cs typeface="Calibri" panose="020F0502020204030204" pitchFamily="34" charset="0"/>
              </a:rPr>
              <a:t>具</a:t>
            </a:r>
            <a:r>
              <a:rPr kumimoji="1" lang="ja-JP" altLang="en-US" sz="1400" dirty="0">
                <a:latin typeface="Calibri" panose="020F0502020204030204" pitchFamily="34" charset="0"/>
                <a:cs typeface="Calibri" panose="020F0502020204030204" pitchFamily="34" charset="0"/>
              </a:rPr>
              <a:t>用</a:t>
            </a:r>
            <a:r>
              <a:rPr kumimoji="1" lang="en-US" altLang="ja-JP" sz="1400" dirty="0">
                <a:latin typeface="Calibri" panose="020F0502020204030204" pitchFamily="34" charset="0"/>
                <a:cs typeface="Calibri" panose="020F0502020204030204" pitchFamily="34" charset="0"/>
              </a:rPr>
              <a:t>PC</a:t>
            </a:r>
            <a:endParaRPr kumimoji="1" lang="ja-JP" altLang="en-US" sz="1400" dirty="0">
              <a:latin typeface="Calibri" panose="020F0502020204030204" pitchFamily="34" charset="0"/>
              <a:cs typeface="Calibri" panose="020F0502020204030204" pitchFamily="34" charset="0"/>
            </a:endParaRPr>
          </a:p>
        </p:txBody>
      </p:sp>
      <p:sp>
        <p:nvSpPr>
          <p:cNvPr id="78" name="フローチャート: 磁気ディスク 77">
            <a:extLst>
              <a:ext uri="{FF2B5EF4-FFF2-40B4-BE49-F238E27FC236}">
                <a16:creationId xmlns:a16="http://schemas.microsoft.com/office/drawing/2014/main" id="{788E7D0C-901C-4935-8CA6-04D3394F14FB}"/>
              </a:ext>
            </a:extLst>
          </p:cNvPr>
          <p:cNvSpPr/>
          <p:nvPr/>
        </p:nvSpPr>
        <p:spPr>
          <a:xfrm>
            <a:off x="2981026" y="612781"/>
            <a:ext cx="870894"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rPr>
              <a:t>NTP</a:t>
            </a:r>
            <a:br>
              <a:rPr kumimoji="1" lang="en-US" altLang="ja-JP" sz="1400">
                <a:solidFill>
                  <a:schemeClr val="tx1"/>
                </a:solidFill>
              </a:rPr>
            </a:br>
            <a:r>
              <a:rPr kumimoji="1" lang="en-US" altLang="ja-JP" sz="1400">
                <a:solidFill>
                  <a:schemeClr val="tx1"/>
                </a:solidFill>
              </a:rPr>
              <a:t>server</a:t>
            </a:r>
            <a:endParaRPr kumimoji="1" lang="ja-JP" altLang="en-US" sz="1400">
              <a:solidFill>
                <a:schemeClr val="tx1"/>
              </a:solidFill>
            </a:endParaRPr>
          </a:p>
        </p:txBody>
      </p:sp>
      <p:sp>
        <p:nvSpPr>
          <p:cNvPr id="79" name="テキスト ボックス 78">
            <a:extLst>
              <a:ext uri="{FF2B5EF4-FFF2-40B4-BE49-F238E27FC236}">
                <a16:creationId xmlns:a16="http://schemas.microsoft.com/office/drawing/2014/main" id="{B23BFB14-0656-4922-B520-6E16EBC5350C}"/>
              </a:ext>
            </a:extLst>
          </p:cNvPr>
          <p:cNvSpPr txBox="1"/>
          <p:nvPr/>
        </p:nvSpPr>
        <p:spPr>
          <a:xfrm>
            <a:off x="3802183" y="783033"/>
            <a:ext cx="1050288" cy="523220"/>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nkdc1</a:t>
            </a:r>
          </a:p>
          <a:p>
            <a:r>
              <a:rPr kumimoji="1" lang="en-US" altLang="ja-JP" sz="1400">
                <a:latin typeface="Calibri" panose="020F0502020204030204" pitchFamily="34" charset="0"/>
                <a:cs typeface="Calibri" panose="020F0502020204030204" pitchFamily="34" charset="0"/>
              </a:rPr>
              <a:t>172.30.30.1</a:t>
            </a:r>
            <a:endParaRPr kumimoji="1" lang="ja-JP" altLang="en-US" sz="1400">
              <a:latin typeface="Calibri" panose="020F0502020204030204" pitchFamily="34" charset="0"/>
              <a:cs typeface="Calibri" panose="020F0502020204030204" pitchFamily="34" charset="0"/>
            </a:endParaRPr>
          </a:p>
        </p:txBody>
      </p:sp>
      <p:cxnSp>
        <p:nvCxnSpPr>
          <p:cNvPr id="80" name="直線矢印コネクタ 79">
            <a:extLst>
              <a:ext uri="{FF2B5EF4-FFF2-40B4-BE49-F238E27FC236}">
                <a16:creationId xmlns:a16="http://schemas.microsoft.com/office/drawing/2014/main" id="{263D0185-D917-4C97-AAA0-F4A4729B992F}"/>
              </a:ext>
            </a:extLst>
          </p:cNvPr>
          <p:cNvCxnSpPr>
            <a:cxnSpLocks/>
          </p:cNvCxnSpPr>
          <p:nvPr/>
        </p:nvCxnSpPr>
        <p:spPr>
          <a:xfrm flipV="1">
            <a:off x="3176845" y="1375686"/>
            <a:ext cx="0" cy="71524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81" name="フリーフォーム: 図形 80">
            <a:extLst>
              <a:ext uri="{FF2B5EF4-FFF2-40B4-BE49-F238E27FC236}">
                <a16:creationId xmlns:a16="http://schemas.microsoft.com/office/drawing/2014/main" id="{BA3427DA-4C2C-49DE-BD79-69156508F440}"/>
              </a:ext>
            </a:extLst>
          </p:cNvPr>
          <p:cNvSpPr/>
          <p:nvPr/>
        </p:nvSpPr>
        <p:spPr>
          <a:xfrm>
            <a:off x="1295444" y="4521091"/>
            <a:ext cx="1878537" cy="609091"/>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テキスト ボックス 81">
            <a:extLst>
              <a:ext uri="{FF2B5EF4-FFF2-40B4-BE49-F238E27FC236}">
                <a16:creationId xmlns:a16="http://schemas.microsoft.com/office/drawing/2014/main" id="{3A1C182A-D934-4F93-94B2-34AF83EEE817}"/>
              </a:ext>
            </a:extLst>
          </p:cNvPr>
          <p:cNvSpPr txBox="1"/>
          <p:nvPr/>
        </p:nvSpPr>
        <p:spPr>
          <a:xfrm>
            <a:off x="3176845" y="6091553"/>
            <a:ext cx="4615366" cy="307777"/>
          </a:xfrm>
          <a:prstGeom prst="rect">
            <a:avLst/>
          </a:prstGeom>
          <a:noFill/>
        </p:spPr>
        <p:txBody>
          <a:bodyPr wrap="none" rtlCol="0">
            <a:spAutoFit/>
          </a:bodyPr>
          <a:lstStyle/>
          <a:p>
            <a:r>
              <a:rPr lang="ja-JP" altLang="en-US" sz="1400">
                <a:latin typeface="Calibri" panose="020F0502020204030204" pitchFamily="34" charset="0"/>
                <a:cs typeface="Calibri" panose="020F0502020204030204" pitchFamily="34" charset="0"/>
              </a:rPr>
              <a:t>おんどとり</a:t>
            </a:r>
            <a:r>
              <a:rPr lang="en-US" altLang="ja-JP" sz="1400">
                <a:latin typeface="Calibri" panose="020F0502020204030204" pitchFamily="34" charset="0"/>
                <a:cs typeface="Calibri" panose="020F0502020204030204" pitchFamily="34" charset="0"/>
              </a:rPr>
              <a:t>(172.25.214.0)/</a:t>
            </a:r>
            <a:r>
              <a:rPr kumimoji="1" lang="ja-JP" altLang="en-US" sz="1400">
                <a:latin typeface="Calibri" panose="020F0502020204030204" pitchFamily="34" charset="0"/>
                <a:cs typeface="Calibri" panose="020F0502020204030204" pitchFamily="34" charset="0"/>
              </a:rPr>
              <a:t>事務用</a:t>
            </a:r>
            <a:r>
              <a:rPr kumimoji="1" lang="en-US" altLang="ja-JP" sz="1400">
                <a:latin typeface="Calibri" panose="020F0502020204030204" pitchFamily="34" charset="0"/>
                <a:cs typeface="Calibri" panose="020F0502020204030204" pitchFamily="34" charset="0"/>
              </a:rPr>
              <a:t>PC(172.25.233-234.0)</a:t>
            </a:r>
            <a:r>
              <a:rPr kumimoji="1" lang="ja-JP" altLang="en-US" sz="1400">
                <a:latin typeface="Calibri" panose="020F0502020204030204" pitchFamily="34" charset="0"/>
                <a:cs typeface="Calibri" panose="020F0502020204030204" pitchFamily="34" charset="0"/>
              </a:rPr>
              <a:t> （</a:t>
            </a:r>
            <a:r>
              <a:rPr kumimoji="1" lang="ja-JP" altLang="en-US" sz="1400" b="1">
                <a:solidFill>
                  <a:srgbClr val="FF00FF"/>
                </a:solidFill>
                <a:latin typeface="Calibri" panose="020F0502020204030204" pitchFamily="34" charset="0"/>
                <a:cs typeface="Calibri" panose="020F0502020204030204" pitchFamily="34" charset="0"/>
              </a:rPr>
              <a:t>桃</a:t>
            </a:r>
            <a:r>
              <a:rPr kumimoji="1"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83" name="フリーフォーム: 図形 82">
            <a:extLst>
              <a:ext uri="{FF2B5EF4-FFF2-40B4-BE49-F238E27FC236}">
                <a16:creationId xmlns:a16="http://schemas.microsoft.com/office/drawing/2014/main" id="{848CB113-BFC3-4079-A23F-E2120AA8FA4D}"/>
              </a:ext>
            </a:extLst>
          </p:cNvPr>
          <p:cNvSpPr/>
          <p:nvPr/>
        </p:nvSpPr>
        <p:spPr>
          <a:xfrm>
            <a:off x="2957904" y="4530183"/>
            <a:ext cx="218939" cy="1679553"/>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4" name="直線矢印コネクタ 83">
            <a:extLst>
              <a:ext uri="{FF2B5EF4-FFF2-40B4-BE49-F238E27FC236}">
                <a16:creationId xmlns:a16="http://schemas.microsoft.com/office/drawing/2014/main" id="{25A828E1-9BC6-4455-A9FC-DEA9F5579EB1}"/>
              </a:ext>
            </a:extLst>
          </p:cNvPr>
          <p:cNvCxnSpPr>
            <a:cxnSpLocks/>
          </p:cNvCxnSpPr>
          <p:nvPr/>
        </p:nvCxnSpPr>
        <p:spPr>
          <a:xfrm flipV="1">
            <a:off x="2891538" y="3857260"/>
            <a:ext cx="0" cy="35352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85" name="直線矢印コネクタ 84">
            <a:extLst>
              <a:ext uri="{FF2B5EF4-FFF2-40B4-BE49-F238E27FC236}">
                <a16:creationId xmlns:a16="http://schemas.microsoft.com/office/drawing/2014/main" id="{7E1D6211-507F-4AF0-8967-FD09A609B742}"/>
              </a:ext>
            </a:extLst>
          </p:cNvPr>
          <p:cNvCxnSpPr>
            <a:cxnSpLocks/>
          </p:cNvCxnSpPr>
          <p:nvPr/>
        </p:nvCxnSpPr>
        <p:spPr>
          <a:xfrm flipV="1">
            <a:off x="8210488" y="3857260"/>
            <a:ext cx="0" cy="35352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86" name="テキスト ボックス 85">
            <a:extLst>
              <a:ext uri="{FF2B5EF4-FFF2-40B4-BE49-F238E27FC236}">
                <a16:creationId xmlns:a16="http://schemas.microsoft.com/office/drawing/2014/main" id="{1DF73079-BA8A-4DDA-BFA5-58861CD5661C}"/>
              </a:ext>
            </a:extLst>
          </p:cNvPr>
          <p:cNvSpPr txBox="1"/>
          <p:nvPr/>
        </p:nvSpPr>
        <p:spPr>
          <a:xfrm>
            <a:off x="3176845" y="5259153"/>
            <a:ext cx="2706190" cy="307777"/>
          </a:xfrm>
          <a:prstGeom prst="rect">
            <a:avLst/>
          </a:prstGeom>
          <a:noFill/>
        </p:spPr>
        <p:txBody>
          <a:bodyPr wrap="none" rtlCol="0">
            <a:spAutoFit/>
          </a:bodyPr>
          <a:lstStyle/>
          <a:p>
            <a:r>
              <a:rPr kumimoji="1" lang="ja-JP" altLang="en-US" sz="1400">
                <a:latin typeface="Calibri" panose="020F0502020204030204" pitchFamily="34" charset="0"/>
                <a:cs typeface="Calibri" panose="020F0502020204030204" pitchFamily="34" charset="0"/>
              </a:rPr>
              <a:t>事務用</a:t>
            </a:r>
            <a:r>
              <a:rPr kumimoji="1" lang="en-US" altLang="ja-JP" sz="1400">
                <a:latin typeface="Calibri" panose="020F0502020204030204" pitchFamily="34" charset="0"/>
                <a:cs typeface="Calibri" panose="020F0502020204030204" pitchFamily="34" charset="0"/>
              </a:rPr>
              <a:t>PC(172.25.233-234.0)</a:t>
            </a:r>
            <a:r>
              <a:rPr kumimoji="1" lang="ja-JP" altLang="en-US" sz="1400">
                <a:latin typeface="Calibri" panose="020F0502020204030204" pitchFamily="34" charset="0"/>
                <a:cs typeface="Calibri" panose="020F0502020204030204" pitchFamily="34" charset="0"/>
              </a:rPr>
              <a:t> （</a:t>
            </a:r>
            <a:r>
              <a:rPr kumimoji="1" lang="ja-JP" altLang="en-US" sz="1400" b="1">
                <a:solidFill>
                  <a:srgbClr val="FF00FF"/>
                </a:solidFill>
                <a:latin typeface="Calibri" panose="020F0502020204030204" pitchFamily="34" charset="0"/>
                <a:cs typeface="Calibri" panose="020F0502020204030204" pitchFamily="34" charset="0"/>
              </a:rPr>
              <a:t>桃</a:t>
            </a:r>
            <a:r>
              <a:rPr kumimoji="1"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87" name="テキスト ボックス 86">
            <a:extLst>
              <a:ext uri="{FF2B5EF4-FFF2-40B4-BE49-F238E27FC236}">
                <a16:creationId xmlns:a16="http://schemas.microsoft.com/office/drawing/2014/main" id="{164B621D-12F4-43E2-A707-5B4EDD9FEF07}"/>
              </a:ext>
            </a:extLst>
          </p:cNvPr>
          <p:cNvSpPr txBox="1"/>
          <p:nvPr/>
        </p:nvSpPr>
        <p:spPr>
          <a:xfrm>
            <a:off x="3176845" y="4981687"/>
            <a:ext cx="3238387" cy="307777"/>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PHS/CMDI</a:t>
            </a:r>
            <a:r>
              <a:rPr kumimoji="1" lang="ja-JP" altLang="en-US" sz="1400">
                <a:latin typeface="Calibri" panose="020F0502020204030204" pitchFamily="34" charset="0"/>
                <a:cs typeface="Calibri" panose="020F0502020204030204" pitchFamily="34" charset="0"/>
              </a:rPr>
              <a:t>有線用</a:t>
            </a:r>
            <a:r>
              <a:rPr kumimoji="1" lang="en-US" altLang="ja-JP" sz="1400">
                <a:latin typeface="Calibri" panose="020F0502020204030204" pitchFamily="34" charset="0"/>
                <a:cs typeface="Calibri" panose="020F0502020204030204" pitchFamily="34" charset="0"/>
              </a:rPr>
              <a:t>(172.25.246-247.0)</a:t>
            </a:r>
            <a:r>
              <a:rPr kumimoji="1" lang="ja-JP" altLang="en-US" sz="1400">
                <a:latin typeface="Calibri" panose="020F0502020204030204" pitchFamily="34" charset="0"/>
                <a:cs typeface="Calibri" panose="020F0502020204030204" pitchFamily="34" charset="0"/>
              </a:rPr>
              <a:t>（</a:t>
            </a:r>
            <a:r>
              <a:rPr lang="ja-JP" altLang="en-US" sz="1400" b="1">
                <a:solidFill>
                  <a:srgbClr val="7030A0"/>
                </a:solidFill>
              </a:rPr>
              <a:t>紫</a:t>
            </a:r>
            <a:r>
              <a:rPr lang="ja-JP" altLang="en-US" sz="1400"/>
              <a:t>）</a:t>
            </a:r>
            <a:endParaRPr kumimoji="1" lang="ja-JP" altLang="en-US" sz="1400" dirty="0">
              <a:latin typeface="Calibri" panose="020F0502020204030204" pitchFamily="34" charset="0"/>
              <a:cs typeface="Calibri" panose="020F0502020204030204" pitchFamily="34" charset="0"/>
            </a:endParaRPr>
          </a:p>
        </p:txBody>
      </p:sp>
      <p:cxnSp>
        <p:nvCxnSpPr>
          <p:cNvPr id="88" name="直線矢印コネクタ 87">
            <a:extLst>
              <a:ext uri="{FF2B5EF4-FFF2-40B4-BE49-F238E27FC236}">
                <a16:creationId xmlns:a16="http://schemas.microsoft.com/office/drawing/2014/main" id="{B47B9F5D-C454-4C2C-BA3F-D26F5BEAE8A9}"/>
              </a:ext>
            </a:extLst>
          </p:cNvPr>
          <p:cNvCxnSpPr>
            <a:cxnSpLocks/>
          </p:cNvCxnSpPr>
          <p:nvPr/>
        </p:nvCxnSpPr>
        <p:spPr>
          <a:xfrm flipV="1">
            <a:off x="6999082" y="1449195"/>
            <a:ext cx="0" cy="62997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89" name="フローチャート: 磁気ディスク 88">
            <a:extLst>
              <a:ext uri="{FF2B5EF4-FFF2-40B4-BE49-F238E27FC236}">
                <a16:creationId xmlns:a16="http://schemas.microsoft.com/office/drawing/2014/main" id="{E6B34034-8605-4A75-B588-9E7730583B77}"/>
              </a:ext>
            </a:extLst>
          </p:cNvPr>
          <p:cNvSpPr/>
          <p:nvPr/>
        </p:nvSpPr>
        <p:spPr>
          <a:xfrm>
            <a:off x="4842030" y="612781"/>
            <a:ext cx="882336"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algn="ctr"/>
            <a:r>
              <a:rPr kumimoji="1" lang="ja-JP" altLang="en-US" sz="1400">
                <a:solidFill>
                  <a:schemeClr val="tx1"/>
                </a:solidFill>
              </a:rPr>
              <a:t>おんどとり</a:t>
            </a:r>
            <a:br>
              <a:rPr kumimoji="1" lang="en-US" altLang="ja-JP" sz="1400">
                <a:solidFill>
                  <a:schemeClr val="tx1"/>
                </a:solidFill>
              </a:rPr>
            </a:br>
            <a:r>
              <a:rPr kumimoji="1" lang="en-US" altLang="ja-JP" sz="1400">
                <a:solidFill>
                  <a:schemeClr val="tx1"/>
                </a:solidFill>
              </a:rPr>
              <a:t>server</a:t>
            </a:r>
            <a:endParaRPr kumimoji="1" lang="ja-JP" altLang="en-US" sz="1400">
              <a:solidFill>
                <a:schemeClr val="tx1"/>
              </a:solidFill>
            </a:endParaRPr>
          </a:p>
        </p:txBody>
      </p:sp>
      <p:cxnSp>
        <p:nvCxnSpPr>
          <p:cNvPr id="90" name="直線矢印コネクタ 89">
            <a:extLst>
              <a:ext uri="{FF2B5EF4-FFF2-40B4-BE49-F238E27FC236}">
                <a16:creationId xmlns:a16="http://schemas.microsoft.com/office/drawing/2014/main" id="{E760842B-FA31-41EF-A72A-7C67853890C2}"/>
              </a:ext>
            </a:extLst>
          </p:cNvPr>
          <p:cNvCxnSpPr>
            <a:cxnSpLocks/>
          </p:cNvCxnSpPr>
          <p:nvPr/>
        </p:nvCxnSpPr>
        <p:spPr>
          <a:xfrm flipV="1">
            <a:off x="5202070" y="1375686"/>
            <a:ext cx="0" cy="71524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91" name="テキスト ボックス 90">
            <a:extLst>
              <a:ext uri="{FF2B5EF4-FFF2-40B4-BE49-F238E27FC236}">
                <a16:creationId xmlns:a16="http://schemas.microsoft.com/office/drawing/2014/main" id="{F280BCD3-1F93-433C-BFED-6804150E6EFC}"/>
              </a:ext>
            </a:extLst>
          </p:cNvPr>
          <p:cNvSpPr txBox="1"/>
          <p:nvPr/>
        </p:nvSpPr>
        <p:spPr>
          <a:xfrm>
            <a:off x="5367836" y="1500295"/>
            <a:ext cx="1324402" cy="523220"/>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nksv482</a:t>
            </a:r>
            <a:endParaRPr kumimoji="1" lang="en-US" altLang="ja-JP" sz="1400" dirty="0">
              <a:latin typeface="Calibri" panose="020F0502020204030204" pitchFamily="34" charset="0"/>
              <a:cs typeface="Calibri" panose="020F0502020204030204" pitchFamily="34" charset="0"/>
            </a:endParaRPr>
          </a:p>
          <a:p>
            <a:r>
              <a:rPr kumimoji="1" lang="en-US" altLang="ja-JP" sz="1400">
                <a:latin typeface="Calibri" panose="020F0502020204030204" pitchFamily="34" charset="0"/>
                <a:cs typeface="Calibri" panose="020F0502020204030204" pitchFamily="34" charset="0"/>
              </a:rPr>
              <a:t>172.25.233.212</a:t>
            </a:r>
            <a:endParaRPr kumimoji="1" lang="ja-JP" altLang="en-US" sz="1400" dirty="0">
              <a:latin typeface="Calibri" panose="020F0502020204030204" pitchFamily="34" charset="0"/>
              <a:cs typeface="Calibri" panose="020F0502020204030204" pitchFamily="34" charset="0"/>
            </a:endParaRPr>
          </a:p>
        </p:txBody>
      </p:sp>
      <p:cxnSp>
        <p:nvCxnSpPr>
          <p:cNvPr id="92" name="直線矢印コネクタ 91">
            <a:extLst>
              <a:ext uri="{FF2B5EF4-FFF2-40B4-BE49-F238E27FC236}">
                <a16:creationId xmlns:a16="http://schemas.microsoft.com/office/drawing/2014/main" id="{78CBA70D-DF1D-4190-AA87-C28FF28B05E7}"/>
              </a:ext>
            </a:extLst>
          </p:cNvPr>
          <p:cNvCxnSpPr>
            <a:cxnSpLocks/>
          </p:cNvCxnSpPr>
          <p:nvPr/>
        </p:nvCxnSpPr>
        <p:spPr>
          <a:xfrm flipV="1">
            <a:off x="3018538" y="2394764"/>
            <a:ext cx="0" cy="18160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95" name="直線矢印コネクタ 94">
            <a:extLst>
              <a:ext uri="{FF2B5EF4-FFF2-40B4-BE49-F238E27FC236}">
                <a16:creationId xmlns:a16="http://schemas.microsoft.com/office/drawing/2014/main" id="{4BCAA688-9668-4B17-9E43-820DF77436F3}"/>
              </a:ext>
            </a:extLst>
          </p:cNvPr>
          <p:cNvCxnSpPr>
            <a:cxnSpLocks/>
          </p:cNvCxnSpPr>
          <p:nvPr/>
        </p:nvCxnSpPr>
        <p:spPr>
          <a:xfrm flipV="1">
            <a:off x="8307415" y="2394764"/>
            <a:ext cx="0" cy="18160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96" name="テキスト ボックス 95">
            <a:extLst>
              <a:ext uri="{FF2B5EF4-FFF2-40B4-BE49-F238E27FC236}">
                <a16:creationId xmlns:a16="http://schemas.microsoft.com/office/drawing/2014/main" id="{8CEF1BF8-47E3-409D-B69B-BD54DA52498B}"/>
              </a:ext>
            </a:extLst>
          </p:cNvPr>
          <p:cNvSpPr txBox="1"/>
          <p:nvPr/>
        </p:nvSpPr>
        <p:spPr>
          <a:xfrm>
            <a:off x="3411266" y="4426755"/>
            <a:ext cx="2105063" cy="307777"/>
          </a:xfrm>
          <a:prstGeom prst="rect">
            <a:avLst/>
          </a:prstGeom>
          <a:noFill/>
        </p:spPr>
        <p:txBody>
          <a:bodyPr wrap="none" rtlCol="0">
            <a:spAutoFit/>
          </a:bodyPr>
          <a:lstStyle/>
          <a:p>
            <a:r>
              <a:rPr lang="ja-JP" altLang="en-US" sz="1400">
                <a:latin typeface="Calibri" panose="020F0502020204030204" pitchFamily="34" charset="0"/>
                <a:cs typeface="Calibri" panose="020F0502020204030204" pitchFamily="34" charset="0"/>
              </a:rPr>
              <a:t>用途</a:t>
            </a:r>
            <a:r>
              <a:rPr lang="en-US" altLang="ja-JP" sz="1400">
                <a:latin typeface="Calibri" panose="020F0502020204030204" pitchFamily="34" charset="0"/>
                <a:cs typeface="Calibri" panose="020F0502020204030204" pitchFamily="34" charset="0"/>
              </a:rPr>
              <a:t>(</a:t>
            </a:r>
            <a:r>
              <a:rPr lang="ja-JP" altLang="en-US" sz="1400">
                <a:latin typeface="Calibri" panose="020F0502020204030204" pitchFamily="34" charset="0"/>
                <a:cs typeface="Calibri" panose="020F0502020204030204" pitchFamily="34" charset="0"/>
              </a:rPr>
              <a:t>セグメント</a:t>
            </a:r>
            <a:r>
              <a:rPr lang="en-US" altLang="ja-JP" sz="1400">
                <a:latin typeface="Calibri" panose="020F0502020204030204" pitchFamily="34" charset="0"/>
                <a:cs typeface="Calibri" panose="020F0502020204030204" pitchFamily="34" charset="0"/>
              </a:rPr>
              <a:t>)</a:t>
            </a:r>
            <a:r>
              <a:rPr lang="ja-JP" altLang="en-US" sz="1400">
                <a:latin typeface="Calibri" panose="020F0502020204030204" pitchFamily="34" charset="0"/>
                <a:cs typeface="Calibri" panose="020F0502020204030204" pitchFamily="34" charset="0"/>
              </a:rPr>
              <a:t>（</a:t>
            </a:r>
            <a:r>
              <a:rPr lang="ja-JP" altLang="en-US" sz="1400" b="1">
                <a:latin typeface="Calibri" panose="020F0502020204030204" pitchFamily="34" charset="0"/>
                <a:cs typeface="Calibri" panose="020F0502020204030204" pitchFamily="34" charset="0"/>
              </a:rPr>
              <a:t>端末色</a:t>
            </a:r>
            <a:r>
              <a:rPr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97" name="Rectangle 2">
            <a:extLst>
              <a:ext uri="{FF2B5EF4-FFF2-40B4-BE49-F238E27FC236}">
                <a16:creationId xmlns:a16="http://schemas.microsoft.com/office/drawing/2014/main" id="{298196AA-8BDF-4FBA-9D7D-CF7A0F4B7518}"/>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みらい</a:t>
            </a:r>
            <a:r>
              <a:rPr lang="en-US" altLang="ja-JP" sz="2400" b="1">
                <a:solidFill>
                  <a:schemeClr val="bg1"/>
                </a:solidFill>
                <a:latin typeface="+mj-lt"/>
                <a:ea typeface="+mj-ea"/>
              </a:rPr>
              <a:t>3F</a:t>
            </a:r>
            <a:r>
              <a:rPr lang="ja-JP" altLang="en-US" sz="2400" b="1">
                <a:solidFill>
                  <a:schemeClr val="bg1"/>
                </a:solidFill>
                <a:latin typeface="+mj-ea"/>
                <a:ea typeface="+mj-ea"/>
              </a:rPr>
              <a:t>のネットワーク構成</a:t>
            </a:r>
            <a:endParaRPr lang="ja-JP" altLang="en-US" sz="2400" b="1" dirty="0">
              <a:solidFill>
                <a:schemeClr val="bg1"/>
              </a:solidFill>
              <a:latin typeface="+mj-ea"/>
              <a:ea typeface="+mj-ea"/>
            </a:endParaRPr>
          </a:p>
        </p:txBody>
      </p:sp>
    </p:spTree>
    <p:extLst>
      <p:ext uri="{BB962C8B-B14F-4D97-AF65-F5344CB8AC3E}">
        <p14:creationId xmlns:p14="http://schemas.microsoft.com/office/powerpoint/2010/main" val="501797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937A623-553A-4981-A2BA-5DAA60696D16}"/>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en-US" altLang="ja-JP" sz="2400" b="1">
                <a:solidFill>
                  <a:schemeClr val="bg1"/>
                </a:solidFill>
                <a:latin typeface="+mj-ea"/>
                <a:ea typeface="+mj-ea"/>
              </a:rPr>
              <a:t>Web</a:t>
            </a:r>
            <a:r>
              <a:rPr lang="ja-JP" altLang="en-US" sz="2400" b="1">
                <a:solidFill>
                  <a:schemeClr val="bg1"/>
                </a:solidFill>
                <a:latin typeface="+mj-ea"/>
                <a:ea typeface="+mj-ea"/>
              </a:rPr>
              <a:t>サービスの構築方法１</a:t>
            </a:r>
            <a:endParaRPr lang="ja-JP" altLang="en-US" sz="2400" b="1" dirty="0">
              <a:solidFill>
                <a:schemeClr val="bg1"/>
              </a:solidFill>
              <a:latin typeface="+mj-ea"/>
              <a:ea typeface="+mj-ea"/>
            </a:endParaRPr>
          </a:p>
        </p:txBody>
      </p:sp>
      <p:sp>
        <p:nvSpPr>
          <p:cNvPr id="6" name="コンテンツ プレースホルダー 2">
            <a:extLst>
              <a:ext uri="{FF2B5EF4-FFF2-40B4-BE49-F238E27FC236}">
                <a16:creationId xmlns:a16="http://schemas.microsoft.com/office/drawing/2014/main" id="{4F714070-A723-464A-A7F0-DB134D740114}"/>
              </a:ext>
            </a:extLst>
          </p:cNvPr>
          <p:cNvSpPr>
            <a:spLocks noGrp="1"/>
          </p:cNvSpPr>
          <p:nvPr>
            <p:ph idx="1"/>
          </p:nvPr>
        </p:nvSpPr>
        <p:spPr>
          <a:xfrm>
            <a:off x="250825" y="638690"/>
            <a:ext cx="8642350" cy="5670630"/>
          </a:xfrm>
        </p:spPr>
        <p:txBody>
          <a:bodyPr/>
          <a:lstStyle/>
          <a:p>
            <a:pPr marL="0" indent="0">
              <a:buNone/>
            </a:pPr>
            <a:r>
              <a:rPr kumimoji="1" lang="ja-JP" altLang="en-US" sz="1600"/>
              <a:t>概要</a:t>
            </a:r>
            <a:endParaRPr kumimoji="1" lang="en-US" altLang="ja-JP" sz="1600"/>
          </a:p>
          <a:p>
            <a:pPr marL="180975" indent="-180975"/>
            <a:r>
              <a:rPr kumimoji="1" lang="en-US" altLang="ja-JP" sz="1600"/>
              <a:t>Web</a:t>
            </a:r>
            <a:r>
              <a:rPr kumimoji="1" lang="ja-JP" altLang="en-US" sz="1600"/>
              <a:t>サービスは、各クライアントの</a:t>
            </a:r>
            <a:r>
              <a:rPr kumimoji="1" lang="en-US" altLang="ja-JP" sz="1600"/>
              <a:t>web</a:t>
            </a:r>
            <a:r>
              <a:rPr kumimoji="1" lang="ja-JP" altLang="en-US" sz="1600"/>
              <a:t>ブラウザを</a:t>
            </a:r>
            <a:r>
              <a:rPr lang="ja-JP" altLang="en-US" sz="1600"/>
              <a:t>介して、サーバの資源を利用する形態である。</a:t>
            </a:r>
            <a:endParaRPr lang="en-US" altLang="ja-JP" sz="1600"/>
          </a:p>
          <a:p>
            <a:pPr marL="180975" indent="-180975"/>
            <a:r>
              <a:rPr lang="ja-JP" altLang="en-US" sz="1600"/>
              <a:t>ブラウザによって多少の違いはあるものの、</a:t>
            </a:r>
            <a:r>
              <a:rPr lang="en-US" altLang="ja-JP" sz="1600"/>
              <a:t>OS</a:t>
            </a:r>
            <a:r>
              <a:rPr lang="ja-JP" altLang="en-US" sz="1600"/>
              <a:t>、バージョンを超えた利用互換性がある。</a:t>
            </a:r>
            <a:endParaRPr lang="en-US" altLang="ja-JP" sz="1600"/>
          </a:p>
          <a:p>
            <a:pPr marL="0" indent="180975">
              <a:buNone/>
            </a:pPr>
            <a:r>
              <a:rPr kumimoji="1" lang="ja-JP" altLang="en-US" sz="1600"/>
              <a:t>例）</a:t>
            </a:r>
            <a:endParaRPr kumimoji="1" lang="en-US" altLang="ja-JP" sz="1600"/>
          </a:p>
          <a:p>
            <a:pPr marL="0" indent="180975">
              <a:buNone/>
              <a:tabLst>
                <a:tab pos="452438" algn="l"/>
              </a:tabLst>
            </a:pPr>
            <a:r>
              <a:rPr kumimoji="1" lang="en-US" altLang="ja-JP" sz="1600"/>
              <a:t>	</a:t>
            </a:r>
            <a:r>
              <a:rPr kumimoji="1" lang="ja-JP" altLang="en-US" sz="1600"/>
              <a:t>ファイルの読み書き：</a:t>
            </a:r>
            <a:r>
              <a:rPr kumimoji="1" lang="en-US" altLang="ja-JP" sz="1600"/>
              <a:t>	web</a:t>
            </a:r>
            <a:r>
              <a:rPr kumimoji="1" lang="ja-JP" altLang="en-US" sz="1600"/>
              <a:t>を介したアップロード、ダウンロード</a:t>
            </a:r>
            <a:endParaRPr kumimoji="1" lang="en-US" altLang="ja-JP" sz="1600"/>
          </a:p>
          <a:p>
            <a:pPr marL="0" indent="180975">
              <a:buNone/>
              <a:tabLst>
                <a:tab pos="452438" algn="l"/>
              </a:tabLst>
            </a:pPr>
            <a:r>
              <a:rPr lang="en-US" altLang="ja-JP" sz="1600"/>
              <a:t>	</a:t>
            </a:r>
            <a:r>
              <a:rPr lang="ja-JP" altLang="en-US" sz="1600"/>
              <a:t>データの参照・更新：</a:t>
            </a:r>
            <a:r>
              <a:rPr lang="en-US" altLang="ja-JP" sz="1600"/>
              <a:t>	web</a:t>
            </a:r>
            <a:r>
              <a:rPr lang="ja-JP" altLang="en-US" sz="1600"/>
              <a:t>やユーティリティーを介しての</a:t>
            </a:r>
            <a:r>
              <a:rPr lang="en-US" altLang="ja-JP" sz="1600"/>
              <a:t>SQLDB</a:t>
            </a:r>
            <a:r>
              <a:rPr lang="ja-JP" altLang="en-US" sz="1600"/>
              <a:t>の参照・更新</a:t>
            </a:r>
            <a:endParaRPr lang="en-US" altLang="ja-JP" sz="1600"/>
          </a:p>
          <a:p>
            <a:pPr marL="180975" indent="-180975">
              <a:tabLst>
                <a:tab pos="452438" algn="l"/>
              </a:tabLst>
            </a:pPr>
            <a:r>
              <a:rPr kumimoji="1" lang="en-US" altLang="ja-JP" sz="1600"/>
              <a:t>Web</a:t>
            </a:r>
            <a:r>
              <a:rPr kumimoji="1" lang="ja-JP" altLang="en-US" sz="1600"/>
              <a:t>サービスは、ブラウザ側で動作する</a:t>
            </a:r>
            <a:r>
              <a:rPr kumimoji="1" lang="en-US" altLang="ja-JP" sz="1600"/>
              <a:t>html</a:t>
            </a:r>
            <a:r>
              <a:rPr kumimoji="1" lang="ja-JP" altLang="en-US" sz="1600"/>
              <a:t>、</a:t>
            </a:r>
            <a:r>
              <a:rPr kumimoji="1" lang="en-US" altLang="ja-JP" sz="1600"/>
              <a:t>javascript</a:t>
            </a:r>
            <a:r>
              <a:rPr kumimoji="1" lang="ja-JP" altLang="en-US" sz="1600"/>
              <a:t>と、サーバ側で </a:t>
            </a:r>
            <a:r>
              <a:rPr kumimoji="1" lang="en-US" altLang="ja-JP" sz="1600"/>
              <a:t>cgi </a:t>
            </a:r>
            <a:r>
              <a:rPr kumimoji="1" lang="ja-JP" altLang="en-US" sz="1600"/>
              <a:t>を通して動作する</a:t>
            </a:r>
            <a:r>
              <a:rPr kumimoji="1" lang="en-US" altLang="ja-JP" sz="1600"/>
              <a:t>perl/php/pyton</a:t>
            </a:r>
            <a:r>
              <a:rPr kumimoji="1" lang="ja-JP" altLang="en-US" sz="1600"/>
              <a:t>等の </a:t>
            </a:r>
            <a:r>
              <a:rPr kumimoji="1" lang="en-US" altLang="ja-JP" sz="1600"/>
              <a:t>cgi</a:t>
            </a:r>
            <a:r>
              <a:rPr lang="ja-JP" altLang="en-US" sz="1600"/>
              <a:t> プログラム</a:t>
            </a:r>
            <a:r>
              <a:rPr kumimoji="1" lang="ja-JP" altLang="en-US" sz="1600"/>
              <a:t>で構成される。</a:t>
            </a:r>
            <a:endParaRPr kumimoji="1" lang="en-US" altLang="ja-JP" sz="1600"/>
          </a:p>
          <a:p>
            <a:pPr marL="180975" indent="-180975">
              <a:tabLst>
                <a:tab pos="452438" algn="l"/>
              </a:tabLst>
            </a:pPr>
            <a:r>
              <a:rPr kumimoji="1" lang="ja-JP" altLang="en-US" sz="1600"/>
              <a:t>一般的に、 </a:t>
            </a:r>
            <a:r>
              <a:rPr kumimoji="1" lang="en-US" altLang="ja-JP" sz="1600"/>
              <a:t>index.html</a:t>
            </a:r>
            <a:r>
              <a:rPr kumimoji="1" lang="ja-JP" altLang="en-US" sz="1600"/>
              <a:t> を</a:t>
            </a:r>
            <a:r>
              <a:rPr kumimoji="1" lang="en-US" altLang="ja-JP" sz="1600"/>
              <a:t>web</a:t>
            </a:r>
            <a:r>
              <a:rPr kumimoji="1" lang="ja-JP" altLang="en-US" sz="1600"/>
              <a:t>サイトのトップページに置き、そこから必要な</a:t>
            </a:r>
            <a:r>
              <a:rPr lang="en-US" altLang="ja-JP" sz="1600"/>
              <a:t> cgi </a:t>
            </a:r>
            <a:r>
              <a:rPr lang="ja-JP" altLang="en-US" sz="1600"/>
              <a:t>へ誘導する方法を</a:t>
            </a:r>
            <a:endParaRPr lang="en-US" altLang="ja-JP" sz="1600"/>
          </a:p>
          <a:p>
            <a:pPr marL="0" indent="180975">
              <a:buNone/>
              <a:tabLst>
                <a:tab pos="452438" algn="l"/>
              </a:tabLst>
            </a:pPr>
            <a:r>
              <a:rPr lang="ja-JP" altLang="en-US" sz="1600"/>
              <a:t>取っている。</a:t>
            </a:r>
            <a:endParaRPr lang="en-US" altLang="ja-JP" sz="1600"/>
          </a:p>
          <a:p>
            <a:pPr marL="0" indent="180975">
              <a:buNone/>
              <a:tabLst>
                <a:tab pos="452438" algn="l"/>
              </a:tabLst>
            </a:pPr>
            <a:r>
              <a:rPr lang="en-US" altLang="ja-JP" sz="1600"/>
              <a:t>web</a:t>
            </a:r>
            <a:r>
              <a:rPr lang="ja-JP" altLang="en-US" sz="1600"/>
              <a:t>サイトのトップページは</a:t>
            </a:r>
            <a:endParaRPr lang="en-US" altLang="ja-JP" sz="1600"/>
          </a:p>
          <a:p>
            <a:pPr marL="0" indent="180975">
              <a:buNone/>
              <a:tabLst>
                <a:tab pos="452438" algn="l"/>
              </a:tabLst>
            </a:pPr>
            <a:r>
              <a:rPr lang="en-US" altLang="ja-JP" sz="1600"/>
              <a:t>	http://</a:t>
            </a:r>
            <a:r>
              <a:rPr lang="ja-JP" altLang="en-US" sz="1600"/>
              <a:t>（サーバ名）</a:t>
            </a:r>
            <a:r>
              <a:rPr lang="en-US" altLang="ja-JP" sz="1600"/>
              <a:t>/</a:t>
            </a:r>
            <a:r>
              <a:rPr lang="ja-JP" altLang="en-US" sz="1600"/>
              <a:t>（</a:t>
            </a:r>
            <a:r>
              <a:rPr kumimoji="1" lang="ja-JP" altLang="en-US" sz="1600"/>
              <a:t>サービス</a:t>
            </a:r>
            <a:r>
              <a:rPr lang="ja-JP" altLang="en-US" sz="1600"/>
              <a:t>名）</a:t>
            </a:r>
            <a:r>
              <a:rPr lang="en-US" altLang="ja-JP" sz="1600"/>
              <a:t>/index.html</a:t>
            </a:r>
          </a:p>
          <a:p>
            <a:pPr marL="0" indent="180975">
              <a:buNone/>
              <a:tabLst>
                <a:tab pos="452438" algn="l"/>
              </a:tabLst>
            </a:pPr>
            <a:r>
              <a:rPr lang="ja-JP" altLang="en-US" sz="1600"/>
              <a:t>とし、誘導先は、</a:t>
            </a:r>
            <a:endParaRPr lang="en-US" altLang="ja-JP" sz="1600"/>
          </a:p>
          <a:p>
            <a:pPr marL="0" indent="180975">
              <a:buNone/>
              <a:tabLst>
                <a:tab pos="452438" algn="l"/>
              </a:tabLst>
            </a:pPr>
            <a:r>
              <a:rPr lang="en-US" altLang="ja-JP" sz="1600"/>
              <a:t>	http://</a:t>
            </a:r>
            <a:r>
              <a:rPr lang="ja-JP" altLang="en-US" sz="1600"/>
              <a:t>（サーバ名）</a:t>
            </a:r>
            <a:r>
              <a:rPr lang="en-US" altLang="ja-JP" sz="1600"/>
              <a:t>/cgi/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.cgi</a:t>
            </a:r>
            <a:r>
              <a:rPr lang="ja-JP" altLang="en-US" sz="1600"/>
              <a:t> または ～</a:t>
            </a:r>
            <a:r>
              <a:rPr lang="en-US" altLang="ja-JP" sz="1600"/>
              <a:t>.php</a:t>
            </a:r>
            <a:r>
              <a:rPr lang="ja-JP" altLang="en-US" sz="1600"/>
              <a:t> または ～</a:t>
            </a:r>
            <a:r>
              <a:rPr lang="en-US" altLang="ja-JP" sz="1600"/>
              <a:t>.py</a:t>
            </a:r>
          </a:p>
          <a:p>
            <a:pPr marL="0" indent="180975">
              <a:buNone/>
              <a:tabLst>
                <a:tab pos="452438" algn="l"/>
              </a:tabLst>
            </a:pPr>
            <a:r>
              <a:rPr kumimoji="1" lang="ja-JP" altLang="en-US" sz="1600"/>
              <a:t>とする。</a:t>
            </a:r>
            <a:endParaRPr kumimoji="1" lang="en-US" altLang="ja-JP" sz="1600"/>
          </a:p>
          <a:p>
            <a:pPr marL="0" indent="180975">
              <a:buNone/>
              <a:tabLst>
                <a:tab pos="452438" algn="l"/>
              </a:tabLst>
            </a:pPr>
            <a:r>
              <a:rPr kumimoji="1" lang="ja-JP" altLang="en-US" sz="1600"/>
              <a:t>例）</a:t>
            </a:r>
            <a:endParaRPr kumimoji="1" lang="en-US" altLang="ja-JP" sz="1600"/>
          </a:p>
          <a:p>
            <a:pPr marL="0" indent="180975">
              <a:buNone/>
              <a:tabLst>
                <a:tab pos="452438" algn="l"/>
              </a:tabLst>
            </a:pPr>
            <a:r>
              <a:rPr lang="en-US" altLang="ja-JP" sz="1600"/>
              <a:t>	http://nksv560.ad.nkc.co.jp/hello/index.html	</a:t>
            </a:r>
            <a:r>
              <a:rPr lang="en-US" altLang="ja-JP" sz="1600">
                <a:sym typeface="Wingdings" panose="05000000000000000000" pitchFamily="2" charset="2"/>
              </a:rPr>
              <a:t> ~/cgi/hello/page1.cgi</a:t>
            </a:r>
            <a:endParaRPr lang="en-US" altLang="ja-JP" sz="1600"/>
          </a:p>
        </p:txBody>
      </p:sp>
    </p:spTree>
    <p:extLst>
      <p:ext uri="{BB962C8B-B14F-4D97-AF65-F5344CB8AC3E}">
        <p14:creationId xmlns:p14="http://schemas.microsoft.com/office/powerpoint/2010/main" val="3692147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937A623-553A-4981-A2BA-5DAA60696D16}"/>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en-US" altLang="ja-JP" sz="2400" b="1">
                <a:solidFill>
                  <a:schemeClr val="bg1"/>
                </a:solidFill>
                <a:latin typeface="+mj-ea"/>
                <a:ea typeface="+mj-ea"/>
              </a:rPr>
              <a:t>Web</a:t>
            </a:r>
            <a:r>
              <a:rPr lang="ja-JP" altLang="en-US" sz="2400" b="1">
                <a:solidFill>
                  <a:schemeClr val="bg1"/>
                </a:solidFill>
                <a:latin typeface="+mj-ea"/>
                <a:ea typeface="+mj-ea"/>
              </a:rPr>
              <a:t>サービスの構築方法２</a:t>
            </a:r>
            <a:endParaRPr lang="ja-JP" altLang="en-US" sz="2400" b="1" dirty="0">
              <a:solidFill>
                <a:schemeClr val="bg1"/>
              </a:solidFill>
              <a:latin typeface="+mj-ea"/>
              <a:ea typeface="+mj-ea"/>
            </a:endParaRPr>
          </a:p>
        </p:txBody>
      </p:sp>
      <p:sp>
        <p:nvSpPr>
          <p:cNvPr id="6" name="コンテンツ プレースホルダー 2">
            <a:extLst>
              <a:ext uri="{FF2B5EF4-FFF2-40B4-BE49-F238E27FC236}">
                <a16:creationId xmlns:a16="http://schemas.microsoft.com/office/drawing/2014/main" id="{4F714070-A723-464A-A7F0-DB134D740114}"/>
              </a:ext>
            </a:extLst>
          </p:cNvPr>
          <p:cNvSpPr>
            <a:spLocks noGrp="1"/>
          </p:cNvSpPr>
          <p:nvPr>
            <p:ph idx="1"/>
          </p:nvPr>
        </p:nvSpPr>
        <p:spPr>
          <a:xfrm>
            <a:off x="250825" y="638689"/>
            <a:ext cx="8642350" cy="5805645"/>
          </a:xfrm>
        </p:spPr>
        <p:txBody>
          <a:bodyPr/>
          <a:lstStyle/>
          <a:p>
            <a:pPr marL="180975" indent="-180975">
              <a:tabLst>
                <a:tab pos="3048000" algn="l"/>
              </a:tabLst>
            </a:pPr>
            <a:r>
              <a:rPr kumimoji="1" lang="en-US" altLang="ja-JP" sz="1600"/>
              <a:t>web</a:t>
            </a:r>
            <a:r>
              <a:rPr kumimoji="1" lang="ja-JP" altLang="en-US" sz="1600"/>
              <a:t>ブラウザから見た画面構成の階層は以下のように見える</a:t>
            </a:r>
            <a:r>
              <a:rPr lang="ja-JP" altLang="en-US" sz="1600"/>
              <a:t>。</a:t>
            </a:r>
            <a:br>
              <a:rPr lang="en-US" altLang="ja-JP" sz="1600"/>
            </a:br>
            <a:r>
              <a:rPr lang="en-US" altLang="ja-JP" sz="1600"/>
              <a:t>http://</a:t>
            </a:r>
            <a:r>
              <a:rPr lang="ja-JP" altLang="en-US" sz="1600">
                <a:solidFill>
                  <a:srgbClr val="FF0000"/>
                </a:solidFill>
              </a:rPr>
              <a:t>（サーバ名）</a:t>
            </a:r>
            <a:r>
              <a:rPr lang="en-US" altLang="ja-JP" sz="1600"/>
              <a:t>/</a:t>
            </a:r>
            <a:r>
              <a:rPr lang="ja-JP" altLang="en-US" sz="1600"/>
              <a:t>（</a:t>
            </a:r>
            <a:r>
              <a:rPr kumimoji="1" lang="ja-JP" altLang="en-US" sz="1600"/>
              <a:t>サービス</a:t>
            </a:r>
            <a:r>
              <a:rPr lang="ja-JP" altLang="en-US" sz="1600"/>
              <a:t>名）</a:t>
            </a:r>
            <a:r>
              <a:rPr lang="en-US" altLang="ja-JP" sz="1600"/>
              <a:t>/	index.html</a:t>
            </a:r>
          </a:p>
          <a:p>
            <a:pPr marL="0" indent="0">
              <a:buNone/>
              <a:tabLst>
                <a:tab pos="3048000" algn="l"/>
              </a:tabLst>
            </a:pPr>
            <a:r>
              <a:rPr lang="en-US" altLang="ja-JP" sz="1600"/>
              <a:t>	index2.html</a:t>
            </a:r>
            <a:br>
              <a:rPr lang="en-US" altLang="ja-JP" sz="1600"/>
            </a:b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1</a:t>
            </a:r>
            <a:r>
              <a:rPr lang="ja-JP" altLang="en-US" sz="1600"/>
              <a:t>）</a:t>
            </a:r>
            <a:r>
              <a:rPr lang="en-US" altLang="ja-JP" sz="1600"/>
              <a:t>.cgi</a:t>
            </a:r>
          </a:p>
          <a:p>
            <a:pPr marL="0" indent="0">
              <a:buNone/>
              <a:tabLst>
                <a:tab pos="3048000" algn="l"/>
              </a:tabLst>
            </a:pP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2</a:t>
            </a:r>
            <a:r>
              <a:rPr lang="ja-JP" altLang="en-US" sz="1600"/>
              <a:t>）</a:t>
            </a:r>
            <a:r>
              <a:rPr lang="en-US" altLang="ja-JP" sz="1600"/>
              <a:t>.cgi</a:t>
            </a:r>
          </a:p>
          <a:p>
            <a:pPr marL="180975" indent="0">
              <a:buNone/>
              <a:tabLst>
                <a:tab pos="2781300" algn="l"/>
              </a:tabLst>
            </a:pPr>
            <a:r>
              <a:rPr lang="ja-JP" altLang="en-US" sz="1600"/>
              <a:t>この時、</a:t>
            </a:r>
            <a:r>
              <a:rPr lang="en-US" altLang="ja-JP" sz="1600"/>
              <a:t>cgi</a:t>
            </a:r>
            <a:r>
              <a:rPr lang="ja-JP" altLang="en-US" sz="1600"/>
              <a:t>が実行して生成するファイルは、所有者</a:t>
            </a:r>
            <a:r>
              <a:rPr lang="en-US" altLang="ja-JP" sz="1600"/>
              <a:t>”</a:t>
            </a:r>
            <a:r>
              <a:rPr lang="en-US" altLang="ja-JP" sz="1600">
                <a:solidFill>
                  <a:srgbClr val="FF0000"/>
                </a:solidFill>
              </a:rPr>
              <a:t>www-data</a:t>
            </a:r>
            <a:r>
              <a:rPr lang="en-US" altLang="ja-JP" sz="1600"/>
              <a:t>”</a:t>
            </a:r>
            <a:r>
              <a:rPr lang="ja-JP" altLang="en-US" sz="1600"/>
              <a:t>として生成される。</a:t>
            </a:r>
            <a:endParaRPr lang="en-US" altLang="ja-JP" sz="1600"/>
          </a:p>
          <a:p>
            <a:pPr marL="180975" indent="-180975">
              <a:tabLst>
                <a:tab pos="542925" algn="l"/>
                <a:tab pos="2867025" algn="l"/>
              </a:tabLst>
            </a:pPr>
            <a:r>
              <a:rPr lang="ja-JP" altLang="en-US" sz="1600"/>
              <a:t>実際のサーバ側のディレクトリの階層は、以下のようになっている。</a:t>
            </a:r>
            <a:br>
              <a:rPr lang="en-US" altLang="ja-JP" sz="1600"/>
            </a:br>
            <a:r>
              <a:rPr lang="en-US" altLang="ja-JP" sz="1600"/>
              <a:t>/</a:t>
            </a:r>
            <a:r>
              <a:rPr lang="en-US" altLang="ja-JP" sz="1600" u="sng">
                <a:solidFill>
                  <a:srgbClr val="FF0000"/>
                </a:solidFill>
              </a:rPr>
              <a:t>var/www/html</a:t>
            </a:r>
            <a:r>
              <a:rPr lang="en-US" altLang="ja-JP" sz="1600"/>
              <a:t>/</a:t>
            </a:r>
            <a:r>
              <a:rPr lang="ja-JP" altLang="en-US" sz="1600"/>
              <a:t>（</a:t>
            </a:r>
            <a:r>
              <a:rPr kumimoji="1" lang="ja-JP" altLang="en-US" sz="1600"/>
              <a:t>サービス</a:t>
            </a:r>
            <a:r>
              <a:rPr lang="ja-JP" altLang="en-US" sz="1600"/>
              <a:t>名）</a:t>
            </a:r>
            <a:r>
              <a:rPr lang="en-US" altLang="ja-JP" sz="1600"/>
              <a:t>/	index.html</a:t>
            </a:r>
          </a:p>
          <a:p>
            <a:pPr marL="0" indent="0">
              <a:buNone/>
              <a:tabLst>
                <a:tab pos="542925" algn="l"/>
                <a:tab pos="2867025" algn="l"/>
              </a:tabLst>
            </a:pPr>
            <a:r>
              <a:rPr lang="en-US" altLang="ja-JP" sz="1600"/>
              <a:t>		index2.html</a:t>
            </a:r>
          </a:p>
          <a:p>
            <a:pPr marL="0" indent="0">
              <a:buNone/>
              <a:tabLst>
                <a:tab pos="542925" algn="l"/>
                <a:tab pos="2867025" algn="l"/>
              </a:tabLst>
            </a:pPr>
            <a:r>
              <a:rPr lang="en-US" altLang="ja-JP" sz="1600"/>
              <a:t>	</a:t>
            </a:r>
            <a:r>
              <a:rPr lang="ja-JP" altLang="en-US" sz="1600"/>
              <a:t>（サーバ名）</a:t>
            </a: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1</a:t>
            </a:r>
            <a:r>
              <a:rPr lang="ja-JP" altLang="en-US" sz="1600"/>
              <a:t>）</a:t>
            </a:r>
            <a:r>
              <a:rPr lang="en-US" altLang="ja-JP" sz="1600"/>
              <a:t>.cgi</a:t>
            </a:r>
          </a:p>
          <a:p>
            <a:pPr marL="0" indent="0">
              <a:buNone/>
              <a:tabLst>
                <a:tab pos="542925" algn="l"/>
                <a:tab pos="2867025" algn="l"/>
              </a:tabLst>
            </a:pP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2</a:t>
            </a:r>
            <a:r>
              <a:rPr lang="ja-JP" altLang="en-US" sz="1600"/>
              <a:t>）</a:t>
            </a:r>
            <a:r>
              <a:rPr lang="en-US" altLang="ja-JP" sz="1600"/>
              <a:t>.cgi</a:t>
            </a:r>
          </a:p>
          <a:p>
            <a:pPr marL="180975" indent="0">
              <a:buNone/>
            </a:pPr>
            <a:r>
              <a:rPr lang="ja-JP" altLang="en-US" sz="1600"/>
              <a:t>この時、</a:t>
            </a:r>
            <a:r>
              <a:rPr lang="en-US" altLang="ja-JP" sz="1600"/>
              <a:t>cgi</a:t>
            </a:r>
            <a:r>
              <a:rPr lang="ja-JP" altLang="en-US" sz="1600"/>
              <a:t>が実行して生成するファイルは、ログインした</a:t>
            </a:r>
            <a:r>
              <a:rPr lang="ja-JP" altLang="en-US" sz="1600">
                <a:solidFill>
                  <a:srgbClr val="FF0000"/>
                </a:solidFill>
              </a:rPr>
              <a:t>ユーザ</a:t>
            </a:r>
            <a:r>
              <a:rPr lang="ja-JP" altLang="en-US" sz="1600"/>
              <a:t>が所有者として生成される。</a:t>
            </a:r>
            <a:endParaRPr lang="en-US" altLang="ja-JP" sz="1600"/>
          </a:p>
          <a:p>
            <a:pPr marL="180975" indent="-180975">
              <a:tabLst>
                <a:tab pos="3409950" algn="l"/>
              </a:tabLst>
            </a:pPr>
            <a:r>
              <a:rPr lang="en-US" altLang="ja-JP" sz="1600"/>
              <a:t>Windows</a:t>
            </a:r>
            <a:r>
              <a:rPr lang="ja-JP" altLang="en-US" sz="1600"/>
              <a:t>共有フォルダから見た場合のフォルダ階層は、以下のようになっている。</a:t>
            </a:r>
            <a:br>
              <a:rPr lang="en-US" altLang="ja-JP" sz="1600"/>
            </a:br>
            <a:r>
              <a:rPr lang="en-US" altLang="ja-JP" sz="1600"/>
              <a:t>\\</a:t>
            </a:r>
            <a:r>
              <a:rPr lang="ja-JP" altLang="en-US" sz="1600">
                <a:solidFill>
                  <a:srgbClr val="FF0000"/>
                </a:solidFill>
              </a:rPr>
              <a:t>（サーバ名）</a:t>
            </a:r>
            <a:r>
              <a:rPr lang="en-US" altLang="ja-JP" sz="1600">
                <a:solidFill>
                  <a:srgbClr val="FF0000"/>
                </a:solidFill>
              </a:rPr>
              <a:t>\www</a:t>
            </a:r>
            <a:r>
              <a:rPr lang="en-US" altLang="ja-JP" sz="1600"/>
              <a:t>\</a:t>
            </a:r>
            <a:r>
              <a:rPr lang="ja-JP" altLang="en-US" sz="1600"/>
              <a:t> （</a:t>
            </a:r>
            <a:r>
              <a:rPr kumimoji="1" lang="ja-JP" altLang="en-US" sz="1600"/>
              <a:t>サービス</a:t>
            </a:r>
            <a:r>
              <a:rPr lang="ja-JP" altLang="en-US" sz="1600"/>
              <a:t>名）</a:t>
            </a:r>
            <a:r>
              <a:rPr lang="en-US" altLang="ja-JP" sz="1600"/>
              <a:t>/	index.html</a:t>
            </a:r>
          </a:p>
          <a:p>
            <a:pPr marL="0" indent="0">
              <a:buNone/>
              <a:tabLst>
                <a:tab pos="3409950" algn="l"/>
              </a:tabLst>
            </a:pPr>
            <a:r>
              <a:rPr lang="en-US" altLang="ja-JP" sz="1600"/>
              <a:t>	index2.html</a:t>
            </a:r>
          </a:p>
          <a:p>
            <a:pPr marL="0" indent="0">
              <a:buNone/>
              <a:tabLst>
                <a:tab pos="3409950" algn="l"/>
              </a:tabLst>
            </a:pP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1</a:t>
            </a:r>
            <a:r>
              <a:rPr lang="ja-JP" altLang="en-US" sz="1600"/>
              <a:t>）</a:t>
            </a:r>
            <a:r>
              <a:rPr lang="en-US" altLang="ja-JP" sz="1600"/>
              <a:t>.cgi</a:t>
            </a:r>
          </a:p>
          <a:p>
            <a:pPr marL="0" indent="0">
              <a:buNone/>
              <a:tabLst>
                <a:tab pos="3409950" algn="l"/>
              </a:tabLst>
            </a:pP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2</a:t>
            </a:r>
            <a:r>
              <a:rPr lang="ja-JP" altLang="en-US" sz="1600"/>
              <a:t>）</a:t>
            </a:r>
            <a:r>
              <a:rPr lang="en-US" altLang="ja-JP" sz="1600"/>
              <a:t>.cgi</a:t>
            </a:r>
          </a:p>
          <a:p>
            <a:pPr marL="180975" indent="0">
              <a:buNone/>
              <a:tabLst>
                <a:tab pos="3143250" algn="l"/>
              </a:tabLst>
            </a:pPr>
            <a:r>
              <a:rPr lang="ja-JP" altLang="en-US" sz="1600"/>
              <a:t>この時、クライアントがファイルを書込みしたファイルは、所有者</a:t>
            </a:r>
            <a:r>
              <a:rPr lang="en-US" altLang="ja-JP" sz="1600"/>
              <a:t>”</a:t>
            </a:r>
            <a:r>
              <a:rPr lang="en-US" altLang="ja-JP" sz="1600">
                <a:solidFill>
                  <a:srgbClr val="FF0000"/>
                </a:solidFill>
              </a:rPr>
              <a:t>nobody</a:t>
            </a:r>
            <a:r>
              <a:rPr lang="en-US" altLang="ja-JP" sz="1600"/>
              <a:t>”</a:t>
            </a:r>
            <a:r>
              <a:rPr lang="ja-JP" altLang="en-US" sz="1600"/>
              <a:t>として生成される。</a:t>
            </a:r>
            <a:endParaRPr lang="en-US" altLang="ja-JP" sz="1600"/>
          </a:p>
          <a:p>
            <a:pPr marL="0" indent="0">
              <a:buNone/>
              <a:tabLst>
                <a:tab pos="3143250" algn="l"/>
              </a:tabLst>
            </a:pPr>
            <a:r>
              <a:rPr lang="ja-JP" altLang="en-US" sz="1600"/>
              <a:t>構築の際は、これらファイルの場所と所有者に注意する。配下にサブディレクトリを作成した時、</a:t>
            </a:r>
            <a:br>
              <a:rPr lang="en-US" altLang="ja-JP" sz="1600"/>
            </a:br>
            <a:r>
              <a:rPr lang="ja-JP" altLang="en-US" sz="1600"/>
              <a:t>所有者が異なる場合にモードを変更しないと書き込みできない。</a:t>
            </a:r>
            <a:endParaRPr lang="en-US" altLang="ja-JP" sz="1600"/>
          </a:p>
        </p:txBody>
      </p:sp>
      <p:sp>
        <p:nvSpPr>
          <p:cNvPr id="2" name="矢印: 下 1">
            <a:extLst>
              <a:ext uri="{FF2B5EF4-FFF2-40B4-BE49-F238E27FC236}">
                <a16:creationId xmlns:a16="http://schemas.microsoft.com/office/drawing/2014/main" id="{091291C2-6CF6-4AE7-87C2-9F226A9A50B4}"/>
              </a:ext>
            </a:extLst>
          </p:cNvPr>
          <p:cNvSpPr/>
          <p:nvPr/>
        </p:nvSpPr>
        <p:spPr>
          <a:xfrm>
            <a:off x="1151620" y="2888940"/>
            <a:ext cx="225025" cy="225025"/>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66535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937A623-553A-4981-A2BA-5DAA60696D16}"/>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en-US" altLang="ja-JP" sz="2400" b="1">
                <a:solidFill>
                  <a:schemeClr val="bg1"/>
                </a:solidFill>
                <a:latin typeface="+mj-ea"/>
                <a:ea typeface="+mj-ea"/>
              </a:rPr>
              <a:t>Web</a:t>
            </a:r>
            <a:r>
              <a:rPr lang="ja-JP" altLang="en-US" sz="2400" b="1">
                <a:solidFill>
                  <a:schemeClr val="bg1"/>
                </a:solidFill>
                <a:latin typeface="+mj-ea"/>
                <a:ea typeface="+mj-ea"/>
              </a:rPr>
              <a:t>サービスの構築方法３</a:t>
            </a:r>
            <a:endParaRPr lang="ja-JP" altLang="en-US" sz="2400" b="1" dirty="0">
              <a:solidFill>
                <a:schemeClr val="bg1"/>
              </a:solidFill>
              <a:latin typeface="+mj-ea"/>
              <a:ea typeface="+mj-ea"/>
            </a:endParaRPr>
          </a:p>
        </p:txBody>
      </p:sp>
      <p:sp>
        <p:nvSpPr>
          <p:cNvPr id="6" name="コンテンツ プレースホルダー 2">
            <a:extLst>
              <a:ext uri="{FF2B5EF4-FFF2-40B4-BE49-F238E27FC236}">
                <a16:creationId xmlns:a16="http://schemas.microsoft.com/office/drawing/2014/main" id="{4F714070-A723-464A-A7F0-DB134D740114}"/>
              </a:ext>
            </a:extLst>
          </p:cNvPr>
          <p:cNvSpPr>
            <a:spLocks noGrp="1"/>
          </p:cNvSpPr>
          <p:nvPr>
            <p:ph idx="1"/>
          </p:nvPr>
        </p:nvSpPr>
        <p:spPr>
          <a:xfrm>
            <a:off x="250825" y="638689"/>
            <a:ext cx="8642350" cy="5805645"/>
          </a:xfrm>
        </p:spPr>
        <p:txBody>
          <a:bodyPr/>
          <a:lstStyle/>
          <a:p>
            <a:pPr marL="180975" indent="-180975">
              <a:tabLst>
                <a:tab pos="3048000" algn="l"/>
              </a:tabLst>
            </a:pPr>
            <a:r>
              <a:rPr kumimoji="1" lang="ja-JP" altLang="en-US" sz="1600"/>
              <a:t>社外に向けた</a:t>
            </a:r>
            <a:r>
              <a:rPr kumimoji="1" lang="en-US" altLang="ja-JP" sz="1600"/>
              <a:t>web</a:t>
            </a:r>
            <a:r>
              <a:rPr kumimoji="1" lang="ja-JP" altLang="en-US" sz="1600"/>
              <a:t>サービス</a:t>
            </a:r>
            <a:endParaRPr lang="en-US" altLang="ja-JP" sz="1600"/>
          </a:p>
          <a:p>
            <a:pPr marL="180975" indent="0">
              <a:buNone/>
              <a:tabLst>
                <a:tab pos="2781300" algn="l"/>
              </a:tabLst>
            </a:pPr>
            <a:r>
              <a:rPr lang="ja-JP" altLang="en-US" sz="1600"/>
              <a:t>現在、社外協力会社との情報交換は、メール、あるいは添付ファイル、会社によっては</a:t>
            </a:r>
            <a:r>
              <a:rPr lang="en-US" altLang="ja-JP" sz="1600"/>
              <a:t>vpn</a:t>
            </a:r>
            <a:r>
              <a:rPr lang="ja-JP" altLang="en-US" sz="1600"/>
              <a:t>回線を使って行っている。</a:t>
            </a:r>
            <a:endParaRPr lang="en-US" altLang="ja-JP" sz="1600"/>
          </a:p>
          <a:p>
            <a:pPr marL="180975" indent="0">
              <a:buNone/>
              <a:tabLst>
                <a:tab pos="2781300" algn="l"/>
              </a:tabLst>
            </a:pPr>
            <a:r>
              <a:rPr lang="ja-JP" altLang="en-US" sz="1600"/>
              <a:t>富岡サーバでは、すでに</a:t>
            </a:r>
            <a:r>
              <a:rPr lang="en-US" altLang="ja-JP" sz="1600"/>
              <a:t>nksv560</a:t>
            </a:r>
            <a:r>
              <a:rPr lang="ja-JP" altLang="en-US" sz="1600"/>
              <a:t>に対して社外から</a:t>
            </a:r>
            <a:r>
              <a:rPr lang="en-US" altLang="ja-JP" sz="1600"/>
              <a:t>https</a:t>
            </a:r>
            <a:r>
              <a:rPr lang="ja-JP" altLang="en-US" sz="1600"/>
              <a:t>通信（暗号化通信）によって</a:t>
            </a:r>
            <a:r>
              <a:rPr lang="en-US" altLang="ja-JP" sz="1600"/>
              <a:t>web</a:t>
            </a:r>
            <a:r>
              <a:rPr lang="ja-JP" altLang="en-US" sz="1600"/>
              <a:t>アクセスできるように準備されている。（</a:t>
            </a:r>
            <a:r>
              <a:rPr lang="en-US" altLang="ja-JP" sz="1600"/>
              <a:t>https://nktomioka.nkc.co.jp</a:t>
            </a:r>
            <a:r>
              <a:rPr lang="ja-JP" altLang="en-US" sz="1600"/>
              <a:t>）</a:t>
            </a:r>
            <a:endParaRPr lang="en-US" altLang="ja-JP" sz="1600"/>
          </a:p>
          <a:p>
            <a:pPr marL="180975" indent="0">
              <a:buNone/>
              <a:tabLst>
                <a:tab pos="2781300" algn="l"/>
              </a:tabLst>
            </a:pPr>
            <a:r>
              <a:rPr lang="ja-JP" altLang="en-US" sz="1600"/>
              <a:t>当初は、</a:t>
            </a:r>
            <a:r>
              <a:rPr lang="en-US" altLang="ja-JP" sz="1600"/>
              <a:t>SpO2</a:t>
            </a:r>
            <a:r>
              <a:rPr lang="ja-JP" altLang="en-US" sz="1600"/>
              <a:t>ディスポプローブがひっ迫した時、生産計画と納品予定を日ビと共有する目的で構築したシステムで、現在は、これをシステム品の生産時に予め</a:t>
            </a:r>
            <a:r>
              <a:rPr lang="en-US" altLang="ja-JP" sz="1600"/>
              <a:t>PFU</a:t>
            </a:r>
            <a:r>
              <a:rPr lang="ja-JP" altLang="en-US" sz="1600"/>
              <a:t>から納品物の構成情報をアップロードして、システム品自動生産システム（現在開発中</a:t>
            </a:r>
            <a:r>
              <a:rPr lang="en-US" altLang="ja-JP" sz="1600"/>
              <a:t>…</a:t>
            </a:r>
            <a:r>
              <a:rPr lang="ja-JP" altLang="en-US" sz="1600"/>
              <a:t>だった。）と連携することで、生産の効率化、ミスの回避を行うことを目的としていた。</a:t>
            </a:r>
            <a:endParaRPr lang="en-US" altLang="ja-JP" sz="1600"/>
          </a:p>
          <a:p>
            <a:pPr marL="180975" indent="0">
              <a:buNone/>
              <a:tabLst>
                <a:tab pos="2781300" algn="l"/>
              </a:tabLst>
            </a:pPr>
            <a:r>
              <a:rPr lang="ja-JP" altLang="en-US" sz="1600"/>
              <a:t>この</a:t>
            </a:r>
            <a:r>
              <a:rPr lang="en-US" altLang="ja-JP" sz="1600"/>
              <a:t>http</a:t>
            </a:r>
            <a:r>
              <a:rPr lang="ja-JP" altLang="en-US" sz="1600"/>
              <a:t>通信を行うため、「</a:t>
            </a:r>
            <a:r>
              <a:rPr lang="en-US" altLang="ja-JP" sz="1600"/>
              <a:t>SSL</a:t>
            </a:r>
            <a:r>
              <a:rPr lang="ja-JP" altLang="en-US" sz="1600"/>
              <a:t>サーバ証明書」を証明機関から発行してもらう必要があり、費用発生（今期は</a:t>
            </a:r>
            <a:r>
              <a:rPr lang="en-US" altLang="ja-JP" sz="1600"/>
              <a:t>\25,800</a:t>
            </a:r>
            <a:r>
              <a:rPr lang="ja-JP" altLang="en-US" sz="1600"/>
              <a:t>）する。次回は、来年の</a:t>
            </a:r>
            <a:r>
              <a:rPr lang="en-US" altLang="ja-JP" sz="1600"/>
              <a:t>1</a:t>
            </a:r>
            <a:r>
              <a:rPr lang="ja-JP" altLang="en-US" sz="1600"/>
              <a:t>月頃更新通知が来る予定。</a:t>
            </a:r>
            <a:endParaRPr lang="en-US" altLang="ja-JP" sz="1600"/>
          </a:p>
          <a:p>
            <a:pPr marL="180975" indent="0">
              <a:buNone/>
              <a:tabLst>
                <a:tab pos="2781300" algn="l"/>
              </a:tabLst>
            </a:pPr>
            <a:endParaRPr lang="en-US" altLang="ja-JP" sz="1600"/>
          </a:p>
        </p:txBody>
      </p:sp>
      <p:pic>
        <p:nvPicPr>
          <p:cNvPr id="8" name="図 7">
            <a:extLst>
              <a:ext uri="{FF2B5EF4-FFF2-40B4-BE49-F238E27FC236}">
                <a16:creationId xmlns:a16="http://schemas.microsoft.com/office/drawing/2014/main" id="{51187DD5-3325-4762-A18D-1464C4734890}"/>
              </a:ext>
            </a:extLst>
          </p:cNvPr>
          <p:cNvPicPr>
            <a:picLocks noChangeAspect="1"/>
          </p:cNvPicPr>
          <p:nvPr/>
        </p:nvPicPr>
        <p:blipFill rotWithShape="1">
          <a:blip r:embed="rId2"/>
          <a:srcRect b="22689"/>
          <a:stretch/>
        </p:blipFill>
        <p:spPr>
          <a:xfrm>
            <a:off x="521550" y="3654025"/>
            <a:ext cx="3080916" cy="2809697"/>
          </a:xfrm>
          <a:prstGeom prst="rect">
            <a:avLst/>
          </a:prstGeom>
        </p:spPr>
      </p:pic>
      <p:pic>
        <p:nvPicPr>
          <p:cNvPr id="5" name="図 4">
            <a:extLst>
              <a:ext uri="{FF2B5EF4-FFF2-40B4-BE49-F238E27FC236}">
                <a16:creationId xmlns:a16="http://schemas.microsoft.com/office/drawing/2014/main" id="{33035781-215F-46D8-B6DC-D3E5B4DDA932}"/>
              </a:ext>
            </a:extLst>
          </p:cNvPr>
          <p:cNvPicPr>
            <a:picLocks noChangeAspect="1"/>
          </p:cNvPicPr>
          <p:nvPr/>
        </p:nvPicPr>
        <p:blipFill>
          <a:blip r:embed="rId3"/>
          <a:stretch>
            <a:fillRect/>
          </a:stretch>
        </p:blipFill>
        <p:spPr>
          <a:xfrm>
            <a:off x="2771800" y="4554125"/>
            <a:ext cx="6038850" cy="1257300"/>
          </a:xfrm>
          <a:prstGeom prst="rect">
            <a:avLst/>
          </a:prstGeom>
        </p:spPr>
      </p:pic>
    </p:spTree>
    <p:extLst>
      <p:ext uri="{BB962C8B-B14F-4D97-AF65-F5344CB8AC3E}">
        <p14:creationId xmlns:p14="http://schemas.microsoft.com/office/powerpoint/2010/main" val="269369084"/>
      </p:ext>
    </p:extLst>
  </p:cSld>
  <p:clrMapOvr>
    <a:masterClrMapping/>
  </p:clrMapOvr>
</p:sld>
</file>

<file path=ppt/theme/theme1.xml><?xml version="1.0" encoding="utf-8"?>
<a:theme xmlns:a="http://schemas.openxmlformats.org/drawingml/2006/main" name="テーマ1">
  <a:themeElements>
    <a:clrScheme name="01_NKstandard-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1_NKstandard-A">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01_NKstandard-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1_NKstandard-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1_NKstandard-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1_NKstandard-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1_NKstandard-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1_NKstandard-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1_NKstandard-A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1_NKstandard-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1_NKstandard-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1_NKstandard-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01_NKstandard-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1_NKstandard-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テーマ1</Template>
  <TotalTime>28823</TotalTime>
  <Words>2604</Words>
  <Application>Microsoft Office PowerPoint</Application>
  <PresentationFormat>画面に合わせる (4:3)</PresentationFormat>
  <Paragraphs>269</Paragraphs>
  <Slides>15</Slides>
  <Notes>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ＭＳ Ｐゴシック</vt:lpstr>
      <vt:lpstr>Noto Sans CJK JP Bold</vt:lpstr>
      <vt:lpstr>Arial</vt:lpstr>
      <vt:lpstr>Calibri</vt:lpstr>
      <vt:lpstr>テーマ1</vt:lpstr>
      <vt:lpstr>日本光電富岡株式会社 サーバシステムについて</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日本光電工業株式会社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小松　茂男</dc:creator>
  <cp:lastModifiedBy>IGARASHI Junichi (五十嵐 淳一)</cp:lastModifiedBy>
  <cp:revision>1063</cp:revision>
  <dcterms:created xsi:type="dcterms:W3CDTF">2013-10-09T06:30:30Z</dcterms:created>
  <dcterms:modified xsi:type="dcterms:W3CDTF">2021-03-10T11:41:06Z</dcterms:modified>
</cp:coreProperties>
</file>