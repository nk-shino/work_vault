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4" r:id="rId4"/>
    <p:sldId id="283" r:id="rId5"/>
    <p:sldId id="270" r:id="rId6"/>
    <p:sldId id="268" r:id="rId7"/>
    <p:sldId id="271" r:id="rId8"/>
    <p:sldId id="273" r:id="rId9"/>
    <p:sldId id="276" r:id="rId10"/>
    <p:sldId id="269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77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C3DEC2-46E0-9754-F64C-605592E44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D7FBC6-49EA-982E-BAAC-A1308592C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3D1131-7717-F8CE-E1B7-960A6FAD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D3BC2E-E3F2-ECCC-DE01-795CBC77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48C466-1947-6560-A5FD-DFFA89A9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887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D94164-3EC9-07AF-418B-7DA19653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513259-7E29-79F5-6695-3F5E3437D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4B595A-72DC-54D4-A258-241AE4F4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B57FED-299A-48EB-9BD3-946B625D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755A48-228A-F6CD-BD2A-1947F44B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45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6E9218-00E2-3BC5-0D81-319033C0D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4794F6-E317-36A5-C7C0-261FD921F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D7C08B-56AF-DF5D-8A8F-AF53BA1E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1D4C54-78F5-3543-351E-D5CF052D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6A90A7-3991-1A87-EF97-1B79F0D2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442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DB8AA-0924-A78F-0671-79FC310B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F50CE-41D9-E840-35C1-58FBB3E39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33D678-5A7B-9154-7EFC-99806B3DC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EE4457-32B1-A89B-A826-E90D8D9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297651-1035-586A-1915-30885AAF4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46CBF3-0FB9-C608-CEED-AC2F8B8C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96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FB4C43-53AB-0D22-E4D9-4B1BCB60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D43842-2CBF-CDE9-8DDD-801536FCC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61E62D-6EB5-F60B-9E17-0BAC037E5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ACB4D8-794B-855E-CF8E-5CEA64004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D6EAE93-2C43-8D8E-1841-AEDD1DB50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5380DDE-6864-5409-C565-3014AA9C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8CAAE69-7E9E-CBFE-BBE1-3A360A23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B596BBD-D182-254A-9784-1E45B375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72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19040F-F5DD-EE6E-7163-6A29E6E8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346ADE-92D2-AF42-416E-46E2974A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3CC791-BAB4-B2C6-82BA-69CEEC84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7933D1-10FF-D70F-792C-5EFF8C0E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09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78E3F7D-894E-3D49-2F2E-B9F40526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39AD1D9-0528-466F-1B44-5E7CA137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CE1726-82A3-634C-0CF2-CAF4486D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25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5EA458-EB84-B8DC-01E0-478E27A8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CEECEA-5671-C162-EF58-ADE052D61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67E89A-9404-D6F0-2662-ED5E9DB1B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6E4B6B-AA15-D981-3657-4A717FF8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F42330-EF9E-C264-2385-0741F789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B7DF9C-202F-06DF-B6DE-ACCEAD12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486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5A6283-102A-E4B5-8561-C54146EA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229033-CBA6-5BEE-359E-B4C8E85CC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718E5C-93BF-20E3-53A8-EEEC50699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32C678-2900-F97E-8624-6547DD75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CD3974-D661-2BC8-C5D1-FFDF5278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FEF35F-347C-2B8F-9A05-F8F3BE6E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95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02DD90-90D3-3C42-094D-F6067BC32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CCCCE7-1E33-E363-1F86-62FB1528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FC1653-004A-2244-573F-2AE378FC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8C5B42-BF4C-0928-084D-2098201C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5616E0-A514-B011-15A8-F6F54728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49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885EA38-17CD-A1CD-F465-5A7C98FD9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9D2BE76-068C-A80F-2CC4-B0F31ADDD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CDC062-0BC8-8A53-434E-9D1CDE4C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A6622E-451C-1E6A-4F29-F2DFE99D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18E25F-19B7-5CBA-CFE9-012EE010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68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9F71E2-EDBF-BCE4-7342-8624053B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5BCE29-D23F-EE29-9359-A8173C049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8AF5DD-6295-DFB0-F790-ADFD089F6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0A37B-0D57-4E20-8CC3-AC82D12BF486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04B6A0-6284-D0E1-C4DB-C3308488C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0D695F-0386-AE58-582A-D445976E0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229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nksvmes01s.ad.nkc.co.jp/apriso/apriso/#/search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F1A5FE-2012-6CCD-7849-1B557DE3E4D4}"/>
              </a:ext>
            </a:extLst>
          </p:cNvPr>
          <p:cNvSpPr txBox="1"/>
          <p:nvPr/>
        </p:nvSpPr>
        <p:spPr>
          <a:xfrm>
            <a:off x="2814181" y="2498385"/>
            <a:ext cx="65636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b="1" dirty="0"/>
              <a:t>入庫手順</a:t>
            </a:r>
            <a:endParaRPr kumimoji="1" lang="ja-JP" alt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57709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E1BF50E-BC05-4A21-2E7F-B7984FFBC4A0}"/>
              </a:ext>
            </a:extLst>
          </p:cNvPr>
          <p:cNvSpPr/>
          <p:nvPr/>
        </p:nvSpPr>
        <p:spPr>
          <a:xfrm>
            <a:off x="2564171" y="412955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鹿島入庫処理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709E5FF-0045-04F1-FE69-BA26398490B3}"/>
              </a:ext>
            </a:extLst>
          </p:cNvPr>
          <p:cNvSpPr/>
          <p:nvPr/>
        </p:nvSpPr>
        <p:spPr>
          <a:xfrm>
            <a:off x="2564170" y="1686233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04020</a:t>
            </a:r>
          </a:p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（正味量消費）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3796EAD-90EF-E7CE-3CE5-6A475E6E8925}"/>
              </a:ext>
            </a:extLst>
          </p:cNvPr>
          <p:cNvSpPr/>
          <p:nvPr/>
        </p:nvSpPr>
        <p:spPr>
          <a:xfrm>
            <a:off x="2564169" y="4141531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04050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（入庫現品票印刷）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0F04AB3-4A73-16F7-847B-53D86EB670DC}"/>
              </a:ext>
            </a:extLst>
          </p:cNvPr>
          <p:cNvSpPr/>
          <p:nvPr/>
        </p:nvSpPr>
        <p:spPr>
          <a:xfrm>
            <a:off x="2564169" y="5503299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90010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（ロケーション変更と棚登録）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306EFCB-BEDF-5B61-2B9B-9B9C366498B2}"/>
              </a:ext>
            </a:extLst>
          </p:cNvPr>
          <p:cNvSpPr/>
          <p:nvPr/>
        </p:nvSpPr>
        <p:spPr>
          <a:xfrm>
            <a:off x="5213964" y="412955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自社入庫処理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FEAB060-4E42-22C6-ECF3-5A72DC45C0FE}"/>
              </a:ext>
            </a:extLst>
          </p:cNvPr>
          <p:cNvSpPr/>
          <p:nvPr/>
        </p:nvSpPr>
        <p:spPr>
          <a:xfrm>
            <a:off x="2564168" y="2958127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04040</a:t>
            </a:r>
            <a:r>
              <a:rPr lang="ja-JP" altLang="en-US" sz="1200" dirty="0">
                <a:solidFill>
                  <a:schemeClr val="tx1"/>
                </a:solidFill>
              </a:rPr>
              <a:t>（承認）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0D072A7-44DD-77CB-5F6C-9EA039E2AF7A}"/>
              </a:ext>
            </a:extLst>
          </p:cNvPr>
          <p:cNvSpPr/>
          <p:nvPr/>
        </p:nvSpPr>
        <p:spPr>
          <a:xfrm>
            <a:off x="5213965" y="4141531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04050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（入庫現品票印刷）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3856DE0-627B-8C4D-A236-1BCC5B11327C}"/>
              </a:ext>
            </a:extLst>
          </p:cNvPr>
          <p:cNvSpPr/>
          <p:nvPr/>
        </p:nvSpPr>
        <p:spPr>
          <a:xfrm>
            <a:off x="5213965" y="5503299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90010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（ロケーション変更と棚登録）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CFB51AA-949A-6F76-DAD6-85B0435C2A84}"/>
              </a:ext>
            </a:extLst>
          </p:cNvPr>
          <p:cNvSpPr/>
          <p:nvPr/>
        </p:nvSpPr>
        <p:spPr>
          <a:xfrm>
            <a:off x="5213964" y="2958127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04040</a:t>
            </a:r>
            <a:r>
              <a:rPr lang="ja-JP" altLang="en-US" sz="1200" dirty="0">
                <a:solidFill>
                  <a:schemeClr val="tx1"/>
                </a:solidFill>
              </a:rPr>
              <a:t>（承認）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DDAB0BA-C7F4-8DEE-8D02-EBD2FAFCDD68}"/>
              </a:ext>
            </a:extLst>
          </p:cNvPr>
          <p:cNvSpPr/>
          <p:nvPr/>
        </p:nvSpPr>
        <p:spPr>
          <a:xfrm>
            <a:off x="5213964" y="1685541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バックフラッシュ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完了確認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矢印: 下 14">
            <a:extLst>
              <a:ext uri="{FF2B5EF4-FFF2-40B4-BE49-F238E27FC236}">
                <a16:creationId xmlns:a16="http://schemas.microsoft.com/office/drawing/2014/main" id="{6E0B45F3-A37D-656A-6C17-3191FCB909BA}"/>
              </a:ext>
            </a:extLst>
          </p:cNvPr>
          <p:cNvSpPr/>
          <p:nvPr/>
        </p:nvSpPr>
        <p:spPr>
          <a:xfrm>
            <a:off x="3276187" y="1224116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69993DF5-6F94-2007-48A8-830050C1FE71}"/>
              </a:ext>
            </a:extLst>
          </p:cNvPr>
          <p:cNvSpPr/>
          <p:nvPr/>
        </p:nvSpPr>
        <p:spPr>
          <a:xfrm>
            <a:off x="3276187" y="2537106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下 16">
            <a:extLst>
              <a:ext uri="{FF2B5EF4-FFF2-40B4-BE49-F238E27FC236}">
                <a16:creationId xmlns:a16="http://schemas.microsoft.com/office/drawing/2014/main" id="{9393C1F9-E9C5-F815-38C3-E8986BF78FFF}"/>
              </a:ext>
            </a:extLst>
          </p:cNvPr>
          <p:cNvSpPr/>
          <p:nvPr/>
        </p:nvSpPr>
        <p:spPr>
          <a:xfrm>
            <a:off x="3276187" y="3725043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下 17">
            <a:extLst>
              <a:ext uri="{FF2B5EF4-FFF2-40B4-BE49-F238E27FC236}">
                <a16:creationId xmlns:a16="http://schemas.microsoft.com/office/drawing/2014/main" id="{E7E082D2-55CC-D06C-A5E8-69CBE12F181B}"/>
              </a:ext>
            </a:extLst>
          </p:cNvPr>
          <p:cNvSpPr/>
          <p:nvPr/>
        </p:nvSpPr>
        <p:spPr>
          <a:xfrm>
            <a:off x="3276187" y="5006898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下 18">
            <a:extLst>
              <a:ext uri="{FF2B5EF4-FFF2-40B4-BE49-F238E27FC236}">
                <a16:creationId xmlns:a16="http://schemas.microsoft.com/office/drawing/2014/main" id="{034A428D-D25E-B760-0CC6-91634ED9A231}"/>
              </a:ext>
            </a:extLst>
          </p:cNvPr>
          <p:cNvSpPr/>
          <p:nvPr/>
        </p:nvSpPr>
        <p:spPr>
          <a:xfrm>
            <a:off x="5943187" y="1236816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下 19">
            <a:extLst>
              <a:ext uri="{FF2B5EF4-FFF2-40B4-BE49-F238E27FC236}">
                <a16:creationId xmlns:a16="http://schemas.microsoft.com/office/drawing/2014/main" id="{86DE21CD-167E-35E1-84B9-534443601E6B}"/>
              </a:ext>
            </a:extLst>
          </p:cNvPr>
          <p:cNvSpPr/>
          <p:nvPr/>
        </p:nvSpPr>
        <p:spPr>
          <a:xfrm>
            <a:off x="5943187" y="2549806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下 20">
            <a:extLst>
              <a:ext uri="{FF2B5EF4-FFF2-40B4-BE49-F238E27FC236}">
                <a16:creationId xmlns:a16="http://schemas.microsoft.com/office/drawing/2014/main" id="{1E4CB770-F753-3B9A-2D47-B21B72650DFD}"/>
              </a:ext>
            </a:extLst>
          </p:cNvPr>
          <p:cNvSpPr/>
          <p:nvPr/>
        </p:nvSpPr>
        <p:spPr>
          <a:xfrm>
            <a:off x="5943187" y="3737743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下 21">
            <a:extLst>
              <a:ext uri="{FF2B5EF4-FFF2-40B4-BE49-F238E27FC236}">
                <a16:creationId xmlns:a16="http://schemas.microsoft.com/office/drawing/2014/main" id="{0055C80A-330A-C2AD-CC17-98C79D2648C3}"/>
              </a:ext>
            </a:extLst>
          </p:cNvPr>
          <p:cNvSpPr/>
          <p:nvPr/>
        </p:nvSpPr>
        <p:spPr>
          <a:xfrm>
            <a:off x="5943187" y="5019598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2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58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083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B77122A-91EF-9E7A-876C-C9D1E083A538}"/>
              </a:ext>
            </a:extLst>
          </p:cNvPr>
          <p:cNvSpPr txBox="1"/>
          <p:nvPr/>
        </p:nvSpPr>
        <p:spPr>
          <a:xfrm>
            <a:off x="1417528" y="1536174"/>
            <a:ext cx="93569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000" b="1" dirty="0"/>
              <a:t>正味量消費手順</a:t>
            </a:r>
            <a:endParaRPr lang="en-US" altLang="ja-JP" sz="6000" b="1" dirty="0"/>
          </a:p>
          <a:p>
            <a:pPr algn="ctr"/>
            <a:r>
              <a:rPr lang="en-US" altLang="ja-JP" sz="6000" b="1" dirty="0"/>
              <a:t>(</a:t>
            </a:r>
            <a:r>
              <a:rPr lang="ja-JP" altLang="en-US" sz="6000" b="1" dirty="0"/>
              <a:t>使用部品を落とす方法</a:t>
            </a:r>
            <a:r>
              <a:rPr lang="en-US" altLang="ja-JP" sz="6000" b="1" dirty="0"/>
              <a:t>)</a:t>
            </a:r>
          </a:p>
          <a:p>
            <a:pPr algn="ctr"/>
            <a:endParaRPr kumimoji="1" lang="en-US" altLang="ja-JP" sz="6000" b="1" dirty="0"/>
          </a:p>
          <a:p>
            <a:pPr algn="ctr"/>
            <a:r>
              <a:rPr kumimoji="1" lang="ja-JP" altLang="en-US" sz="6000" b="1" dirty="0"/>
              <a:t>鹿島生産のみ</a:t>
            </a:r>
            <a:endParaRPr kumimoji="1" lang="en-US" altLang="ja-JP" sz="6000" b="1" dirty="0"/>
          </a:p>
        </p:txBody>
      </p:sp>
    </p:spTree>
    <p:extLst>
      <p:ext uri="{BB962C8B-B14F-4D97-AF65-F5344CB8AC3E}">
        <p14:creationId xmlns:p14="http://schemas.microsoft.com/office/powerpoint/2010/main" val="264891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D61C5F7-3FF2-9A88-58CD-CDB7680F0B83}"/>
              </a:ext>
            </a:extLst>
          </p:cNvPr>
          <p:cNvSpPr txBox="1"/>
          <p:nvPr/>
        </p:nvSpPr>
        <p:spPr>
          <a:xfrm>
            <a:off x="1027132" y="764088"/>
            <a:ext cx="82421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r>
              <a:rPr lang="en-US" altLang="ja-JP" dirty="0"/>
              <a:t>04020_</a:t>
            </a:r>
            <a:r>
              <a:rPr lang="ja-JP" altLang="en-US" dirty="0"/>
              <a:t>製造実績登録をクリック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							</a:t>
            </a:r>
          </a:p>
          <a:p>
            <a:r>
              <a:rPr lang="ja-JP" altLang="en-US" dirty="0"/>
              <a:t>②</a:t>
            </a:r>
            <a:r>
              <a:rPr lang="en-US" altLang="ja-JP" dirty="0"/>
              <a:t>【</a:t>
            </a:r>
            <a:r>
              <a:rPr lang="ja-JP" altLang="en-US" dirty="0"/>
              <a:t>製造指図</a:t>
            </a:r>
            <a:r>
              <a:rPr lang="en-US" altLang="ja-JP" dirty="0"/>
              <a:t>No.】</a:t>
            </a:r>
            <a:r>
              <a:rPr lang="ja-JP" altLang="en-US" dirty="0"/>
              <a:t>に指図を入れ、</a:t>
            </a:r>
            <a:r>
              <a:rPr lang="en-US" altLang="ja-JP" dirty="0"/>
              <a:t>【</a:t>
            </a:r>
            <a:r>
              <a:rPr lang="ja-JP" altLang="en-US" dirty="0"/>
              <a:t>検索</a:t>
            </a:r>
            <a:r>
              <a:rPr lang="en-US" altLang="ja-JP" dirty="0"/>
              <a:t>】</a:t>
            </a:r>
            <a:r>
              <a:rPr lang="ja-JP" altLang="en-US" dirty="0"/>
              <a:t>をクリックすると、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lang="en-US" altLang="ja-JP" dirty="0"/>
              <a:t>【</a:t>
            </a:r>
            <a:r>
              <a:rPr lang="ja-JP" altLang="en-US" dirty="0"/>
              <a:t>プラント</a:t>
            </a:r>
            <a:r>
              <a:rPr lang="en-US" altLang="ja-JP" dirty="0"/>
              <a:t>】</a:t>
            </a:r>
            <a:r>
              <a:rPr lang="ja-JP" altLang="en-US" dirty="0"/>
              <a:t>と</a:t>
            </a:r>
            <a:r>
              <a:rPr lang="en-US" altLang="ja-JP" dirty="0"/>
              <a:t>【</a:t>
            </a:r>
            <a:r>
              <a:rPr lang="ja-JP" altLang="en-US" dirty="0"/>
              <a:t>製造ライン</a:t>
            </a:r>
            <a:r>
              <a:rPr lang="en-US" altLang="ja-JP" dirty="0"/>
              <a:t>】</a:t>
            </a:r>
            <a:r>
              <a:rPr lang="ja-JP" altLang="en-US" dirty="0"/>
              <a:t>の所に情報が入る。</a:t>
            </a:r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428DF17-9AB0-1F49-57E5-ED3CA405D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163" y="1554587"/>
            <a:ext cx="1448002" cy="148610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5BA769E-5FE9-CF78-3C9F-EF489239A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4503201"/>
            <a:ext cx="9859751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05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C482F9-AEB4-0891-A404-E9CB2BFD089E}"/>
              </a:ext>
            </a:extLst>
          </p:cNvPr>
          <p:cNvSpPr txBox="1"/>
          <p:nvPr/>
        </p:nvSpPr>
        <p:spPr>
          <a:xfrm>
            <a:off x="1027132" y="764088"/>
            <a:ext cx="82421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③チェックを入れる。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④</a:t>
            </a:r>
            <a:r>
              <a:rPr lang="en-US" altLang="ja-JP" dirty="0"/>
              <a:t>【</a:t>
            </a:r>
            <a:r>
              <a:rPr lang="ja-JP" altLang="en-US" dirty="0"/>
              <a:t>工程別詳細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B01544A-ECC5-29DC-CC1E-2DD5AD31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32" y="1410419"/>
            <a:ext cx="7659169" cy="145752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613F4B8-D154-A8AD-7BD8-6A7F5B62A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47" y="3847429"/>
            <a:ext cx="8242127" cy="60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9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DCA9E-8A80-F06E-04E6-0D353993F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CF620E-6ED4-099B-7298-B9B62EF6E111}"/>
              </a:ext>
            </a:extLst>
          </p:cNvPr>
          <p:cNvSpPr txBox="1"/>
          <p:nvPr/>
        </p:nvSpPr>
        <p:spPr>
          <a:xfrm>
            <a:off x="1027132" y="764088"/>
            <a:ext cx="103457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r>
              <a:rPr lang="en-US" altLang="ja-JP" dirty="0"/>
              <a:t>【</a:t>
            </a:r>
            <a:r>
              <a:rPr lang="ja-JP" altLang="en-US" dirty="0"/>
              <a:t>工程進捗ステータス</a:t>
            </a:r>
            <a:r>
              <a:rPr lang="en-US" altLang="ja-JP" dirty="0"/>
              <a:t>】</a:t>
            </a:r>
            <a:r>
              <a:rPr lang="ja-JP" altLang="en-US" dirty="0"/>
              <a:t>の所が、半成品入庫以外、</a:t>
            </a:r>
            <a:endParaRPr lang="en-US" altLang="ja-JP" dirty="0"/>
          </a:p>
          <a:p>
            <a:r>
              <a:rPr lang="ja-JP" altLang="en-US" dirty="0"/>
              <a:t>　　完了になっていることを確認する。</a:t>
            </a:r>
            <a:endParaRPr lang="en-US" altLang="ja-JP" dirty="0"/>
          </a:p>
          <a:p>
            <a:r>
              <a:rPr lang="ja-JP" altLang="en-US" dirty="0"/>
              <a:t>　　</a:t>
            </a:r>
            <a:r>
              <a:rPr lang="en-US" altLang="ja-JP" dirty="0"/>
              <a:t>※</a:t>
            </a:r>
            <a:r>
              <a:rPr lang="ja-JP" altLang="en-US" dirty="0"/>
              <a:t>完了になっていなかった場合、担当者に完了してもらってから、入庫作業を実施する。</a:t>
            </a:r>
            <a:endParaRPr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97FCE4E-CE10-CC67-DEBB-D8F45C8B6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99" y="1944492"/>
            <a:ext cx="6030167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1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C207-8411-1299-8DE6-14B37751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36393E-05AE-EDDB-72F8-BF34FE473A37}"/>
              </a:ext>
            </a:extLst>
          </p:cNvPr>
          <p:cNvSpPr txBox="1"/>
          <p:nvPr/>
        </p:nvSpPr>
        <p:spPr>
          <a:xfrm>
            <a:off x="1027132" y="764088"/>
            <a:ext cx="103457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⑥戻る　　　をクリックする。　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⑦再度、チェックを入れる。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⑧</a:t>
            </a:r>
            <a:r>
              <a:rPr lang="en-US" altLang="ja-JP" dirty="0"/>
              <a:t>【</a:t>
            </a:r>
            <a:r>
              <a:rPr lang="ja-JP" altLang="en-US" dirty="0"/>
              <a:t>正味量消費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BBCA308-6CF2-AA2F-3800-69787AE58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774" y="764088"/>
            <a:ext cx="400106" cy="31436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7F9AC5C-F3D2-2A47-AF21-2204B8C68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146" y="2394409"/>
            <a:ext cx="8242127" cy="60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29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6AA1A9-E8D4-AC66-E672-6DA4D8E72B63}"/>
              </a:ext>
            </a:extLst>
          </p:cNvPr>
          <p:cNvSpPr txBox="1"/>
          <p:nvPr/>
        </p:nvSpPr>
        <p:spPr>
          <a:xfrm>
            <a:off x="2066793" y="2413337"/>
            <a:ext cx="8242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/>
              <a:t>入庫現品票　出力手順</a:t>
            </a:r>
            <a:endParaRPr kumimoji="1" lang="en-US" altLang="ja-JP" sz="6000" b="1" dirty="0"/>
          </a:p>
        </p:txBody>
      </p:sp>
    </p:spTree>
    <p:extLst>
      <p:ext uri="{BB962C8B-B14F-4D97-AF65-F5344CB8AC3E}">
        <p14:creationId xmlns:p14="http://schemas.microsoft.com/office/powerpoint/2010/main" val="641698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138E89-B79B-8DEF-B8E3-3EE20F9E383C}"/>
              </a:ext>
            </a:extLst>
          </p:cNvPr>
          <p:cNvSpPr txBox="1"/>
          <p:nvPr/>
        </p:nvSpPr>
        <p:spPr>
          <a:xfrm>
            <a:off x="1027132" y="764088"/>
            <a:ext cx="82421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①</a:t>
            </a:r>
            <a:r>
              <a:rPr kumimoji="1" lang="en-US" altLang="ja-JP" dirty="0"/>
              <a:t>MES</a:t>
            </a:r>
            <a:r>
              <a:rPr kumimoji="1" lang="ja-JP" altLang="en-US" dirty="0"/>
              <a:t>を立ち上げる</a:t>
            </a:r>
            <a:endParaRPr kumimoji="1"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>
                <a:hlinkClick r:id="rId2"/>
              </a:rPr>
              <a:t>https://nksvmes01s.ad.nkc.co.jp/apriso/apriso/#/search</a:t>
            </a:r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②</a:t>
            </a:r>
            <a:r>
              <a:rPr lang="en-US" altLang="ja-JP" dirty="0"/>
              <a:t>04050_</a:t>
            </a:r>
            <a:r>
              <a:rPr lang="ja-JP" altLang="en-US" dirty="0"/>
              <a:t>完成品入庫をクリック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5CC2044-73B3-DAB2-0093-53BB83C6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944" y="3580243"/>
            <a:ext cx="1552792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91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290C2F5-0D2A-8F4F-4B78-65AC1F8681A1}"/>
              </a:ext>
            </a:extLst>
          </p:cNvPr>
          <p:cNvSpPr txBox="1"/>
          <p:nvPr/>
        </p:nvSpPr>
        <p:spPr>
          <a:xfrm>
            <a:off x="1027132" y="764088"/>
            <a:ext cx="82421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③</a:t>
            </a:r>
            <a:r>
              <a:rPr kumimoji="1" lang="en-US" altLang="ja-JP" dirty="0"/>
              <a:t>【</a:t>
            </a:r>
            <a:r>
              <a:rPr kumimoji="1" lang="ja-JP" altLang="en-US" dirty="0"/>
              <a:t>製造指図</a:t>
            </a:r>
            <a:r>
              <a:rPr kumimoji="1" lang="en-US" altLang="ja-JP" dirty="0"/>
              <a:t>No.】</a:t>
            </a:r>
            <a:r>
              <a:rPr kumimoji="1" lang="ja-JP" altLang="en-US" dirty="0"/>
              <a:t>を入力する。</a:t>
            </a:r>
            <a:endParaRPr kumimoji="1" lang="en-US" altLang="ja-JP" dirty="0"/>
          </a:p>
          <a:p>
            <a:r>
              <a:rPr kumimoji="1" lang="ja-JP" altLang="en-US" dirty="0"/>
              <a:t>④</a:t>
            </a:r>
            <a:r>
              <a:rPr kumimoji="1" lang="en-US" altLang="ja-JP" dirty="0"/>
              <a:t>【</a:t>
            </a:r>
            <a:r>
              <a:rPr kumimoji="1" lang="ja-JP" altLang="en-US" dirty="0"/>
              <a:t>ロット承認済</a:t>
            </a:r>
            <a:r>
              <a:rPr kumimoji="1" lang="en-US" altLang="ja-JP" dirty="0"/>
              <a:t>】</a:t>
            </a:r>
            <a:r>
              <a:rPr kumimoji="1" lang="ja-JP" altLang="en-US" dirty="0"/>
              <a:t>を選択</a:t>
            </a:r>
            <a:endParaRPr kumimoji="1" lang="en-US" altLang="ja-JP" dirty="0"/>
          </a:p>
          <a:p>
            <a:r>
              <a:rPr lang="ja-JP" altLang="en-US" dirty="0"/>
              <a:t>⑤</a:t>
            </a:r>
            <a:r>
              <a:rPr lang="en-US" altLang="ja-JP" dirty="0"/>
              <a:t>【</a:t>
            </a:r>
            <a:r>
              <a:rPr lang="ja-JP" altLang="en-US" dirty="0"/>
              <a:t>検索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※</a:t>
            </a:r>
            <a:r>
              <a:rPr kumimoji="1" lang="ja-JP" altLang="en-US" dirty="0"/>
              <a:t>プラントは</a:t>
            </a:r>
            <a:r>
              <a:rPr lang="ja-JP" altLang="en-US" dirty="0"/>
              <a:t>「</a:t>
            </a:r>
            <a:r>
              <a:rPr kumimoji="1" lang="en-US" altLang="ja-JP" dirty="0"/>
              <a:t>R020</a:t>
            </a:r>
            <a:r>
              <a:rPr kumimoji="1" lang="ja-JP" altLang="en-US" dirty="0"/>
              <a:t>」</a:t>
            </a:r>
            <a:r>
              <a:rPr lang="en-US" altLang="ja-JP" dirty="0"/>
              <a:t>   </a:t>
            </a:r>
            <a:r>
              <a:rPr lang="ja-JP" altLang="en-US" dirty="0"/>
              <a:t>製造ラインは「</a:t>
            </a:r>
            <a:r>
              <a:rPr lang="en-US" altLang="ja-JP" dirty="0"/>
              <a:t>R02</a:t>
            </a:r>
            <a:r>
              <a:rPr lang="ja-JP" altLang="en-US" dirty="0"/>
              <a:t>」が自動で入る</a:t>
            </a:r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0A92DC-1EE0-EED8-2B13-1C8D11C9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2911941"/>
            <a:ext cx="9745435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5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101A23-91AA-3971-4F31-ACCD4E4F4745}"/>
              </a:ext>
            </a:extLst>
          </p:cNvPr>
          <p:cNvSpPr txBox="1"/>
          <p:nvPr/>
        </p:nvSpPr>
        <p:spPr>
          <a:xfrm>
            <a:off x="1027132" y="764088"/>
            <a:ext cx="82421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　下記のように選択する。（クリック）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⑦</a:t>
            </a:r>
            <a:r>
              <a:rPr lang="en-US" altLang="ja-JP" dirty="0"/>
              <a:t>【</a:t>
            </a:r>
            <a:r>
              <a:rPr lang="ja-JP" altLang="en-US" dirty="0"/>
              <a:t>指図出来高明細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r>
              <a:rPr kumimoji="1" lang="ja-JP" altLang="en-US" dirty="0"/>
              <a:t>　　指図、品目、生産指示数、承認数などを確認する。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⑧戻るボタン　　　をクリックする</a:t>
            </a:r>
            <a:endParaRPr kumimoji="1" lang="en-US" altLang="ja-JP" dirty="0"/>
          </a:p>
          <a:p>
            <a:r>
              <a:rPr lang="ja-JP" altLang="en-US" dirty="0"/>
              <a:t>　　　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9E1E1B3-4B5D-7E60-E0D7-AE02C271F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102" y="1428580"/>
            <a:ext cx="9199028" cy="118090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91E86D9-CE8B-7FDB-A6FC-BAB8852B0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126" y="4248515"/>
            <a:ext cx="9809748" cy="915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FD12219-4D85-D335-0B97-AE8C101DD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630" y="5524122"/>
            <a:ext cx="2076740" cy="77163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B45DE7C-2F6F-B296-DA7B-D4B77EF3C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142" y="5734054"/>
            <a:ext cx="400106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91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4112D8-2793-F62B-A9B2-A78FC51923A7}"/>
              </a:ext>
            </a:extLst>
          </p:cNvPr>
          <p:cNvSpPr txBox="1"/>
          <p:nvPr/>
        </p:nvSpPr>
        <p:spPr>
          <a:xfrm>
            <a:off x="1027132" y="764088"/>
            <a:ext cx="82421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⑨　⑥と同じ　　選択する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⑩</a:t>
            </a:r>
            <a:r>
              <a:rPr lang="en-US" altLang="ja-JP" dirty="0"/>
              <a:t>【</a:t>
            </a:r>
            <a:r>
              <a:rPr lang="ja-JP" altLang="en-US" dirty="0"/>
              <a:t>登録</a:t>
            </a:r>
            <a:r>
              <a:rPr lang="en-US" altLang="ja-JP" dirty="0"/>
              <a:t>】</a:t>
            </a:r>
            <a:r>
              <a:rPr lang="ja-JP" altLang="en-US" dirty="0"/>
              <a:t>をクリックする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D14CD4F-8CAC-77E2-9F5A-958E08672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732" y="1340897"/>
            <a:ext cx="9199028" cy="118090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8E517C0-8740-B963-9B10-0C3A96B6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888" y="3332024"/>
            <a:ext cx="2556716" cy="118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12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22F0AF2-E899-41A5-F6D1-CDAC3A704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39" y="1542787"/>
            <a:ext cx="6668431" cy="188621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0915A84-4676-D59F-4FA8-48EA220348A0}"/>
              </a:ext>
            </a:extLst>
          </p:cNvPr>
          <p:cNvSpPr txBox="1"/>
          <p:nvPr/>
        </p:nvSpPr>
        <p:spPr>
          <a:xfrm>
            <a:off x="1027132" y="764088"/>
            <a:ext cx="824212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⑪下記のように選択する。（クリック）</a:t>
            </a:r>
            <a:endParaRPr lang="en-US" altLang="ja-JP" dirty="0"/>
          </a:p>
          <a:p>
            <a:r>
              <a:rPr lang="ja-JP" altLang="en-US" dirty="0"/>
              <a:t>⑫良品数を確認 </a:t>
            </a:r>
            <a:r>
              <a:rPr lang="en-US" altLang="ja-JP" dirty="0"/>
              <a:t>or</a:t>
            </a:r>
            <a:r>
              <a:rPr lang="ja-JP" altLang="en-US" dirty="0"/>
              <a:t>入力する。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⑬</a:t>
            </a:r>
            <a:r>
              <a:rPr lang="en-US" altLang="ja-JP" dirty="0"/>
              <a:t>【</a:t>
            </a:r>
            <a:r>
              <a:rPr lang="ja-JP" altLang="en-US" dirty="0"/>
              <a:t>登録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⑭戻るボタン　　　をクリックする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C548E9B-2168-3C19-3F6D-9D50C4745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772" y="4357327"/>
            <a:ext cx="2476846" cy="85737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8E3FA7B-7E31-DF17-9791-A588D38C9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142" y="5734054"/>
            <a:ext cx="400106" cy="29531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48C49D2-97DA-1D91-210A-CEB079D67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248" y="5816215"/>
            <a:ext cx="2076740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17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70CF4F3-2102-3B5B-3A18-DEB7476581A2}"/>
              </a:ext>
            </a:extLst>
          </p:cNvPr>
          <p:cNvSpPr txBox="1"/>
          <p:nvPr/>
        </p:nvSpPr>
        <p:spPr>
          <a:xfrm>
            <a:off x="1027132" y="764088"/>
            <a:ext cx="82421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⑮下記のように選択する。（クリック）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⑯</a:t>
            </a:r>
            <a:r>
              <a:rPr lang="en-US" altLang="ja-JP" dirty="0"/>
              <a:t>【</a:t>
            </a:r>
            <a:r>
              <a:rPr lang="ja-JP" altLang="en-US" dirty="0"/>
              <a:t>入庫現品票印刷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r>
              <a:rPr lang="ja-JP" altLang="en-US" dirty="0"/>
              <a:t>　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3FDEE08-A22C-7E12-3815-FCD35CA1A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78" y="1457875"/>
            <a:ext cx="9502027" cy="197112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29AB7C5-482D-E8DE-5D28-DED47AB75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771" y="4859500"/>
            <a:ext cx="2000529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01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F204C5E-9F32-4399-112A-FCE30BB7C3E8}"/>
              </a:ext>
            </a:extLst>
          </p:cNvPr>
          <p:cNvSpPr txBox="1"/>
          <p:nvPr/>
        </p:nvSpPr>
        <p:spPr>
          <a:xfrm>
            <a:off x="1027132" y="764088"/>
            <a:ext cx="82421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⑰</a:t>
            </a:r>
            <a:r>
              <a:rPr lang="en-US" altLang="ja-JP" dirty="0"/>
              <a:t>【</a:t>
            </a:r>
            <a:r>
              <a:rPr lang="ja-JP" altLang="en-US" dirty="0"/>
              <a:t>個数総数</a:t>
            </a:r>
            <a:r>
              <a:rPr lang="en-US" altLang="ja-JP" dirty="0"/>
              <a:t>】</a:t>
            </a:r>
            <a:r>
              <a:rPr lang="ja-JP" altLang="en-US" dirty="0"/>
              <a:t>に個数を入力　（箱が何箱）</a:t>
            </a:r>
            <a:endParaRPr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r>
              <a:rPr lang="ja-JP" altLang="en-US" dirty="0"/>
              <a:t>　　</a:t>
            </a:r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ja-JP" altLang="en-US" dirty="0">
                <a:solidFill>
                  <a:srgbClr val="FF0000"/>
                </a:solidFill>
              </a:rPr>
              <a:t>注意：</a:t>
            </a:r>
            <a:r>
              <a:rPr lang="en-US" altLang="ja-JP" dirty="0">
                <a:solidFill>
                  <a:srgbClr val="FF0000"/>
                </a:solidFill>
              </a:rPr>
              <a:t>【</a:t>
            </a:r>
            <a:r>
              <a:rPr lang="ja-JP" altLang="en-US" dirty="0">
                <a:solidFill>
                  <a:srgbClr val="FF0000"/>
                </a:solidFill>
              </a:rPr>
              <a:t>シリアルごとに出力</a:t>
            </a:r>
            <a:r>
              <a:rPr lang="en-US" altLang="ja-JP" dirty="0">
                <a:solidFill>
                  <a:srgbClr val="FF0000"/>
                </a:solidFill>
              </a:rPr>
              <a:t>】</a:t>
            </a:r>
            <a:r>
              <a:rPr lang="ja-JP" altLang="en-US" dirty="0">
                <a:solidFill>
                  <a:srgbClr val="FF0000"/>
                </a:solidFill>
              </a:rPr>
              <a:t>にチェックを入れないこと</a:t>
            </a:r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/>
              <a:t>⑱プリンターを選択　　　</a:t>
            </a:r>
            <a:r>
              <a:rPr lang="en-US" altLang="ja-JP" dirty="0"/>
              <a:t>AOI2</a:t>
            </a:r>
            <a:r>
              <a:rPr lang="ja-JP" altLang="en-US" dirty="0"/>
              <a:t>ライン付近のプリンタ　第</a:t>
            </a:r>
            <a:r>
              <a:rPr lang="en-US" altLang="ja-JP" dirty="0"/>
              <a:t>2</a:t>
            </a:r>
            <a:r>
              <a:rPr lang="ja-JP" altLang="en-US" dirty="0"/>
              <a:t>生産</a:t>
            </a:r>
            <a:r>
              <a:rPr lang="en-US" altLang="ja-JP" dirty="0"/>
              <a:t>1_01412</a:t>
            </a: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⑲</a:t>
            </a:r>
            <a:r>
              <a:rPr lang="en-US" altLang="ja-JP" dirty="0"/>
              <a:t>【</a:t>
            </a:r>
            <a:r>
              <a:rPr lang="ja-JP" altLang="en-US" dirty="0"/>
              <a:t>個口入数入力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　</a:t>
            </a:r>
            <a:endParaRPr lang="en-US" altLang="ja-JP" dirty="0">
              <a:solidFill>
                <a:srgbClr val="FF0000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9D35930-7B8E-2368-F6F6-6B753929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930" y="3429000"/>
            <a:ext cx="7647995" cy="186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38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2C2F9D2-A38D-DCA2-504B-C4E74FA635E0}"/>
              </a:ext>
            </a:extLst>
          </p:cNvPr>
          <p:cNvSpPr txBox="1"/>
          <p:nvPr/>
        </p:nvSpPr>
        <p:spPr>
          <a:xfrm>
            <a:off x="1027132" y="764088"/>
            <a:ext cx="82421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⑳</a:t>
            </a:r>
            <a:r>
              <a:rPr lang="en-US" altLang="ja-JP" dirty="0"/>
              <a:t>【</a:t>
            </a:r>
            <a:r>
              <a:rPr lang="ja-JP" altLang="en-US" dirty="0"/>
              <a:t>個口入数</a:t>
            </a:r>
            <a:r>
              <a:rPr lang="en-US" altLang="ja-JP" dirty="0"/>
              <a:t>】</a:t>
            </a:r>
            <a:r>
              <a:rPr lang="ja-JP" altLang="en-US" dirty="0"/>
              <a:t>に台数を入力する。</a:t>
            </a:r>
            <a:endParaRPr lang="en-US" altLang="ja-JP" dirty="0"/>
          </a:p>
          <a:p>
            <a:r>
              <a:rPr lang="ja-JP" altLang="en-US" dirty="0"/>
              <a:t>㉑</a:t>
            </a:r>
            <a:r>
              <a:rPr lang="en-US" altLang="ja-JP" dirty="0"/>
              <a:t>【</a:t>
            </a:r>
            <a:r>
              <a:rPr lang="ja-JP" altLang="en-US" dirty="0"/>
              <a:t>印刷</a:t>
            </a:r>
            <a:r>
              <a:rPr lang="en-US" altLang="ja-JP" dirty="0"/>
              <a:t>】</a:t>
            </a:r>
            <a:r>
              <a:rPr lang="ja-JP" altLang="en-US" dirty="0"/>
              <a:t>をクリック　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㉒下記のシールが発行（印刷）される。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CB469FA-79C5-161C-9E5E-B8ECF539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924" y="1540079"/>
            <a:ext cx="4315427" cy="144800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CA83FFD-9B38-830E-BBD9-2538A1B8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871" y="4053346"/>
            <a:ext cx="3629531" cy="18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516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2DBCB4-7CF8-D072-0640-A53FBF9B0553}"/>
              </a:ext>
            </a:extLst>
          </p:cNvPr>
          <p:cNvSpPr txBox="1"/>
          <p:nvPr/>
        </p:nvSpPr>
        <p:spPr>
          <a:xfrm>
            <a:off x="1027132" y="764088"/>
            <a:ext cx="105469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【</a:t>
            </a:r>
            <a:r>
              <a:rPr lang="ja-JP" altLang="en-US" dirty="0"/>
              <a:t>個数総数</a:t>
            </a:r>
            <a:r>
              <a:rPr lang="en-US" altLang="ja-JP" dirty="0"/>
              <a:t>】</a:t>
            </a:r>
            <a:r>
              <a:rPr lang="ja-JP" altLang="en-US" dirty="0"/>
              <a:t>が複数の場合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【</a:t>
            </a:r>
            <a:r>
              <a:rPr lang="ja-JP" altLang="en-US" dirty="0"/>
              <a:t>個口総数</a:t>
            </a:r>
            <a:r>
              <a:rPr lang="en-US" altLang="ja-JP" dirty="0"/>
              <a:t>】</a:t>
            </a:r>
            <a:r>
              <a:rPr lang="ja-JP" altLang="en-US" dirty="0"/>
              <a:t>に箱数を入力する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【</a:t>
            </a:r>
            <a:r>
              <a:rPr lang="ja-JP" altLang="en-US" dirty="0"/>
              <a:t>個口入数入力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箱に入っている基板数が同じの場合、</a:t>
            </a:r>
            <a:r>
              <a:rPr lang="en-US" altLang="ja-JP" dirty="0"/>
              <a:t>【</a:t>
            </a:r>
            <a:r>
              <a:rPr lang="ja-JP" altLang="en-US" dirty="0"/>
              <a:t>個口入数</a:t>
            </a:r>
            <a:r>
              <a:rPr lang="en-US" altLang="ja-JP" dirty="0"/>
              <a:t>】</a:t>
            </a:r>
            <a:r>
              <a:rPr lang="ja-JP" altLang="en-US" dirty="0"/>
              <a:t>を入力。</a:t>
            </a:r>
            <a:endParaRPr lang="en-US" altLang="ja-JP" dirty="0"/>
          </a:p>
          <a:p>
            <a:r>
              <a:rPr lang="en-US" altLang="ja-JP" dirty="0"/>
              <a:t>【</a:t>
            </a:r>
            <a:r>
              <a:rPr lang="ja-JP" altLang="en-US" dirty="0"/>
              <a:t>同じ個口入数で残りを作成</a:t>
            </a:r>
            <a:r>
              <a:rPr lang="en-US" altLang="ja-JP" dirty="0"/>
              <a:t>】</a:t>
            </a:r>
            <a:r>
              <a:rPr lang="ja-JP" altLang="en-US" dirty="0"/>
              <a:t>にチェックを入れて</a:t>
            </a:r>
            <a:r>
              <a:rPr lang="en-US" altLang="ja-JP" dirty="0"/>
              <a:t>【</a:t>
            </a:r>
            <a:r>
              <a:rPr lang="ja-JP" altLang="en-US" dirty="0"/>
              <a:t>印刷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8A2D7B2-9C3F-4EFB-0DA2-BCB4507DE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010" y="2443258"/>
            <a:ext cx="5287113" cy="144800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FE97301-2815-67CE-2A84-48E1AF146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910" y="5011405"/>
            <a:ext cx="4305901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5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623E0F-BC58-B827-9F61-1B18C605C99C}"/>
              </a:ext>
            </a:extLst>
          </p:cNvPr>
          <p:cNvSpPr txBox="1"/>
          <p:nvPr/>
        </p:nvSpPr>
        <p:spPr>
          <a:xfrm>
            <a:off x="1027132" y="764088"/>
            <a:ext cx="10546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箱に入っている基板数が違う場合、</a:t>
            </a:r>
            <a:r>
              <a:rPr lang="en-US" altLang="ja-JP" dirty="0"/>
              <a:t>【</a:t>
            </a:r>
            <a:r>
              <a:rPr lang="ja-JP" altLang="en-US" dirty="0"/>
              <a:t>個口入数</a:t>
            </a:r>
            <a:r>
              <a:rPr lang="en-US" altLang="ja-JP" dirty="0"/>
              <a:t>】</a:t>
            </a:r>
            <a:r>
              <a:rPr lang="ja-JP" altLang="en-US" dirty="0"/>
              <a:t>を入れ、</a:t>
            </a:r>
            <a:r>
              <a:rPr lang="en-US" altLang="ja-JP" dirty="0"/>
              <a:t>【</a:t>
            </a:r>
            <a:r>
              <a:rPr lang="ja-JP" altLang="en-US" dirty="0"/>
              <a:t>次へ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r>
              <a:rPr lang="ja-JP" altLang="en-US" dirty="0"/>
              <a:t>次の箱の</a:t>
            </a:r>
            <a:r>
              <a:rPr lang="en-US" altLang="ja-JP" dirty="0"/>
              <a:t>【</a:t>
            </a:r>
            <a:r>
              <a:rPr lang="ja-JP" altLang="en-US" dirty="0"/>
              <a:t>個口入数</a:t>
            </a:r>
            <a:r>
              <a:rPr lang="en-US" altLang="ja-JP" dirty="0"/>
              <a:t>】</a:t>
            </a:r>
            <a:r>
              <a:rPr lang="ja-JP" altLang="en-US" dirty="0"/>
              <a:t>を入れて、</a:t>
            </a:r>
            <a:r>
              <a:rPr lang="en-US" altLang="ja-JP" dirty="0"/>
              <a:t>【</a:t>
            </a:r>
            <a:r>
              <a:rPr lang="ja-JP" altLang="en-US" dirty="0"/>
              <a:t>印刷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B87481B-46C5-2AA4-C6A8-92E8F36BB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723" y="1573257"/>
            <a:ext cx="4324954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14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2D7FC6-3C2C-781F-53ED-919B6E62BF0F}"/>
              </a:ext>
            </a:extLst>
          </p:cNvPr>
          <p:cNvSpPr txBox="1"/>
          <p:nvPr/>
        </p:nvSpPr>
        <p:spPr>
          <a:xfrm>
            <a:off x="2066793" y="2413337"/>
            <a:ext cx="8242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/>
              <a:t>現物入庫手順</a:t>
            </a:r>
            <a:endParaRPr kumimoji="1" lang="en-US" altLang="ja-JP" sz="6000" b="1" dirty="0"/>
          </a:p>
        </p:txBody>
      </p:sp>
    </p:spTree>
    <p:extLst>
      <p:ext uri="{BB962C8B-B14F-4D97-AF65-F5344CB8AC3E}">
        <p14:creationId xmlns:p14="http://schemas.microsoft.com/office/powerpoint/2010/main" val="4082025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48D358-7B29-7C37-778B-610C5147A4C6}"/>
              </a:ext>
            </a:extLst>
          </p:cNvPr>
          <p:cNvSpPr txBox="1"/>
          <p:nvPr/>
        </p:nvSpPr>
        <p:spPr>
          <a:xfrm>
            <a:off x="1027132" y="691899"/>
            <a:ext cx="1054691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①入庫時の棚置き確認手順　　　ロケーション変更</a:t>
            </a:r>
          </a:p>
          <a:p>
            <a:endParaRPr lang="ja-JP" altLang="en-US" dirty="0"/>
          </a:p>
          <a:p>
            <a:endParaRPr lang="ja-JP" altLang="en-US" dirty="0"/>
          </a:p>
          <a:p>
            <a:r>
              <a:rPr lang="ja-JP" altLang="en-US" dirty="0"/>
              <a:t>①</a:t>
            </a:r>
            <a:r>
              <a:rPr lang="en-US" altLang="ja-JP" dirty="0"/>
              <a:t>08030‗</a:t>
            </a:r>
            <a:r>
              <a:rPr lang="ja-JP" altLang="en-US" dirty="0"/>
              <a:t>在庫照会</a:t>
            </a:r>
          </a:p>
          <a:p>
            <a:r>
              <a:rPr lang="ja-JP" altLang="en-US" dirty="0"/>
              <a:t>②プラントを設定する　</a:t>
            </a:r>
            <a:r>
              <a:rPr lang="en-US" altLang="ja-JP" dirty="0"/>
              <a:t>B020</a:t>
            </a:r>
          </a:p>
          <a:p>
            <a:r>
              <a:rPr lang="en-US" altLang="ja-JP" dirty="0"/>
              <a:t>③</a:t>
            </a:r>
            <a:r>
              <a:rPr lang="ja-JP" altLang="en-US" dirty="0"/>
              <a:t>品目コードを入力する　</a:t>
            </a:r>
          </a:p>
          <a:p>
            <a:r>
              <a:rPr lang="ja-JP" altLang="en-US" dirty="0"/>
              <a:t>④検索をクリックする</a:t>
            </a:r>
          </a:p>
          <a:p>
            <a:r>
              <a:rPr lang="ja-JP" altLang="en-US" dirty="0"/>
              <a:t>⑤ロケーションが入庫登録で*****</a:t>
            </a:r>
            <a:r>
              <a:rPr lang="en-US" altLang="ja-JP" dirty="0"/>
              <a:t>-1</a:t>
            </a:r>
            <a:r>
              <a:rPr lang="ja-JP" altLang="en-US" dirty="0"/>
              <a:t>が</a:t>
            </a:r>
            <a:r>
              <a:rPr lang="en-US" altLang="ja-JP" dirty="0"/>
              <a:t>-3</a:t>
            </a:r>
            <a:r>
              <a:rPr lang="ja-JP" altLang="en-US" dirty="0"/>
              <a:t>になることを確認する。</a:t>
            </a:r>
          </a:p>
          <a:p>
            <a:endParaRPr lang="ja-JP" altLang="en-US" dirty="0"/>
          </a:p>
          <a:p>
            <a:r>
              <a:rPr lang="ja-JP" altLang="en-US" dirty="0"/>
              <a:t>⑥ハンディーで登録する　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90010</a:t>
            </a:r>
            <a:r>
              <a:rPr lang="ja-JP" altLang="en-US" dirty="0"/>
              <a:t>を選択</a:t>
            </a:r>
          </a:p>
          <a:p>
            <a:r>
              <a:rPr lang="ja-JP" altLang="en-US" dirty="0"/>
              <a:t>　　・プラント  </a:t>
            </a:r>
            <a:r>
              <a:rPr lang="en-US" altLang="ja-JP" dirty="0"/>
              <a:t>F4</a:t>
            </a:r>
            <a:r>
              <a:rPr lang="ja-JP" altLang="en-US" dirty="0"/>
              <a:t>次へをクリック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QR</a:t>
            </a:r>
            <a:r>
              <a:rPr lang="ja-JP" altLang="en-US" dirty="0"/>
              <a:t>を読み込む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F4</a:t>
            </a:r>
            <a:r>
              <a:rPr lang="ja-JP" altLang="en-US" dirty="0"/>
              <a:t>次へをクリック</a:t>
            </a:r>
          </a:p>
          <a:p>
            <a:r>
              <a:rPr lang="ja-JP" altLang="en-US" dirty="0"/>
              <a:t>　　・置いた棚の札を読み込む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F4</a:t>
            </a:r>
            <a:r>
              <a:rPr lang="ja-JP" altLang="en-US" dirty="0"/>
              <a:t>登録をクリック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F3</a:t>
            </a:r>
            <a:r>
              <a:rPr lang="ja-JP" altLang="en-US" dirty="0"/>
              <a:t>終了をクリック</a:t>
            </a:r>
          </a:p>
          <a:p>
            <a:endParaRPr lang="ja-JP" altLang="en-US" dirty="0"/>
          </a:p>
          <a:p>
            <a:r>
              <a:rPr lang="ja-JP" altLang="en-US" dirty="0"/>
              <a:t>⑦⑤の所で検索をクリックし、******</a:t>
            </a:r>
            <a:r>
              <a:rPr lang="en-US" altLang="ja-JP" dirty="0"/>
              <a:t>-3</a:t>
            </a:r>
            <a:r>
              <a:rPr lang="ja-JP" altLang="en-US" dirty="0"/>
              <a:t>になっていることを確認する。</a:t>
            </a:r>
          </a:p>
          <a:p>
            <a:endParaRPr lang="ja-JP" altLang="en-US" dirty="0"/>
          </a:p>
          <a:p>
            <a:r>
              <a:rPr lang="ja-JP" altLang="en-US" dirty="0"/>
              <a:t>　分納の場合は、</a:t>
            </a:r>
            <a:r>
              <a:rPr lang="en-US" altLang="ja-JP" dirty="0"/>
              <a:t>1</a:t>
            </a:r>
            <a:r>
              <a:rPr lang="ja-JP" altLang="en-US" dirty="0"/>
              <a:t>つに統合される</a:t>
            </a:r>
          </a:p>
        </p:txBody>
      </p:sp>
    </p:spTree>
    <p:extLst>
      <p:ext uri="{BB962C8B-B14F-4D97-AF65-F5344CB8AC3E}">
        <p14:creationId xmlns:p14="http://schemas.microsoft.com/office/powerpoint/2010/main" val="3836400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274082-070F-779B-66ED-01A09ECC2866}"/>
              </a:ext>
            </a:extLst>
          </p:cNvPr>
          <p:cNvSpPr txBox="1"/>
          <p:nvPr/>
        </p:nvSpPr>
        <p:spPr>
          <a:xfrm>
            <a:off x="1027132" y="691899"/>
            <a:ext cx="105469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入庫済みの物を移動する時の方法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ハンディー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①</a:t>
            </a:r>
            <a:r>
              <a:rPr lang="en-US" altLang="ja-JP" dirty="0"/>
              <a:t>【90050_[HT]</a:t>
            </a:r>
            <a:r>
              <a:rPr lang="ja-JP" altLang="en-US" dirty="0"/>
              <a:t>棚移動実績登録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②物を移動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③</a:t>
            </a:r>
            <a:r>
              <a:rPr lang="en-US" altLang="ja-JP" dirty="0"/>
              <a:t>QR</a:t>
            </a:r>
            <a:r>
              <a:rPr lang="ja-JP" altLang="en-US" dirty="0"/>
              <a:t>を読み込む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④</a:t>
            </a:r>
            <a:r>
              <a:rPr lang="en-US" altLang="ja-JP" dirty="0"/>
              <a:t>【F4</a:t>
            </a:r>
            <a:r>
              <a:rPr lang="ja-JP" altLang="en-US" dirty="0"/>
              <a:t>次へ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⑤置いた棚の札を読み込む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⑥</a:t>
            </a:r>
            <a:r>
              <a:rPr lang="en-US" altLang="ja-JP" dirty="0"/>
              <a:t> 【F4</a:t>
            </a:r>
            <a:r>
              <a:rPr lang="ja-JP" altLang="en-US" dirty="0"/>
              <a:t>登録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⑦</a:t>
            </a:r>
            <a:r>
              <a:rPr lang="en-US" altLang="ja-JP" dirty="0"/>
              <a:t> 【F3</a:t>
            </a:r>
            <a:r>
              <a:rPr lang="ja-JP" altLang="en-US" dirty="0"/>
              <a:t>終了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10007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B4E6BDA-50FA-8168-B3E8-8059F9266C01}"/>
              </a:ext>
            </a:extLst>
          </p:cNvPr>
          <p:cNvSpPr txBox="1"/>
          <p:nvPr/>
        </p:nvSpPr>
        <p:spPr>
          <a:xfrm>
            <a:off x="1027132" y="691899"/>
            <a:ext cx="10546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自社生産の入庫時は、正味量消費作業は実施しない。</a:t>
            </a:r>
            <a:endParaRPr lang="en-US" altLang="ja-JP" dirty="0"/>
          </a:p>
          <a:p>
            <a:r>
              <a:rPr lang="en-US" altLang="ja-JP" dirty="0"/>
              <a:t>P.7</a:t>
            </a:r>
            <a:r>
              <a:rPr lang="ja-JP" altLang="en-US" dirty="0"/>
              <a:t>から実施</a:t>
            </a:r>
          </a:p>
        </p:txBody>
      </p:sp>
    </p:spTree>
    <p:extLst>
      <p:ext uri="{BB962C8B-B14F-4D97-AF65-F5344CB8AC3E}">
        <p14:creationId xmlns:p14="http://schemas.microsoft.com/office/powerpoint/2010/main" val="398764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55265a53317f1f332e4b398a27662989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a880ce164c962cd68fc98d016f735ba6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61F6377C-4CD1-4412-B625-1CCCD0A88CB7}"/>
</file>

<file path=customXml/itemProps2.xml><?xml version="1.0" encoding="utf-8"?>
<ds:datastoreItem xmlns:ds="http://schemas.openxmlformats.org/officeDocument/2006/customXml" ds:itemID="{6E0D69B1-71BC-4DBA-82FD-BF7BB75D5ED7}"/>
</file>

<file path=customXml/itemProps3.xml><?xml version="1.0" encoding="utf-8"?>
<ds:datastoreItem xmlns:ds="http://schemas.openxmlformats.org/officeDocument/2006/customXml" ds:itemID="{941B76EF-52D3-4119-8660-8C8885E7F060}"/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790</Words>
  <Application>Microsoft Office PowerPoint</Application>
  <PresentationFormat>ワイド画面</PresentationFormat>
  <Paragraphs>232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TSUCHIYA Makoto (土屋 誠)</dc:creator>
  <cp:lastModifiedBy>TSUCHIYA Makoto (土屋 誠)</cp:lastModifiedBy>
  <cp:revision>7</cp:revision>
  <dcterms:created xsi:type="dcterms:W3CDTF">2025-11-10T00:03:28Z</dcterms:created>
  <dcterms:modified xsi:type="dcterms:W3CDTF">2025-11-11T07:22:59Z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</Properties>
</file>