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</p:sldIdLst>
  <p:sldSz cx="6858000" cy="9906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1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2682" y="10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1872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8410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5033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2436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6442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983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2790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6302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446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904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1FA-3FFA-447A-A676-1CF95E4C9F3F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1150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4C1FA-3FFA-447A-A676-1CF95E4C9F3F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A9C82-4379-4C2F-9619-81E8B0A40E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8312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6468437" cy="92025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■棚卸しルール</a:t>
            </a:r>
            <a:r>
              <a:rPr kumimoji="1"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_</a:t>
            </a:r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前倒しカウント</a:t>
            </a:r>
            <a:endParaRPr kumimoji="1"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前倒しで棚卸しを行う場合のカウントルール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kumimoji="1"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カウントの優先順位（前倒し時）</a:t>
            </a:r>
            <a:endParaRPr kumimoji="1"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前提条件：対象</a:t>
            </a:r>
            <a:r>
              <a:rPr lang="ja-JP" altLang="en-US" sz="1400" dirty="0" err="1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部品の部品の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ハズシと倉庫戻し（入庫）が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完了している事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①マックドライのトレイ部品数量カウント（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***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6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）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②ソフトトレイのトレイ部品数量カウント（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***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7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）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③ステック部品の部品数量カウント（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***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7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）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④リール部品の不回転部品数量カウント（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R8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***）←旧リールカウンタ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前倒しカウントはココまで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その他の部品は準備が整った通常カウント時からスタートします。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部品カウントルール（前倒し時）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・バーコード単位（袋や梱包）で数量をカウントしてください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・カウントした数を</a:t>
            </a:r>
            <a:r>
              <a:rPr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白紙に名前と日付、数量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を記入して下さい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下記参照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・袋（アルミパックなど）や梱包単位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で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記入した用紙をテープで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貼り付けて下さい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バーコードにテープが掛からないように注意</a:t>
            </a:r>
            <a:endParaRPr lang="en-US" altLang="ja-JP" sz="1400" dirty="0" smtClean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・棚列単位で、カウントが終わったら数え済みのラベルを棚列の左側に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貼り付ける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1289539" y="4662430"/>
            <a:ext cx="1063964" cy="7265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岡野</a:t>
            </a:r>
            <a:endParaRPr kumimoji="1" lang="en-US" altLang="ja-JP" sz="12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2017/9/22</a:t>
            </a:r>
          </a:p>
          <a:p>
            <a:pPr algn="ctr"/>
            <a:r>
              <a:rPr kumimoji="1"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35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個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1289538" y="6377769"/>
            <a:ext cx="3482487" cy="114750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endParaRPr kumimoji="1" lang="en-US" altLang="ja-JP" dirty="0" smtClean="0"/>
          </a:p>
          <a:p>
            <a:r>
              <a:rPr kumimoji="1" lang="ja-JP" altLang="en-US" dirty="0" smtClean="0"/>
              <a:t>アルミパック　　　　　　　　</a:t>
            </a:r>
            <a:endParaRPr kumimoji="1" lang="en-US" altLang="ja-JP" dirty="0" smtClean="0"/>
          </a:p>
        </p:txBody>
      </p:sp>
      <p:sp>
        <p:nvSpPr>
          <p:cNvPr id="7" name="正方形/長方形 6"/>
          <p:cNvSpPr/>
          <p:nvPr/>
        </p:nvSpPr>
        <p:spPr>
          <a:xfrm>
            <a:off x="1746737" y="6503792"/>
            <a:ext cx="1641231" cy="4777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latin typeface="CODE39" panose="020B0600000000000000" pitchFamily="34" charset="0"/>
              </a:rPr>
              <a:t>1234567</a:t>
            </a:r>
            <a:endParaRPr kumimoji="1" lang="ja-JP" altLang="en-US" dirty="0">
              <a:latin typeface="CODE39" panose="020B0600000000000000" pitchFamily="34" charset="0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3530009" y="6659727"/>
            <a:ext cx="897309" cy="685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岡野</a:t>
            </a:r>
            <a:endParaRPr kumimoji="1" lang="en-US" altLang="ja-JP" sz="105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JP" sz="105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2017/9/22</a:t>
            </a:r>
          </a:p>
          <a:p>
            <a:pPr algn="ctr"/>
            <a:r>
              <a:rPr kumimoji="1" lang="en-US" altLang="ja-JP" sz="105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35</a:t>
            </a:r>
            <a:r>
              <a: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個</a:t>
            </a:r>
          </a:p>
        </p:txBody>
      </p:sp>
      <p:sp>
        <p:nvSpPr>
          <p:cNvPr id="3" name="正方形/長方形 2"/>
          <p:cNvSpPr/>
          <p:nvPr/>
        </p:nvSpPr>
        <p:spPr>
          <a:xfrm>
            <a:off x="3880338" y="6550025"/>
            <a:ext cx="164020" cy="1926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3" name="グループ化 52"/>
          <p:cNvGrpSpPr/>
          <p:nvPr/>
        </p:nvGrpSpPr>
        <p:grpSpPr>
          <a:xfrm>
            <a:off x="1233666" y="8220075"/>
            <a:ext cx="4703705" cy="1490762"/>
            <a:chOff x="1303185" y="5599663"/>
            <a:chExt cx="7138317" cy="2262372"/>
          </a:xfrm>
        </p:grpSpPr>
        <p:sp>
          <p:nvSpPr>
            <p:cNvPr id="16" name="正方形/長方形 15"/>
            <p:cNvSpPr/>
            <p:nvPr/>
          </p:nvSpPr>
          <p:spPr>
            <a:xfrm>
              <a:off x="6512140" y="6277540"/>
              <a:ext cx="1929362" cy="147458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数え済</a:t>
              </a:r>
              <a:endParaRPr kumimoji="1"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  <a:p>
              <a:pPr algn="ctr"/>
              <a:endParaRPr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  <a:p>
              <a:pPr algn="ctr"/>
              <a:r>
                <a:rPr lang="ja-JP" altLang="en-US" sz="12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作業者：岡野</a:t>
              </a:r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grpSp>
          <p:nvGrpSpPr>
            <p:cNvPr id="17" name="グループ化 16"/>
            <p:cNvGrpSpPr/>
            <p:nvPr/>
          </p:nvGrpSpPr>
          <p:grpSpPr>
            <a:xfrm>
              <a:off x="1303185" y="5599663"/>
              <a:ext cx="3116425" cy="2262372"/>
              <a:chOff x="1297924" y="5599663"/>
              <a:chExt cx="1915767" cy="1390755"/>
            </a:xfrm>
          </p:grpSpPr>
          <p:sp>
            <p:nvSpPr>
              <p:cNvPr id="18" name="正方形/長方形 17"/>
              <p:cNvSpPr/>
              <p:nvPr/>
            </p:nvSpPr>
            <p:spPr>
              <a:xfrm>
                <a:off x="1408338" y="5599663"/>
                <a:ext cx="199292" cy="139075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正方形/長方形 18"/>
              <p:cNvSpPr/>
              <p:nvPr/>
            </p:nvSpPr>
            <p:spPr>
              <a:xfrm>
                <a:off x="3014399" y="5599663"/>
                <a:ext cx="199292" cy="139075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0" name="正方形/長方形 19"/>
              <p:cNvSpPr/>
              <p:nvPr/>
            </p:nvSpPr>
            <p:spPr>
              <a:xfrm rot="5400000">
                <a:off x="2211369" y="4796632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正方形/長方形 20"/>
              <p:cNvSpPr/>
              <p:nvPr/>
            </p:nvSpPr>
            <p:spPr>
              <a:xfrm rot="5400000">
                <a:off x="2211367" y="5237075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2" name="正方形/長方形 21"/>
              <p:cNvSpPr/>
              <p:nvPr/>
            </p:nvSpPr>
            <p:spPr>
              <a:xfrm rot="5400000">
                <a:off x="2211366" y="5676436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正方形/長方形 22"/>
              <p:cNvSpPr/>
              <p:nvPr/>
            </p:nvSpPr>
            <p:spPr>
              <a:xfrm>
                <a:off x="1297924" y="5909599"/>
                <a:ext cx="430131" cy="25820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500" dirty="0" smtClean="0">
                    <a:latin typeface="メイリオ" panose="020B0604030504040204" pitchFamily="50" charset="-128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数え済</a:t>
                </a:r>
                <a:endParaRPr kumimoji="1" lang="en-US" altLang="ja-JP" sz="5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  <a:p>
                <a:pPr algn="ctr"/>
                <a:endParaRPr lang="en-US" altLang="ja-JP" sz="2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  <a:p>
                <a:pPr algn="ctr"/>
                <a:r>
                  <a:rPr lang="ja-JP" altLang="en-US" sz="200" dirty="0" smtClean="0">
                    <a:latin typeface="メイリオ" panose="020B0604030504040204" pitchFamily="50" charset="-128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作業者：岡野</a:t>
                </a:r>
                <a:endParaRPr kumimoji="1" lang="ja-JP" altLang="en-US" sz="500" dirty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</p:txBody>
          </p:sp>
          <p:sp>
            <p:nvSpPr>
              <p:cNvPr id="24" name="正方形/長方形 23"/>
              <p:cNvSpPr/>
              <p:nvPr/>
            </p:nvSpPr>
            <p:spPr>
              <a:xfrm>
                <a:off x="1467767" y="5822889"/>
                <a:ext cx="88861" cy="134484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25" name="テキスト ボックス 24"/>
            <p:cNvSpPr txBox="1"/>
            <p:nvPr/>
          </p:nvSpPr>
          <p:spPr>
            <a:xfrm>
              <a:off x="5012683" y="5769967"/>
              <a:ext cx="543740" cy="307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 dirty="0" smtClean="0">
                  <a:solidFill>
                    <a:schemeClr val="accent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棚列</a:t>
              </a:r>
              <a:endParaRPr kumimoji="1" lang="ja-JP" altLang="en-US" sz="1400" dirty="0">
                <a:solidFill>
                  <a:schemeClr val="accent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cxnSp>
          <p:nvCxnSpPr>
            <p:cNvPr id="26" name="直線矢印コネクタ 25"/>
            <p:cNvCxnSpPr>
              <a:stCxn id="25" idx="1"/>
              <a:endCxn id="52" idx="3"/>
            </p:cNvCxnSpPr>
            <p:nvPr/>
          </p:nvCxnSpPr>
          <p:spPr>
            <a:xfrm flipH="1">
              <a:off x="4075254" y="5923856"/>
              <a:ext cx="937429" cy="195003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正方形/長方形 26"/>
            <p:cNvSpPr/>
            <p:nvPr/>
          </p:nvSpPr>
          <p:spPr>
            <a:xfrm>
              <a:off x="1911761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ja-JP" altLang="en-US" sz="6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リール</a:t>
              </a:r>
              <a:endParaRPr kumimoji="1"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28" name="正方形/長方形 27"/>
            <p:cNvSpPr/>
            <p:nvPr/>
          </p:nvSpPr>
          <p:spPr>
            <a:xfrm>
              <a:off x="2085749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/>
            <p:cNvSpPr/>
            <p:nvPr/>
          </p:nvSpPr>
          <p:spPr>
            <a:xfrm>
              <a:off x="2259737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正方形/長方形 29"/>
            <p:cNvSpPr/>
            <p:nvPr/>
          </p:nvSpPr>
          <p:spPr>
            <a:xfrm>
              <a:off x="2433725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/>
            <p:cNvSpPr/>
            <p:nvPr/>
          </p:nvSpPr>
          <p:spPr>
            <a:xfrm>
              <a:off x="2607713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正方形/長方形 31"/>
            <p:cNvSpPr/>
            <p:nvPr/>
          </p:nvSpPr>
          <p:spPr>
            <a:xfrm>
              <a:off x="2781701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正方形/長方形 32"/>
            <p:cNvSpPr/>
            <p:nvPr/>
          </p:nvSpPr>
          <p:spPr>
            <a:xfrm>
              <a:off x="2955689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正方形/長方形 33"/>
            <p:cNvSpPr/>
            <p:nvPr/>
          </p:nvSpPr>
          <p:spPr>
            <a:xfrm>
              <a:off x="3129677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3303665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3477653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3651641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正方形/長方形 37"/>
            <p:cNvSpPr/>
            <p:nvPr/>
          </p:nvSpPr>
          <p:spPr>
            <a:xfrm>
              <a:off x="3825634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正方形/長方形 38"/>
            <p:cNvSpPr/>
            <p:nvPr/>
          </p:nvSpPr>
          <p:spPr>
            <a:xfrm>
              <a:off x="1889699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ja-JP" altLang="en-US" sz="6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リール</a:t>
              </a:r>
              <a:endParaRPr kumimoji="1"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2063687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2237675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2411663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正方形/長方形 42"/>
            <p:cNvSpPr/>
            <p:nvPr/>
          </p:nvSpPr>
          <p:spPr>
            <a:xfrm>
              <a:off x="2585651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2759639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2933627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正方形/長方形 45"/>
            <p:cNvSpPr/>
            <p:nvPr/>
          </p:nvSpPr>
          <p:spPr>
            <a:xfrm>
              <a:off x="3107615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正方形/長方形 46"/>
            <p:cNvSpPr/>
            <p:nvPr/>
          </p:nvSpPr>
          <p:spPr>
            <a:xfrm>
              <a:off x="3281603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正方形/長方形 47"/>
            <p:cNvSpPr/>
            <p:nvPr/>
          </p:nvSpPr>
          <p:spPr>
            <a:xfrm>
              <a:off x="3455591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正方形/長方形 48"/>
            <p:cNvSpPr/>
            <p:nvPr/>
          </p:nvSpPr>
          <p:spPr>
            <a:xfrm>
              <a:off x="3629579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正方形/長方形 49"/>
            <p:cNvSpPr/>
            <p:nvPr/>
          </p:nvSpPr>
          <p:spPr>
            <a:xfrm>
              <a:off x="3803572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1" name="直線矢印コネクタ 50"/>
            <p:cNvCxnSpPr>
              <a:stCxn id="23" idx="3"/>
              <a:endCxn id="16" idx="1"/>
            </p:cNvCxnSpPr>
            <p:nvPr/>
          </p:nvCxnSpPr>
          <p:spPr>
            <a:xfrm>
              <a:off x="2002889" y="6313860"/>
              <a:ext cx="4509251" cy="70097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正方形/長方形 51"/>
            <p:cNvSpPr/>
            <p:nvPr/>
          </p:nvSpPr>
          <p:spPr>
            <a:xfrm>
              <a:off x="1806992" y="5923855"/>
              <a:ext cx="2268261" cy="390004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4758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6827510" cy="597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■棚卸しルール</a:t>
            </a:r>
            <a:r>
              <a:rPr kumimoji="1"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_</a:t>
            </a:r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カウント時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棚卸し時のルール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新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/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旧リールカウンタ優先カウント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・新リールカウンタは、袋入り（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R0102/0103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）優先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・旧リールカウンタは、袋無し（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R0101/0105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）優先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理由：新リールカウンタは、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2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度目のバーコード読みが無いので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　　袋から出す手間を省く為に袋入りを優先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・その他のリールは、空いていれば新リールカウンタ優先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棚戻し位置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・棚位置は、倉庫内の床に棚（**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-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**）を記入してあるので、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罫書き線に合わせて並べる事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R0102/0103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カウント方法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・部品を一旦倉庫外に出す（ハズシエリア）新リールカウンタでカウントが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終わったものから、倉庫へ戻していく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R0101/0105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とその他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・倉庫内で部品をカウントして、カウントが終わったものから、倉庫の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所定の位置に戻していく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旧リールカウンタで進めていくが、新リールカウンタが空いてきたら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新リールカウンタで優先的に進める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4202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6449201" cy="7263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■棚卸しルール</a:t>
            </a:r>
            <a:r>
              <a:rPr kumimoji="1"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_</a:t>
            </a:r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新リールカウンタ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棚卸し時のルール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新リールカウンタ　ルール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・数量カウント後に発行されたバーコードを、カウントしたリールに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貼り付ける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注意点：リールのバーコードにテープが掛からないように</a:t>
            </a:r>
            <a:endParaRPr lang="en-US" altLang="ja-JP" sz="1400" dirty="0" smtClean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　　貼り付ける。（下図参照）</a:t>
            </a:r>
            <a:endParaRPr lang="en-US" altLang="ja-JP" sz="1400" dirty="0" smtClean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・棚列単位でカウントが終了したら、棚列の左端に“数え済”のラベルを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名前を記入して貼り付ける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2213504" y="8060508"/>
            <a:ext cx="1296113" cy="990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数え済</a:t>
            </a:r>
            <a:endParaRPr kumimoji="1" lang="en-US" altLang="ja-JP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endParaRPr lang="en-US" altLang="ja-JP" sz="12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作業者：岡野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grpSp>
        <p:nvGrpSpPr>
          <p:cNvPr id="17" name="グループ化 16"/>
          <p:cNvGrpSpPr/>
          <p:nvPr/>
        </p:nvGrpSpPr>
        <p:grpSpPr>
          <a:xfrm>
            <a:off x="1394313" y="5599663"/>
            <a:ext cx="3025298" cy="2262372"/>
            <a:chOff x="1353943" y="5599663"/>
            <a:chExt cx="1859748" cy="1390755"/>
          </a:xfrm>
        </p:grpSpPr>
        <p:sp>
          <p:nvSpPr>
            <p:cNvPr id="2" name="正方形/長方形 1"/>
            <p:cNvSpPr/>
            <p:nvPr/>
          </p:nvSpPr>
          <p:spPr>
            <a:xfrm>
              <a:off x="1408338" y="5599663"/>
              <a:ext cx="199292" cy="139075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/>
            <p:cNvSpPr/>
            <p:nvPr/>
          </p:nvSpPr>
          <p:spPr>
            <a:xfrm>
              <a:off x="3014399" y="5599663"/>
              <a:ext cx="199292" cy="139075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/>
            <p:cNvSpPr/>
            <p:nvPr/>
          </p:nvSpPr>
          <p:spPr>
            <a:xfrm rot="5400000">
              <a:off x="2211369" y="4796632"/>
              <a:ext cx="199292" cy="1805353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/>
            <p:cNvSpPr/>
            <p:nvPr/>
          </p:nvSpPr>
          <p:spPr>
            <a:xfrm rot="5400000">
              <a:off x="2211367" y="5237075"/>
              <a:ext cx="199292" cy="1805353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/>
            <p:cNvSpPr/>
            <p:nvPr/>
          </p:nvSpPr>
          <p:spPr>
            <a:xfrm rot="5400000">
              <a:off x="2211366" y="5676436"/>
              <a:ext cx="199292" cy="1805353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/>
            <p:cNvSpPr/>
            <p:nvPr/>
          </p:nvSpPr>
          <p:spPr>
            <a:xfrm>
              <a:off x="1353943" y="5917147"/>
              <a:ext cx="318092" cy="24311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6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数え済</a:t>
              </a:r>
              <a:endParaRPr kumimoji="1" lang="en-US" altLang="ja-JP" sz="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  <a:p>
              <a:pPr algn="ctr"/>
              <a:endParaRPr lang="en-US" altLang="ja-JP" sz="3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  <a:p>
              <a:pPr algn="ctr"/>
              <a:r>
                <a:rPr lang="ja-JP" altLang="en-US" sz="3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作業者：岡野</a:t>
              </a:r>
              <a:endParaRPr kumimoji="1" lang="ja-JP" altLang="en-US" sz="6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15" name="正方形/長方形 14"/>
            <p:cNvSpPr/>
            <p:nvPr/>
          </p:nvSpPr>
          <p:spPr>
            <a:xfrm>
              <a:off x="1467767" y="5822889"/>
              <a:ext cx="88861" cy="134484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538" y="2090738"/>
            <a:ext cx="2785715" cy="2580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正方形/長方形 6"/>
          <p:cNvSpPr/>
          <p:nvPr/>
        </p:nvSpPr>
        <p:spPr>
          <a:xfrm>
            <a:off x="3005418" y="3083291"/>
            <a:ext cx="838913" cy="3681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 smtClean="0">
                <a:latin typeface="CODE39" panose="020B0600000000000000" pitchFamily="34" charset="0"/>
              </a:rPr>
              <a:t>12367</a:t>
            </a:r>
          </a:p>
          <a:p>
            <a:pPr algn="ctr"/>
            <a:r>
              <a:rPr kumimoji="1" lang="en-US" altLang="ja-JP" sz="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9000035645</a:t>
            </a:r>
            <a:endParaRPr kumimoji="1" lang="ja-JP" altLang="en-US" sz="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3311318" y="2939366"/>
            <a:ext cx="190500" cy="2095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4999089" y="611612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>
                <a:solidFill>
                  <a:schemeClr val="accent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棚列</a:t>
            </a:r>
            <a:endParaRPr kumimoji="1" lang="ja-JP" altLang="en-US" sz="1400" dirty="0">
              <a:solidFill>
                <a:schemeClr val="accent2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20" name="直線矢印コネクタ 19"/>
          <p:cNvCxnSpPr>
            <a:stCxn id="18" idx="1"/>
            <a:endCxn id="61" idx="3"/>
          </p:cNvCxnSpPr>
          <p:nvPr/>
        </p:nvCxnSpPr>
        <p:spPr>
          <a:xfrm flipH="1" flipV="1">
            <a:off x="4075253" y="6118857"/>
            <a:ext cx="923836" cy="15115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正方形/長方形 20"/>
          <p:cNvSpPr/>
          <p:nvPr/>
        </p:nvSpPr>
        <p:spPr>
          <a:xfrm>
            <a:off x="1911761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ja-JP" altLang="en-US" sz="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リール</a:t>
            </a:r>
            <a:endParaRPr kumimoji="1" lang="ja-JP" altLang="en-US" sz="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3" name="正方形/長方形 22"/>
          <p:cNvSpPr/>
          <p:nvPr/>
        </p:nvSpPr>
        <p:spPr>
          <a:xfrm>
            <a:off x="2085749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/>
        </p:nvSpPr>
        <p:spPr>
          <a:xfrm>
            <a:off x="2259737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/>
        </p:nvSpPr>
        <p:spPr>
          <a:xfrm>
            <a:off x="2433725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/>
          <p:cNvSpPr/>
          <p:nvPr/>
        </p:nvSpPr>
        <p:spPr>
          <a:xfrm>
            <a:off x="2607713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/>
          <p:cNvSpPr/>
          <p:nvPr/>
        </p:nvSpPr>
        <p:spPr>
          <a:xfrm>
            <a:off x="2781701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/>
        </p:nvSpPr>
        <p:spPr>
          <a:xfrm>
            <a:off x="2955689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/>
          <p:cNvSpPr/>
          <p:nvPr/>
        </p:nvSpPr>
        <p:spPr>
          <a:xfrm>
            <a:off x="3129677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/>
          <p:cNvSpPr/>
          <p:nvPr/>
        </p:nvSpPr>
        <p:spPr>
          <a:xfrm>
            <a:off x="3303665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/>
          <p:cNvSpPr/>
          <p:nvPr/>
        </p:nvSpPr>
        <p:spPr>
          <a:xfrm>
            <a:off x="3477653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/>
          <p:cNvSpPr/>
          <p:nvPr/>
        </p:nvSpPr>
        <p:spPr>
          <a:xfrm>
            <a:off x="3651641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/>
          <p:cNvSpPr/>
          <p:nvPr/>
        </p:nvSpPr>
        <p:spPr>
          <a:xfrm>
            <a:off x="3825634" y="5962790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/>
          <p:cNvSpPr/>
          <p:nvPr/>
        </p:nvSpPr>
        <p:spPr>
          <a:xfrm>
            <a:off x="1889699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ja-JP" altLang="en-US" sz="6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リール</a:t>
            </a:r>
            <a:endParaRPr kumimoji="1" lang="ja-JP" altLang="en-US" sz="6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2063687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/>
          <p:cNvSpPr/>
          <p:nvPr/>
        </p:nvSpPr>
        <p:spPr>
          <a:xfrm>
            <a:off x="2237675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/>
          <p:cNvSpPr/>
          <p:nvPr/>
        </p:nvSpPr>
        <p:spPr>
          <a:xfrm>
            <a:off x="2411663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/>
          <p:cNvSpPr/>
          <p:nvPr/>
        </p:nvSpPr>
        <p:spPr>
          <a:xfrm>
            <a:off x="2585651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/>
        </p:nvSpPr>
        <p:spPr>
          <a:xfrm>
            <a:off x="2759639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/>
          <p:cNvSpPr/>
          <p:nvPr/>
        </p:nvSpPr>
        <p:spPr>
          <a:xfrm>
            <a:off x="2933627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/>
          <p:cNvSpPr/>
          <p:nvPr/>
        </p:nvSpPr>
        <p:spPr>
          <a:xfrm>
            <a:off x="3107615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/>
          <p:cNvSpPr/>
          <p:nvPr/>
        </p:nvSpPr>
        <p:spPr>
          <a:xfrm>
            <a:off x="3281603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/>
          <p:cNvSpPr/>
          <p:nvPr/>
        </p:nvSpPr>
        <p:spPr>
          <a:xfrm>
            <a:off x="3455591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/>
          <p:cNvSpPr/>
          <p:nvPr/>
        </p:nvSpPr>
        <p:spPr>
          <a:xfrm>
            <a:off x="3629579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/>
          <p:cNvSpPr/>
          <p:nvPr/>
        </p:nvSpPr>
        <p:spPr>
          <a:xfrm>
            <a:off x="3803572" y="6675998"/>
            <a:ext cx="136453" cy="35158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8" name="直線矢印コネクタ 57"/>
          <p:cNvCxnSpPr>
            <a:stCxn id="14" idx="2"/>
            <a:endCxn id="9" idx="0"/>
          </p:cNvCxnSpPr>
          <p:nvPr/>
        </p:nvCxnSpPr>
        <p:spPr>
          <a:xfrm>
            <a:off x="1653037" y="6511598"/>
            <a:ext cx="1208524" cy="15489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正方形/長方形 60"/>
          <p:cNvSpPr/>
          <p:nvPr/>
        </p:nvSpPr>
        <p:spPr>
          <a:xfrm>
            <a:off x="1806992" y="5923855"/>
            <a:ext cx="2268261" cy="390004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2545129" y="905110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拡大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70820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6449201" cy="83407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■棚卸しルール</a:t>
            </a:r>
            <a:r>
              <a:rPr kumimoji="1"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_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旧</a:t>
            </a:r>
            <a:r>
              <a:rPr kumimoji="1" lang="ja-JP" altLang="en-US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リールカウンタ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棚卸し時のルール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旧リールカウンタ　ルール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・数量カウント後にカウントした数字を、白紙に名前と数量を書いて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貼り付ける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</a:t>
            </a:r>
            <a:r>
              <a:rPr lang="en-US" altLang="ja-JP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※</a:t>
            </a:r>
            <a:r>
              <a:rPr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注意点：リールのバーコードにテープが掛からないように</a:t>
            </a:r>
            <a:endParaRPr lang="en-US" altLang="ja-JP" sz="1400" dirty="0" smtClean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　　　　　貼り付ける。（下図参照）</a:t>
            </a:r>
            <a:endParaRPr lang="en-US" altLang="ja-JP" sz="1400" dirty="0" smtClean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・棚列単位でカウントが終了したら、棚列の左端に“数え済”のラベルを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名前を記入して貼り付ける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・カウントが終わった棚から、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EG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Pro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倉庫管理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HT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のバーコードで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　　　バーコードと数量を入力していく</a:t>
            </a:r>
            <a:endParaRPr lang="en-US" altLang="ja-JP" sz="14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538" y="2090738"/>
            <a:ext cx="2785715" cy="2580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グループ化 18"/>
          <p:cNvGrpSpPr/>
          <p:nvPr/>
        </p:nvGrpSpPr>
        <p:grpSpPr>
          <a:xfrm>
            <a:off x="1394314" y="5352014"/>
            <a:ext cx="4242345" cy="2051501"/>
            <a:chOff x="1394313" y="5599663"/>
            <a:chExt cx="4895780" cy="2367487"/>
          </a:xfrm>
        </p:grpSpPr>
        <p:sp>
          <p:nvSpPr>
            <p:cNvPr id="9" name="正方形/長方形 8"/>
            <p:cNvSpPr/>
            <p:nvPr/>
          </p:nvSpPr>
          <p:spPr>
            <a:xfrm>
              <a:off x="4993980" y="6668773"/>
              <a:ext cx="1296113" cy="990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数え済</a:t>
              </a:r>
              <a:endParaRPr kumimoji="1" lang="en-US" altLang="ja-JP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  <a:p>
              <a:pPr algn="ctr"/>
              <a:endParaRPr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  <a:p>
              <a:pPr algn="ctr"/>
              <a:r>
                <a:rPr lang="ja-JP" altLang="en-US" sz="12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作業者：岡野</a:t>
              </a:r>
              <a:endPara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grpSp>
          <p:nvGrpSpPr>
            <p:cNvPr id="17" name="グループ化 16"/>
            <p:cNvGrpSpPr/>
            <p:nvPr/>
          </p:nvGrpSpPr>
          <p:grpSpPr>
            <a:xfrm>
              <a:off x="1394313" y="5599663"/>
              <a:ext cx="3025298" cy="2262372"/>
              <a:chOff x="1353943" y="5599663"/>
              <a:chExt cx="1859748" cy="1390755"/>
            </a:xfrm>
          </p:grpSpPr>
          <p:sp>
            <p:nvSpPr>
              <p:cNvPr id="2" name="正方形/長方形 1"/>
              <p:cNvSpPr/>
              <p:nvPr/>
            </p:nvSpPr>
            <p:spPr>
              <a:xfrm>
                <a:off x="1408338" y="5599663"/>
                <a:ext cx="199292" cy="139075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正方形/長方形 9"/>
              <p:cNvSpPr/>
              <p:nvPr/>
            </p:nvSpPr>
            <p:spPr>
              <a:xfrm>
                <a:off x="3014399" y="5599663"/>
                <a:ext cx="199292" cy="139075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" name="正方形/長方形 10"/>
              <p:cNvSpPr/>
              <p:nvPr/>
            </p:nvSpPr>
            <p:spPr>
              <a:xfrm rot="5400000">
                <a:off x="2211369" y="4796632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正方形/長方形 11"/>
              <p:cNvSpPr/>
              <p:nvPr/>
            </p:nvSpPr>
            <p:spPr>
              <a:xfrm rot="5400000">
                <a:off x="2211367" y="5237075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正方形/長方形 12"/>
              <p:cNvSpPr/>
              <p:nvPr/>
            </p:nvSpPr>
            <p:spPr>
              <a:xfrm rot="5400000">
                <a:off x="2211366" y="5676436"/>
                <a:ext cx="199292" cy="180535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正方形/長方形 13"/>
              <p:cNvSpPr/>
              <p:nvPr/>
            </p:nvSpPr>
            <p:spPr>
              <a:xfrm>
                <a:off x="1353943" y="5917147"/>
                <a:ext cx="318092" cy="24311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600" dirty="0" smtClean="0">
                    <a:latin typeface="メイリオ" panose="020B0604030504040204" pitchFamily="50" charset="-128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数え済</a:t>
                </a:r>
                <a:endParaRPr kumimoji="1" lang="en-US" altLang="ja-JP" sz="6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  <a:p>
                <a:pPr algn="ctr"/>
                <a:endParaRPr lang="en-US" altLang="ja-JP" sz="3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  <a:p>
                <a:pPr algn="ctr"/>
                <a:r>
                  <a:rPr lang="ja-JP" altLang="en-US" sz="300" dirty="0" smtClean="0">
                    <a:latin typeface="メイリオ" panose="020B0604030504040204" pitchFamily="50" charset="-128"/>
                    <a:ea typeface="メイリオ" panose="020B0604030504040204" pitchFamily="50" charset="-128"/>
                    <a:cs typeface="メイリオ" panose="020B0604030504040204" pitchFamily="50" charset="-128"/>
                  </a:rPr>
                  <a:t>作業者：岡野</a:t>
                </a:r>
                <a:endParaRPr kumimoji="1" lang="ja-JP" altLang="en-US" sz="600" dirty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endParaRPr>
              </a:p>
            </p:txBody>
          </p:sp>
          <p:sp>
            <p:nvSpPr>
              <p:cNvPr id="15" name="正方形/長方形 14"/>
              <p:cNvSpPr/>
              <p:nvPr/>
            </p:nvSpPr>
            <p:spPr>
              <a:xfrm>
                <a:off x="1467767" y="5822889"/>
                <a:ext cx="88861" cy="134484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8" name="テキスト ボックス 17"/>
            <p:cNvSpPr txBox="1"/>
            <p:nvPr/>
          </p:nvSpPr>
          <p:spPr>
            <a:xfrm>
              <a:off x="4999089" y="6116121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 dirty="0" smtClean="0">
                  <a:solidFill>
                    <a:schemeClr val="accent2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棚列</a:t>
              </a:r>
              <a:endParaRPr kumimoji="1" lang="ja-JP" altLang="en-US" sz="1400" dirty="0">
                <a:solidFill>
                  <a:schemeClr val="accent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cxnSp>
          <p:nvCxnSpPr>
            <p:cNvPr id="20" name="直線矢印コネクタ 19"/>
            <p:cNvCxnSpPr>
              <a:stCxn id="18" idx="1"/>
              <a:endCxn id="61" idx="3"/>
            </p:cNvCxnSpPr>
            <p:nvPr/>
          </p:nvCxnSpPr>
          <p:spPr>
            <a:xfrm flipH="1" flipV="1">
              <a:off x="4075253" y="6118857"/>
              <a:ext cx="923836" cy="151153"/>
            </a:xfrm>
            <a:prstGeom prst="straightConnector1">
              <a:avLst/>
            </a:prstGeom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正方形/長方形 20"/>
            <p:cNvSpPr/>
            <p:nvPr/>
          </p:nvSpPr>
          <p:spPr>
            <a:xfrm>
              <a:off x="1911761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ja-JP" altLang="en-US" sz="5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リール</a:t>
              </a:r>
              <a:endParaRPr kumimoji="1" lang="ja-JP" altLang="en-US" sz="5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23" name="正方形/長方形 22"/>
            <p:cNvSpPr/>
            <p:nvPr/>
          </p:nvSpPr>
          <p:spPr>
            <a:xfrm>
              <a:off x="2085749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/>
            <p:cNvSpPr/>
            <p:nvPr/>
          </p:nvSpPr>
          <p:spPr>
            <a:xfrm>
              <a:off x="2259737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/>
            <p:cNvSpPr/>
            <p:nvPr/>
          </p:nvSpPr>
          <p:spPr>
            <a:xfrm>
              <a:off x="2433725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正方形/長方形 25"/>
            <p:cNvSpPr/>
            <p:nvPr/>
          </p:nvSpPr>
          <p:spPr>
            <a:xfrm>
              <a:off x="2607713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正方形/長方形 26"/>
            <p:cNvSpPr/>
            <p:nvPr/>
          </p:nvSpPr>
          <p:spPr>
            <a:xfrm>
              <a:off x="2781701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/>
            <p:cNvSpPr/>
            <p:nvPr/>
          </p:nvSpPr>
          <p:spPr>
            <a:xfrm>
              <a:off x="2955689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/>
            <p:cNvSpPr/>
            <p:nvPr/>
          </p:nvSpPr>
          <p:spPr>
            <a:xfrm>
              <a:off x="3129677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正方形/長方形 29"/>
            <p:cNvSpPr/>
            <p:nvPr/>
          </p:nvSpPr>
          <p:spPr>
            <a:xfrm>
              <a:off x="3303665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/>
            <p:cNvSpPr/>
            <p:nvPr/>
          </p:nvSpPr>
          <p:spPr>
            <a:xfrm>
              <a:off x="3477653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正方形/長方形 31"/>
            <p:cNvSpPr/>
            <p:nvPr/>
          </p:nvSpPr>
          <p:spPr>
            <a:xfrm>
              <a:off x="3651641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正方形/長方形 32"/>
            <p:cNvSpPr/>
            <p:nvPr/>
          </p:nvSpPr>
          <p:spPr>
            <a:xfrm>
              <a:off x="3825634" y="5962790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正方形/長方形 33"/>
            <p:cNvSpPr/>
            <p:nvPr/>
          </p:nvSpPr>
          <p:spPr>
            <a:xfrm>
              <a:off x="1889699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ja-JP" altLang="en-US" sz="5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リール</a:t>
              </a:r>
              <a:endParaRPr kumimoji="1" lang="ja-JP" altLang="en-US" sz="5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2063687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2237675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2411663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正方形/長方形 37"/>
            <p:cNvSpPr/>
            <p:nvPr/>
          </p:nvSpPr>
          <p:spPr>
            <a:xfrm>
              <a:off x="2585651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正方形/長方形 38"/>
            <p:cNvSpPr/>
            <p:nvPr/>
          </p:nvSpPr>
          <p:spPr>
            <a:xfrm>
              <a:off x="2759639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2933627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3107615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3281603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正方形/長方形 42"/>
            <p:cNvSpPr/>
            <p:nvPr/>
          </p:nvSpPr>
          <p:spPr>
            <a:xfrm>
              <a:off x="3455591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3629579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3803572" y="6675998"/>
              <a:ext cx="136453" cy="351589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8" name="直線矢印コネクタ 57"/>
            <p:cNvCxnSpPr>
              <a:stCxn id="14" idx="2"/>
              <a:endCxn id="9" idx="1"/>
            </p:cNvCxnSpPr>
            <p:nvPr/>
          </p:nvCxnSpPr>
          <p:spPr>
            <a:xfrm>
              <a:off x="1653038" y="6511598"/>
              <a:ext cx="3340942" cy="6524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正方形/長方形 60"/>
            <p:cNvSpPr/>
            <p:nvPr/>
          </p:nvSpPr>
          <p:spPr>
            <a:xfrm>
              <a:off x="1806992" y="5923855"/>
              <a:ext cx="2268261" cy="390004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テキスト ボックス 65"/>
            <p:cNvSpPr txBox="1"/>
            <p:nvPr/>
          </p:nvSpPr>
          <p:spPr>
            <a:xfrm>
              <a:off x="5365280" y="765937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 dirty="0" smtClean="0"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拡大</a:t>
              </a:r>
              <a:endPara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</p:grpSp>
      <p:sp>
        <p:nvSpPr>
          <p:cNvPr id="46" name="正方形/長方形 45"/>
          <p:cNvSpPr/>
          <p:nvPr/>
        </p:nvSpPr>
        <p:spPr>
          <a:xfrm>
            <a:off x="4906995" y="2684808"/>
            <a:ext cx="915591" cy="7666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岡野</a:t>
            </a:r>
            <a:endParaRPr kumimoji="1" lang="en-US" altLang="ja-JP" sz="12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46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8</a:t>
            </a:r>
            <a:r>
              <a:rPr kumimoji="1" lang="en-US" altLang="ja-JP" sz="12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5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8" name="正方形/長方形 47"/>
          <p:cNvSpPr/>
          <p:nvPr/>
        </p:nvSpPr>
        <p:spPr>
          <a:xfrm>
            <a:off x="3139179" y="3098616"/>
            <a:ext cx="597908" cy="5006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岡野</a:t>
            </a:r>
            <a:endParaRPr kumimoji="1" lang="en-US" altLang="ja-JP" sz="9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JP" sz="9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46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8</a:t>
            </a:r>
            <a:r>
              <a:rPr kumimoji="1" lang="en-US" altLang="ja-JP" sz="9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5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3339460" y="2954906"/>
            <a:ext cx="190500" cy="2095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9" name="直線矢印コネクタ 48"/>
          <p:cNvCxnSpPr>
            <a:stCxn id="48" idx="3"/>
            <a:endCxn id="46" idx="1"/>
          </p:cNvCxnSpPr>
          <p:nvPr/>
        </p:nvCxnSpPr>
        <p:spPr>
          <a:xfrm flipV="1">
            <a:off x="3737087" y="3068128"/>
            <a:ext cx="1169908" cy="2808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テキスト ボックス 49"/>
          <p:cNvSpPr txBox="1"/>
          <p:nvPr/>
        </p:nvSpPr>
        <p:spPr>
          <a:xfrm>
            <a:off x="5092920" y="34429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拡大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5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538" y="8085914"/>
            <a:ext cx="1671429" cy="1548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正方形/長方形 53"/>
          <p:cNvSpPr/>
          <p:nvPr/>
        </p:nvSpPr>
        <p:spPr>
          <a:xfrm>
            <a:off x="2268473" y="8726206"/>
            <a:ext cx="597908" cy="5006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岡野</a:t>
            </a:r>
            <a:endParaRPr kumimoji="1" lang="en-US" altLang="ja-JP" sz="900" dirty="0" smtClean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JP" sz="9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46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8</a:t>
            </a:r>
            <a:r>
              <a:rPr kumimoji="1" lang="en-US" altLang="ja-JP" sz="9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5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5" name="正方形/長方形 54"/>
          <p:cNvSpPr/>
          <p:nvPr/>
        </p:nvSpPr>
        <p:spPr>
          <a:xfrm>
            <a:off x="2468754" y="8582496"/>
            <a:ext cx="190500" cy="2095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/>
          <p:cNvSpPr/>
          <p:nvPr/>
        </p:nvSpPr>
        <p:spPr>
          <a:xfrm>
            <a:off x="1751913" y="8239125"/>
            <a:ext cx="792973" cy="3433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正方形/長方形 58"/>
          <p:cNvSpPr/>
          <p:nvPr/>
        </p:nvSpPr>
        <p:spPr>
          <a:xfrm>
            <a:off x="2373168" y="8966516"/>
            <a:ext cx="393178" cy="1477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2544886" y="8219240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①</a:t>
            </a:r>
            <a:endParaRPr kumimoji="1" lang="ja-JP" altLang="en-US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2860398" y="894561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 smtClean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②</a:t>
            </a:r>
            <a:endParaRPr kumimoji="1" lang="ja-JP" altLang="en-US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9161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1226</TotalTime>
  <Words>84</Words>
  <Application>Microsoft Office PowerPoint</Application>
  <PresentationFormat>A4 210 x 297 mm</PresentationFormat>
  <Paragraphs>184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ＭＳ Ｐゴシック</vt:lpstr>
      <vt:lpstr>メイリオ</vt:lpstr>
      <vt:lpstr>Arial</vt:lpstr>
      <vt:lpstr>Calibri</vt:lpstr>
      <vt:lpstr>Calibri Light</vt:lpstr>
      <vt:lpstr>CODE39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日本光電工業株式会社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岡野 上</dc:creator>
  <cp:lastModifiedBy>岡野 上</cp:lastModifiedBy>
  <cp:revision>17</cp:revision>
  <cp:lastPrinted>2018-03-23T06:47:33Z</cp:lastPrinted>
  <dcterms:created xsi:type="dcterms:W3CDTF">2017-09-22T08:48:40Z</dcterms:created>
  <dcterms:modified xsi:type="dcterms:W3CDTF">2018-03-23T09:15:39Z</dcterms:modified>
</cp:coreProperties>
</file>