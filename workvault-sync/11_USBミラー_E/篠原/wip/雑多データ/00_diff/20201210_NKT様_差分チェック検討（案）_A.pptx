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5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" y="9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ECC52-D4F8-438C-A06A-DB6FEA30D791}" type="datetimeFigureOut">
              <a:rPr kumimoji="1" lang="ja-JP" altLang="en-US" smtClean="0"/>
              <a:t>2020/12/21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63CE2-597E-45BB-9DE8-6D8D2EE84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7210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ECC52-D4F8-438C-A06A-DB6FEA30D791}" type="datetimeFigureOut">
              <a:rPr kumimoji="1" lang="ja-JP" altLang="en-US" smtClean="0"/>
              <a:t>2020/12/21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63CE2-597E-45BB-9DE8-6D8D2EE84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967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ECC52-D4F8-438C-A06A-DB6FEA30D791}" type="datetimeFigureOut">
              <a:rPr kumimoji="1" lang="ja-JP" altLang="en-US" smtClean="0"/>
              <a:t>2020/12/21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63CE2-597E-45BB-9DE8-6D8D2EE84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852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ECC52-D4F8-438C-A06A-DB6FEA30D791}" type="datetimeFigureOut">
              <a:rPr kumimoji="1" lang="ja-JP" altLang="en-US" smtClean="0"/>
              <a:t>2020/12/21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63CE2-597E-45BB-9DE8-6D8D2EE84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0498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ECC52-D4F8-438C-A06A-DB6FEA30D791}" type="datetimeFigureOut">
              <a:rPr kumimoji="1" lang="ja-JP" altLang="en-US" smtClean="0"/>
              <a:t>2020/12/21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63CE2-597E-45BB-9DE8-6D8D2EE84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46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ECC52-D4F8-438C-A06A-DB6FEA30D791}" type="datetimeFigureOut">
              <a:rPr kumimoji="1" lang="ja-JP" altLang="en-US" smtClean="0"/>
              <a:t>2020/12/21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63CE2-597E-45BB-9DE8-6D8D2EE84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907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ECC52-D4F8-438C-A06A-DB6FEA30D791}" type="datetimeFigureOut">
              <a:rPr kumimoji="1" lang="ja-JP" altLang="en-US" smtClean="0"/>
              <a:t>2020/12/21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63CE2-597E-45BB-9DE8-6D8D2EE84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5127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ECC52-D4F8-438C-A06A-DB6FEA30D791}" type="datetimeFigureOut">
              <a:rPr kumimoji="1" lang="ja-JP" altLang="en-US" smtClean="0"/>
              <a:t>2020/12/21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63CE2-597E-45BB-9DE8-6D8D2EE84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069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ECC52-D4F8-438C-A06A-DB6FEA30D791}" type="datetimeFigureOut">
              <a:rPr kumimoji="1" lang="ja-JP" altLang="en-US" smtClean="0"/>
              <a:t>2020/12/21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63CE2-597E-45BB-9DE8-6D8D2EE84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666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ECC52-D4F8-438C-A06A-DB6FEA30D791}" type="datetimeFigureOut">
              <a:rPr kumimoji="1" lang="ja-JP" altLang="en-US" smtClean="0"/>
              <a:t>2020/12/21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63CE2-597E-45BB-9DE8-6D8D2EE84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6693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ECC52-D4F8-438C-A06A-DB6FEA30D791}" type="datetimeFigureOut">
              <a:rPr kumimoji="1" lang="ja-JP" altLang="en-US" smtClean="0"/>
              <a:t>2020/12/21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63CE2-597E-45BB-9DE8-6D8D2EE84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4700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ECC52-D4F8-438C-A06A-DB6FEA30D791}" type="datetimeFigureOut">
              <a:rPr kumimoji="1" lang="ja-JP" altLang="en-US" smtClean="0"/>
              <a:t>2020/12/21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63CE2-597E-45BB-9DE8-6D8D2EE8475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111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google.co.jp/url?sa=i&amp;rct=j&amp;q=&amp;esrc=s&amp;source=images&amp;cd=&amp;cad=rja&amp;uact=8&amp;ved=2ahUKEwiv4I7dksraAhXDqJQKHZixBLUQjRx6BAgAEAU&amp;url=http://cleanmessage.com/&amp;psig=AOvVaw1QBD7cqxEEVXbjIbBmibMb&amp;ust=1524358132425268" TargetMode="External"/><Relationship Id="rId13" Type="http://schemas.openxmlformats.org/officeDocument/2006/relationships/image" Target="../media/image9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2" Type="http://schemas.openxmlformats.org/officeDocument/2006/relationships/hyperlink" Target="http://www.feelgraphic.com/item/1518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7.png"/><Relationship Id="rId5" Type="http://schemas.openxmlformats.org/officeDocument/2006/relationships/image" Target="../media/image2.jpeg"/><Relationship Id="rId10" Type="http://schemas.openxmlformats.org/officeDocument/2006/relationships/image" Target="../media/image6.png"/><Relationship Id="rId4" Type="http://schemas.openxmlformats.org/officeDocument/2006/relationships/hyperlink" Target="http://www.google.co.jp/url?sa=i&amp;rct=j&amp;q=&amp;esrc=s&amp;source=images&amp;cd=&amp;cad=rja&amp;uact=8&amp;ved=0ahUKEwihiNGK1anZAhUKfrwKHcJOCmsQjRwIBw&amp;url=http://free-illustrations.gatag.net/tag/%E3%82%B5%E3%83%BC%E3%83%90&amp;psig=AOvVaw1iu1mbgFqS59CzN2UC2_hy&amp;ust=1518844013920639" TargetMode="Externa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11.png"/><Relationship Id="rId3" Type="http://schemas.openxmlformats.org/officeDocument/2006/relationships/image" Target="../media/image1.jpeg"/><Relationship Id="rId7" Type="http://schemas.openxmlformats.org/officeDocument/2006/relationships/image" Target="../media/image3.png"/><Relationship Id="rId12" Type="http://schemas.openxmlformats.org/officeDocument/2006/relationships/image" Target="../media/image10.png"/><Relationship Id="rId2" Type="http://schemas.openxmlformats.org/officeDocument/2006/relationships/hyperlink" Target="http://www.feelgraphic.com/item/1518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5.png"/><Relationship Id="rId5" Type="http://schemas.openxmlformats.org/officeDocument/2006/relationships/image" Target="../media/image2.jpeg"/><Relationship Id="rId10" Type="http://schemas.openxmlformats.org/officeDocument/2006/relationships/hyperlink" Target="http://www.google.co.jp/url?sa=i&amp;rct=j&amp;q=&amp;esrc=s&amp;source=images&amp;cd=&amp;cad=rja&amp;uact=8&amp;ved=2ahUKEwiv4I7dksraAhXDqJQKHZixBLUQjRx6BAgAEAU&amp;url=http://cleanmessage.com/&amp;psig=AOvVaw1QBD7cqxEEVXbjIbBmibMb&amp;ust=1524358132425268" TargetMode="External"/><Relationship Id="rId4" Type="http://schemas.openxmlformats.org/officeDocument/2006/relationships/hyperlink" Target="http://www.google.co.jp/url?sa=i&amp;rct=j&amp;q=&amp;esrc=s&amp;source=images&amp;cd=&amp;cad=rja&amp;uact=8&amp;ved=0ahUKEwihiNGK1anZAhUKfrwKHcJOCmsQjRwIBw&amp;url=http://free-illustrations.gatag.net/tag/%E3%82%B5%E3%83%BC%E3%83%90&amp;psig=AOvVaw1iu1mbgFqS59CzN2UC2_hy&amp;ust=1518844013920639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4" descr="「データベース イラスト」の画像検索結果">
            <a:hlinkClick r:id="rId2"/>
            <a:extLst>
              <a:ext uri="{FF2B5EF4-FFF2-40B4-BE49-F238E27FC236}">
                <a16:creationId xmlns:a16="http://schemas.microsoft.com/office/drawing/2014/main" id="{561D7E8D-6111-4F8B-8A33-430FA190F2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5822770" y="4272"/>
            <a:ext cx="978725" cy="1232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46C6647-7C7B-436E-8220-286F0D628BF7}"/>
              </a:ext>
            </a:extLst>
          </p:cNvPr>
          <p:cNvSpPr/>
          <p:nvPr/>
        </p:nvSpPr>
        <p:spPr>
          <a:xfrm>
            <a:off x="1570442" y="3768074"/>
            <a:ext cx="1601881" cy="205915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" name="グループ化 3"/>
          <p:cNvGrpSpPr>
            <a:grpSpLocks/>
          </p:cNvGrpSpPr>
          <p:nvPr/>
        </p:nvGrpSpPr>
        <p:grpSpPr bwMode="auto">
          <a:xfrm>
            <a:off x="719803" y="459183"/>
            <a:ext cx="1776413" cy="1512888"/>
            <a:chOff x="1077483" y="942718"/>
            <a:chExt cx="1776249" cy="1513525"/>
          </a:xfrm>
        </p:grpSpPr>
        <p:pic>
          <p:nvPicPr>
            <p:cNvPr id="3" name="Picture 4" descr="「データベース イラスト」の画像検索結果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1307364" y="965129"/>
              <a:ext cx="978635" cy="123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8" descr="「サーバ　イラスト　フリー」の画像検索結果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6122" y="1448188"/>
              <a:ext cx="747610" cy="1008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テキスト ボックス 1"/>
            <p:cNvSpPr txBox="1">
              <a:spLocks noChangeArrowheads="1"/>
            </p:cNvSpPr>
            <p:nvPr/>
          </p:nvSpPr>
          <p:spPr bwMode="auto">
            <a:xfrm>
              <a:off x="1077483" y="942718"/>
              <a:ext cx="7732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BOSS</a:t>
              </a:r>
              <a:endParaRPr lang="ja-JP" altLang="en-US" sz="16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0" name="グループ化 8"/>
          <p:cNvGrpSpPr>
            <a:grpSpLocks/>
          </p:cNvGrpSpPr>
          <p:nvPr/>
        </p:nvGrpSpPr>
        <p:grpSpPr bwMode="auto">
          <a:xfrm>
            <a:off x="4131934" y="935782"/>
            <a:ext cx="1239353" cy="980815"/>
            <a:chOff x="706653" y="5122390"/>
            <a:chExt cx="1128613" cy="893658"/>
          </a:xfrm>
        </p:grpSpPr>
        <p:pic>
          <p:nvPicPr>
            <p:cNvPr id="12" name="Picture 6" descr="MCj04316370000[1]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2416" y="5122390"/>
              <a:ext cx="782850" cy="8364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7" descr="MCj04315660000[1]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6653" y="5257501"/>
              <a:ext cx="739680" cy="7585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フローチャート: 複数書類 13"/>
          <p:cNvSpPr/>
          <p:nvPr/>
        </p:nvSpPr>
        <p:spPr>
          <a:xfrm>
            <a:off x="3819924" y="2833541"/>
            <a:ext cx="1144988" cy="76332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生産データ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CSV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867468" y="23391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現運用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1" name="Picture 8" descr="「矢印 イラスト」の画像検索結果">
            <a:hlinkClick r:id="rId8"/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453169">
            <a:off x="633164" y="2708832"/>
            <a:ext cx="2337226" cy="583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2611612">
            <a:off x="3340701" y="1693144"/>
            <a:ext cx="402797" cy="2529689"/>
          </a:xfrm>
          <a:prstGeom prst="rect">
            <a:avLst/>
          </a:prstGeom>
          <a:effectLst>
            <a:glow rad="12700">
              <a:schemeClr val="accent1"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33" name="角丸四角形 32"/>
          <p:cNvSpPr/>
          <p:nvPr/>
        </p:nvSpPr>
        <p:spPr>
          <a:xfrm>
            <a:off x="849990" y="6285703"/>
            <a:ext cx="3042370" cy="41248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9000">
                <a:schemeClr val="accent2"/>
              </a:gs>
            </a:gsLst>
            <a:path path="circle">
              <a:fillToRect l="50000" t="50000" r="50000" b="50000"/>
            </a:path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生産確定</a:t>
            </a:r>
            <a:r>
              <a:rPr kumimoji="1"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出庫指示、在庫引落し）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6050862" y="4341444"/>
            <a:ext cx="39324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  <a:r>
              <a:rPr kumimoji="1"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BOSS</a:t>
            </a:r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から指図、</a:t>
            </a:r>
            <a:r>
              <a:rPr kumimoji="1"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BOM</a:t>
            </a:r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情報を取得。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r>
              <a:rPr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EGPro</a:t>
            </a:r>
            <a:r>
              <a:rPr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の自マスタと</a:t>
            </a:r>
            <a:r>
              <a:rPr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BOM</a:t>
            </a:r>
            <a:r>
              <a:rPr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情報を差分チェック。</a:t>
            </a:r>
            <a:endParaRPr lang="en-US" altLang="ja-JP" sz="1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③差分ありなら</a:t>
            </a:r>
            <a:r>
              <a:rPr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DGS</a:t>
            </a:r>
            <a:r>
              <a:rPr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の実装プログラムの変更を反映。</a:t>
            </a:r>
            <a:endParaRPr kumimoji="1" lang="en-US" altLang="ja-JP" sz="1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④</a:t>
            </a:r>
            <a:r>
              <a:rPr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DGS</a:t>
            </a:r>
            <a:r>
              <a:rPr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から生産データを指定フォルダに出力。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⑤</a:t>
            </a:r>
            <a:r>
              <a:rPr kumimoji="1"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EGPro</a:t>
            </a:r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に指定フォルダからインポートするよう指示。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⑥</a:t>
            </a:r>
            <a:r>
              <a:rPr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EGPro</a:t>
            </a:r>
            <a:r>
              <a:rPr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は自マスタにインポート内容を反映。</a:t>
            </a:r>
            <a:endParaRPr lang="en-US" altLang="ja-JP" sz="1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⑦</a:t>
            </a:r>
            <a:r>
              <a:rPr lang="en-US" altLang="ja-JP" sz="1400">
                <a:latin typeface="Meiryo UI" panose="020B0604030504040204" pitchFamily="50" charset="-128"/>
                <a:ea typeface="Meiryo UI" panose="020B0604030504040204" pitchFamily="50" charset="-128"/>
              </a:rPr>
              <a:t>EGPro</a:t>
            </a:r>
            <a:r>
              <a:rPr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は出庫指示と在庫引き落としを行う。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　　</a:t>
            </a:r>
            <a:r>
              <a:rPr kumimoji="1" lang="en-US" altLang="ja-JP" sz="1400">
                <a:latin typeface="Meiryo UI" panose="020B0604030504040204" pitchFamily="50" charset="-128"/>
                <a:ea typeface="Meiryo UI" panose="020B0604030504040204" pitchFamily="50" charset="-128"/>
                <a:sym typeface="Wingdings" panose="05000000000000000000" pitchFamily="2" charset="2"/>
              </a:rPr>
              <a:t></a:t>
            </a:r>
            <a:r>
              <a:rPr kumimoji="1" lang="ja-JP" altLang="en-US" sz="1400">
                <a:latin typeface="Meiryo UI" panose="020B0604030504040204" pitchFamily="50" charset="-128"/>
                <a:ea typeface="Meiryo UI" panose="020B0604030504040204" pitchFamily="50" charset="-128"/>
              </a:rPr>
              <a:t>生産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確定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46600909-3D25-4007-B668-1A8AEA57021C}"/>
              </a:ext>
            </a:extLst>
          </p:cNvPr>
          <p:cNvSpPr txBox="1"/>
          <p:nvPr/>
        </p:nvSpPr>
        <p:spPr>
          <a:xfrm>
            <a:off x="486864" y="2862066"/>
            <a:ext cx="10903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100" b="1">
                <a:solidFill>
                  <a:srgbClr val="0070C0"/>
                </a:solidFill>
              </a:rPr>
              <a:t>最新</a:t>
            </a:r>
            <a:r>
              <a:rPr kumimoji="1" lang="en-US" altLang="ja-JP" sz="1100" b="1">
                <a:solidFill>
                  <a:srgbClr val="0070C0"/>
                </a:solidFill>
              </a:rPr>
              <a:t>BOM</a:t>
            </a:r>
            <a:r>
              <a:rPr kumimoji="1" lang="ja-JP" altLang="en-US" sz="1100" b="1">
                <a:solidFill>
                  <a:srgbClr val="0070C0"/>
                </a:solidFill>
              </a:rPr>
              <a:t>情報</a:t>
            </a:r>
            <a:endParaRPr kumimoji="1" lang="en-US" altLang="ja-JP" sz="1100" b="1">
              <a:solidFill>
                <a:srgbClr val="0070C0"/>
              </a:solidFill>
            </a:endParaRPr>
          </a:p>
          <a:p>
            <a:pPr algn="ctr"/>
            <a:r>
              <a:rPr lang="ja-JP" altLang="en-US" sz="1100" b="1">
                <a:solidFill>
                  <a:srgbClr val="0070C0"/>
                </a:solidFill>
              </a:rPr>
              <a:t>自動連携</a:t>
            </a:r>
            <a:endParaRPr kumimoji="1" lang="ja-JP" altLang="en-US" sz="1100" b="1">
              <a:solidFill>
                <a:srgbClr val="0070C0"/>
              </a:solidFill>
            </a:endParaRP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BC63DF9A-FA39-4E72-803A-9ECC6D31B20D}"/>
              </a:ext>
            </a:extLst>
          </p:cNvPr>
          <p:cNvGrpSpPr/>
          <p:nvPr/>
        </p:nvGrpSpPr>
        <p:grpSpPr>
          <a:xfrm>
            <a:off x="961649" y="3968146"/>
            <a:ext cx="1907741" cy="1801886"/>
            <a:chOff x="961649" y="3912671"/>
            <a:chExt cx="1907741" cy="1801886"/>
          </a:xfrm>
        </p:grpSpPr>
        <p:pic>
          <p:nvPicPr>
            <p:cNvPr id="7" name="Picture 15" descr="C:\Users\90137\AppData\Local\Microsoft\Windows\Temporary Internet Files\Content.IE5\F5DOTNTP\Server-DB[1].png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07923" y="4327082"/>
              <a:ext cx="1148027" cy="1387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角丸四角形 17">
              <a:extLst>
                <a:ext uri="{FF2B5EF4-FFF2-40B4-BE49-F238E27FC236}">
                  <a16:creationId xmlns:a16="http://schemas.microsoft.com/office/drawing/2014/main" id="{9836D26E-6F32-402D-BC75-A530F0B7EFF9}"/>
                </a:ext>
              </a:extLst>
            </p:cNvPr>
            <p:cNvSpPr/>
            <p:nvPr/>
          </p:nvSpPr>
          <p:spPr>
            <a:xfrm>
              <a:off x="2184408" y="3912671"/>
              <a:ext cx="684982" cy="400110"/>
            </a:xfrm>
            <a:prstGeom prst="round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sz="1050" b="1">
                  <a:solidFill>
                    <a:srgbClr val="FF0000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差分チェック</a:t>
              </a:r>
              <a:endParaRPr kumimoji="1" lang="ja-JP" altLang="en-US" sz="105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" name="テキスト ボックス 15"/>
            <p:cNvSpPr txBox="1">
              <a:spLocks noChangeArrowheads="1"/>
            </p:cNvSpPr>
            <p:nvPr/>
          </p:nvSpPr>
          <p:spPr bwMode="auto">
            <a:xfrm>
              <a:off x="961649" y="3940730"/>
              <a:ext cx="847762" cy="33884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r>
                <a:rPr lang="en-US" altLang="ja-JP" sz="1600" dirty="0" err="1">
                  <a:latin typeface="Meiryo UI" panose="020B0604030504040204" pitchFamily="50" charset="-128"/>
                  <a:ea typeface="Meiryo UI" panose="020B0604030504040204" pitchFamily="50" charset="-128"/>
                </a:rPr>
                <a:t>EGPro</a:t>
              </a:r>
              <a:endPara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27" name="テキスト ボックス 26"/>
          <p:cNvSpPr txBox="1"/>
          <p:nvPr/>
        </p:nvSpPr>
        <p:spPr>
          <a:xfrm>
            <a:off x="2198209" y="2191742"/>
            <a:ext cx="140775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差分ありなら</a:t>
            </a:r>
            <a:endParaRPr kumimoji="1" lang="en-US" altLang="ja-JP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変更</a:t>
            </a:r>
            <a:r>
              <a:rPr lang="ja-JP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情報を反映</a:t>
            </a:r>
            <a:endParaRPr lang="en-US" altLang="ja-JP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（手作業）</a:t>
            </a:r>
            <a:endParaRPr kumimoji="1" lang="ja-JP" altLang="en-US" sz="1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5" name="ストライプ矢印 33">
            <a:extLst>
              <a:ext uri="{FF2B5EF4-FFF2-40B4-BE49-F238E27FC236}">
                <a16:creationId xmlns:a16="http://schemas.microsoft.com/office/drawing/2014/main" id="{FE01DD9F-5BDC-412E-9A83-E181E2A1FDB3}"/>
              </a:ext>
            </a:extLst>
          </p:cNvPr>
          <p:cNvSpPr/>
          <p:nvPr/>
        </p:nvSpPr>
        <p:spPr>
          <a:xfrm rot="1800000">
            <a:off x="5035671" y="2164644"/>
            <a:ext cx="2043469" cy="295337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twoPt" dir="t"/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6" name="グループ化 6">
            <a:extLst>
              <a:ext uri="{FF2B5EF4-FFF2-40B4-BE49-F238E27FC236}">
                <a16:creationId xmlns:a16="http://schemas.microsoft.com/office/drawing/2014/main" id="{8AEDAB49-ED79-4034-A0BC-52C7C5B8A780}"/>
              </a:ext>
            </a:extLst>
          </p:cNvPr>
          <p:cNvGrpSpPr>
            <a:grpSpLocks/>
          </p:cNvGrpSpPr>
          <p:nvPr/>
        </p:nvGrpSpPr>
        <p:grpSpPr bwMode="auto">
          <a:xfrm>
            <a:off x="3134160" y="824774"/>
            <a:ext cx="2239227" cy="1091700"/>
            <a:chOff x="3833119" y="2839697"/>
            <a:chExt cx="2238226" cy="1091803"/>
          </a:xfrm>
        </p:grpSpPr>
        <p:grpSp>
          <p:nvGrpSpPr>
            <p:cNvPr id="97" name="グループ化 8">
              <a:extLst>
                <a:ext uri="{FF2B5EF4-FFF2-40B4-BE49-F238E27FC236}">
                  <a16:creationId xmlns:a16="http://schemas.microsoft.com/office/drawing/2014/main" id="{1124EC49-2DAE-4013-9A4F-9B00BABE6A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2545" y="2950593"/>
              <a:ext cx="1238800" cy="980907"/>
              <a:chOff x="706653" y="5122390"/>
              <a:chExt cx="1128613" cy="893658"/>
            </a:xfrm>
          </p:grpSpPr>
          <p:pic>
            <p:nvPicPr>
              <p:cNvPr id="99" name="Picture 6" descr="MCj04316370000[1]">
                <a:extLst>
                  <a:ext uri="{FF2B5EF4-FFF2-40B4-BE49-F238E27FC236}">
                    <a16:creationId xmlns:a16="http://schemas.microsoft.com/office/drawing/2014/main" id="{3B06C473-3436-40BA-868A-9CA7C3AEBF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2416" y="5122390"/>
                <a:ext cx="782850" cy="836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0" name="Picture 7" descr="MCj04315660000[1]">
                <a:extLst>
                  <a:ext uri="{FF2B5EF4-FFF2-40B4-BE49-F238E27FC236}">
                    <a16:creationId xmlns:a16="http://schemas.microsoft.com/office/drawing/2014/main" id="{6ED98B1D-E82B-4ACD-AE58-260816E3B1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6653" y="5257501"/>
                <a:ext cx="739680" cy="7585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98" name="テキスト ボックス 16">
              <a:extLst>
                <a:ext uri="{FF2B5EF4-FFF2-40B4-BE49-F238E27FC236}">
                  <a16:creationId xmlns:a16="http://schemas.microsoft.com/office/drawing/2014/main" id="{50563CA1-EB82-4886-9F5A-720528673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3119" y="2839697"/>
              <a:ext cx="1618630" cy="5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DGS</a:t>
              </a:r>
              <a:r>
                <a:rPr lang="ja-JP" altLang="en-US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クライアント</a:t>
              </a:r>
              <a:endParaRPr lang="en-US" altLang="ja-JP" sz="16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(</a:t>
              </a:r>
              <a:r>
                <a:rPr lang="ja-JP" altLang="en-US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実装１課</a:t>
              </a:r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)</a:t>
              </a:r>
              <a:endParaRPr lang="ja-JP" altLang="en-US" sz="16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01" name="グループ化 6">
            <a:extLst>
              <a:ext uri="{FF2B5EF4-FFF2-40B4-BE49-F238E27FC236}">
                <a16:creationId xmlns:a16="http://schemas.microsoft.com/office/drawing/2014/main" id="{370B66CB-366D-4CDF-A4FB-66C30E0588A6}"/>
              </a:ext>
            </a:extLst>
          </p:cNvPr>
          <p:cNvGrpSpPr>
            <a:grpSpLocks/>
          </p:cNvGrpSpPr>
          <p:nvPr/>
        </p:nvGrpSpPr>
        <p:grpSpPr bwMode="auto">
          <a:xfrm>
            <a:off x="6860260" y="2635883"/>
            <a:ext cx="2328873" cy="1076716"/>
            <a:chOff x="5212065" y="2791928"/>
            <a:chExt cx="2327831" cy="1076817"/>
          </a:xfrm>
        </p:grpSpPr>
        <p:pic>
          <p:nvPicPr>
            <p:cNvPr id="104" name="Picture 6" descr="MCj04316370000[1]">
              <a:extLst>
                <a:ext uri="{FF2B5EF4-FFF2-40B4-BE49-F238E27FC236}">
                  <a16:creationId xmlns:a16="http://schemas.microsoft.com/office/drawing/2014/main" id="{B8A3AE43-1945-4759-B870-6560D34F31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2065" y="2950592"/>
              <a:ext cx="859280" cy="918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テキスト ボックス 16">
              <a:extLst>
                <a:ext uri="{FF2B5EF4-FFF2-40B4-BE49-F238E27FC236}">
                  <a16:creationId xmlns:a16="http://schemas.microsoft.com/office/drawing/2014/main" id="{FBA24FA5-1731-405B-A7D5-4FBAD58F4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4800" y="2791928"/>
              <a:ext cx="1665096" cy="338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LNB</a:t>
              </a:r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  <a:sym typeface="Wingdings" panose="05000000000000000000" pitchFamily="2" charset="2"/>
                </a:rPr>
                <a:t></a:t>
              </a:r>
              <a:r>
                <a:rPr lang="ja-JP" altLang="en-US" sz="1600">
                  <a:latin typeface="Meiryo UI" panose="020B0604030504040204" pitchFamily="50" charset="-128"/>
                  <a:ea typeface="Meiryo UI" panose="020B0604030504040204" pitchFamily="50" charset="-128"/>
                  <a:sym typeface="Wingdings" panose="05000000000000000000" pitchFamily="2" charset="2"/>
                </a:rPr>
                <a:t>実装機へ</a:t>
              </a:r>
              <a:endParaRPr lang="ja-JP" altLang="en-US" sz="16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07" name="グループ化 6">
            <a:extLst>
              <a:ext uri="{FF2B5EF4-FFF2-40B4-BE49-F238E27FC236}">
                <a16:creationId xmlns:a16="http://schemas.microsoft.com/office/drawing/2014/main" id="{D6880EE6-65F3-450A-A9FE-4E3481915252}"/>
              </a:ext>
            </a:extLst>
          </p:cNvPr>
          <p:cNvGrpSpPr>
            <a:grpSpLocks/>
          </p:cNvGrpSpPr>
          <p:nvPr/>
        </p:nvGrpSpPr>
        <p:grpSpPr bwMode="auto">
          <a:xfrm>
            <a:off x="7103446" y="888700"/>
            <a:ext cx="2731151" cy="1027774"/>
            <a:chOff x="4832545" y="2903629"/>
            <a:chExt cx="2729931" cy="1027871"/>
          </a:xfrm>
        </p:grpSpPr>
        <p:grpSp>
          <p:nvGrpSpPr>
            <p:cNvPr id="108" name="グループ化 8">
              <a:extLst>
                <a:ext uri="{FF2B5EF4-FFF2-40B4-BE49-F238E27FC236}">
                  <a16:creationId xmlns:a16="http://schemas.microsoft.com/office/drawing/2014/main" id="{FDC314EF-EC75-4E59-8D80-A992F0ACC3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32545" y="2950593"/>
              <a:ext cx="1238800" cy="980907"/>
              <a:chOff x="706653" y="5122390"/>
              <a:chExt cx="1128613" cy="893658"/>
            </a:xfrm>
          </p:grpSpPr>
          <p:pic>
            <p:nvPicPr>
              <p:cNvPr id="110" name="Picture 6" descr="MCj04316370000[1]">
                <a:extLst>
                  <a:ext uri="{FF2B5EF4-FFF2-40B4-BE49-F238E27FC236}">
                    <a16:creationId xmlns:a16="http://schemas.microsoft.com/office/drawing/2014/main" id="{57882DED-EF86-48F4-953E-6E5A63CCB2B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2416" y="5122390"/>
                <a:ext cx="782850" cy="836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7" descr="MCj04315660000[1]">
                <a:extLst>
                  <a:ext uri="{FF2B5EF4-FFF2-40B4-BE49-F238E27FC236}">
                    <a16:creationId xmlns:a16="http://schemas.microsoft.com/office/drawing/2014/main" id="{18AFC137-3258-41AA-A750-F3BF24B280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6653" y="5257501"/>
                <a:ext cx="739680" cy="7585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09" name="テキスト ボックス 16">
              <a:extLst>
                <a:ext uri="{FF2B5EF4-FFF2-40B4-BE49-F238E27FC236}">
                  <a16:creationId xmlns:a16="http://schemas.microsoft.com/office/drawing/2014/main" id="{66FA356E-7CD9-4CF5-84E3-1D6FE70FEE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3845" y="2903629"/>
              <a:ext cx="1618631" cy="5848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DGS</a:t>
              </a:r>
              <a:r>
                <a:rPr lang="ja-JP" altLang="en-US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クライアント</a:t>
              </a:r>
              <a:endParaRPr lang="en-US" altLang="ja-JP" sz="16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(</a:t>
              </a:r>
              <a:r>
                <a:rPr lang="ja-JP" altLang="en-US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実装技術</a:t>
              </a:r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)</a:t>
              </a:r>
              <a:endParaRPr lang="ja-JP" altLang="en-US" sz="16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12" name="ストライプ矢印 33">
            <a:extLst>
              <a:ext uri="{FF2B5EF4-FFF2-40B4-BE49-F238E27FC236}">
                <a16:creationId xmlns:a16="http://schemas.microsoft.com/office/drawing/2014/main" id="{88040707-5B8E-45E1-AC2E-B505E2719EF3}"/>
              </a:ext>
            </a:extLst>
          </p:cNvPr>
          <p:cNvSpPr/>
          <p:nvPr/>
        </p:nvSpPr>
        <p:spPr>
          <a:xfrm rot="10800000">
            <a:off x="5357513" y="1234217"/>
            <a:ext cx="1743833" cy="212372"/>
          </a:xfrm>
          <a:prstGeom prst="rightArrow">
            <a:avLst/>
          </a:prstGeom>
          <a:noFill/>
          <a:ln>
            <a:solidFill>
              <a:srgbClr val="FF0000"/>
            </a:solidFill>
            <a:prstDash val="dash"/>
          </a:ln>
          <a:scene3d>
            <a:camera prst="orthographicFront"/>
            <a:lightRig rig="twoPt" dir="t"/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テキスト ボックス 112">
            <a:extLst>
              <a:ext uri="{FF2B5EF4-FFF2-40B4-BE49-F238E27FC236}">
                <a16:creationId xmlns:a16="http://schemas.microsoft.com/office/drawing/2014/main" id="{683635B8-8A93-4461-B74D-3C1F38183BF1}"/>
              </a:ext>
            </a:extLst>
          </p:cNvPr>
          <p:cNvSpPr txBox="1"/>
          <p:nvPr/>
        </p:nvSpPr>
        <p:spPr>
          <a:xfrm>
            <a:off x="5581447" y="1454810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/>
              <a:t>変更情報を事前入力</a:t>
            </a:r>
            <a:endParaRPr kumimoji="1" lang="en-US" altLang="ja-JP" sz="1200" b="1"/>
          </a:p>
          <a:p>
            <a:pPr algn="ctr"/>
            <a:r>
              <a:rPr lang="ja-JP" altLang="en-US" sz="1200" b="1">
                <a:solidFill>
                  <a:srgbClr val="FF0000"/>
                </a:solidFill>
              </a:rPr>
              <a:t>（手入力）</a:t>
            </a:r>
            <a:endParaRPr kumimoji="1" lang="ja-JP" altLang="en-US" sz="1200" b="1">
              <a:solidFill>
                <a:srgbClr val="FF0000"/>
              </a:solidFill>
            </a:endParaRPr>
          </a:p>
        </p:txBody>
      </p:sp>
      <p:pic>
        <p:nvPicPr>
          <p:cNvPr id="114" name="Picture 8" descr="「矢印 イラスト」の画像検索結果">
            <a:hlinkClick r:id="rId8"/>
            <a:extLst>
              <a:ext uri="{FF2B5EF4-FFF2-40B4-BE49-F238E27FC236}">
                <a16:creationId xmlns:a16="http://schemas.microsoft.com/office/drawing/2014/main" id="{2E0E1072-2746-48E2-9B28-62100B29B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803294" flipH="1">
            <a:off x="1809030" y="4161496"/>
            <a:ext cx="445664" cy="328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" name="図 114">
            <a:extLst>
              <a:ext uri="{FF2B5EF4-FFF2-40B4-BE49-F238E27FC236}">
                <a16:creationId xmlns:a16="http://schemas.microsoft.com/office/drawing/2014/main" id="{5004F6FC-39A8-421C-ABC3-596C5269DCC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35863" flipH="1">
            <a:off x="4518492" y="1910263"/>
            <a:ext cx="402797" cy="929369"/>
          </a:xfrm>
          <a:prstGeom prst="rect">
            <a:avLst/>
          </a:prstGeom>
          <a:effectLst>
            <a:glow rad="12700">
              <a:schemeClr val="accent1"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34" name="ストライプ矢印 33"/>
          <p:cNvSpPr/>
          <p:nvPr/>
        </p:nvSpPr>
        <p:spPr>
          <a:xfrm rot="5400000">
            <a:off x="2164931" y="5881044"/>
            <a:ext cx="412489" cy="396829"/>
          </a:xfrm>
          <a:prstGeom prst="stripedRightArrow">
            <a:avLst/>
          </a:prstGeom>
          <a:scene3d>
            <a:camera prst="orthographicFront"/>
            <a:lightRig rig="twoPt" dir="t"/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16" name="図 115">
            <a:extLst>
              <a:ext uri="{FF2B5EF4-FFF2-40B4-BE49-F238E27FC236}">
                <a16:creationId xmlns:a16="http://schemas.microsoft.com/office/drawing/2014/main" id="{C5EF22B2-835C-45A5-AD79-AD7CEAA1436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3284098" flipH="1">
            <a:off x="3194029" y="3522436"/>
            <a:ext cx="402797" cy="1677083"/>
          </a:xfrm>
          <a:prstGeom prst="rect">
            <a:avLst/>
          </a:prstGeom>
          <a:effectLst>
            <a:glow rad="12700">
              <a:schemeClr val="accent1"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117" name="テキスト ボックス 116">
            <a:extLst>
              <a:ext uri="{FF2B5EF4-FFF2-40B4-BE49-F238E27FC236}">
                <a16:creationId xmlns:a16="http://schemas.microsoft.com/office/drawing/2014/main" id="{1E403D27-6045-4A74-9924-6DDA345AD279}"/>
              </a:ext>
            </a:extLst>
          </p:cNvPr>
          <p:cNvSpPr txBox="1"/>
          <p:nvPr/>
        </p:nvSpPr>
        <p:spPr>
          <a:xfrm>
            <a:off x="3253849" y="4379732"/>
            <a:ext cx="2327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1200" b="1"/>
              <a:t>EGPro</a:t>
            </a:r>
            <a:r>
              <a:rPr lang="ja-JP" altLang="en-US" sz="1200" b="1"/>
              <a:t>にインポート</a:t>
            </a:r>
            <a:endParaRPr lang="en-US" altLang="ja-JP" sz="1200" b="1"/>
          </a:p>
          <a:p>
            <a:pPr algn="ctr"/>
            <a:r>
              <a:rPr lang="en-US" altLang="ja-JP" sz="1200" b="1">
                <a:solidFill>
                  <a:srgbClr val="FF0000"/>
                </a:solidFill>
              </a:rPr>
              <a:t>(</a:t>
            </a:r>
            <a:r>
              <a:rPr lang="ja-JP" altLang="en-US" sz="1200" b="1">
                <a:solidFill>
                  <a:srgbClr val="FF0000"/>
                </a:solidFill>
              </a:rPr>
              <a:t>手作業</a:t>
            </a:r>
            <a:r>
              <a:rPr lang="en-US" altLang="ja-JP" sz="1200" b="1">
                <a:solidFill>
                  <a:srgbClr val="FF0000"/>
                </a:solidFill>
              </a:rPr>
              <a:t>)</a:t>
            </a:r>
          </a:p>
          <a:p>
            <a:pPr algn="ctr"/>
            <a:r>
              <a:rPr lang="en-US" altLang="ja-JP" sz="1200" b="1"/>
              <a:t>(</a:t>
            </a:r>
            <a:r>
              <a:rPr kumimoji="1" lang="en-US" altLang="ja-JP" sz="1200" b="1"/>
              <a:t>\\172.25.253.203\share\</a:t>
            </a:r>
            <a:r>
              <a:rPr lang="en-US" altLang="ja-JP" sz="1200" b="1"/>
              <a:t>)</a:t>
            </a:r>
            <a:endParaRPr kumimoji="1" lang="ja-JP" altLang="en-US" sz="1200" b="1"/>
          </a:p>
        </p:txBody>
      </p:sp>
      <p:pic>
        <p:nvPicPr>
          <p:cNvPr id="118" name="Picture 8" descr="「矢印 イラスト」の画像検索結果">
            <a:hlinkClick r:id="rId8"/>
            <a:extLst>
              <a:ext uri="{FF2B5EF4-FFF2-40B4-BE49-F238E27FC236}">
                <a16:creationId xmlns:a16="http://schemas.microsoft.com/office/drawing/2014/main" id="{30324FFA-C23B-4EC5-9DC8-C59EF96C8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16178" flipH="1">
            <a:off x="2270485" y="4564955"/>
            <a:ext cx="565238" cy="277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Picture 8" descr="「矢印 イラスト」の画像検索結果">
            <a:hlinkClick r:id="rId8"/>
            <a:extLst>
              <a:ext uri="{FF2B5EF4-FFF2-40B4-BE49-F238E27FC236}">
                <a16:creationId xmlns:a16="http://schemas.microsoft.com/office/drawing/2014/main" id="{97AB665F-5EAB-49CB-A8EA-87605504B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138214">
            <a:off x="2346929" y="4992895"/>
            <a:ext cx="565238" cy="277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6C5D1E58-9441-46A4-8CCA-94EC30F187A0}"/>
              </a:ext>
            </a:extLst>
          </p:cNvPr>
          <p:cNvSpPr txBox="1"/>
          <p:nvPr/>
        </p:nvSpPr>
        <p:spPr>
          <a:xfrm>
            <a:off x="1203591" y="247729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0422D4F8-0934-483E-BD5A-9AD6C1392D11}"/>
              </a:ext>
            </a:extLst>
          </p:cNvPr>
          <p:cNvSpPr txBox="1"/>
          <p:nvPr/>
        </p:nvSpPr>
        <p:spPr>
          <a:xfrm>
            <a:off x="1571147" y="410536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43A6F6BB-81F0-49A3-814D-7CA479C66FF5}"/>
              </a:ext>
            </a:extLst>
          </p:cNvPr>
          <p:cNvSpPr txBox="1"/>
          <p:nvPr/>
        </p:nvSpPr>
        <p:spPr>
          <a:xfrm>
            <a:off x="3098065" y="270930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③</a:t>
            </a:r>
            <a:endParaRPr kumimoji="1" lang="ja-JP" altLang="en-US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3CB2B0A2-8098-4B85-9686-46AAAC59BBB2}"/>
              </a:ext>
            </a:extLst>
          </p:cNvPr>
          <p:cNvSpPr txBox="1"/>
          <p:nvPr/>
        </p:nvSpPr>
        <p:spPr>
          <a:xfrm>
            <a:off x="4790792" y="214743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④</a:t>
            </a:r>
            <a:endParaRPr kumimoji="1" lang="ja-JP" altLang="en-US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9999722D-4C72-4F02-B9DA-8B9909386608}"/>
              </a:ext>
            </a:extLst>
          </p:cNvPr>
          <p:cNvSpPr txBox="1"/>
          <p:nvPr/>
        </p:nvSpPr>
        <p:spPr>
          <a:xfrm>
            <a:off x="3723264" y="403589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⑤</a:t>
            </a:r>
            <a:endParaRPr kumimoji="1" lang="ja-JP" altLang="en-US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C0353823-91C9-4FD4-886A-91E9BEC94E51}"/>
              </a:ext>
            </a:extLst>
          </p:cNvPr>
          <p:cNvSpPr txBox="1"/>
          <p:nvPr/>
        </p:nvSpPr>
        <p:spPr>
          <a:xfrm>
            <a:off x="2395006" y="432305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>
                <a:latin typeface="Meiryo UI" panose="020B0604030504040204" pitchFamily="50" charset="-128"/>
                <a:ea typeface="Meiryo UI" panose="020B0604030504040204" pitchFamily="50" charset="-128"/>
              </a:rPr>
              <a:t>⑥</a:t>
            </a:r>
            <a:endParaRPr kumimoji="1" lang="ja-JP" altLang="en-US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8" name="ストライプ矢印 33">
            <a:extLst>
              <a:ext uri="{FF2B5EF4-FFF2-40B4-BE49-F238E27FC236}">
                <a16:creationId xmlns:a16="http://schemas.microsoft.com/office/drawing/2014/main" id="{25518EAE-B083-4FA1-8518-9DFF04623422}"/>
              </a:ext>
            </a:extLst>
          </p:cNvPr>
          <p:cNvSpPr/>
          <p:nvPr/>
        </p:nvSpPr>
        <p:spPr>
          <a:xfrm rot="1800000">
            <a:off x="6710289" y="718390"/>
            <a:ext cx="474446" cy="207675"/>
          </a:xfrm>
          <a:prstGeom prst="left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twoPt" dir="t"/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ストライプ矢印 33">
            <a:extLst>
              <a:ext uri="{FF2B5EF4-FFF2-40B4-BE49-F238E27FC236}">
                <a16:creationId xmlns:a16="http://schemas.microsoft.com/office/drawing/2014/main" id="{83DE6D0B-8A79-4912-A60A-2302409CEF30}"/>
              </a:ext>
            </a:extLst>
          </p:cNvPr>
          <p:cNvSpPr/>
          <p:nvPr/>
        </p:nvSpPr>
        <p:spPr>
          <a:xfrm rot="8822502">
            <a:off x="5336447" y="669465"/>
            <a:ext cx="492816" cy="247132"/>
          </a:xfrm>
          <a:prstGeom prst="left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  <a:scene3d>
            <a:camera prst="orthographicFront"/>
            <a:lightRig rig="twoPt" dir="t"/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2D027DCC-8DA0-488E-BB26-928A853C8C0E}"/>
              </a:ext>
            </a:extLst>
          </p:cNvPr>
          <p:cNvSpPr txBox="1"/>
          <p:nvPr/>
        </p:nvSpPr>
        <p:spPr>
          <a:xfrm>
            <a:off x="6577978" y="203582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latin typeface="Meiryo UI" panose="020B0604030504040204" pitchFamily="50" charset="-128"/>
                <a:ea typeface="Meiryo UI" panose="020B0604030504040204" pitchFamily="50" charset="-128"/>
              </a:rPr>
              <a:t>DGS</a:t>
            </a:r>
            <a:r>
              <a:rPr kumimoji="1" lang="ja-JP" altLang="en-US" b="1">
                <a:latin typeface="Meiryo UI" panose="020B0604030504040204" pitchFamily="50" charset="-128"/>
                <a:ea typeface="Meiryo UI" panose="020B0604030504040204" pitchFamily="50" charset="-128"/>
              </a:rPr>
              <a:t>サーバ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8FB36FAF-6958-4208-9DC3-F4A2D9EDD7A6}"/>
              </a:ext>
            </a:extLst>
          </p:cNvPr>
          <p:cNvSpPr txBox="1"/>
          <p:nvPr/>
        </p:nvSpPr>
        <p:spPr>
          <a:xfrm>
            <a:off x="4473897" y="2545319"/>
            <a:ext cx="2327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200" b="1"/>
              <a:t>生産</a:t>
            </a:r>
            <a:r>
              <a:rPr kumimoji="1" lang="en-US" altLang="ja-JP" sz="1200" b="1"/>
              <a:t>BOM</a:t>
            </a:r>
            <a:r>
              <a:rPr kumimoji="1" lang="ja-JP" altLang="en-US" sz="1200" b="1"/>
              <a:t>情報を出力</a:t>
            </a:r>
            <a:endParaRPr kumimoji="1" lang="en-US" altLang="ja-JP" sz="1200" b="1"/>
          </a:p>
          <a:p>
            <a:pPr algn="ctr"/>
            <a:r>
              <a:rPr lang="ja-JP" altLang="en-US" sz="1200" b="1">
                <a:solidFill>
                  <a:srgbClr val="FF0000"/>
                </a:solidFill>
              </a:rPr>
              <a:t>（手作業）</a:t>
            </a:r>
            <a:r>
              <a:rPr lang="en-US" altLang="ja-JP" sz="1200" b="1">
                <a:solidFill>
                  <a:srgbClr val="FF0000"/>
                </a:solidFill>
              </a:rPr>
              <a:t> </a:t>
            </a:r>
            <a:r>
              <a:rPr lang="en-US" altLang="ja-JP" sz="1200" b="1"/>
              <a:t>(</a:t>
            </a:r>
            <a:r>
              <a:rPr kumimoji="1" lang="en-US" altLang="ja-JP" sz="1200" b="1"/>
              <a:t>\\172.25.253.203\share\</a:t>
            </a:r>
            <a:r>
              <a:rPr lang="en-US" altLang="ja-JP" sz="1200" b="1"/>
              <a:t>)</a:t>
            </a:r>
            <a:endParaRPr kumimoji="1" lang="ja-JP" altLang="en-US" sz="1200" b="1"/>
          </a:p>
        </p:txBody>
      </p:sp>
      <p:sp>
        <p:nvSpPr>
          <p:cNvPr id="131" name="テキスト ボックス 130">
            <a:extLst>
              <a:ext uri="{FF2B5EF4-FFF2-40B4-BE49-F238E27FC236}">
                <a16:creationId xmlns:a16="http://schemas.microsoft.com/office/drawing/2014/main" id="{5D40B597-92E0-4111-BCA5-E6F8F2A001C7}"/>
              </a:ext>
            </a:extLst>
          </p:cNvPr>
          <p:cNvSpPr txBox="1"/>
          <p:nvPr/>
        </p:nvSpPr>
        <p:spPr>
          <a:xfrm>
            <a:off x="2629548" y="499340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>
                <a:latin typeface="Meiryo UI" panose="020B0604030504040204" pitchFamily="50" charset="-128"/>
                <a:ea typeface="Meiryo UI" panose="020B0604030504040204" pitchFamily="50" charset="-128"/>
              </a:rPr>
              <a:t>⑦</a:t>
            </a:r>
            <a:endParaRPr kumimoji="1" lang="ja-JP" altLang="en-US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06294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3"/>
          <p:cNvGrpSpPr>
            <a:grpSpLocks/>
          </p:cNvGrpSpPr>
          <p:nvPr/>
        </p:nvGrpSpPr>
        <p:grpSpPr bwMode="auto">
          <a:xfrm>
            <a:off x="719803" y="403708"/>
            <a:ext cx="1776413" cy="1512888"/>
            <a:chOff x="1077483" y="942718"/>
            <a:chExt cx="1776249" cy="1513525"/>
          </a:xfrm>
        </p:grpSpPr>
        <p:pic>
          <p:nvPicPr>
            <p:cNvPr id="3" name="Picture 4" descr="「データベース イラスト」の画像検索結果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1307364" y="965129"/>
              <a:ext cx="978635" cy="123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8" descr="「サーバ　イラスト　フリー」の画像検索結果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6122" y="1448188"/>
              <a:ext cx="747610" cy="1008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テキスト ボックス 1"/>
            <p:cNvSpPr txBox="1">
              <a:spLocks noChangeArrowheads="1"/>
            </p:cNvSpPr>
            <p:nvPr/>
          </p:nvSpPr>
          <p:spPr bwMode="auto">
            <a:xfrm>
              <a:off x="1077483" y="942718"/>
              <a:ext cx="7732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BOSS</a:t>
              </a:r>
              <a:endParaRPr lang="ja-JP" altLang="en-US" sz="16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6" name="グループ化 4"/>
          <p:cNvGrpSpPr>
            <a:grpSpLocks/>
          </p:cNvGrpSpPr>
          <p:nvPr/>
        </p:nvGrpSpPr>
        <p:grpSpPr bwMode="auto">
          <a:xfrm>
            <a:off x="1174266" y="4235012"/>
            <a:ext cx="1550988" cy="1387475"/>
            <a:chOff x="1393856" y="3294565"/>
            <a:chExt cx="1550464" cy="1386288"/>
          </a:xfrm>
        </p:grpSpPr>
        <p:pic>
          <p:nvPicPr>
            <p:cNvPr id="7" name="Picture 15" descr="C:\Users\90137\AppData\Local\Microsoft\Windows\Temporary Internet Files\Content.IE5\F5DOTNTP\Server-DB[1]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6681" y="3294565"/>
              <a:ext cx="1147639" cy="1386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テキスト ボックス 15"/>
            <p:cNvSpPr txBox="1">
              <a:spLocks noChangeArrowheads="1"/>
            </p:cNvSpPr>
            <p:nvPr/>
          </p:nvSpPr>
          <p:spPr bwMode="auto">
            <a:xfrm>
              <a:off x="1393856" y="3333443"/>
              <a:ext cx="8474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r>
                <a:rPr lang="en-US" altLang="ja-JP" sz="1600" dirty="0" err="1">
                  <a:latin typeface="Meiryo UI" panose="020B0604030504040204" pitchFamily="50" charset="-128"/>
                  <a:ea typeface="Meiryo UI" panose="020B0604030504040204" pitchFamily="50" charset="-128"/>
                </a:rPr>
                <a:t>EGPro</a:t>
              </a:r>
              <a:endPara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9" name="グループ化 6"/>
          <p:cNvGrpSpPr>
            <a:grpSpLocks/>
          </p:cNvGrpSpPr>
          <p:nvPr/>
        </p:nvGrpSpPr>
        <p:grpSpPr bwMode="auto">
          <a:xfrm>
            <a:off x="4131933" y="777132"/>
            <a:ext cx="1961971" cy="1139465"/>
            <a:chOff x="4832545" y="2791928"/>
            <a:chExt cx="1961096" cy="1139572"/>
          </a:xfrm>
        </p:grpSpPr>
        <p:grpSp>
          <p:nvGrpSpPr>
            <p:cNvPr id="10" name="グループ化 8"/>
            <p:cNvGrpSpPr>
              <a:grpSpLocks/>
            </p:cNvGrpSpPr>
            <p:nvPr/>
          </p:nvGrpSpPr>
          <p:grpSpPr bwMode="auto">
            <a:xfrm>
              <a:off x="4832545" y="2950593"/>
              <a:ext cx="1238800" cy="980907"/>
              <a:chOff x="706653" y="5122390"/>
              <a:chExt cx="1128613" cy="893658"/>
            </a:xfrm>
          </p:grpSpPr>
          <p:pic>
            <p:nvPicPr>
              <p:cNvPr id="12" name="Picture 6" descr="MCj04316370000[1]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2416" y="5122390"/>
                <a:ext cx="782850" cy="836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" name="Picture 7" descr="MCj04315660000[1]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6653" y="5257501"/>
                <a:ext cx="739680" cy="7585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1" name="テキスト ボックス 16"/>
            <p:cNvSpPr txBox="1">
              <a:spLocks noChangeArrowheads="1"/>
            </p:cNvSpPr>
            <p:nvPr/>
          </p:nvSpPr>
          <p:spPr bwMode="auto">
            <a:xfrm>
              <a:off x="5874800" y="2791928"/>
              <a:ext cx="91884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DGS</a:t>
              </a:r>
            </a:p>
            <a:p>
              <a:r>
                <a:rPr lang="ja-JP" altLang="en-US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MJS)</a:t>
              </a:r>
              <a:endParaRPr lang="ja-JP" altLang="en-US" sz="16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4" name="フローチャート: 複数書類 13"/>
          <p:cNvSpPr/>
          <p:nvPr/>
        </p:nvSpPr>
        <p:spPr>
          <a:xfrm>
            <a:off x="3965569" y="2792579"/>
            <a:ext cx="1144988" cy="76332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生産データ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CSV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角丸四角形 17"/>
          <p:cNvSpPr/>
          <p:nvPr/>
        </p:nvSpPr>
        <p:spPr>
          <a:xfrm>
            <a:off x="1800287" y="2754973"/>
            <a:ext cx="1594074" cy="74216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差分チェック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NKT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様アプリ作成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507502" y="21904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想定（本来）</a:t>
            </a:r>
          </a:p>
        </p:txBody>
      </p:sp>
      <p:pic>
        <p:nvPicPr>
          <p:cNvPr id="20" name="図 1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370084" flipH="1">
            <a:off x="2164169" y="1811363"/>
            <a:ext cx="402797" cy="921976"/>
          </a:xfrm>
          <a:prstGeom prst="rect">
            <a:avLst/>
          </a:prstGeom>
          <a:effectLst>
            <a:glow rad="12700">
              <a:schemeClr val="accent1"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21" name="Picture 8" descr="「矢印 イラスト」の画像検索結果">
            <a:hlinkClick r:id="rId10"/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11807">
            <a:off x="-534402" y="2696354"/>
            <a:ext cx="3019907" cy="108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図 2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4203339" flipH="1">
            <a:off x="3150130" y="1056449"/>
            <a:ext cx="524277" cy="1793771"/>
          </a:xfrm>
          <a:prstGeom prst="rect">
            <a:avLst/>
          </a:prstGeom>
          <a:effectLst>
            <a:glow rad="12700">
              <a:schemeClr val="accent1"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23" name="図 2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487188" flipH="1">
            <a:off x="4583047" y="1902503"/>
            <a:ext cx="402797" cy="921976"/>
          </a:xfrm>
          <a:prstGeom prst="rect">
            <a:avLst/>
          </a:prstGeom>
          <a:effectLst>
            <a:glow rad="12700">
              <a:schemeClr val="accent1"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24" name="図 2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6773874" flipH="1">
            <a:off x="3427512" y="3126512"/>
            <a:ext cx="402797" cy="921976"/>
          </a:xfrm>
          <a:prstGeom prst="rect">
            <a:avLst/>
          </a:prstGeom>
          <a:effectLst>
            <a:glow rad="12700">
              <a:schemeClr val="accent1"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pic>
        <p:nvPicPr>
          <p:cNvPr id="25" name="Picture 8" descr="「矢印 イラスト」の画像検索結果">
            <a:hlinkClick r:id="rId10"/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634016" flipV="1">
            <a:off x="2595926" y="4106201"/>
            <a:ext cx="2322434" cy="112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テキスト ボックス 25"/>
          <p:cNvSpPr txBox="1"/>
          <p:nvPr/>
        </p:nvSpPr>
        <p:spPr>
          <a:xfrm>
            <a:off x="3796940" y="4736788"/>
            <a:ext cx="1278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OK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なら</a:t>
            </a:r>
            <a:endParaRPr kumimoji="1"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1400" b="1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EGPro</a:t>
            </a:r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取込み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テキスト ボックス 26"/>
          <p:cNvSpPr txBox="1"/>
          <p:nvPr/>
        </p:nvSpPr>
        <p:spPr>
          <a:xfrm>
            <a:off x="3109636" y="2047064"/>
            <a:ext cx="11256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NG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なら</a:t>
            </a:r>
            <a:endParaRPr kumimoji="1"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DGS</a:t>
            </a:r>
            <a:r>
              <a:rPr lang="ja-JP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修正？</a:t>
            </a:r>
            <a:endParaRPr lang="en-US" altLang="ja-JP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（手作業）</a:t>
            </a:r>
            <a:endParaRPr kumimoji="1" lang="ja-JP" altLang="en-US" sz="1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871768" y="199934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4930141" y="2163436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3475655" y="322260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③</a:t>
            </a:r>
            <a:endParaRPr kumimoji="1" lang="ja-JP" altLang="en-US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3717452" y="157514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④</a:t>
            </a:r>
            <a:endParaRPr kumimoji="1" lang="ja-JP" altLang="en-US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テキスト ボックス 31"/>
          <p:cNvSpPr txBox="1"/>
          <p:nvPr/>
        </p:nvSpPr>
        <p:spPr>
          <a:xfrm>
            <a:off x="4036623" y="441625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⑤</a:t>
            </a:r>
            <a:endParaRPr kumimoji="1" lang="ja-JP" altLang="en-US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角丸四角形 32"/>
          <p:cNvSpPr/>
          <p:nvPr/>
        </p:nvSpPr>
        <p:spPr>
          <a:xfrm>
            <a:off x="1169211" y="6154121"/>
            <a:ext cx="1210213" cy="41248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9000">
                <a:schemeClr val="accent2"/>
              </a:gs>
            </a:gsLst>
            <a:path path="circle">
              <a:fillToRect l="50000" t="50000" r="50000" b="50000"/>
            </a:path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生産確定</a:t>
            </a:r>
          </a:p>
        </p:txBody>
      </p:sp>
      <p:sp>
        <p:nvSpPr>
          <p:cNvPr id="34" name="ストライプ矢印 33"/>
          <p:cNvSpPr/>
          <p:nvPr/>
        </p:nvSpPr>
        <p:spPr>
          <a:xfrm rot="5400000">
            <a:off x="1447076" y="5320006"/>
            <a:ext cx="636224" cy="834378"/>
          </a:xfrm>
          <a:prstGeom prst="stripedRightArrow">
            <a:avLst/>
          </a:prstGeom>
          <a:scene3d>
            <a:camera prst="orthographicFront"/>
            <a:lightRig rig="twoPt" dir="t"/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8665690" y="21904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b="1" dirty="0">
                <a:latin typeface="Meiryo UI" panose="020B0604030504040204" pitchFamily="50" charset="-128"/>
                <a:ea typeface="Meiryo UI" panose="020B0604030504040204" pitchFamily="50" charset="-128"/>
              </a:rPr>
              <a:t>五十嵐様（案）</a:t>
            </a:r>
            <a:endParaRPr kumimoji="1" lang="ja-JP" altLang="en-US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6" name="グループ化 3"/>
          <p:cNvGrpSpPr>
            <a:grpSpLocks/>
          </p:cNvGrpSpPr>
          <p:nvPr/>
        </p:nvGrpSpPr>
        <p:grpSpPr bwMode="auto">
          <a:xfrm>
            <a:off x="6971567" y="444682"/>
            <a:ext cx="1776413" cy="1512888"/>
            <a:chOff x="1077483" y="942718"/>
            <a:chExt cx="1776249" cy="1513525"/>
          </a:xfrm>
        </p:grpSpPr>
        <p:pic>
          <p:nvPicPr>
            <p:cNvPr id="37" name="Picture 4" descr="「データベース イラスト」の画像検索結果">
              <a:hlinkClick r:id="rId2"/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1307364" y="965129"/>
              <a:ext cx="978635" cy="1233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8" name="Picture 8" descr="「サーバ　イラスト　フリー」の画像検索結果">
              <a:hlinkClick r:id="rId4"/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6122" y="1448188"/>
              <a:ext cx="747610" cy="10080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テキスト ボックス 1"/>
            <p:cNvSpPr txBox="1">
              <a:spLocks noChangeArrowheads="1"/>
            </p:cNvSpPr>
            <p:nvPr/>
          </p:nvSpPr>
          <p:spPr bwMode="auto">
            <a:xfrm>
              <a:off x="1077483" y="942718"/>
              <a:ext cx="77328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BOSS</a:t>
              </a:r>
              <a:endParaRPr lang="ja-JP" altLang="en-US" sz="16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40" name="グループ化 4"/>
          <p:cNvGrpSpPr>
            <a:grpSpLocks/>
          </p:cNvGrpSpPr>
          <p:nvPr/>
        </p:nvGrpSpPr>
        <p:grpSpPr bwMode="auto">
          <a:xfrm>
            <a:off x="6601327" y="2964938"/>
            <a:ext cx="1550988" cy="1387475"/>
            <a:chOff x="1393856" y="3294565"/>
            <a:chExt cx="1550464" cy="1386288"/>
          </a:xfrm>
        </p:grpSpPr>
        <p:pic>
          <p:nvPicPr>
            <p:cNvPr id="41" name="Picture 15" descr="C:\Users\90137\AppData\Local\Microsoft\Windows\Temporary Internet Files\Content.IE5\F5DOTNTP\Server-DB[1].pn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96681" y="3294565"/>
              <a:ext cx="1147639" cy="1386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テキスト ボックス 15"/>
            <p:cNvSpPr txBox="1">
              <a:spLocks noChangeArrowheads="1"/>
            </p:cNvSpPr>
            <p:nvPr/>
          </p:nvSpPr>
          <p:spPr bwMode="auto">
            <a:xfrm>
              <a:off x="1393856" y="3333443"/>
              <a:ext cx="84747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r>
                <a:rPr lang="en-US" altLang="ja-JP" sz="1600" dirty="0" err="1">
                  <a:latin typeface="Meiryo UI" panose="020B0604030504040204" pitchFamily="50" charset="-128"/>
                  <a:ea typeface="Meiryo UI" panose="020B0604030504040204" pitchFamily="50" charset="-128"/>
                </a:rPr>
                <a:t>EGPro</a:t>
              </a:r>
              <a:endParaRPr lang="ja-JP" altLang="en-US" sz="160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43" name="グループ化 6"/>
          <p:cNvGrpSpPr>
            <a:grpSpLocks/>
          </p:cNvGrpSpPr>
          <p:nvPr/>
        </p:nvGrpSpPr>
        <p:grpSpPr bwMode="auto">
          <a:xfrm>
            <a:off x="10114732" y="787418"/>
            <a:ext cx="1969359" cy="1140776"/>
            <a:chOff x="4832545" y="2790616"/>
            <a:chExt cx="1968480" cy="1140884"/>
          </a:xfrm>
        </p:grpSpPr>
        <p:grpSp>
          <p:nvGrpSpPr>
            <p:cNvPr id="44" name="グループ化 8"/>
            <p:cNvGrpSpPr>
              <a:grpSpLocks/>
            </p:cNvGrpSpPr>
            <p:nvPr/>
          </p:nvGrpSpPr>
          <p:grpSpPr bwMode="auto">
            <a:xfrm>
              <a:off x="4832545" y="2950593"/>
              <a:ext cx="1238800" cy="980907"/>
              <a:chOff x="706653" y="5122390"/>
              <a:chExt cx="1128613" cy="893658"/>
            </a:xfrm>
          </p:grpSpPr>
          <p:pic>
            <p:nvPicPr>
              <p:cNvPr id="46" name="Picture 6" descr="MCj04316370000[1]"/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2416" y="5122390"/>
                <a:ext cx="782850" cy="8364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7" name="Picture 7" descr="MCj04315660000[1]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6653" y="5257501"/>
                <a:ext cx="739680" cy="7585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45" name="テキスト ボックス 16"/>
            <p:cNvSpPr txBox="1">
              <a:spLocks noChangeArrowheads="1"/>
            </p:cNvSpPr>
            <p:nvPr/>
          </p:nvSpPr>
          <p:spPr bwMode="auto">
            <a:xfrm>
              <a:off x="5882184" y="2790616"/>
              <a:ext cx="91884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50" charset="-128"/>
                </a:defRPr>
              </a:lvl9pPr>
            </a:lstStyle>
            <a:p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DGS</a:t>
              </a:r>
            </a:p>
            <a:p>
              <a:r>
                <a:rPr lang="ja-JP" altLang="en-US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（</a:t>
              </a:r>
              <a:r>
                <a:rPr lang="en-US" altLang="ja-JP" sz="1600">
                  <a:latin typeface="Meiryo UI" panose="020B0604030504040204" pitchFamily="50" charset="-128"/>
                  <a:ea typeface="Meiryo UI" panose="020B0604030504040204" pitchFamily="50" charset="-128"/>
                </a:rPr>
                <a:t>MJS)</a:t>
              </a:r>
              <a:endParaRPr lang="ja-JP" altLang="en-US" sz="16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48" name="フローチャート: 複数書類 47"/>
          <p:cNvSpPr/>
          <p:nvPr/>
        </p:nvSpPr>
        <p:spPr>
          <a:xfrm>
            <a:off x="10084125" y="3302905"/>
            <a:ext cx="1144988" cy="76332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生産データ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CSV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角丸四角形 48"/>
          <p:cNvSpPr/>
          <p:nvPr/>
        </p:nvSpPr>
        <p:spPr>
          <a:xfrm>
            <a:off x="8190539" y="2227981"/>
            <a:ext cx="1594074" cy="74216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差分チェック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algn="ctr"/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NKT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様アプリ作成</a:t>
            </a:r>
            <a:endParaRPr kumimoji="1" lang="ja-JP" altLang="en-US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テキスト ボックス 55"/>
          <p:cNvSpPr txBox="1"/>
          <p:nvPr/>
        </p:nvSpPr>
        <p:spPr>
          <a:xfrm>
            <a:off x="7471329" y="517559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OK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なら</a:t>
            </a:r>
            <a:endParaRPr kumimoji="1"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生産確定</a:t>
            </a:r>
            <a:endParaRPr kumimoji="1" lang="ja-JP" altLang="en-US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テキスト ボックス 57"/>
          <p:cNvSpPr txBox="1"/>
          <p:nvPr/>
        </p:nvSpPr>
        <p:spPr>
          <a:xfrm>
            <a:off x="7073823" y="19323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10143401" y="2065074"/>
            <a:ext cx="5226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③</a:t>
            </a:r>
            <a:endParaRPr kumimoji="1" lang="ja-JP" altLang="en-US" sz="20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角丸四角形 62"/>
          <p:cNvSpPr/>
          <p:nvPr/>
        </p:nvSpPr>
        <p:spPr>
          <a:xfrm>
            <a:off x="6658608" y="6267093"/>
            <a:ext cx="1210213" cy="412489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9000">
                <a:schemeClr val="accent2"/>
              </a:gs>
            </a:gsLst>
            <a:path path="circle">
              <a:fillToRect l="50000" t="50000" r="50000" b="50000"/>
            </a:path>
          </a:gra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生産確定</a:t>
            </a:r>
          </a:p>
        </p:txBody>
      </p:sp>
      <p:sp>
        <p:nvSpPr>
          <p:cNvPr id="64" name="ストライプ矢印 63"/>
          <p:cNvSpPr/>
          <p:nvPr/>
        </p:nvSpPr>
        <p:spPr>
          <a:xfrm rot="5400000">
            <a:off x="6416380" y="4892564"/>
            <a:ext cx="1732816" cy="834378"/>
          </a:xfrm>
          <a:prstGeom prst="stripedRightArrow">
            <a:avLst/>
          </a:prstGeom>
          <a:scene3d>
            <a:camera prst="orthographicFront"/>
            <a:lightRig rig="twoPt" dir="t"/>
          </a:scene3d>
          <a:sp3d prstMaterial="metal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5" name="図 6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13035267">
            <a:off x="9769687" y="1490710"/>
            <a:ext cx="668512" cy="1149033"/>
          </a:xfrm>
          <a:prstGeom prst="rect">
            <a:avLst/>
          </a:prstGeom>
          <a:effectLst>
            <a:glow rad="12700">
              <a:schemeClr val="accent1"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cxnSp>
        <p:nvCxnSpPr>
          <p:cNvPr id="69" name="直線コネクタ 68"/>
          <p:cNvCxnSpPr/>
          <p:nvPr/>
        </p:nvCxnSpPr>
        <p:spPr>
          <a:xfrm>
            <a:off x="6204704" y="572914"/>
            <a:ext cx="2834" cy="6254295"/>
          </a:xfrm>
          <a:prstGeom prst="line">
            <a:avLst/>
          </a:prstGeom>
          <a:ln w="7302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/>
          <p:cNvSpPr txBox="1"/>
          <p:nvPr/>
        </p:nvSpPr>
        <p:spPr>
          <a:xfrm>
            <a:off x="10959903" y="8975"/>
            <a:ext cx="11541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ja-JP" sz="1200" dirty="0">
                <a:latin typeface="Meiryo UI" panose="020B0604030504040204" pitchFamily="50" charset="-128"/>
                <a:ea typeface="Meiryo UI" panose="020B0604030504040204" pitchFamily="50" charset="-128"/>
              </a:rPr>
              <a:t>2020.12.10</a:t>
            </a:r>
          </a:p>
          <a:p>
            <a:pPr algn="r"/>
            <a:r>
              <a:rPr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PFSEG</a:t>
            </a:r>
          </a:p>
          <a:p>
            <a:pPr algn="r"/>
            <a:r>
              <a:rPr kumimoji="1"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2020.12.10</a:t>
            </a:r>
          </a:p>
          <a:p>
            <a:pPr algn="r"/>
            <a:r>
              <a:rPr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NKT</a:t>
            </a:r>
            <a:r>
              <a:rPr lang="ja-JP" altLang="en-US" sz="120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lang="en-US" altLang="ja-JP" sz="1200">
                <a:latin typeface="Meiryo UI" panose="020B0604030504040204" pitchFamily="50" charset="-128"/>
                <a:ea typeface="Meiryo UI" panose="020B0604030504040204" pitchFamily="50" charset="-128"/>
              </a:rPr>
              <a:t>Igarashi</a:t>
            </a:r>
            <a:endParaRPr kumimoji="1" lang="ja-JP" altLang="en-US" sz="12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テキスト ボックス 71"/>
          <p:cNvSpPr txBox="1"/>
          <p:nvPr/>
        </p:nvSpPr>
        <p:spPr>
          <a:xfrm>
            <a:off x="8465442" y="5203065"/>
            <a:ext cx="342433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BOSS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より指図及び使用部品情報を入力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②③</a:t>
            </a:r>
            <a:r>
              <a:rPr kumimoji="1"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EGPro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に生産データ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CSV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を入力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④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EGPro_DB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連携で指図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BOM</a:t>
            </a:r>
            <a:r>
              <a:rPr lang="ja-JP" altLang="en-US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生産データ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　 データ出力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差分チェック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⑤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NG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なら修正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OK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なら生産確定</a:t>
            </a:r>
          </a:p>
        </p:txBody>
      </p:sp>
      <p:sp>
        <p:nvSpPr>
          <p:cNvPr id="73" name="テキスト ボックス 72"/>
          <p:cNvSpPr txBox="1"/>
          <p:nvPr/>
        </p:nvSpPr>
        <p:spPr>
          <a:xfrm>
            <a:off x="2597324" y="5402443"/>
            <a:ext cx="362471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BOSS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より指図及び使用部品情報を入力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DGS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より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PCB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情報（使用部品）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CSV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を入力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③差分チェック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④</a:t>
            </a:r>
            <a:r>
              <a:rPr kumimoji="1"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NG</a:t>
            </a:r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なら修正</a:t>
            </a:r>
            <a:endParaRPr kumimoji="1"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⑤</a:t>
            </a:r>
            <a:r>
              <a:rPr lang="en-US" altLang="ja-JP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OK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なら</a:t>
            </a:r>
            <a:r>
              <a:rPr lang="en-US" altLang="ja-JP" sz="140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EGPro</a:t>
            </a:r>
            <a:r>
              <a:rPr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に入力</a:t>
            </a:r>
            <a:endParaRPr lang="en-US" altLang="ja-JP" sz="1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dirty="0">
                <a:latin typeface="Meiryo UI" panose="020B0604030504040204" pitchFamily="50" charset="-128"/>
                <a:ea typeface="Meiryo UI" panose="020B0604030504040204" pitchFamily="50" charset="-128"/>
              </a:rPr>
              <a:t>生産確定</a:t>
            </a:r>
          </a:p>
        </p:txBody>
      </p:sp>
      <p:pic>
        <p:nvPicPr>
          <p:cNvPr id="74" name="Picture 8" descr="「矢印 イラスト」の画像検索結果">
            <a:hlinkClick r:id="rId10"/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211807">
            <a:off x="6743207" y="2072124"/>
            <a:ext cx="1617277" cy="5793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5" name="Picture 8" descr="「矢印 イラスト」の画像検索結果">
            <a:hlinkClick r:id="rId10"/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225720" flipV="1">
            <a:off x="10450349" y="2214963"/>
            <a:ext cx="1512266" cy="74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" name="Picture 8" descr="「矢印 イラスト」の画像検索結果">
            <a:hlinkClick r:id="rId10"/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95340" flipV="1">
            <a:off x="8073809" y="3735516"/>
            <a:ext cx="1990652" cy="749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" name="テキスト ボックス 76"/>
          <p:cNvSpPr txBox="1"/>
          <p:nvPr/>
        </p:nvSpPr>
        <p:spPr>
          <a:xfrm>
            <a:off x="5384811" y="27536"/>
            <a:ext cx="17572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rgbClr val="0070C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青矢印：従来のまま</a:t>
            </a:r>
            <a:endParaRPr lang="en-US" altLang="ja-JP" sz="1400" b="1" dirty="0">
              <a:solidFill>
                <a:srgbClr val="0070C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 dirty="0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赤矢印：新規の流れ</a:t>
            </a:r>
            <a:endParaRPr kumimoji="1" lang="en-US" altLang="ja-JP" sz="1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矢印: 下カーブ 15">
            <a:extLst>
              <a:ext uri="{FF2B5EF4-FFF2-40B4-BE49-F238E27FC236}">
                <a16:creationId xmlns:a16="http://schemas.microsoft.com/office/drawing/2014/main" id="{E754D6AD-583C-423C-B72B-C449C2039FD3}"/>
              </a:ext>
            </a:extLst>
          </p:cNvPr>
          <p:cNvSpPr/>
          <p:nvPr/>
        </p:nvSpPr>
        <p:spPr>
          <a:xfrm>
            <a:off x="2221001" y="307971"/>
            <a:ext cx="2281417" cy="47608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83B1DD3-9093-46BA-ACF8-ABD04A023C85}"/>
              </a:ext>
            </a:extLst>
          </p:cNvPr>
          <p:cNvSpPr txBox="1"/>
          <p:nvPr/>
        </p:nvSpPr>
        <p:spPr>
          <a:xfrm>
            <a:off x="3878256" y="117166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FF0000"/>
                </a:solidFill>
              </a:rPr>
              <a:t>発令情報を入力</a:t>
            </a:r>
            <a:endParaRPr kumimoji="1" lang="en-US" altLang="ja-JP" sz="1200" b="1">
              <a:solidFill>
                <a:srgbClr val="FF0000"/>
              </a:solidFill>
            </a:endParaRPr>
          </a:p>
          <a:p>
            <a:pPr algn="ctr"/>
            <a:r>
              <a:rPr lang="ja-JP" altLang="en-US" sz="1200" b="1">
                <a:solidFill>
                  <a:srgbClr val="FF0000"/>
                </a:solidFill>
              </a:rPr>
              <a:t>（手入力）</a:t>
            </a:r>
            <a:endParaRPr kumimoji="1" lang="ja-JP" altLang="en-US" sz="1200" b="1">
              <a:solidFill>
                <a:srgbClr val="FF0000"/>
              </a:solidFill>
            </a:endParaRP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46600909-3D25-4007-B668-1A8AEA57021C}"/>
              </a:ext>
            </a:extLst>
          </p:cNvPr>
          <p:cNvSpPr txBox="1"/>
          <p:nvPr/>
        </p:nvSpPr>
        <p:spPr>
          <a:xfrm>
            <a:off x="1352957" y="2450823"/>
            <a:ext cx="10903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>
                <a:solidFill>
                  <a:srgbClr val="FF0000"/>
                </a:solidFill>
              </a:rPr>
              <a:t>最新</a:t>
            </a:r>
            <a:r>
              <a:rPr kumimoji="1" lang="en-US" altLang="ja-JP" sz="1100" b="1">
                <a:solidFill>
                  <a:srgbClr val="FF0000"/>
                </a:solidFill>
              </a:rPr>
              <a:t>BOM</a:t>
            </a:r>
            <a:r>
              <a:rPr kumimoji="1" lang="ja-JP" altLang="en-US" sz="1100" b="1">
                <a:solidFill>
                  <a:srgbClr val="FF0000"/>
                </a:solidFill>
              </a:rPr>
              <a:t>情報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B026E752-6E74-4D89-BBFF-DA48B7C5E964}"/>
              </a:ext>
            </a:extLst>
          </p:cNvPr>
          <p:cNvSpPr txBox="1"/>
          <p:nvPr/>
        </p:nvSpPr>
        <p:spPr>
          <a:xfrm>
            <a:off x="4813658" y="1513339"/>
            <a:ext cx="17876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FF0000"/>
                </a:solidFill>
              </a:rPr>
              <a:t>生産側</a:t>
            </a:r>
            <a:r>
              <a:rPr kumimoji="1" lang="en-US" altLang="ja-JP" sz="1200" b="1">
                <a:solidFill>
                  <a:srgbClr val="FF0000"/>
                </a:solidFill>
              </a:rPr>
              <a:t>BOM</a:t>
            </a:r>
            <a:r>
              <a:rPr kumimoji="1" lang="ja-JP" altLang="en-US" sz="1200" b="1">
                <a:solidFill>
                  <a:srgbClr val="FF0000"/>
                </a:solidFill>
              </a:rPr>
              <a:t>情報を出力</a:t>
            </a:r>
            <a:endParaRPr kumimoji="1" lang="en-US" altLang="ja-JP" sz="1200" b="1">
              <a:solidFill>
                <a:srgbClr val="FF0000"/>
              </a:solidFill>
            </a:endParaRPr>
          </a:p>
          <a:p>
            <a:pPr algn="ctr"/>
            <a:r>
              <a:rPr lang="ja-JP" altLang="en-US" sz="1200" b="1">
                <a:solidFill>
                  <a:srgbClr val="FF0000"/>
                </a:solidFill>
              </a:rPr>
              <a:t>（手作業）</a:t>
            </a:r>
            <a:endParaRPr kumimoji="1" lang="ja-JP" altLang="en-US" sz="1200" b="1">
              <a:solidFill>
                <a:srgbClr val="FF0000"/>
              </a:solidFill>
            </a:endParaRP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8FB36FAF-6958-4208-9DC3-F4A2D9EDD7A6}"/>
              </a:ext>
            </a:extLst>
          </p:cNvPr>
          <p:cNvSpPr txBox="1"/>
          <p:nvPr/>
        </p:nvSpPr>
        <p:spPr>
          <a:xfrm>
            <a:off x="4401517" y="3577982"/>
            <a:ext cx="19503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FF0000"/>
                </a:solidFill>
              </a:rPr>
              <a:t>生産側</a:t>
            </a:r>
            <a:r>
              <a:rPr kumimoji="1" lang="en-US" altLang="ja-JP" sz="1200" b="1">
                <a:solidFill>
                  <a:srgbClr val="FF0000"/>
                </a:solidFill>
              </a:rPr>
              <a:t>BOM</a:t>
            </a:r>
            <a:r>
              <a:rPr kumimoji="1" lang="ja-JP" altLang="en-US" sz="1200" b="1">
                <a:solidFill>
                  <a:srgbClr val="FF0000"/>
                </a:solidFill>
              </a:rPr>
              <a:t>情報を出力、</a:t>
            </a:r>
            <a:endParaRPr kumimoji="1" lang="en-US" altLang="ja-JP" sz="1200" b="1">
              <a:solidFill>
                <a:srgbClr val="FF0000"/>
              </a:solidFill>
            </a:endParaRPr>
          </a:p>
          <a:p>
            <a:pPr algn="ctr"/>
            <a:r>
              <a:rPr lang="en-US" altLang="ja-JP" sz="1200" b="1">
                <a:solidFill>
                  <a:srgbClr val="FF0000"/>
                </a:solidFill>
              </a:rPr>
              <a:t>EGPro</a:t>
            </a:r>
            <a:r>
              <a:rPr lang="ja-JP" altLang="en-US" sz="1200" b="1">
                <a:solidFill>
                  <a:srgbClr val="FF0000"/>
                </a:solidFill>
              </a:rPr>
              <a:t>にインポート</a:t>
            </a:r>
            <a:endParaRPr kumimoji="1" lang="en-US" altLang="ja-JP" sz="1200" b="1">
              <a:solidFill>
                <a:srgbClr val="FF0000"/>
              </a:solidFill>
            </a:endParaRPr>
          </a:p>
          <a:p>
            <a:pPr algn="ctr"/>
            <a:r>
              <a:rPr lang="ja-JP" altLang="en-US" sz="1200" b="1">
                <a:solidFill>
                  <a:srgbClr val="FF0000"/>
                </a:solidFill>
              </a:rPr>
              <a:t>（手作業）</a:t>
            </a:r>
            <a:endParaRPr lang="en-US" altLang="ja-JP" sz="1200" b="1">
              <a:solidFill>
                <a:srgbClr val="FF0000"/>
              </a:solidFill>
            </a:endParaRPr>
          </a:p>
          <a:p>
            <a:r>
              <a:rPr kumimoji="1" lang="ja-JP" altLang="en-US" sz="1200" b="1">
                <a:solidFill>
                  <a:srgbClr val="FF0000"/>
                </a:solidFill>
              </a:rPr>
              <a:t>今：品目毎</a:t>
            </a:r>
            <a:endParaRPr kumimoji="1" lang="en-US" altLang="ja-JP" sz="1200" b="1">
              <a:solidFill>
                <a:srgbClr val="FF0000"/>
              </a:solidFill>
            </a:endParaRPr>
          </a:p>
          <a:p>
            <a:r>
              <a:rPr lang="ja-JP" altLang="en-US" sz="1200" b="1">
                <a:solidFill>
                  <a:srgbClr val="FF0000"/>
                </a:solidFill>
              </a:rPr>
              <a:t>今後：グループ毎</a:t>
            </a:r>
            <a:endParaRPr kumimoji="1" lang="ja-JP" altLang="en-US" sz="1200" b="1">
              <a:solidFill>
                <a:srgbClr val="FF0000"/>
              </a:solidFill>
            </a:endParaRP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E167B463-B631-48E4-B3FE-65CCFCAD4FB4}"/>
              </a:ext>
            </a:extLst>
          </p:cNvPr>
          <p:cNvSpPr txBox="1"/>
          <p:nvPr/>
        </p:nvSpPr>
        <p:spPr>
          <a:xfrm>
            <a:off x="4107664" y="2651525"/>
            <a:ext cx="2079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200" b="1">
                <a:solidFill>
                  <a:srgbClr val="FF0000"/>
                </a:solidFill>
              </a:rPr>
              <a:t>\\172.25.253.203\share\</a:t>
            </a:r>
            <a:endParaRPr kumimoji="1" lang="ja-JP" altLang="en-US" sz="1200" b="1">
              <a:solidFill>
                <a:srgbClr val="FF0000"/>
              </a:solidFill>
            </a:endParaRPr>
          </a:p>
        </p:txBody>
      </p:sp>
      <p:pic>
        <p:nvPicPr>
          <p:cNvPr id="82" name="図 81">
            <a:extLst>
              <a:ext uri="{FF2B5EF4-FFF2-40B4-BE49-F238E27FC236}">
                <a16:creationId xmlns:a16="http://schemas.microsoft.com/office/drawing/2014/main" id="{015D0B54-1E8E-47AE-B032-3C9386743EB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21370084" flipH="1">
            <a:off x="8696048" y="1321300"/>
            <a:ext cx="402797" cy="921976"/>
          </a:xfrm>
          <a:prstGeom prst="rect">
            <a:avLst/>
          </a:prstGeom>
          <a:effectLst>
            <a:glow rad="12700">
              <a:schemeClr val="accent1"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3A91FF54-696D-4984-B1A2-40F88D206CAD}"/>
              </a:ext>
            </a:extLst>
          </p:cNvPr>
          <p:cNvSpPr txBox="1"/>
          <p:nvPr/>
        </p:nvSpPr>
        <p:spPr>
          <a:xfrm>
            <a:off x="8497446" y="172186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①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F51457C0-6501-4FCF-9F03-619A5904B976}"/>
              </a:ext>
            </a:extLst>
          </p:cNvPr>
          <p:cNvSpPr txBox="1"/>
          <p:nvPr/>
        </p:nvSpPr>
        <p:spPr>
          <a:xfrm>
            <a:off x="7888304" y="1977917"/>
            <a:ext cx="109036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100" b="1">
                <a:solidFill>
                  <a:srgbClr val="FF0000"/>
                </a:solidFill>
              </a:rPr>
              <a:t>最新</a:t>
            </a:r>
            <a:r>
              <a:rPr kumimoji="1" lang="en-US" altLang="ja-JP" sz="1100" b="1">
                <a:solidFill>
                  <a:srgbClr val="FF0000"/>
                </a:solidFill>
              </a:rPr>
              <a:t>BOM</a:t>
            </a:r>
            <a:r>
              <a:rPr kumimoji="1" lang="ja-JP" altLang="en-US" sz="1100" b="1">
                <a:solidFill>
                  <a:srgbClr val="FF0000"/>
                </a:solidFill>
              </a:rPr>
              <a:t>情報</a:t>
            </a:r>
          </a:p>
        </p:txBody>
      </p:sp>
      <p:pic>
        <p:nvPicPr>
          <p:cNvPr id="85" name="図 84">
            <a:extLst>
              <a:ext uri="{FF2B5EF4-FFF2-40B4-BE49-F238E27FC236}">
                <a16:creationId xmlns:a16="http://schemas.microsoft.com/office/drawing/2014/main" id="{6398CAFD-C420-4A85-852C-6E8F47C256D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 rot="771981">
            <a:off x="9565559" y="1337946"/>
            <a:ext cx="402797" cy="921976"/>
          </a:xfrm>
          <a:prstGeom prst="rect">
            <a:avLst/>
          </a:prstGeom>
          <a:effectLst>
            <a:glow rad="12700">
              <a:schemeClr val="accent1"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DD06F6F8-0236-4F8C-9A90-E99373FBCF32}"/>
              </a:ext>
            </a:extLst>
          </p:cNvPr>
          <p:cNvSpPr txBox="1"/>
          <p:nvPr/>
        </p:nvSpPr>
        <p:spPr>
          <a:xfrm>
            <a:off x="9184118" y="1712273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②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06A2B419-A058-432B-A96A-5E6D81B66E67}"/>
              </a:ext>
            </a:extLst>
          </p:cNvPr>
          <p:cNvSpPr txBox="1"/>
          <p:nvPr/>
        </p:nvSpPr>
        <p:spPr>
          <a:xfrm>
            <a:off x="8985869" y="90690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FF0000"/>
                </a:solidFill>
              </a:rPr>
              <a:t>生産側</a:t>
            </a:r>
            <a:r>
              <a:rPr kumimoji="1" lang="en-US" altLang="ja-JP" sz="1200" b="1">
                <a:solidFill>
                  <a:srgbClr val="FF0000"/>
                </a:solidFill>
              </a:rPr>
              <a:t>BOM</a:t>
            </a:r>
            <a:r>
              <a:rPr kumimoji="1" lang="ja-JP" altLang="en-US" sz="1200" b="1">
                <a:solidFill>
                  <a:srgbClr val="FF0000"/>
                </a:solidFill>
              </a:rPr>
              <a:t>情報</a:t>
            </a:r>
            <a:endParaRPr kumimoji="1" lang="en-US" altLang="ja-JP" sz="1200" b="1">
              <a:solidFill>
                <a:srgbClr val="FF0000"/>
              </a:solidFill>
            </a:endParaRPr>
          </a:p>
          <a:p>
            <a:pPr algn="ctr"/>
            <a:r>
              <a:rPr kumimoji="1" lang="ja-JP" altLang="en-US" sz="1200" b="1">
                <a:solidFill>
                  <a:srgbClr val="FF0000"/>
                </a:solidFill>
              </a:rPr>
              <a:t>を収集</a:t>
            </a:r>
            <a:r>
              <a:rPr lang="ja-JP" altLang="en-US" sz="1200" b="1">
                <a:solidFill>
                  <a:srgbClr val="FF0000"/>
                </a:solidFill>
              </a:rPr>
              <a:t>（クエリ）</a:t>
            </a:r>
            <a:endParaRPr kumimoji="1" lang="ja-JP" altLang="en-US" sz="1200" b="1">
              <a:solidFill>
                <a:srgbClr val="FF0000"/>
              </a:solidFill>
            </a:endParaRP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38DAC6F7-9FCF-45B3-B747-069A489188A2}"/>
              </a:ext>
            </a:extLst>
          </p:cNvPr>
          <p:cNvSpPr txBox="1"/>
          <p:nvPr/>
        </p:nvSpPr>
        <p:spPr>
          <a:xfrm>
            <a:off x="10183548" y="4099946"/>
            <a:ext cx="195034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FF0000"/>
                </a:solidFill>
              </a:rPr>
              <a:t>生産側</a:t>
            </a:r>
            <a:r>
              <a:rPr kumimoji="1" lang="en-US" altLang="ja-JP" sz="1200" b="1">
                <a:solidFill>
                  <a:srgbClr val="FF0000"/>
                </a:solidFill>
              </a:rPr>
              <a:t>BOM</a:t>
            </a:r>
            <a:r>
              <a:rPr kumimoji="1" lang="ja-JP" altLang="en-US" sz="1200" b="1">
                <a:solidFill>
                  <a:srgbClr val="FF0000"/>
                </a:solidFill>
              </a:rPr>
              <a:t>情報を出力、</a:t>
            </a:r>
            <a:endParaRPr kumimoji="1" lang="en-US" altLang="ja-JP" sz="1200" b="1">
              <a:solidFill>
                <a:srgbClr val="FF0000"/>
              </a:solidFill>
            </a:endParaRPr>
          </a:p>
          <a:p>
            <a:pPr algn="ctr"/>
            <a:r>
              <a:rPr lang="en-US" altLang="ja-JP" sz="1200" b="1">
                <a:solidFill>
                  <a:srgbClr val="FF0000"/>
                </a:solidFill>
              </a:rPr>
              <a:t>EGPro</a:t>
            </a:r>
            <a:r>
              <a:rPr lang="ja-JP" altLang="en-US" sz="1200" b="1">
                <a:solidFill>
                  <a:srgbClr val="FF0000"/>
                </a:solidFill>
              </a:rPr>
              <a:t>にインポート</a:t>
            </a:r>
            <a:endParaRPr kumimoji="1" lang="en-US" altLang="ja-JP" sz="1200" b="1">
              <a:solidFill>
                <a:srgbClr val="FF0000"/>
              </a:solidFill>
            </a:endParaRPr>
          </a:p>
          <a:p>
            <a:pPr algn="ctr"/>
            <a:r>
              <a:rPr lang="ja-JP" altLang="en-US" sz="1200" b="1">
                <a:solidFill>
                  <a:srgbClr val="FF0000"/>
                </a:solidFill>
              </a:rPr>
              <a:t>（手作業）</a:t>
            </a:r>
            <a:endParaRPr lang="en-US" altLang="ja-JP" sz="1200" b="1">
              <a:solidFill>
                <a:srgbClr val="FF0000"/>
              </a:solidFill>
            </a:endParaRPr>
          </a:p>
          <a:p>
            <a:r>
              <a:rPr kumimoji="1" lang="ja-JP" altLang="en-US" sz="1200" b="1">
                <a:solidFill>
                  <a:srgbClr val="FF0000"/>
                </a:solidFill>
              </a:rPr>
              <a:t>今：品目毎</a:t>
            </a:r>
            <a:endParaRPr kumimoji="1" lang="en-US" altLang="ja-JP" sz="1200" b="1">
              <a:solidFill>
                <a:srgbClr val="FF0000"/>
              </a:solidFill>
            </a:endParaRPr>
          </a:p>
          <a:p>
            <a:r>
              <a:rPr lang="ja-JP" altLang="en-US" sz="1200" b="1">
                <a:solidFill>
                  <a:srgbClr val="FF0000"/>
                </a:solidFill>
              </a:rPr>
              <a:t>今後：グループ毎</a:t>
            </a:r>
            <a:endParaRPr kumimoji="1" lang="ja-JP" altLang="en-US" sz="1200" b="1">
              <a:solidFill>
                <a:srgbClr val="FF0000"/>
              </a:solidFill>
            </a:endParaRPr>
          </a:p>
        </p:txBody>
      </p:sp>
      <p:sp>
        <p:nvSpPr>
          <p:cNvPr id="89" name="矢印: 下カーブ 88">
            <a:extLst>
              <a:ext uri="{FF2B5EF4-FFF2-40B4-BE49-F238E27FC236}">
                <a16:creationId xmlns:a16="http://schemas.microsoft.com/office/drawing/2014/main" id="{7273EC4D-F4E1-4C0D-8935-41F2EAD57EC3}"/>
              </a:ext>
            </a:extLst>
          </p:cNvPr>
          <p:cNvSpPr/>
          <p:nvPr/>
        </p:nvSpPr>
        <p:spPr>
          <a:xfrm>
            <a:off x="8236170" y="307971"/>
            <a:ext cx="2281417" cy="47608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A8EE946B-DC38-4ACF-995B-ECDF7145B0D4}"/>
              </a:ext>
            </a:extLst>
          </p:cNvPr>
          <p:cNvSpPr txBox="1"/>
          <p:nvPr/>
        </p:nvSpPr>
        <p:spPr>
          <a:xfrm>
            <a:off x="9953085" y="84870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>
                <a:solidFill>
                  <a:srgbClr val="FF0000"/>
                </a:solidFill>
              </a:rPr>
              <a:t>発令情報を入力</a:t>
            </a:r>
            <a:endParaRPr kumimoji="1" lang="en-US" altLang="ja-JP" sz="1200" b="1">
              <a:solidFill>
                <a:srgbClr val="FF0000"/>
              </a:solidFill>
            </a:endParaRPr>
          </a:p>
          <a:p>
            <a:pPr algn="ctr"/>
            <a:r>
              <a:rPr lang="ja-JP" altLang="en-US" sz="1200" b="1">
                <a:solidFill>
                  <a:srgbClr val="FF0000"/>
                </a:solidFill>
              </a:rPr>
              <a:t>（手入力）</a:t>
            </a:r>
            <a:endParaRPr kumimoji="1" lang="ja-JP" altLang="en-US" sz="1200" b="1">
              <a:solidFill>
                <a:srgbClr val="FF0000"/>
              </a:solidFill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F4A4FE0C-C987-4E3E-A51E-5DACBC989A5C}"/>
              </a:ext>
            </a:extLst>
          </p:cNvPr>
          <p:cNvSpPr txBox="1"/>
          <p:nvPr/>
        </p:nvSpPr>
        <p:spPr>
          <a:xfrm>
            <a:off x="9818679" y="2396817"/>
            <a:ext cx="11256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NG</a:t>
            </a:r>
            <a:r>
              <a:rPr kumimoji="1" lang="ja-JP" altLang="en-US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なら</a:t>
            </a:r>
            <a:endParaRPr kumimoji="1" lang="en-US" altLang="ja-JP" sz="14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en-US" altLang="ja-JP" sz="1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DGS</a:t>
            </a:r>
            <a:r>
              <a:rPr lang="ja-JP" altLang="en-US" sz="1400" b="1">
                <a:latin typeface="Meiryo UI" panose="020B0604030504040204" pitchFamily="50" charset="-128"/>
                <a:ea typeface="Meiryo UI" panose="020B0604030504040204" pitchFamily="50" charset="-128"/>
              </a:rPr>
              <a:t>修正？</a:t>
            </a:r>
            <a:endParaRPr lang="en-US" altLang="ja-JP" sz="1400" b="1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ja-JP" altLang="en-US" sz="14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（手作業）</a:t>
            </a:r>
            <a:endParaRPr kumimoji="1" lang="ja-JP" altLang="en-US" sz="1400" b="1" dirty="0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7072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0606F058C2618C4C814A981A682D5530" ma:contentTypeVersion="2" ma:contentTypeDescription="新しいドキュメントを作成します。" ma:contentTypeScope="" ma:versionID="0dc0b9ad105ed8d2a1f06e84cf2447d0">
  <xsd:schema xmlns:xsd="http://www.w3.org/2001/XMLSchema" xmlns:xs="http://www.w3.org/2001/XMLSchema" xmlns:p="http://schemas.microsoft.com/office/2006/metadata/properties" xmlns:ns2="80d7b825-b3bb-4a57-9318-99f15abc1776" targetNamespace="http://schemas.microsoft.com/office/2006/metadata/properties" ma:root="true" ma:fieldsID="6c579ab6450b99759a15d726c122bfa9" ns2:_="">
    <xsd:import namespace="80d7b825-b3bb-4a57-9318-99f15abc17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d7b825-b3bb-4a57-9318-99f15abc17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034BA1-9FB1-4B13-AF40-7952A2029B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B0886BD-9AD8-4D34-9343-3096DB271FDC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80d7b825-b3bb-4a57-9318-99f15abc1776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DDAB9E3-6BAD-4FC2-846C-E68D18649A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d7b825-b3bb-4a57-9318-99f15abc17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1123</TotalTime>
  <Words>429</Words>
  <Application>Microsoft Office PowerPoint</Application>
  <PresentationFormat>ワイド画面</PresentationFormat>
  <Paragraphs>119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Meiryo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>パナソニック株式会社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Namiki osamu (並木 修)</dc:creator>
  <cp:lastModifiedBy>IGARASHI Junichi(五十嵐 淳一)</cp:lastModifiedBy>
  <cp:revision>35</cp:revision>
  <dcterms:created xsi:type="dcterms:W3CDTF">2020-12-10T03:09:17Z</dcterms:created>
  <dcterms:modified xsi:type="dcterms:W3CDTF">2020-12-21T11:46:50Z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0x0101000606F058C2618C4C814A981A682D5530</vt:lpwstr>
  </property>
</Properties>
</file>